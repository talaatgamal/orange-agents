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notesMasterIdLst>
    <p:notesMasterId r:id="rId248"/>
  </p:notesMasterIdLst>
  <p:sldIdLst>
    <p:sldId id="935" r:id="rId2"/>
    <p:sldId id="498" r:id="rId3"/>
    <p:sldId id="454" r:id="rId4"/>
    <p:sldId id="690" r:id="rId5"/>
    <p:sldId id="691" r:id="rId6"/>
    <p:sldId id="754" r:id="rId7"/>
    <p:sldId id="694" r:id="rId8"/>
    <p:sldId id="815" r:id="rId9"/>
    <p:sldId id="816" r:id="rId10"/>
    <p:sldId id="725" r:id="rId11"/>
    <p:sldId id="496" r:id="rId12"/>
    <p:sldId id="863" r:id="rId13"/>
    <p:sldId id="744" r:id="rId14"/>
    <p:sldId id="755" r:id="rId15"/>
    <p:sldId id="756" r:id="rId16"/>
    <p:sldId id="918" r:id="rId17"/>
    <p:sldId id="757" r:id="rId18"/>
    <p:sldId id="919" r:id="rId19"/>
    <p:sldId id="864" r:id="rId20"/>
    <p:sldId id="457" r:id="rId21"/>
    <p:sldId id="458" r:id="rId22"/>
    <p:sldId id="459" r:id="rId23"/>
    <p:sldId id="460" r:id="rId24"/>
    <p:sldId id="461" r:id="rId25"/>
    <p:sldId id="499" r:id="rId26"/>
    <p:sldId id="865" r:id="rId27"/>
    <p:sldId id="866" r:id="rId28"/>
    <p:sldId id="826" r:id="rId29"/>
    <p:sldId id="827" r:id="rId30"/>
    <p:sldId id="828" r:id="rId31"/>
    <p:sldId id="830" r:id="rId32"/>
    <p:sldId id="466" r:id="rId33"/>
    <p:sldId id="500" r:id="rId34"/>
    <p:sldId id="519" r:id="rId35"/>
    <p:sldId id="867" r:id="rId36"/>
    <p:sldId id="868" r:id="rId37"/>
    <p:sldId id="522" r:id="rId38"/>
    <p:sldId id="869" r:id="rId39"/>
    <p:sldId id="502" r:id="rId40"/>
    <p:sldId id="758" r:id="rId41"/>
    <p:sldId id="759" r:id="rId42"/>
    <p:sldId id="537" r:id="rId43"/>
    <p:sldId id="474" r:id="rId44"/>
    <p:sldId id="870" r:id="rId45"/>
    <p:sldId id="920" r:id="rId46"/>
    <p:sldId id="921" r:id="rId47"/>
    <p:sldId id="871" r:id="rId48"/>
    <p:sldId id="526" r:id="rId49"/>
    <p:sldId id="476" r:id="rId50"/>
    <p:sldId id="872" r:id="rId51"/>
    <p:sldId id="528" r:id="rId52"/>
    <p:sldId id="529" r:id="rId53"/>
    <p:sldId id="530" r:id="rId54"/>
    <p:sldId id="531" r:id="rId55"/>
    <p:sldId id="532" r:id="rId56"/>
    <p:sldId id="533" r:id="rId57"/>
    <p:sldId id="480" r:id="rId58"/>
    <p:sldId id="922" r:id="rId59"/>
    <p:sldId id="873" r:id="rId60"/>
    <p:sldId id="923" r:id="rId61"/>
    <p:sldId id="483" r:id="rId62"/>
    <p:sldId id="485" r:id="rId63"/>
    <p:sldId id="536" r:id="rId64"/>
    <p:sldId id="535" r:id="rId65"/>
    <p:sldId id="745" r:id="rId66"/>
    <p:sldId id="924" r:id="rId67"/>
    <p:sldId id="746" r:id="rId68"/>
    <p:sldId id="925" r:id="rId69"/>
    <p:sldId id="926" r:id="rId70"/>
    <p:sldId id="927" r:id="rId71"/>
    <p:sldId id="354" r:id="rId72"/>
    <p:sldId id="349" r:id="rId73"/>
    <p:sldId id="730" r:id="rId74"/>
    <p:sldId id="760" r:id="rId75"/>
    <p:sldId id="874" r:id="rId76"/>
    <p:sldId id="351" r:id="rId77"/>
    <p:sldId id="352" r:id="rId78"/>
    <p:sldId id="764" r:id="rId79"/>
    <p:sldId id="763" r:id="rId80"/>
    <p:sldId id="742" r:id="rId81"/>
    <p:sldId id="743" r:id="rId82"/>
    <p:sldId id="841" r:id="rId83"/>
    <p:sldId id="875" r:id="rId84"/>
    <p:sldId id="353" r:id="rId85"/>
    <p:sldId id="765" r:id="rId86"/>
    <p:sldId id="766" r:id="rId87"/>
    <p:sldId id="928" r:id="rId88"/>
    <p:sldId id="876" r:id="rId89"/>
    <p:sldId id="767" r:id="rId90"/>
    <p:sldId id="769" r:id="rId91"/>
    <p:sldId id="771" r:id="rId92"/>
    <p:sldId id="773" r:id="rId93"/>
    <p:sldId id="358" r:id="rId94"/>
    <p:sldId id="359" r:id="rId95"/>
    <p:sldId id="569" r:id="rId96"/>
    <p:sldId id="387" r:id="rId97"/>
    <p:sldId id="361" r:id="rId98"/>
    <p:sldId id="388" r:id="rId99"/>
    <p:sldId id="363" r:id="rId100"/>
    <p:sldId id="842" r:id="rId101"/>
    <p:sldId id="774" r:id="rId102"/>
    <p:sldId id="843" r:id="rId103"/>
    <p:sldId id="844" r:id="rId104"/>
    <p:sldId id="877" r:id="rId105"/>
    <p:sldId id="365" r:id="rId106"/>
    <p:sldId id="845" r:id="rId107"/>
    <p:sldId id="846" r:id="rId108"/>
    <p:sldId id="878" r:id="rId109"/>
    <p:sldId id="879" r:id="rId110"/>
    <p:sldId id="393" r:id="rId111"/>
    <p:sldId id="392" r:id="rId112"/>
    <p:sldId id="776" r:id="rId113"/>
    <p:sldId id="881" r:id="rId114"/>
    <p:sldId id="369" r:id="rId115"/>
    <p:sldId id="777" r:id="rId116"/>
    <p:sldId id="880" r:id="rId117"/>
    <p:sldId id="370" r:id="rId118"/>
    <p:sldId id="394" r:id="rId119"/>
    <p:sldId id="929" r:id="rId120"/>
    <p:sldId id="372" r:id="rId121"/>
    <p:sldId id="847" r:id="rId122"/>
    <p:sldId id="374" r:id="rId123"/>
    <p:sldId id="779" r:id="rId124"/>
    <p:sldId id="376" r:id="rId125"/>
    <p:sldId id="572" r:id="rId126"/>
    <p:sldId id="395" r:id="rId127"/>
    <p:sldId id="780" r:id="rId128"/>
    <p:sldId id="781" r:id="rId129"/>
    <p:sldId id="882" r:id="rId130"/>
    <p:sldId id="379" r:id="rId131"/>
    <p:sldId id="831" r:id="rId132"/>
    <p:sldId id="832" r:id="rId133"/>
    <p:sldId id="380" r:id="rId134"/>
    <p:sldId id="883" r:id="rId135"/>
    <p:sldId id="809" r:id="rId136"/>
    <p:sldId id="382" r:id="rId137"/>
    <p:sldId id="851" r:id="rId138"/>
    <p:sldId id="848" r:id="rId139"/>
    <p:sldId id="849" r:id="rId140"/>
    <p:sldId id="850" r:id="rId141"/>
    <p:sldId id="383" r:id="rId142"/>
    <p:sldId id="384" r:id="rId143"/>
    <p:sldId id="884" r:id="rId144"/>
    <p:sldId id="385" r:id="rId145"/>
    <p:sldId id="753" r:id="rId146"/>
    <p:sldId id="386" r:id="rId147"/>
    <p:sldId id="396" r:id="rId148"/>
    <p:sldId id="885" r:id="rId149"/>
    <p:sldId id="397" r:id="rId150"/>
    <p:sldId id="398" r:id="rId151"/>
    <p:sldId id="399" r:id="rId152"/>
    <p:sldId id="811" r:id="rId153"/>
    <p:sldId id="812" r:id="rId154"/>
    <p:sldId id="813" r:id="rId155"/>
    <p:sldId id="400" r:id="rId156"/>
    <p:sldId id="573" r:id="rId157"/>
    <p:sldId id="886" r:id="rId158"/>
    <p:sldId id="782" r:id="rId159"/>
    <p:sldId id="783" r:id="rId160"/>
    <p:sldId id="404" r:id="rId161"/>
    <p:sldId id="576" r:id="rId162"/>
    <p:sldId id="577" r:id="rId163"/>
    <p:sldId id="578" r:id="rId164"/>
    <p:sldId id="579" r:id="rId165"/>
    <p:sldId id="930" r:id="rId166"/>
    <p:sldId id="931" r:id="rId167"/>
    <p:sldId id="932" r:id="rId168"/>
    <p:sldId id="933" r:id="rId169"/>
    <p:sldId id="580" r:id="rId170"/>
    <p:sldId id="887" r:id="rId171"/>
    <p:sldId id="594" r:id="rId172"/>
    <p:sldId id="888" r:id="rId173"/>
    <p:sldId id="608" r:id="rId174"/>
    <p:sldId id="607" r:id="rId175"/>
    <p:sldId id="606" r:id="rId176"/>
    <p:sldId id="906" r:id="rId177"/>
    <p:sldId id="890" r:id="rId178"/>
    <p:sldId id="590" r:id="rId179"/>
    <p:sldId id="589" r:id="rId180"/>
    <p:sldId id="588" r:id="rId181"/>
    <p:sldId id="587" r:id="rId182"/>
    <p:sldId id="581" r:id="rId183"/>
    <p:sldId id="891" r:id="rId184"/>
    <p:sldId id="892" r:id="rId185"/>
    <p:sldId id="602" r:id="rId186"/>
    <p:sldId id="601" r:id="rId187"/>
    <p:sldId id="603" r:id="rId188"/>
    <p:sldId id="893" r:id="rId189"/>
    <p:sldId id="894" r:id="rId190"/>
    <p:sldId id="895" r:id="rId191"/>
    <p:sldId id="896" r:id="rId192"/>
    <p:sldId id="853" r:id="rId193"/>
    <p:sldId id="854" r:id="rId194"/>
    <p:sldId id="901" r:id="rId195"/>
    <p:sldId id="897" r:id="rId196"/>
    <p:sldId id="902" r:id="rId197"/>
    <p:sldId id="898" r:id="rId198"/>
    <p:sldId id="591" r:id="rId199"/>
    <p:sldId id="903" r:id="rId200"/>
    <p:sldId id="899" r:id="rId201"/>
    <p:sldId id="900" r:id="rId202"/>
    <p:sldId id="621" r:id="rId203"/>
    <p:sldId id="620" r:id="rId204"/>
    <p:sldId id="619" r:id="rId205"/>
    <p:sldId id="628" r:id="rId206"/>
    <p:sldId id="627" r:id="rId207"/>
    <p:sldId id="626" r:id="rId208"/>
    <p:sldId id="609" r:id="rId209"/>
    <p:sldId id="904" r:id="rId210"/>
    <p:sldId id="604" r:id="rId211"/>
    <p:sldId id="631" r:id="rId212"/>
    <p:sldId id="905" r:id="rId213"/>
    <p:sldId id="889" r:id="rId214"/>
    <p:sldId id="907" r:id="rId215"/>
    <p:sldId id="908" r:id="rId216"/>
    <p:sldId id="857" r:id="rId217"/>
    <p:sldId id="909" r:id="rId218"/>
    <p:sldId id="910" r:id="rId219"/>
    <p:sldId id="911" r:id="rId220"/>
    <p:sldId id="415" r:id="rId221"/>
    <p:sldId id="643" r:id="rId222"/>
    <p:sldId id="636" r:id="rId223"/>
    <p:sldId id="833" r:id="rId224"/>
    <p:sldId id="637" r:id="rId225"/>
    <p:sldId id="634" r:id="rId226"/>
    <p:sldId id="419" r:id="rId227"/>
    <p:sldId id="638" r:id="rId228"/>
    <p:sldId id="639" r:id="rId229"/>
    <p:sldId id="640" r:id="rId230"/>
    <p:sldId id="641" r:id="rId231"/>
    <p:sldId id="642" r:id="rId232"/>
    <p:sldId id="834" r:id="rId233"/>
    <p:sldId id="860" r:id="rId234"/>
    <p:sldId id="912" r:id="rId235"/>
    <p:sldId id="913" r:id="rId236"/>
    <p:sldId id="647" r:id="rId237"/>
    <p:sldId id="425" r:id="rId238"/>
    <p:sldId id="785" r:id="rId239"/>
    <p:sldId id="649" r:id="rId240"/>
    <p:sldId id="861" r:id="rId241"/>
    <p:sldId id="663" r:id="rId242"/>
    <p:sldId id="914" r:id="rId243"/>
    <p:sldId id="915" r:id="rId244"/>
    <p:sldId id="916" r:id="rId245"/>
    <p:sldId id="917" r:id="rId246"/>
    <p:sldId id="650" r:id="rId2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4660"/>
  </p:normalViewPr>
  <p:slideViewPr>
    <p:cSldViewPr snapToGrid="0">
      <p:cViewPr varScale="1">
        <p:scale>
          <a:sx n="69" d="100"/>
          <a:sy n="69" d="100"/>
        </p:scale>
        <p:origin x="1470" y="72"/>
      </p:cViewPr>
      <p:guideLst>
        <p:guide orient="horz" pos="2160"/>
        <p:guide pos="2880"/>
      </p:guideLst>
    </p:cSldViewPr>
  </p:slideViewPr>
  <p:notesTextViewPr>
    <p:cViewPr>
      <p:scale>
        <a:sx n="1" d="1"/>
        <a:sy n="1" d="1"/>
      </p:scale>
      <p:origin x="0" y="0"/>
    </p:cViewPr>
  </p:notesTextViewPr>
  <p:sorterViewPr>
    <p:cViewPr>
      <p:scale>
        <a:sx n="66" d="100"/>
        <a:sy n="66" d="100"/>
      </p:scale>
      <p:origin x="0" y="-37038"/>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Imam" userId="32ecbe95da14ada2" providerId="LiveId" clId="{6637F5C5-81DA-4CD4-A3AA-9F7FAC5751A2}"/>
    <pc:docChg chg="modSld">
      <pc:chgData name="Ibrahim Imam" userId="32ecbe95da14ada2" providerId="LiveId" clId="{6637F5C5-81DA-4CD4-A3AA-9F7FAC5751A2}" dt="2025-06-02T12:07:41.063" v="2" actId="1076"/>
      <pc:docMkLst>
        <pc:docMk/>
      </pc:docMkLst>
      <pc:sldChg chg="modSp mod">
        <pc:chgData name="Ibrahim Imam" userId="32ecbe95da14ada2" providerId="LiveId" clId="{6637F5C5-81DA-4CD4-A3AA-9F7FAC5751A2}" dt="2025-06-01T09:46:44.586" v="1" actId="1076"/>
        <pc:sldMkLst>
          <pc:docMk/>
          <pc:sldMk cId="679954827" sldId="461"/>
        </pc:sldMkLst>
      </pc:sldChg>
      <pc:sldChg chg="modSp mod">
        <pc:chgData name="Ibrahim Imam" userId="32ecbe95da14ada2" providerId="LiveId" clId="{6637F5C5-81DA-4CD4-A3AA-9F7FAC5751A2}" dt="2025-06-02T12:07:41.063" v="2" actId="1076"/>
        <pc:sldMkLst>
          <pc:docMk/>
          <pc:sldMk cId="320894977" sldId="879"/>
        </pc:sldMkLst>
      </pc:sldChg>
    </pc:docChg>
  </pc:docChgLst>
  <pc:docChgLst>
    <pc:chgData name="Ibrahim Imam" userId="32ecbe95da14ada2" providerId="LiveId" clId="{E7512648-29FB-4DDC-8B18-CC7AAE8FFC52}"/>
    <pc:docChg chg="custSel addSld delSld modSld sldOrd">
      <pc:chgData name="Ibrahim Imam" userId="32ecbe95da14ada2" providerId="LiveId" clId="{E7512648-29FB-4DDC-8B18-CC7AAE8FFC52}" dt="2025-11-16T09:00:17.813" v="18" actId="207"/>
      <pc:docMkLst>
        <pc:docMk/>
      </pc:docMkLst>
      <pc:sldChg chg="new del ord">
        <pc:chgData name="Ibrahim Imam" userId="32ecbe95da14ada2" providerId="LiveId" clId="{E7512648-29FB-4DDC-8B18-CC7AAE8FFC52}" dt="2025-11-16T08:58:33.010" v="5" actId="2696"/>
        <pc:sldMkLst>
          <pc:docMk/>
          <pc:sldMk cId="2642250201" sldId="934"/>
        </pc:sldMkLst>
      </pc:sldChg>
      <pc:sldChg chg="modSp add mod">
        <pc:chgData name="Ibrahim Imam" userId="32ecbe95da14ada2" providerId="LiveId" clId="{E7512648-29FB-4DDC-8B18-CC7AAE8FFC52}" dt="2025-11-16T09:00:17.813" v="18" actId="207"/>
        <pc:sldMkLst>
          <pc:docMk/>
          <pc:sldMk cId="2273019368" sldId="935"/>
        </pc:sldMkLst>
        <pc:spChg chg="mod">
          <ac:chgData name="Ibrahim Imam" userId="32ecbe95da14ada2" providerId="LiveId" clId="{E7512648-29FB-4DDC-8B18-CC7AAE8FFC52}" dt="2025-11-16T09:00:17.813" v="18" actId="207"/>
          <ac:spMkLst>
            <pc:docMk/>
            <pc:sldMk cId="2273019368" sldId="935"/>
            <ac:spMk id="2" creationId="{334E3A46-AB78-27B4-4E42-88128A2F4168}"/>
          </ac:spMkLst>
        </pc:spChg>
        <pc:spChg chg="mod">
          <ac:chgData name="Ibrahim Imam" userId="32ecbe95da14ada2" providerId="LiveId" clId="{E7512648-29FB-4DDC-8B18-CC7AAE8FFC52}" dt="2025-11-16T09:00:10.120" v="17" actId="207"/>
          <ac:spMkLst>
            <pc:docMk/>
            <pc:sldMk cId="2273019368" sldId="935"/>
            <ac:spMk id="3" creationId="{5ACC5DE3-E955-0BF5-057C-2CBD3BDC934E}"/>
          </ac:spMkLst>
        </pc:spChg>
        <pc:spChg chg="mod">
          <ac:chgData name="Ibrahim Imam" userId="32ecbe95da14ada2" providerId="LiveId" clId="{E7512648-29FB-4DDC-8B18-CC7AAE8FFC52}" dt="2025-11-16T08:59:05.964" v="11" actId="207"/>
          <ac:spMkLst>
            <pc:docMk/>
            <pc:sldMk cId="2273019368" sldId="935"/>
            <ac:spMk id="7" creationId="{C9F6056A-5DAA-056A-382E-BA13129EDA2F}"/>
          </ac:spMkLst>
        </pc:spChg>
        <pc:spChg chg="mod">
          <ac:chgData name="Ibrahim Imam" userId="32ecbe95da14ada2" providerId="LiveId" clId="{E7512648-29FB-4DDC-8B18-CC7AAE8FFC52}" dt="2025-11-16T08:59:02.358" v="10" actId="207"/>
          <ac:spMkLst>
            <pc:docMk/>
            <pc:sldMk cId="2273019368" sldId="935"/>
            <ac:spMk id="8" creationId="{F1FF0735-DBA2-6197-C8F6-07B1DF849838}"/>
          </ac:spMkLst>
        </pc:spChg>
        <pc:picChg chg="mod">
          <ac:chgData name="Ibrahim Imam" userId="32ecbe95da14ada2" providerId="LiveId" clId="{E7512648-29FB-4DDC-8B18-CC7AAE8FFC52}" dt="2025-11-16T08:58:54.131" v="9" actId="14100"/>
          <ac:picMkLst>
            <pc:docMk/>
            <pc:sldMk cId="2273019368" sldId="935"/>
            <ac:picMk id="1026" creationId="{791F55CF-94C5-D811-3D49-C4E191DCF39E}"/>
          </ac:picMkLst>
        </pc:picChg>
      </pc:sldChg>
    </pc:docChg>
  </pc:docChgLst>
  <pc:docChgLst>
    <pc:chgData name="Ibrahim Imam" userId="32ecbe95da14ada2" providerId="LiveId" clId="{E2CF9698-1EE3-412C-9545-08716EC81416}"/>
    <pc:docChg chg="modSld">
      <pc:chgData name="Ibrahim Imam" userId="32ecbe95da14ada2" providerId="LiveId" clId="{E2CF9698-1EE3-412C-9545-08716EC81416}" dt="2025-09-18T10:30:15.353" v="9" actId="1036"/>
      <pc:docMkLst>
        <pc:docMk/>
      </pc:docMkLst>
      <pc:sldChg chg="modSp">
        <pc:chgData name="Ibrahim Imam" userId="32ecbe95da14ada2" providerId="LiveId" clId="{E2CF9698-1EE3-412C-9545-08716EC81416}" dt="2025-09-18T09:29:04.600" v="8" actId="1076"/>
        <pc:sldMkLst>
          <pc:docMk/>
          <pc:sldMk cId="1749856616" sldId="744"/>
        </pc:sldMkLst>
        <pc:picChg chg="mod">
          <ac:chgData name="Ibrahim Imam" userId="32ecbe95da14ada2" providerId="LiveId" clId="{E2CF9698-1EE3-412C-9545-08716EC81416}" dt="2025-09-18T09:29:04.600" v="8" actId="1076"/>
          <ac:picMkLst>
            <pc:docMk/>
            <pc:sldMk cId="1749856616" sldId="744"/>
            <ac:picMk id="2" creationId="{00000000-0000-0000-0000-000000000000}"/>
          </ac:picMkLst>
        </pc:picChg>
      </pc:sldChg>
      <pc:sldChg chg="modSp mod">
        <pc:chgData name="Ibrahim Imam" userId="32ecbe95da14ada2" providerId="LiveId" clId="{E2CF9698-1EE3-412C-9545-08716EC81416}" dt="2025-09-18T10:30:15.353" v="9" actId="1036"/>
        <pc:sldMkLst>
          <pc:docMk/>
          <pc:sldMk cId="2667598288" sldId="830"/>
        </pc:sldMkLst>
        <pc:picChg chg="mod">
          <ac:chgData name="Ibrahim Imam" userId="32ecbe95da14ada2" providerId="LiveId" clId="{E2CF9698-1EE3-412C-9545-08716EC81416}" dt="2025-09-18T10:30:15.353" v="9" actId="1036"/>
          <ac:picMkLst>
            <pc:docMk/>
            <pc:sldMk cId="2667598288" sldId="830"/>
            <ac:picMk id="3" creationId="{00000000-0000-0000-0000-000000000000}"/>
          </ac:picMkLst>
        </pc:picChg>
      </pc:sldChg>
      <pc:sldChg chg="modSp mod">
        <pc:chgData name="Ibrahim Imam" userId="32ecbe95da14ada2" providerId="LiveId" clId="{E2CF9698-1EE3-412C-9545-08716EC81416}" dt="2025-09-18T09:23:18.984" v="3" actId="1076"/>
        <pc:sldMkLst>
          <pc:docMk/>
          <pc:sldMk cId="665784810" sldId="864"/>
        </pc:sldMkLst>
        <pc:picChg chg="mod">
          <ac:chgData name="Ibrahim Imam" userId="32ecbe95da14ada2" providerId="LiveId" clId="{E2CF9698-1EE3-412C-9545-08716EC81416}" dt="2025-09-18T09:23:18.984" v="3" actId="1076"/>
          <ac:picMkLst>
            <pc:docMk/>
            <pc:sldMk cId="665784810" sldId="864"/>
            <ac:picMk id="5" creationId="{8AD69FD7-40D5-F660-4614-3D8EB17A5835}"/>
          </ac:picMkLst>
        </pc:picChg>
      </pc:sldChg>
      <pc:sldChg chg="modSp mod">
        <pc:chgData name="Ibrahim Imam" userId="32ecbe95da14ada2" providerId="LiveId" clId="{E2CF9698-1EE3-412C-9545-08716EC81416}" dt="2025-09-18T09:22:43.185" v="2" actId="1036"/>
        <pc:sldMkLst>
          <pc:docMk/>
          <pc:sldMk cId="1649384883" sldId="919"/>
        </pc:sldMkLst>
        <pc:picChg chg="mod">
          <ac:chgData name="Ibrahim Imam" userId="32ecbe95da14ada2" providerId="LiveId" clId="{E2CF9698-1EE3-412C-9545-08716EC81416}" dt="2025-09-18T09:22:43.185" v="2" actId="1036"/>
          <ac:picMkLst>
            <pc:docMk/>
            <pc:sldMk cId="1649384883" sldId="919"/>
            <ac:picMk id="7" creationId="{F723B25C-6205-294E-04C2-E825B664C2B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43C625-BD40-47B8-BE69-1215B7BA595E}" type="datetimeFigureOut">
              <a:rPr lang="en-US" smtClean="0"/>
              <a:t>11/16/2025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DB0407-967F-4982-9CE3-6939F5D5778C}" type="slidenum">
              <a:rPr lang="en-US" smtClean="0"/>
              <a:t>‹#›</a:t>
            </a:fld>
            <a:endParaRPr lang="en-US" dirty="0"/>
          </a:p>
        </p:txBody>
      </p:sp>
    </p:spTree>
    <p:extLst>
      <p:ext uri="{BB962C8B-B14F-4D97-AF65-F5344CB8AC3E}">
        <p14:creationId xmlns:p14="http://schemas.microsoft.com/office/powerpoint/2010/main" val="2719583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speedtest.net/" TargetMode="External"/><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used on connection problem</a:t>
            </a:r>
            <a:r>
              <a:rPr lang="en-US" baseline="0" dirty="0"/>
              <a:t>  ( OTCCT , </a:t>
            </a:r>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2</a:t>
            </a:fld>
            <a:endParaRPr lang="en-US" dirty="0"/>
          </a:p>
        </p:txBody>
      </p:sp>
    </p:spTree>
    <p:extLst>
      <p:ext uri="{BB962C8B-B14F-4D97-AF65-F5344CB8AC3E}">
        <p14:creationId xmlns:p14="http://schemas.microsoft.com/office/powerpoint/2010/main" val="3508448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11</a:t>
            </a:fld>
            <a:endParaRPr lang="en-US" dirty="0"/>
          </a:p>
        </p:txBody>
      </p:sp>
    </p:spTree>
    <p:extLst>
      <p:ext uri="{BB962C8B-B14F-4D97-AF65-F5344CB8AC3E}">
        <p14:creationId xmlns:p14="http://schemas.microsoft.com/office/powerpoint/2010/main" val="3508448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OTCCT tool</a:t>
            </a:r>
            <a:endParaRPr lang="ar-EG" dirty="0"/>
          </a:p>
        </p:txBody>
      </p:sp>
      <p:sp>
        <p:nvSpPr>
          <p:cNvPr id="4" name="Slide Number Placeholder 3"/>
          <p:cNvSpPr>
            <a:spLocks noGrp="1"/>
          </p:cNvSpPr>
          <p:nvPr>
            <p:ph type="sldNum" sz="quarter" idx="10"/>
          </p:nvPr>
        </p:nvSpPr>
        <p:spPr/>
        <p:txBody>
          <a:bodyPr/>
          <a:lstStyle/>
          <a:p>
            <a:fld id="{05DB0407-967F-4982-9CE3-6939F5D5778C}" type="slidenum">
              <a:rPr lang="en-US" smtClean="0"/>
              <a:t>20</a:t>
            </a:fld>
            <a:endParaRPr lang="en-US" dirty="0"/>
          </a:p>
        </p:txBody>
      </p:sp>
    </p:spTree>
    <p:extLst>
      <p:ext uri="{BB962C8B-B14F-4D97-AF65-F5344CB8AC3E}">
        <p14:creationId xmlns:p14="http://schemas.microsoft.com/office/powerpoint/2010/main" val="659545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ar-EG" dirty="0">
                <a:ln w="1905"/>
                <a:effectLst>
                  <a:innerShdw blurRad="69850" dist="43180" dir="5400000">
                    <a:srgbClr val="000000">
                      <a:alpha val="65000"/>
                    </a:srgbClr>
                  </a:innerShdw>
                </a:effectLst>
              </a:rPr>
              <a:t>في حاله ان العميل </a:t>
            </a:r>
            <a:r>
              <a:rPr lang="ar-EG" dirty="0" err="1">
                <a:ln w="1905"/>
                <a:effectLst>
                  <a:innerShdw blurRad="69850" dist="43180" dir="5400000">
                    <a:srgbClr val="000000">
                      <a:alpha val="65000"/>
                    </a:srgbClr>
                  </a:innerShdw>
                </a:effectLst>
              </a:rPr>
              <a:t>بيواجه</a:t>
            </a:r>
            <a:r>
              <a:rPr lang="ar-EG" dirty="0">
                <a:ln w="1905"/>
                <a:effectLst>
                  <a:innerShdw blurRad="69850" dist="43180" dir="5400000">
                    <a:srgbClr val="000000">
                      <a:alpha val="65000"/>
                    </a:srgbClr>
                  </a:innerShdw>
                </a:effectLst>
              </a:rPr>
              <a:t> مشكله </a:t>
            </a:r>
            <a:r>
              <a:rPr lang="en-US" dirty="0">
                <a:ln w="1905"/>
                <a:effectLst>
                  <a:innerShdw blurRad="69850" dist="43180" dir="5400000">
                    <a:srgbClr val="000000">
                      <a:alpha val="65000"/>
                    </a:srgbClr>
                  </a:innerShdw>
                </a:effectLst>
              </a:rPr>
              <a:t>Login Failed </a:t>
            </a:r>
            <a:r>
              <a:rPr lang="ar-EG" dirty="0">
                <a:ln w="1905"/>
                <a:effectLst>
                  <a:innerShdw blurRad="69850" dist="43180" dir="5400000">
                    <a:srgbClr val="000000">
                      <a:alpha val="65000"/>
                    </a:srgbClr>
                  </a:innerShdw>
                </a:effectLst>
              </a:rPr>
              <a:t> و ال </a:t>
            </a:r>
            <a:r>
              <a:rPr lang="en-US" dirty="0">
                <a:ln w="1905"/>
                <a:effectLst>
                  <a:innerShdw blurRad="69850" dist="43180" dir="5400000">
                    <a:srgbClr val="000000">
                      <a:alpha val="65000"/>
                    </a:srgbClr>
                  </a:innerShdw>
                </a:effectLst>
              </a:rPr>
              <a:t>Username </a:t>
            </a:r>
            <a:r>
              <a:rPr lang="ar-EG" dirty="0">
                <a:ln w="1905"/>
                <a:effectLst>
                  <a:innerShdw blurRad="69850" dist="43180" dir="5400000">
                    <a:srgbClr val="000000">
                      <a:alpha val="65000"/>
                    </a:srgbClr>
                  </a:innerShdw>
                </a:effectLst>
              </a:rPr>
              <a:t> مكتوب غلط علي ال </a:t>
            </a:r>
            <a:r>
              <a:rPr lang="en-US" dirty="0">
                <a:ln w="1905"/>
                <a:effectLst>
                  <a:innerShdw blurRad="69850" dist="43180" dir="5400000">
                    <a:srgbClr val="000000">
                      <a:alpha val="65000"/>
                    </a:srgbClr>
                  </a:innerShdw>
                </a:effectLst>
              </a:rPr>
              <a:t> OTCCT </a:t>
            </a:r>
            <a:r>
              <a:rPr lang="ar-EG" dirty="0">
                <a:ln w="1905"/>
                <a:effectLst>
                  <a:innerShdw blurRad="69850" dist="43180" dir="5400000">
                    <a:srgbClr val="000000">
                      <a:alpha val="65000"/>
                    </a:srgbClr>
                  </a:innerShdw>
                </a:effectLst>
              </a:rPr>
              <a:t>لازم ندخل علي صفحة الراوتر و نعدل ال </a:t>
            </a:r>
            <a:r>
              <a:rPr lang="en-US" dirty="0">
                <a:ln w="1905"/>
                <a:effectLst>
                  <a:innerShdw blurRad="69850" dist="43180" dir="5400000">
                    <a:srgbClr val="000000">
                      <a:alpha val="65000"/>
                    </a:srgbClr>
                  </a:innerShdw>
                </a:effectLst>
              </a:rPr>
              <a:t>username </a:t>
            </a:r>
            <a:r>
              <a:rPr lang="ar-EG" dirty="0">
                <a:ln w="1905"/>
                <a:effectLst>
                  <a:innerShdw blurRad="69850" dist="43180" dir="5400000">
                    <a:srgbClr val="000000">
                      <a:alpha val="65000"/>
                    </a:srgbClr>
                  </a:innerShdw>
                </a:effectLst>
              </a:rPr>
              <a:t> ولو مش عارفين ندخل علي صفحة الراوتر نعيد تعريفه من البداية </a:t>
            </a:r>
            <a:r>
              <a:rPr lang="en-US" dirty="0">
                <a:ln w="1905"/>
                <a:effectLst>
                  <a:innerShdw blurRad="69850" dist="43180" dir="5400000">
                    <a:srgbClr val="000000">
                      <a:alpha val="65000"/>
                    </a:srgbClr>
                  </a:innerShdw>
                </a:effectLst>
              </a:rPr>
              <a:t>.Reconfiguration</a:t>
            </a:r>
            <a:r>
              <a:rPr lang="ar-EG" dirty="0">
                <a:ln w="1905"/>
                <a:effectLst>
                  <a:innerShdw blurRad="69850" dist="43180" dir="5400000">
                    <a:srgbClr val="000000">
                      <a:alpha val="65000"/>
                    </a:srgbClr>
                  </a:innerShdw>
                </a:effectLst>
              </a:rPr>
              <a:t> في حاله انه صحيح و عنده مشكله </a:t>
            </a:r>
            <a:r>
              <a:rPr lang="en-US" dirty="0">
                <a:ln w="1905"/>
                <a:effectLst>
                  <a:innerShdw blurRad="69850" dist="43180" dir="5400000">
                    <a:srgbClr val="000000">
                      <a:alpha val="65000"/>
                    </a:srgbClr>
                  </a:innerShdw>
                </a:effectLst>
              </a:rPr>
              <a:t>login failed</a:t>
            </a:r>
            <a:r>
              <a:rPr lang="ar-EG" dirty="0">
                <a:ln w="1905"/>
                <a:effectLst>
                  <a:innerShdw blurRad="69850" dist="43180" dir="5400000">
                    <a:srgbClr val="000000">
                      <a:alpha val="65000"/>
                    </a:srgbClr>
                  </a:innerShdw>
                </a:effectLst>
              </a:rPr>
              <a:t> و ال </a:t>
            </a:r>
            <a:r>
              <a:rPr lang="en-US" dirty="0">
                <a:ln w="1905"/>
                <a:effectLst>
                  <a:innerShdw blurRad="69850" dist="43180" dir="5400000">
                    <a:srgbClr val="000000">
                      <a:alpha val="65000"/>
                    </a:srgbClr>
                  </a:innerShdw>
                </a:effectLst>
              </a:rPr>
              <a:t>Inner </a:t>
            </a:r>
            <a:r>
              <a:rPr lang="en-US" dirty="0" err="1">
                <a:ln w="1905"/>
                <a:effectLst>
                  <a:innerShdw blurRad="69850" dist="43180" dir="5400000">
                    <a:srgbClr val="000000">
                      <a:alpha val="65000"/>
                    </a:srgbClr>
                  </a:innerShdw>
                </a:effectLst>
              </a:rPr>
              <a:t>Vlan</a:t>
            </a:r>
            <a:r>
              <a:rPr lang="en-US" dirty="0">
                <a:ln w="1905"/>
                <a:effectLst>
                  <a:innerShdw blurRad="69850" dist="43180" dir="5400000">
                    <a:srgbClr val="000000">
                      <a:alpha val="65000"/>
                    </a:srgbClr>
                  </a:innerShdw>
                </a:effectLst>
              </a:rPr>
              <a:t> </a:t>
            </a:r>
            <a:r>
              <a:rPr lang="ar-EG" dirty="0">
                <a:ln w="1905"/>
                <a:effectLst>
                  <a:innerShdw blurRad="69850" dist="43180" dir="5400000">
                    <a:srgbClr val="000000">
                      <a:alpha val="65000"/>
                    </a:srgbClr>
                  </a:innerShdw>
                </a:effectLst>
              </a:rPr>
              <a:t> او ال </a:t>
            </a:r>
            <a:r>
              <a:rPr lang="en-US" dirty="0">
                <a:ln w="1905"/>
                <a:effectLst>
                  <a:innerShdw blurRad="69850" dist="43180" dir="5400000">
                    <a:srgbClr val="000000">
                      <a:alpha val="65000"/>
                    </a:srgbClr>
                  </a:innerShdw>
                </a:effectLst>
              </a:rPr>
              <a:t>Cabinet</a:t>
            </a:r>
            <a:r>
              <a:rPr lang="ar-EG" dirty="0">
                <a:ln w="1905"/>
                <a:effectLst>
                  <a:innerShdw blurRad="69850" dist="43180" dir="5400000">
                    <a:srgbClr val="000000">
                      <a:alpha val="65000"/>
                    </a:srgbClr>
                  </a:innerShdw>
                </a:effectLst>
              </a:rPr>
              <a:t> علي ال </a:t>
            </a:r>
            <a:r>
              <a:rPr lang="en-US" dirty="0">
                <a:ln w="1905"/>
                <a:effectLst>
                  <a:innerShdw blurRad="69850" dist="43180" dir="5400000">
                    <a:srgbClr val="000000">
                      <a:alpha val="65000"/>
                    </a:srgbClr>
                  </a:innerShdw>
                </a:effectLst>
              </a:rPr>
              <a:t>FTTH</a:t>
            </a:r>
            <a:r>
              <a:rPr lang="en-US" baseline="0" dirty="0">
                <a:ln w="1905"/>
                <a:effectLst>
                  <a:innerShdw blurRad="69850" dist="43180" dir="5400000">
                    <a:srgbClr val="000000">
                      <a:alpha val="65000"/>
                    </a:srgbClr>
                  </a:innerShdw>
                </a:effectLst>
              </a:rPr>
              <a:t> Tool</a:t>
            </a:r>
            <a:r>
              <a:rPr lang="ar-EG" dirty="0">
                <a:ln w="1905"/>
                <a:effectLst>
                  <a:innerShdw blurRad="69850" dist="43180" dir="5400000">
                    <a:srgbClr val="000000">
                      <a:alpha val="65000"/>
                    </a:srgbClr>
                  </a:innerShdw>
                </a:effectLst>
              </a:rPr>
              <a:t>مختلفة بالمقارنة بال </a:t>
            </a:r>
            <a:r>
              <a:rPr lang="en-US" dirty="0">
                <a:ln w="1905"/>
                <a:effectLst>
                  <a:innerShdw blurRad="69850" dist="43180" dir="5400000">
                    <a:srgbClr val="000000">
                      <a:alpha val="65000"/>
                    </a:srgbClr>
                  </a:innerShdw>
                </a:effectLst>
              </a:rPr>
              <a:t>OTCCT</a:t>
            </a:r>
            <a:r>
              <a:rPr lang="ar-EG" dirty="0">
                <a:ln w="1905"/>
                <a:effectLst>
                  <a:innerShdw blurRad="69850" dist="43180" dir="5400000">
                    <a:srgbClr val="000000">
                      <a:alpha val="65000"/>
                    </a:srgbClr>
                  </a:innerShdw>
                </a:effectLst>
              </a:rPr>
              <a:t>  نكلم ال </a:t>
            </a:r>
            <a:r>
              <a:rPr lang="en-US" dirty="0">
                <a:ln w="1905"/>
                <a:effectLst>
                  <a:innerShdw blurRad="69850" dist="43180" dir="5400000">
                    <a:srgbClr val="000000">
                      <a:alpha val="65000"/>
                    </a:srgbClr>
                  </a:innerShdw>
                </a:effectLst>
              </a:rPr>
              <a:t>Assist Hunt</a:t>
            </a:r>
            <a:r>
              <a:rPr lang="ar-EG" dirty="0">
                <a:ln w="1905"/>
                <a:effectLst>
                  <a:innerShdw blurRad="69850" dist="43180" dir="5400000">
                    <a:srgbClr val="000000">
                      <a:alpha val="65000"/>
                    </a:srgbClr>
                  </a:innerShdw>
                </a:effectLst>
              </a:rPr>
              <a:t> </a:t>
            </a:r>
            <a:r>
              <a:rPr lang="en-US" dirty="0">
                <a:ln w="1905"/>
                <a:effectLst>
                  <a:innerShdw blurRad="69850" dist="43180" dir="5400000">
                    <a:srgbClr val="000000">
                      <a:alpha val="65000"/>
                    </a:srgbClr>
                  </a:innerShdw>
                </a:effectLst>
              </a:rPr>
              <a:t>.</a:t>
            </a:r>
            <a:r>
              <a:rPr lang="ar-EG" dirty="0">
                <a:ln w="1905"/>
                <a:effectLst>
                  <a:innerShdw blurRad="69850" dist="43180" dir="5400000">
                    <a:srgbClr val="000000">
                      <a:alpha val="65000"/>
                    </a:srgbClr>
                  </a:innerShdw>
                </a:effectLst>
              </a:rPr>
              <a:t>لو المشكلة لسه موجوده نعمل  </a:t>
            </a:r>
            <a:r>
              <a:rPr lang="en-US" dirty="0">
                <a:ln w="1905"/>
                <a:effectLst>
                  <a:innerShdw blurRad="69850" dist="43180" dir="5400000">
                    <a:srgbClr val="000000">
                      <a:alpha val="65000"/>
                    </a:srgbClr>
                  </a:innerShdw>
                </a:effectLst>
              </a:rPr>
              <a:t>Authentication SR </a:t>
            </a:r>
            <a:r>
              <a:rPr lang="ar-EG" dirty="0">
                <a:ln w="1905"/>
                <a:effectLst>
                  <a:innerShdw blurRad="69850" dist="43180" dir="5400000">
                    <a:srgbClr val="000000">
                      <a:alpha val="65000"/>
                    </a:srgbClr>
                  </a:innerShdw>
                </a:effectLst>
              </a:rPr>
              <a:t> بصوره طبيعية ولو فيه مشكله فال </a:t>
            </a:r>
            <a:r>
              <a:rPr lang="en-US" dirty="0">
                <a:ln w="1905"/>
                <a:effectLst>
                  <a:innerShdw blurRad="69850" dist="43180" dir="5400000">
                    <a:srgbClr val="000000">
                      <a:alpha val="65000"/>
                    </a:srgbClr>
                  </a:innerShdw>
                </a:effectLst>
              </a:rPr>
              <a:t>Falcon </a:t>
            </a:r>
            <a:r>
              <a:rPr lang="ar-EG" dirty="0">
                <a:ln w="1905"/>
                <a:effectLst>
                  <a:innerShdw blurRad="69850" dist="43180" dir="5400000">
                    <a:srgbClr val="000000">
                      <a:alpha val="65000"/>
                    </a:srgbClr>
                  </a:innerShdw>
                </a:effectLst>
              </a:rPr>
              <a:t> ال </a:t>
            </a:r>
            <a:r>
              <a:rPr lang="en-US" dirty="0">
                <a:ln w="1905"/>
                <a:effectLst>
                  <a:innerShdw blurRad="69850" dist="43180" dir="5400000">
                    <a:srgbClr val="000000">
                      <a:alpha val="65000"/>
                    </a:srgbClr>
                  </a:innerShdw>
                </a:effectLst>
              </a:rPr>
              <a:t>Assist </a:t>
            </a:r>
            <a:r>
              <a:rPr lang="ar-EG" dirty="0">
                <a:ln w="1905"/>
                <a:effectLst>
                  <a:innerShdw blurRad="69850" dist="43180" dir="5400000">
                    <a:srgbClr val="000000">
                      <a:alpha val="65000"/>
                    </a:srgbClr>
                  </a:innerShdw>
                </a:effectLst>
              </a:rPr>
              <a:t> </a:t>
            </a:r>
            <a:r>
              <a:rPr lang="ar-EG" dirty="0" err="1">
                <a:ln w="1905"/>
                <a:effectLst>
                  <a:innerShdw blurRad="69850" dist="43180" dir="5400000">
                    <a:srgbClr val="000000">
                      <a:alpha val="65000"/>
                    </a:srgbClr>
                  </a:innerShdw>
                </a:effectLst>
              </a:rPr>
              <a:t>هيوضحلك</a:t>
            </a:r>
            <a:r>
              <a:rPr lang="ar-EG" dirty="0">
                <a:ln w="1905"/>
                <a:effectLst>
                  <a:innerShdw blurRad="69850" dist="43180" dir="5400000">
                    <a:srgbClr val="000000">
                      <a:alpha val="65000"/>
                    </a:srgbClr>
                  </a:innerShdw>
                </a:effectLst>
              </a:rPr>
              <a:t> تعمل ايه بناء علي المشكلة. </a:t>
            </a:r>
            <a:endParaRPr lang="en-US" cap="none" spc="0" dirty="0">
              <a:ln w="1905"/>
              <a:effectLst>
                <a:innerShdw blurRad="69850" dist="43180" dir="5400000">
                  <a:srgbClr val="000000">
                    <a:alpha val="65000"/>
                  </a:srgbClr>
                </a:innerShdw>
              </a:effectLst>
            </a:endParaRPr>
          </a:p>
          <a:p>
            <a:pPr algn="r"/>
            <a:endParaRPr lang="ar-EG" dirty="0"/>
          </a:p>
          <a:p>
            <a:pPr algn="r"/>
            <a:endParaRPr lang="ar-EG" dirty="0"/>
          </a:p>
        </p:txBody>
      </p:sp>
      <p:sp>
        <p:nvSpPr>
          <p:cNvPr id="4" name="Slide Number Placeholder 3"/>
          <p:cNvSpPr>
            <a:spLocks noGrp="1"/>
          </p:cNvSpPr>
          <p:nvPr>
            <p:ph type="sldNum" sz="quarter" idx="10"/>
          </p:nvPr>
        </p:nvSpPr>
        <p:spPr/>
        <p:txBody>
          <a:bodyPr/>
          <a:lstStyle/>
          <a:p>
            <a:fld id="{05DB0407-967F-4982-9CE3-6939F5D5778C}" type="slidenum">
              <a:rPr lang="en-US" smtClean="0"/>
              <a:t>24</a:t>
            </a:fld>
            <a:endParaRPr lang="en-US" dirty="0"/>
          </a:p>
        </p:txBody>
      </p:sp>
    </p:spTree>
    <p:extLst>
      <p:ext uri="{BB962C8B-B14F-4D97-AF65-F5344CB8AC3E}">
        <p14:creationId xmlns:p14="http://schemas.microsoft.com/office/powerpoint/2010/main" val="3804975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check</a:t>
            </a:r>
            <a:r>
              <a:rPr lang="en-US" baseline="0" dirty="0"/>
              <a:t> IP tool and PCRF ( QOS and redirection ) </a:t>
            </a:r>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42</a:t>
            </a:fld>
            <a:endParaRPr lang="en-US" dirty="0"/>
          </a:p>
        </p:txBody>
      </p:sp>
    </p:spTree>
    <p:extLst>
      <p:ext uri="{BB962C8B-B14F-4D97-AF65-F5344CB8AC3E}">
        <p14:creationId xmlns:p14="http://schemas.microsoft.com/office/powerpoint/2010/main" val="4225666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61</a:t>
            </a:fld>
            <a:endParaRPr lang="en-US" dirty="0"/>
          </a:p>
        </p:txBody>
      </p:sp>
    </p:spTree>
    <p:extLst>
      <p:ext uri="{BB962C8B-B14F-4D97-AF65-F5344CB8AC3E}">
        <p14:creationId xmlns:p14="http://schemas.microsoft.com/office/powerpoint/2010/main" val="1756513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81</a:t>
            </a:fld>
            <a:endParaRPr lang="en-US" dirty="0"/>
          </a:p>
        </p:txBody>
      </p:sp>
    </p:spTree>
    <p:extLst>
      <p:ext uri="{BB962C8B-B14F-4D97-AF65-F5344CB8AC3E}">
        <p14:creationId xmlns:p14="http://schemas.microsoft.com/office/powerpoint/2010/main" val="4274770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PCRF</a:t>
            </a:r>
          </a:p>
        </p:txBody>
      </p:sp>
      <p:sp>
        <p:nvSpPr>
          <p:cNvPr id="4" name="Slide Number Placeholder 3"/>
          <p:cNvSpPr>
            <a:spLocks noGrp="1"/>
          </p:cNvSpPr>
          <p:nvPr>
            <p:ph type="sldNum" sz="quarter" idx="10"/>
          </p:nvPr>
        </p:nvSpPr>
        <p:spPr/>
        <p:txBody>
          <a:bodyPr/>
          <a:lstStyle/>
          <a:p>
            <a:fld id="{05DB0407-967F-4982-9CE3-6939F5D5778C}" type="slidenum">
              <a:rPr lang="en-US" smtClean="0"/>
              <a:t>84</a:t>
            </a:fld>
            <a:endParaRPr lang="en-US" dirty="0"/>
          </a:p>
        </p:txBody>
      </p:sp>
    </p:spTree>
    <p:extLst>
      <p:ext uri="{BB962C8B-B14F-4D97-AF65-F5344CB8AC3E}">
        <p14:creationId xmlns:p14="http://schemas.microsoft.com/office/powerpoint/2010/main" val="2538262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86</a:t>
            </a:fld>
            <a:endParaRPr lang="en-US" dirty="0"/>
          </a:p>
        </p:txBody>
      </p:sp>
    </p:spTree>
    <p:extLst>
      <p:ext uri="{BB962C8B-B14F-4D97-AF65-F5344CB8AC3E}">
        <p14:creationId xmlns:p14="http://schemas.microsoft.com/office/powerpoint/2010/main" val="1851083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check QOS on PCRF </a:t>
            </a:r>
          </a:p>
        </p:txBody>
      </p:sp>
      <p:sp>
        <p:nvSpPr>
          <p:cNvPr id="4" name="Slide Number Placeholder 3"/>
          <p:cNvSpPr>
            <a:spLocks noGrp="1"/>
          </p:cNvSpPr>
          <p:nvPr>
            <p:ph type="sldNum" sz="quarter" idx="10"/>
          </p:nvPr>
        </p:nvSpPr>
        <p:spPr/>
        <p:txBody>
          <a:bodyPr/>
          <a:lstStyle/>
          <a:p>
            <a:fld id="{05DB0407-967F-4982-9CE3-6939F5D5778C}" type="slidenum">
              <a:rPr lang="en-US" smtClean="0"/>
              <a:t>93</a:t>
            </a:fld>
            <a:endParaRPr lang="en-US" dirty="0"/>
          </a:p>
        </p:txBody>
      </p:sp>
    </p:spTree>
    <p:extLst>
      <p:ext uri="{BB962C8B-B14F-4D97-AF65-F5344CB8AC3E}">
        <p14:creationId xmlns:p14="http://schemas.microsoft.com/office/powerpoint/2010/main" val="1648916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Copy the DSLAM</a:t>
            </a:r>
            <a:r>
              <a:rPr lang="en-US" b="1" baseline="0" dirty="0"/>
              <a:t> </a:t>
            </a:r>
            <a:r>
              <a:rPr lang="en-US" b="1" dirty="0"/>
              <a:t>Name from OTCCT ( check tool guide</a:t>
            </a:r>
            <a:r>
              <a:rPr lang="en-US" b="1" baseline="0" dirty="0"/>
              <a:t> ) </a:t>
            </a:r>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97</a:t>
            </a:fld>
            <a:endParaRPr lang="en-US" dirty="0"/>
          </a:p>
        </p:txBody>
      </p:sp>
    </p:spTree>
    <p:extLst>
      <p:ext uri="{BB962C8B-B14F-4D97-AF65-F5344CB8AC3E}">
        <p14:creationId xmlns:p14="http://schemas.microsoft.com/office/powerpoint/2010/main" val="2524726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EG" sz="1200" b="1" dirty="0">
                <a:ln w="1905"/>
                <a:solidFill>
                  <a:schemeClr val="accent6">
                    <a:lumMod val="20000"/>
                    <a:lumOff val="80000"/>
                  </a:schemeClr>
                </a:solidFill>
                <a:effectLst>
                  <a:innerShdw blurRad="69850" dist="43180" dir="5400000">
                    <a:srgbClr val="000000">
                      <a:alpha val="65000"/>
                    </a:srgbClr>
                  </a:innerShdw>
                </a:effectLst>
              </a:rPr>
              <a:t>في حاله ان العميل عنده مشكلة بطء في السرعة وكل </a:t>
            </a:r>
            <a:r>
              <a:rPr lang="ar-EG" sz="1200" b="1" dirty="0" err="1">
                <a:ln w="1905"/>
                <a:solidFill>
                  <a:schemeClr val="accent6">
                    <a:lumMod val="20000"/>
                    <a:lumOff val="80000"/>
                  </a:schemeClr>
                </a:solidFill>
                <a:effectLst>
                  <a:innerShdw blurRad="69850" dist="43180" dir="5400000">
                    <a:srgbClr val="000000">
                      <a:alpha val="65000"/>
                    </a:srgbClr>
                  </a:innerShdw>
                </a:effectLst>
              </a:rPr>
              <a:t>القرايات</a:t>
            </a:r>
            <a:r>
              <a:rPr lang="ar-EG" sz="1200" b="1" dirty="0">
                <a:ln w="1905"/>
                <a:solidFill>
                  <a:schemeClr val="accent6">
                    <a:lumMod val="20000"/>
                    <a:lumOff val="80000"/>
                  </a:schemeClr>
                </a:solidFill>
                <a:effectLst>
                  <a:innerShdw blurRad="69850" dist="43180" dir="5400000">
                    <a:srgbClr val="000000">
                      <a:alpha val="65000"/>
                    </a:srgbClr>
                  </a:innerShdw>
                </a:effectLst>
              </a:rPr>
              <a:t> علي السيستم سليمه و عنده </a:t>
            </a:r>
            <a:r>
              <a:rPr lang="ar-EG" sz="1200" b="1" dirty="0" err="1">
                <a:ln w="1905"/>
                <a:solidFill>
                  <a:schemeClr val="accent6">
                    <a:lumMod val="20000"/>
                    <a:lumOff val="80000"/>
                  </a:schemeClr>
                </a:solidFill>
                <a:effectLst>
                  <a:innerShdw blurRad="69850" dist="43180" dir="5400000">
                    <a:srgbClr val="000000">
                      <a:alpha val="65000"/>
                    </a:srgbClr>
                  </a:innerShdw>
                </a:effectLst>
              </a:rPr>
              <a:t>جيجات</a:t>
            </a:r>
            <a:r>
              <a:rPr lang="ar-EG" sz="1200" b="1" dirty="0">
                <a:ln w="1905"/>
                <a:solidFill>
                  <a:schemeClr val="accent6">
                    <a:lumMod val="20000"/>
                    <a:lumOff val="80000"/>
                  </a:schemeClr>
                </a:solidFill>
                <a:effectLst>
                  <a:innerShdw blurRad="69850" dist="43180" dir="5400000">
                    <a:srgbClr val="000000">
                      <a:alpha val="65000"/>
                    </a:srgbClr>
                  </a:innerShdw>
                </a:effectLst>
              </a:rPr>
              <a:t> متاحه (</a:t>
            </a:r>
            <a:r>
              <a:rPr lang="en-US" sz="1200" b="1" dirty="0">
                <a:ln w="1905"/>
                <a:solidFill>
                  <a:schemeClr val="accent6">
                    <a:lumMod val="20000"/>
                    <a:lumOff val="80000"/>
                  </a:schemeClr>
                </a:solidFill>
                <a:effectLst>
                  <a:innerShdw blurRad="69850" dist="43180" dir="5400000">
                    <a:srgbClr val="000000">
                      <a:alpha val="65000"/>
                    </a:srgbClr>
                  </a:innerShdw>
                </a:effectLst>
              </a:rPr>
              <a:t> (Quota</a:t>
            </a:r>
            <a:r>
              <a:rPr lang="ar-EG" sz="1200" b="1" dirty="0">
                <a:ln w="1905"/>
                <a:solidFill>
                  <a:schemeClr val="accent6">
                    <a:lumMod val="20000"/>
                    <a:lumOff val="80000"/>
                  </a:schemeClr>
                </a:solidFill>
                <a:effectLst>
                  <a:innerShdw blurRad="69850" dist="43180" dir="5400000">
                    <a:srgbClr val="000000">
                      <a:alpha val="65000"/>
                    </a:srgbClr>
                  </a:innerShdw>
                </a:effectLst>
              </a:rPr>
              <a:t> بنخلي العميل يفتح </a:t>
            </a:r>
            <a:r>
              <a:rPr lang="en-US" sz="1200" b="1" dirty="0">
                <a:ln w="1905"/>
                <a:solidFill>
                  <a:schemeClr val="accent6">
                    <a:lumMod val="20000"/>
                    <a:lumOff val="80000"/>
                  </a:schemeClr>
                </a:solidFill>
                <a:effectLst>
                  <a:innerShdw blurRad="69850" dist="43180" dir="5400000">
                    <a:srgbClr val="000000">
                      <a:alpha val="65000"/>
                    </a:srgbClr>
                  </a:innerShdw>
                </a:effectLst>
                <a:hlinkClick r:id="rId3"/>
              </a:rPr>
              <a:t>www.speedtest.net</a:t>
            </a:r>
            <a:r>
              <a:rPr lang="en-US" sz="1200" b="1" dirty="0">
                <a:ln w="1905"/>
                <a:solidFill>
                  <a:schemeClr val="accent6">
                    <a:lumMod val="20000"/>
                    <a:lumOff val="80000"/>
                  </a:schemeClr>
                </a:solidFill>
                <a:effectLst>
                  <a:innerShdw blurRad="69850" dist="43180" dir="5400000">
                    <a:srgbClr val="000000">
                      <a:alpha val="65000"/>
                    </a:srgbClr>
                  </a:innerShdw>
                </a:effectLst>
              </a:rPr>
              <a:t> </a:t>
            </a:r>
            <a:r>
              <a:rPr lang="ar-EG" sz="1200" b="1" dirty="0">
                <a:ln w="1905"/>
                <a:solidFill>
                  <a:schemeClr val="accent6">
                    <a:lumMod val="20000"/>
                    <a:lumOff val="80000"/>
                  </a:schemeClr>
                </a:solidFill>
                <a:effectLst>
                  <a:innerShdw blurRad="69850" dist="43180" dir="5400000">
                    <a:srgbClr val="000000">
                      <a:alpha val="65000"/>
                    </a:srgbClr>
                  </a:innerShdw>
                </a:effectLst>
              </a:rPr>
              <a:t> لو علي موبايل </a:t>
            </a:r>
            <a:r>
              <a:rPr lang="ar-EG" sz="1200" b="1" dirty="0" err="1">
                <a:ln w="1905"/>
                <a:solidFill>
                  <a:schemeClr val="accent6">
                    <a:lumMod val="20000"/>
                    <a:lumOff val="80000"/>
                  </a:schemeClr>
                </a:solidFill>
                <a:effectLst>
                  <a:innerShdw blurRad="69850" dist="43180" dir="5400000">
                    <a:srgbClr val="000000">
                      <a:alpha val="65000"/>
                    </a:srgbClr>
                  </a:innerShdw>
                </a:effectLst>
              </a:rPr>
              <a:t>هيطلب</a:t>
            </a:r>
            <a:r>
              <a:rPr lang="ar-EG" sz="1200" b="1" dirty="0">
                <a:ln w="1905"/>
                <a:solidFill>
                  <a:schemeClr val="accent6">
                    <a:lumMod val="20000"/>
                    <a:lumOff val="80000"/>
                  </a:schemeClr>
                </a:solidFill>
                <a:effectLst>
                  <a:innerShdw blurRad="69850" dist="43180" dir="5400000">
                    <a:srgbClr val="000000">
                      <a:alpha val="65000"/>
                    </a:srgbClr>
                  </a:innerShdw>
                </a:effectLst>
              </a:rPr>
              <a:t> منه ينزل </a:t>
            </a:r>
            <a:r>
              <a:rPr lang="en-US" sz="1200" b="1" dirty="0">
                <a:ln w="1905"/>
                <a:solidFill>
                  <a:schemeClr val="accent6">
                    <a:lumMod val="20000"/>
                    <a:lumOff val="80000"/>
                  </a:schemeClr>
                </a:solidFill>
                <a:effectLst>
                  <a:innerShdw blurRad="69850" dist="43180" dir="5400000">
                    <a:srgbClr val="000000">
                      <a:alpha val="65000"/>
                    </a:srgbClr>
                  </a:innerShdw>
                </a:effectLst>
              </a:rPr>
              <a:t>application </a:t>
            </a:r>
            <a:r>
              <a:rPr lang="ar-EG" sz="1200" b="1" dirty="0">
                <a:ln w="1905"/>
                <a:solidFill>
                  <a:schemeClr val="accent6">
                    <a:lumMod val="20000"/>
                    <a:lumOff val="80000"/>
                  </a:schemeClr>
                </a:solidFill>
                <a:effectLst>
                  <a:innerShdw blurRad="69850" dist="43180" dir="5400000">
                    <a:srgbClr val="000000">
                      <a:alpha val="65000"/>
                    </a:srgbClr>
                  </a:innerShdw>
                </a:effectLst>
              </a:rPr>
              <a:t> بضغط علي </a:t>
            </a:r>
            <a:r>
              <a:rPr lang="en-US" sz="1200" b="1" dirty="0">
                <a:ln w="1905"/>
                <a:solidFill>
                  <a:schemeClr val="accent6">
                    <a:lumMod val="20000"/>
                    <a:lumOff val="80000"/>
                  </a:schemeClr>
                </a:solidFill>
                <a:effectLst>
                  <a:innerShdw blurRad="69850" dist="43180" dir="5400000">
                    <a:srgbClr val="000000">
                      <a:alpha val="65000"/>
                    </a:srgbClr>
                  </a:innerShdw>
                </a:effectLst>
              </a:rPr>
              <a:t>GO</a:t>
            </a:r>
            <a:r>
              <a:rPr lang="ar-EG" sz="1200" b="1" dirty="0">
                <a:ln w="1905"/>
                <a:solidFill>
                  <a:schemeClr val="accent6">
                    <a:lumMod val="20000"/>
                    <a:lumOff val="80000"/>
                  </a:schemeClr>
                </a:solidFill>
                <a:effectLst>
                  <a:innerShdw blurRad="69850" dist="43180" dir="5400000">
                    <a:srgbClr val="000000">
                      <a:alpha val="65000"/>
                    </a:srgbClr>
                  </a:innerShdw>
                </a:effectLst>
              </a:rPr>
              <a:t> وبعدها يبيدا يظهر معدل التنزيل و التحميل عند العميل. بتأكد ان معدل السرعة اللي </a:t>
            </a:r>
            <a:r>
              <a:rPr lang="en-US" sz="1200" b="1" dirty="0">
                <a:ln w="1905"/>
                <a:solidFill>
                  <a:schemeClr val="accent6">
                    <a:lumMod val="20000"/>
                    <a:lumOff val="80000"/>
                  </a:schemeClr>
                </a:solidFill>
                <a:effectLst>
                  <a:innerShdw blurRad="69850" dist="43180" dir="5400000">
                    <a:srgbClr val="000000">
                      <a:alpha val="65000"/>
                    </a:srgbClr>
                  </a:innerShdw>
                </a:effectLst>
              </a:rPr>
              <a:t> </a:t>
            </a:r>
            <a:r>
              <a:rPr lang="ar-EG" sz="1200" b="1" dirty="0">
                <a:ln w="1905"/>
                <a:solidFill>
                  <a:schemeClr val="accent6">
                    <a:lumMod val="20000"/>
                    <a:lumOff val="80000"/>
                  </a:schemeClr>
                </a:solidFill>
                <a:effectLst>
                  <a:innerShdw blurRad="69850" dist="43180" dir="5400000">
                    <a:srgbClr val="000000">
                      <a:alpha val="65000"/>
                    </a:srgbClr>
                  </a:innerShdw>
                </a:effectLst>
              </a:rPr>
              <a:t>ظاهر للعميل يساوي او اكثر من 65% من ال </a:t>
            </a:r>
            <a:r>
              <a:rPr lang="en-US" sz="1200" b="1" dirty="0">
                <a:ln w="1905"/>
                <a:solidFill>
                  <a:schemeClr val="accent6">
                    <a:lumMod val="20000"/>
                    <a:lumOff val="80000"/>
                  </a:schemeClr>
                </a:solidFill>
                <a:effectLst>
                  <a:innerShdw blurRad="69850" dist="43180" dir="5400000">
                    <a:srgbClr val="000000">
                      <a:alpha val="65000"/>
                    </a:srgbClr>
                  </a:innerShdw>
                </a:effectLst>
              </a:rPr>
              <a:t>current rate</a:t>
            </a:r>
            <a:r>
              <a:rPr lang="ar-EG" sz="1200" b="1" dirty="0">
                <a:ln w="1905"/>
                <a:solidFill>
                  <a:schemeClr val="accent6">
                    <a:lumMod val="20000"/>
                    <a:lumOff val="80000"/>
                  </a:schemeClr>
                </a:solidFill>
                <a:effectLst>
                  <a:innerShdw blurRad="69850" dist="43180" dir="5400000">
                    <a:srgbClr val="000000">
                      <a:alpha val="65000"/>
                    </a:srgbClr>
                  </a:innerShdw>
                </a:effectLst>
              </a:rPr>
              <a:t> مش من سرعة العميل  لان دي سرعات تصل الي علي حسب كفاءة الخط.</a:t>
            </a:r>
          </a:p>
          <a:p>
            <a:pPr algn="r" rtl="1"/>
            <a:r>
              <a:rPr lang="ar-EG" sz="1200" b="1" cap="none" spc="0" dirty="0">
                <a:ln w="1905"/>
                <a:solidFill>
                  <a:schemeClr val="accent6">
                    <a:lumMod val="20000"/>
                    <a:lumOff val="80000"/>
                  </a:schemeClr>
                </a:solidFill>
                <a:effectLst>
                  <a:innerShdw blurRad="69850" dist="43180" dir="5400000">
                    <a:srgbClr val="000000">
                      <a:alpha val="65000"/>
                    </a:srgbClr>
                  </a:innerShdw>
                </a:effectLst>
              </a:rPr>
              <a:t>لو العميل نحاس اللي </a:t>
            </a:r>
            <a:r>
              <a:rPr lang="ar-EG" sz="1200" b="1" dirty="0">
                <a:ln w="1905"/>
                <a:solidFill>
                  <a:schemeClr val="accent6">
                    <a:lumMod val="20000"/>
                    <a:lumOff val="80000"/>
                  </a:schemeClr>
                </a:solidFill>
                <a:effectLst>
                  <a:innerShdw blurRad="69850" dist="43180" dir="5400000">
                    <a:srgbClr val="000000">
                      <a:alpha val="65000"/>
                    </a:srgbClr>
                  </a:innerShdw>
                </a:effectLst>
              </a:rPr>
              <a:t>ظاهر للعميل يساوي او اكثر من 45% من ال </a:t>
            </a:r>
            <a:r>
              <a:rPr lang="en-US" sz="1200" b="1" dirty="0">
                <a:ln w="1905"/>
                <a:solidFill>
                  <a:schemeClr val="accent6">
                    <a:lumMod val="20000"/>
                    <a:lumOff val="80000"/>
                  </a:schemeClr>
                </a:solidFill>
                <a:effectLst>
                  <a:innerShdw blurRad="69850" dist="43180" dir="5400000">
                    <a:srgbClr val="000000">
                      <a:alpha val="65000"/>
                    </a:srgbClr>
                  </a:innerShdw>
                </a:effectLst>
              </a:rPr>
              <a:t>current rate</a:t>
            </a:r>
            <a:r>
              <a:rPr lang="ar-EG" sz="1200" b="1" dirty="0">
                <a:ln w="1905"/>
                <a:solidFill>
                  <a:schemeClr val="accent6">
                    <a:lumMod val="20000"/>
                    <a:lumOff val="80000"/>
                  </a:schemeClr>
                </a:solidFill>
                <a:effectLst>
                  <a:innerShdw blurRad="69850" dist="43180" dir="5400000">
                    <a:srgbClr val="000000">
                      <a:alpha val="65000"/>
                    </a:srgbClr>
                  </a:innerShdw>
                </a:effectLst>
              </a:rPr>
              <a:t>.</a:t>
            </a:r>
          </a:p>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99</a:t>
            </a:fld>
            <a:endParaRPr lang="en-US" dirty="0"/>
          </a:p>
        </p:txBody>
      </p:sp>
    </p:spTree>
    <p:extLst>
      <p:ext uri="{BB962C8B-B14F-4D97-AF65-F5344CB8AC3E}">
        <p14:creationId xmlns:p14="http://schemas.microsoft.com/office/powerpoint/2010/main" val="2310098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DB0407-967F-4982-9CE3-6939F5D5778C}" type="slidenum">
              <a:rPr lang="en-US" smtClean="0"/>
              <a:t>119</a:t>
            </a:fld>
            <a:endParaRPr lang="en-US" dirty="0"/>
          </a:p>
        </p:txBody>
      </p:sp>
    </p:spTree>
    <p:extLst>
      <p:ext uri="{BB962C8B-B14F-4D97-AF65-F5344CB8AC3E}">
        <p14:creationId xmlns:p14="http://schemas.microsoft.com/office/powerpoint/2010/main" val="1990326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Check the customer parameters from your side </a:t>
            </a:r>
          </a:p>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130</a:t>
            </a:fld>
            <a:endParaRPr lang="en-US" dirty="0"/>
          </a:p>
        </p:txBody>
      </p:sp>
    </p:spTree>
    <p:extLst>
      <p:ext uri="{BB962C8B-B14F-4D97-AF65-F5344CB8AC3E}">
        <p14:creationId xmlns:p14="http://schemas.microsoft.com/office/powerpoint/2010/main" val="1029619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Connection Unstable Means: the customer has instability connectively (the customer get IP and change it without restarting the router.</a:t>
            </a:r>
          </a:p>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141</a:t>
            </a:fld>
            <a:endParaRPr lang="en-US" dirty="0"/>
          </a:p>
        </p:txBody>
      </p:sp>
    </p:spTree>
    <p:extLst>
      <p:ext uri="{BB962C8B-B14F-4D97-AF65-F5344CB8AC3E}">
        <p14:creationId xmlns:p14="http://schemas.microsoft.com/office/powerpoint/2010/main" val="4023198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none" dirty="0"/>
              <a:t>If matched</a:t>
            </a:r>
            <a:r>
              <a:rPr lang="en-US" u="none" baseline="0" dirty="0"/>
              <a:t> </a:t>
            </a:r>
            <a:r>
              <a:rPr lang="en-US" sz="1200" b="0" i="0" u="none" kern="1200" dirty="0">
                <a:solidFill>
                  <a:schemeClr val="tx1"/>
                </a:solidFill>
                <a:effectLst/>
                <a:latin typeface="+mn-lt"/>
                <a:ea typeface="+mn-ea"/>
                <a:cs typeface="+mn-cs"/>
              </a:rPr>
              <a:t> Follow line unstable WF.</a:t>
            </a:r>
            <a:br>
              <a:rPr lang="en-US" u="none" dirty="0"/>
            </a:br>
            <a:endParaRPr lang="en-US" u="none" dirty="0"/>
          </a:p>
        </p:txBody>
      </p:sp>
      <p:sp>
        <p:nvSpPr>
          <p:cNvPr id="4" name="Slide Number Placeholder 3"/>
          <p:cNvSpPr>
            <a:spLocks noGrp="1"/>
          </p:cNvSpPr>
          <p:nvPr>
            <p:ph type="sldNum" sz="quarter" idx="10"/>
          </p:nvPr>
        </p:nvSpPr>
        <p:spPr/>
        <p:txBody>
          <a:bodyPr/>
          <a:lstStyle/>
          <a:p>
            <a:fld id="{05DB0407-967F-4982-9CE3-6939F5D5778C}" type="slidenum">
              <a:rPr lang="en-US" smtClean="0"/>
              <a:t>144</a:t>
            </a:fld>
            <a:endParaRPr lang="en-US" dirty="0"/>
          </a:p>
        </p:txBody>
      </p:sp>
    </p:spTree>
    <p:extLst>
      <p:ext uri="{BB962C8B-B14F-4D97-AF65-F5344CB8AC3E}">
        <p14:creationId xmlns:p14="http://schemas.microsoft.com/office/powerpoint/2010/main" val="655916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145</a:t>
            </a:fld>
            <a:endParaRPr lang="en-US" dirty="0"/>
          </a:p>
        </p:txBody>
      </p:sp>
    </p:spTree>
    <p:extLst>
      <p:ext uri="{BB962C8B-B14F-4D97-AF65-F5344CB8AC3E}">
        <p14:creationId xmlns:p14="http://schemas.microsoft.com/office/powerpoint/2010/main" val="2679323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1" dirty="0">
                <a:ln w="1905"/>
                <a:solidFill>
                  <a:schemeClr val="accent6">
                    <a:lumMod val="20000"/>
                    <a:lumOff val="80000"/>
                  </a:schemeClr>
                </a:solidFill>
                <a:effectLst>
                  <a:innerShdw blurRad="69850" dist="43180" dir="5400000">
                    <a:srgbClr val="000000">
                      <a:alpha val="65000"/>
                    </a:srgbClr>
                  </a:innerShdw>
                </a:effectLst>
              </a:rPr>
              <a:t>Browsing sites Problem means: the customer can use internet normally except specific web site or sites</a:t>
            </a:r>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147</a:t>
            </a:fld>
            <a:endParaRPr lang="en-US" dirty="0"/>
          </a:p>
        </p:txBody>
      </p:sp>
    </p:spTree>
    <p:extLst>
      <p:ext uri="{BB962C8B-B14F-4D97-AF65-F5344CB8AC3E}">
        <p14:creationId xmlns:p14="http://schemas.microsoft.com/office/powerpoint/2010/main" val="1806297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220</a:t>
            </a:fld>
            <a:endParaRPr lang="en-US" dirty="0"/>
          </a:p>
        </p:txBody>
      </p:sp>
    </p:spTree>
    <p:extLst>
      <p:ext uri="{BB962C8B-B14F-4D97-AF65-F5344CB8AC3E}">
        <p14:creationId xmlns:p14="http://schemas.microsoft.com/office/powerpoint/2010/main" val="9455927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Check PCRF </a:t>
            </a:r>
          </a:p>
          <a:p>
            <a:endParaRPr lang="en-US" dirty="0"/>
          </a:p>
        </p:txBody>
      </p:sp>
      <p:sp>
        <p:nvSpPr>
          <p:cNvPr id="4" name="Slide Number Placeholder 3"/>
          <p:cNvSpPr>
            <a:spLocks noGrp="1"/>
          </p:cNvSpPr>
          <p:nvPr>
            <p:ph type="sldNum" sz="quarter" idx="10"/>
          </p:nvPr>
        </p:nvSpPr>
        <p:spPr/>
        <p:txBody>
          <a:bodyPr/>
          <a:lstStyle/>
          <a:p>
            <a:fld id="{05DB0407-967F-4982-9CE3-6939F5D5778C}" type="slidenum">
              <a:rPr lang="en-US" smtClean="0"/>
              <a:t>221</a:t>
            </a:fld>
            <a:endParaRPr lang="en-US" dirty="0"/>
          </a:p>
        </p:txBody>
      </p:sp>
    </p:spTree>
    <p:extLst>
      <p:ext uri="{BB962C8B-B14F-4D97-AF65-F5344CB8AC3E}">
        <p14:creationId xmlns:p14="http://schemas.microsoft.com/office/powerpoint/2010/main" val="372756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27:notes"/>
          <p:cNvSpPr txBox="1">
            <a:spLocks noGrp="1"/>
          </p:cNvSpPr>
          <p:nvPr>
            <p:ph type="body" idx="1"/>
          </p:nvPr>
        </p:nvSpPr>
        <p:spPr>
          <a:xfrm>
            <a:off x="685800" y="4400550"/>
            <a:ext cx="5486400" cy="36004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9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ar-EG"/>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ar-EG"/>
          </a:p>
        </p:txBody>
      </p:sp>
      <p:sp>
        <p:nvSpPr>
          <p:cNvPr id="4" name="Date Placeholder 3"/>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1218966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3445477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a:t>Click to edit Master title style</a:t>
            </a:r>
            <a:endParaRPr lang="ar-EG"/>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2008594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996552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ar-EG"/>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1300649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Date Placeholder 2"/>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296691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4085308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a:t>Click to edit Master title style</a:t>
            </a:r>
            <a:endParaRPr lang="ar-EG"/>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3658345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a:t>Click to edit Master title style</a:t>
            </a:r>
            <a:endParaRPr lang="ar-E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386470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3312130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ar-EG"/>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26552242-5699-4181-B818-D18838724FA9}"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EE6E80-D1C8-4A0A-9B51-9CEE03326FD0}" type="slidenum">
              <a:rPr lang="en-US" smtClean="0"/>
              <a:t>‹#›</a:t>
            </a:fld>
            <a:endParaRPr lang="en-US" dirty="0"/>
          </a:p>
        </p:txBody>
      </p:sp>
    </p:spTree>
    <p:extLst>
      <p:ext uri="{BB962C8B-B14F-4D97-AF65-F5344CB8AC3E}">
        <p14:creationId xmlns:p14="http://schemas.microsoft.com/office/powerpoint/2010/main" val="3258771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0"/>
        <p:cNvGrpSpPr/>
        <p:nvPr/>
      </p:nvGrpSpPr>
      <p:grpSpPr>
        <a:xfrm>
          <a:off x="0" y="0"/>
          <a:ext cx="0" cy="0"/>
          <a:chOff x="0" y="0"/>
          <a:chExt cx="0" cy="0"/>
        </a:xfrm>
      </p:grpSpPr>
      <p:sp>
        <p:nvSpPr>
          <p:cNvPr id="11" name="Google Shape;11;p2"/>
          <p:cNvSpPr/>
          <p:nvPr/>
        </p:nvSpPr>
        <p:spPr>
          <a:xfrm>
            <a:off x="167951" y="5958766"/>
            <a:ext cx="4237362" cy="64504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0" i="0" u="none" strike="noStrike" cap="none">
              <a:solidFill>
                <a:schemeClr val="lt1"/>
              </a:solidFill>
              <a:latin typeface="Helvetica Neue"/>
              <a:ea typeface="Helvetica Neue"/>
              <a:cs typeface="Helvetica Neue"/>
              <a:sym typeface="Helvetica Neue"/>
            </a:endParaRPr>
          </a:p>
        </p:txBody>
      </p:sp>
      <p:sp>
        <p:nvSpPr>
          <p:cNvPr id="12" name="Google Shape;12;p2"/>
          <p:cNvSpPr txBox="1">
            <a:spLocks noGrp="1"/>
          </p:cNvSpPr>
          <p:nvPr>
            <p:ph type="body" idx="1"/>
          </p:nvPr>
        </p:nvSpPr>
        <p:spPr>
          <a:xfrm>
            <a:off x="339726" y="452967"/>
            <a:ext cx="5832475" cy="4614333"/>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SzPts val="1400"/>
              <a:buNone/>
              <a:defRPr sz="5500" b="1">
                <a:solidFill>
                  <a:schemeClr val="lt1"/>
                </a:solidFill>
                <a:latin typeface="Helvetica Neue"/>
                <a:ea typeface="Helvetica Neue"/>
                <a:cs typeface="Helvetica Neue"/>
                <a:sym typeface="Helvetica Neue"/>
              </a:defRPr>
            </a:lvl1pPr>
            <a:lvl2pPr marL="914400" lvl="1" indent="-228600" algn="l">
              <a:lnSpc>
                <a:spcPct val="90000"/>
              </a:lnSpc>
              <a:spcBef>
                <a:spcPts val="3200"/>
              </a:spcBef>
              <a:spcAft>
                <a:spcPts val="0"/>
              </a:spcAft>
              <a:buSzPts val="1400"/>
              <a:buNone/>
              <a:defRPr b="1">
                <a:latin typeface="Helvetica Neue"/>
                <a:ea typeface="Helvetica Neue"/>
                <a:cs typeface="Helvetica Neue"/>
                <a:sym typeface="Helvetica Neue"/>
              </a:defRPr>
            </a:lvl2pPr>
            <a:lvl3pPr marL="1371600" lvl="2" indent="-342900" algn="l">
              <a:lnSpc>
                <a:spcPct val="90000"/>
              </a:lnSpc>
              <a:spcBef>
                <a:spcPts val="24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281"/>
              </a:spcBef>
              <a:spcAft>
                <a:spcPts val="0"/>
              </a:spcAft>
              <a:buClr>
                <a:schemeClr val="lt1"/>
              </a:buClr>
              <a:buSzPts val="1800"/>
              <a:buChar char="•"/>
              <a:defRPr/>
            </a:lvl7pPr>
            <a:lvl8pPr marL="3657600" lvl="7" indent="-342900" algn="l">
              <a:lnSpc>
                <a:spcPct val="90000"/>
              </a:lnSpc>
              <a:spcBef>
                <a:spcPts val="281"/>
              </a:spcBef>
              <a:spcAft>
                <a:spcPts val="0"/>
              </a:spcAft>
              <a:buClr>
                <a:schemeClr val="lt1"/>
              </a:buClr>
              <a:buSzPts val="1800"/>
              <a:buChar char="•"/>
              <a:defRPr/>
            </a:lvl8pPr>
            <a:lvl9pPr marL="4114800" lvl="8" indent="-342900" algn="l">
              <a:lnSpc>
                <a:spcPct val="90000"/>
              </a:lnSpc>
              <a:spcBef>
                <a:spcPts val="281"/>
              </a:spcBef>
              <a:spcAft>
                <a:spcPts val="0"/>
              </a:spcAft>
              <a:buClr>
                <a:schemeClr val="lt1"/>
              </a:buClr>
              <a:buSzPts val="1800"/>
              <a:buChar char="•"/>
              <a:defRPr/>
            </a:lvl9pPr>
          </a:lstStyle>
          <a:p>
            <a:endParaRPr/>
          </a:p>
        </p:txBody>
      </p:sp>
      <p:sp>
        <p:nvSpPr>
          <p:cNvPr id="13" name="Google Shape;13;p2"/>
          <p:cNvSpPr txBox="1">
            <a:spLocks noGrp="1"/>
          </p:cNvSpPr>
          <p:nvPr>
            <p:ph type="body" idx="2"/>
          </p:nvPr>
        </p:nvSpPr>
        <p:spPr>
          <a:xfrm>
            <a:off x="6508751" y="452967"/>
            <a:ext cx="2301875" cy="4614333"/>
          </a:xfrm>
          <a:prstGeom prst="rect">
            <a:avLst/>
          </a:prstGeom>
          <a:noFill/>
          <a:ln>
            <a:noFill/>
          </a:ln>
        </p:spPr>
        <p:txBody>
          <a:bodyPr spcFirstLastPara="1" wrap="square" lIns="0" tIns="109725" rIns="0" bIns="0" anchor="t" anchorCtr="0">
            <a:noAutofit/>
          </a:bodyPr>
          <a:lstStyle>
            <a:lvl1pPr marL="457200" lvl="0" indent="-228600" algn="l">
              <a:lnSpc>
                <a:spcPct val="90000"/>
              </a:lnSpc>
              <a:spcBef>
                <a:spcPts val="0"/>
              </a:spcBef>
              <a:spcAft>
                <a:spcPts val="0"/>
              </a:spcAft>
              <a:buSzPts val="1400"/>
              <a:buNone/>
              <a:defRPr b="1">
                <a:latin typeface="Helvetica Neue"/>
                <a:ea typeface="Helvetica Neue"/>
                <a:cs typeface="Helvetica Neue"/>
                <a:sym typeface="Helvetica Neue"/>
              </a:defRPr>
            </a:lvl1pPr>
            <a:lvl2pPr marL="914400" lvl="1" indent="-228600" algn="l">
              <a:lnSpc>
                <a:spcPct val="90000"/>
              </a:lnSpc>
              <a:spcBef>
                <a:spcPts val="2400"/>
              </a:spcBef>
              <a:spcAft>
                <a:spcPts val="0"/>
              </a:spcAft>
              <a:buSzPts val="1400"/>
              <a:buNone/>
              <a:defRPr b="1">
                <a:latin typeface="Helvetica Neue"/>
                <a:ea typeface="Helvetica Neue"/>
                <a:cs typeface="Helvetica Neue"/>
                <a:sym typeface="Helvetica Neue"/>
              </a:defRPr>
            </a:lvl2pPr>
            <a:lvl3pPr marL="1371600" lvl="2" indent="-342900" algn="l">
              <a:lnSpc>
                <a:spcPct val="90000"/>
              </a:lnSpc>
              <a:spcBef>
                <a:spcPts val="24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281"/>
              </a:spcBef>
              <a:spcAft>
                <a:spcPts val="0"/>
              </a:spcAft>
              <a:buClr>
                <a:schemeClr val="lt1"/>
              </a:buClr>
              <a:buSzPts val="1800"/>
              <a:buChar char="•"/>
              <a:defRPr/>
            </a:lvl7pPr>
            <a:lvl8pPr marL="3657600" lvl="7" indent="-342900" algn="l">
              <a:lnSpc>
                <a:spcPct val="90000"/>
              </a:lnSpc>
              <a:spcBef>
                <a:spcPts val="281"/>
              </a:spcBef>
              <a:spcAft>
                <a:spcPts val="0"/>
              </a:spcAft>
              <a:buClr>
                <a:schemeClr val="lt1"/>
              </a:buClr>
              <a:buSzPts val="1800"/>
              <a:buChar char="•"/>
              <a:defRPr/>
            </a:lvl8pPr>
            <a:lvl9pPr marL="4114800" lvl="8" indent="-342900" algn="l">
              <a:lnSpc>
                <a:spcPct val="90000"/>
              </a:lnSpc>
              <a:spcBef>
                <a:spcPts val="281"/>
              </a:spcBef>
              <a:spcAft>
                <a:spcPts val="0"/>
              </a:spcAft>
              <a:buClr>
                <a:schemeClr val="lt1"/>
              </a:buClr>
              <a:buSzPts val="1800"/>
              <a:buChar char="•"/>
              <a:defRPr/>
            </a:lvl9pPr>
          </a:lstStyle>
          <a:p>
            <a:endParaRPr/>
          </a:p>
        </p:txBody>
      </p:sp>
      <p:grpSp>
        <p:nvGrpSpPr>
          <p:cNvPr id="14" name="Google Shape;14;p2"/>
          <p:cNvGrpSpPr/>
          <p:nvPr/>
        </p:nvGrpSpPr>
        <p:grpSpPr>
          <a:xfrm>
            <a:off x="339725" y="5507566"/>
            <a:ext cx="676803" cy="902404"/>
            <a:chOff x="360362" y="1781889"/>
            <a:chExt cx="1144765" cy="1144191"/>
          </a:xfrm>
        </p:grpSpPr>
        <p:sp>
          <p:nvSpPr>
            <p:cNvPr id="15" name="Google Shape;15;p2"/>
            <p:cNvSpPr/>
            <p:nvPr/>
          </p:nvSpPr>
          <p:spPr>
            <a:xfrm>
              <a:off x="360362" y="1781889"/>
              <a:ext cx="1144765" cy="1144191"/>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FF6600"/>
                </a:solidFill>
                <a:latin typeface="Helvetica Neue"/>
                <a:ea typeface="Helvetica Neue"/>
                <a:cs typeface="Helvetica Neue"/>
                <a:sym typeface="Helvetica Neue"/>
              </a:endParaRPr>
            </a:p>
          </p:txBody>
        </p:sp>
        <p:sp>
          <p:nvSpPr>
            <p:cNvPr id="16" name="Google Shape;16;p2"/>
            <p:cNvSpPr/>
            <p:nvPr/>
          </p:nvSpPr>
          <p:spPr>
            <a:xfrm>
              <a:off x="702813" y="2650392"/>
              <a:ext cx="142160" cy="166334"/>
            </a:xfrm>
            <a:custGeom>
              <a:avLst/>
              <a:gdLst/>
              <a:ahLst/>
              <a:cxnLst/>
              <a:rect l="l" t="t" r="r" b="b"/>
              <a:pathLst>
                <a:path w="104" h="122" extrusionOk="0">
                  <a:moveTo>
                    <a:pt x="31" y="85"/>
                  </a:moveTo>
                  <a:cubicBezTo>
                    <a:pt x="31" y="93"/>
                    <a:pt x="36" y="101"/>
                    <a:pt x="45" y="101"/>
                  </a:cubicBezTo>
                  <a:cubicBezTo>
                    <a:pt x="54" y="101"/>
                    <a:pt x="64" y="97"/>
                    <a:pt x="73" y="88"/>
                  </a:cubicBezTo>
                  <a:cubicBezTo>
                    <a:pt x="73" y="60"/>
                    <a:pt x="73" y="60"/>
                    <a:pt x="73" y="60"/>
                  </a:cubicBezTo>
                  <a:cubicBezTo>
                    <a:pt x="44" y="64"/>
                    <a:pt x="31" y="71"/>
                    <a:pt x="31" y="85"/>
                  </a:cubicBezTo>
                  <a:moveTo>
                    <a:pt x="74" y="110"/>
                  </a:moveTo>
                  <a:cubicBezTo>
                    <a:pt x="62" y="118"/>
                    <a:pt x="49" y="122"/>
                    <a:pt x="35" y="122"/>
                  </a:cubicBezTo>
                  <a:cubicBezTo>
                    <a:pt x="13" y="122"/>
                    <a:pt x="0" y="107"/>
                    <a:pt x="0" y="88"/>
                  </a:cubicBezTo>
                  <a:cubicBezTo>
                    <a:pt x="0" y="61"/>
                    <a:pt x="24" y="47"/>
                    <a:pt x="74" y="42"/>
                  </a:cubicBezTo>
                  <a:cubicBezTo>
                    <a:pt x="74" y="35"/>
                    <a:pt x="74" y="35"/>
                    <a:pt x="74" y="35"/>
                  </a:cubicBezTo>
                  <a:cubicBezTo>
                    <a:pt x="74" y="27"/>
                    <a:pt x="68" y="22"/>
                    <a:pt x="56" y="22"/>
                  </a:cubicBezTo>
                  <a:cubicBezTo>
                    <a:pt x="44" y="22"/>
                    <a:pt x="34" y="26"/>
                    <a:pt x="27" y="35"/>
                  </a:cubicBezTo>
                  <a:cubicBezTo>
                    <a:pt x="6" y="23"/>
                    <a:pt x="6" y="23"/>
                    <a:pt x="6" y="23"/>
                  </a:cubicBezTo>
                  <a:cubicBezTo>
                    <a:pt x="17" y="8"/>
                    <a:pt x="34" y="0"/>
                    <a:pt x="56" y="0"/>
                  </a:cubicBezTo>
                  <a:cubicBezTo>
                    <a:pt x="87" y="0"/>
                    <a:pt x="104" y="14"/>
                    <a:pt x="104" y="35"/>
                  </a:cubicBezTo>
                  <a:cubicBezTo>
                    <a:pt x="104" y="35"/>
                    <a:pt x="104" y="120"/>
                    <a:pt x="104" y="120"/>
                  </a:cubicBezTo>
                  <a:cubicBezTo>
                    <a:pt x="77" y="120"/>
                    <a:pt x="77" y="120"/>
                    <a:pt x="77" y="120"/>
                  </a:cubicBezTo>
                  <a:lnTo>
                    <a:pt x="74" y="1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sp>
          <p:nvSpPr>
            <p:cNvPr id="17" name="Google Shape;17;p2"/>
            <p:cNvSpPr/>
            <p:nvPr/>
          </p:nvSpPr>
          <p:spPr>
            <a:xfrm>
              <a:off x="878931" y="2650392"/>
              <a:ext cx="143311" cy="164031"/>
            </a:xfrm>
            <a:custGeom>
              <a:avLst/>
              <a:gdLst/>
              <a:ahLst/>
              <a:cxnLst/>
              <a:rect l="l" t="t" r="r" b="b"/>
              <a:pathLst>
                <a:path w="105" h="120" extrusionOk="0">
                  <a:moveTo>
                    <a:pt x="0" y="6"/>
                  </a:moveTo>
                  <a:cubicBezTo>
                    <a:pt x="25" y="2"/>
                    <a:pt x="25" y="2"/>
                    <a:pt x="25" y="2"/>
                  </a:cubicBezTo>
                  <a:cubicBezTo>
                    <a:pt x="28" y="16"/>
                    <a:pt x="28" y="16"/>
                    <a:pt x="28" y="16"/>
                  </a:cubicBezTo>
                  <a:cubicBezTo>
                    <a:pt x="42" y="6"/>
                    <a:pt x="54" y="0"/>
                    <a:pt x="68" y="0"/>
                  </a:cubicBezTo>
                  <a:cubicBezTo>
                    <a:pt x="92" y="0"/>
                    <a:pt x="105" y="13"/>
                    <a:pt x="105" y="38"/>
                  </a:cubicBezTo>
                  <a:cubicBezTo>
                    <a:pt x="105" y="120"/>
                    <a:pt x="105" y="120"/>
                    <a:pt x="105" y="120"/>
                  </a:cubicBezTo>
                  <a:cubicBezTo>
                    <a:pt x="74" y="120"/>
                    <a:pt x="74" y="120"/>
                    <a:pt x="74" y="120"/>
                  </a:cubicBezTo>
                  <a:cubicBezTo>
                    <a:pt x="74" y="44"/>
                    <a:pt x="74" y="44"/>
                    <a:pt x="74" y="44"/>
                  </a:cubicBezTo>
                  <a:cubicBezTo>
                    <a:pt x="74" y="29"/>
                    <a:pt x="70" y="23"/>
                    <a:pt x="59" y="23"/>
                  </a:cubicBezTo>
                  <a:cubicBezTo>
                    <a:pt x="50" y="23"/>
                    <a:pt x="41" y="27"/>
                    <a:pt x="30" y="36"/>
                  </a:cubicBezTo>
                  <a:cubicBezTo>
                    <a:pt x="30" y="120"/>
                    <a:pt x="30" y="120"/>
                    <a:pt x="30" y="120"/>
                  </a:cubicBezTo>
                  <a:cubicBezTo>
                    <a:pt x="0" y="120"/>
                    <a:pt x="0" y="120"/>
                    <a:pt x="0" y="120"/>
                  </a:cubicBezTo>
                  <a:lnTo>
                    <a:pt x="0" y="6"/>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sp>
          <p:nvSpPr>
            <p:cNvPr id="18" name="Google Shape;18;p2"/>
            <p:cNvSpPr/>
            <p:nvPr/>
          </p:nvSpPr>
          <p:spPr>
            <a:xfrm>
              <a:off x="1225411" y="2650392"/>
              <a:ext cx="149067" cy="166334"/>
            </a:xfrm>
            <a:custGeom>
              <a:avLst/>
              <a:gdLst/>
              <a:ahLst/>
              <a:cxnLst/>
              <a:rect l="l" t="t" r="r" b="b"/>
              <a:pathLst>
                <a:path w="109" h="122" extrusionOk="0">
                  <a:moveTo>
                    <a:pt x="79" y="46"/>
                  </a:moveTo>
                  <a:cubicBezTo>
                    <a:pt x="79" y="30"/>
                    <a:pt x="70" y="21"/>
                    <a:pt x="55" y="21"/>
                  </a:cubicBezTo>
                  <a:cubicBezTo>
                    <a:pt x="41" y="21"/>
                    <a:pt x="32" y="30"/>
                    <a:pt x="31" y="46"/>
                  </a:cubicBezTo>
                  <a:lnTo>
                    <a:pt x="79" y="46"/>
                  </a:lnTo>
                  <a:close/>
                  <a:moveTo>
                    <a:pt x="56" y="122"/>
                  </a:moveTo>
                  <a:cubicBezTo>
                    <a:pt x="21" y="122"/>
                    <a:pt x="0" y="100"/>
                    <a:pt x="0" y="62"/>
                  </a:cubicBezTo>
                  <a:cubicBezTo>
                    <a:pt x="0" y="22"/>
                    <a:pt x="21" y="0"/>
                    <a:pt x="55" y="0"/>
                  </a:cubicBezTo>
                  <a:cubicBezTo>
                    <a:pt x="89" y="0"/>
                    <a:pt x="109" y="22"/>
                    <a:pt x="109" y="60"/>
                  </a:cubicBezTo>
                  <a:cubicBezTo>
                    <a:pt x="109" y="62"/>
                    <a:pt x="109" y="64"/>
                    <a:pt x="109" y="66"/>
                  </a:cubicBezTo>
                  <a:cubicBezTo>
                    <a:pt x="31" y="66"/>
                    <a:pt x="31" y="66"/>
                    <a:pt x="31" y="66"/>
                  </a:cubicBezTo>
                  <a:cubicBezTo>
                    <a:pt x="31" y="88"/>
                    <a:pt x="40" y="100"/>
                    <a:pt x="58" y="100"/>
                  </a:cubicBezTo>
                  <a:cubicBezTo>
                    <a:pt x="70" y="100"/>
                    <a:pt x="78" y="95"/>
                    <a:pt x="85" y="84"/>
                  </a:cubicBezTo>
                  <a:cubicBezTo>
                    <a:pt x="108" y="97"/>
                    <a:pt x="108" y="97"/>
                    <a:pt x="108" y="97"/>
                  </a:cubicBezTo>
                  <a:cubicBezTo>
                    <a:pt x="98" y="114"/>
                    <a:pt x="80" y="122"/>
                    <a:pt x="56" y="122"/>
                  </a:cubicBezTo>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sp>
          <p:nvSpPr>
            <p:cNvPr id="19" name="Google Shape;19;p2"/>
            <p:cNvSpPr/>
            <p:nvPr/>
          </p:nvSpPr>
          <p:spPr>
            <a:xfrm>
              <a:off x="415039" y="2650392"/>
              <a:ext cx="158276" cy="169211"/>
            </a:xfrm>
            <a:custGeom>
              <a:avLst/>
              <a:gdLst/>
              <a:ahLst/>
              <a:cxnLst/>
              <a:rect l="l" t="t" r="r" b="b"/>
              <a:pathLst>
                <a:path w="116" h="124" extrusionOk="0">
                  <a:moveTo>
                    <a:pt x="58" y="26"/>
                  </a:moveTo>
                  <a:cubicBezTo>
                    <a:pt x="35" y="26"/>
                    <a:pt x="31" y="47"/>
                    <a:pt x="31" y="62"/>
                  </a:cubicBezTo>
                  <a:cubicBezTo>
                    <a:pt x="31" y="77"/>
                    <a:pt x="35" y="98"/>
                    <a:pt x="58" y="98"/>
                  </a:cubicBezTo>
                  <a:cubicBezTo>
                    <a:pt x="81" y="98"/>
                    <a:pt x="85" y="77"/>
                    <a:pt x="85" y="62"/>
                  </a:cubicBezTo>
                  <a:cubicBezTo>
                    <a:pt x="85" y="47"/>
                    <a:pt x="81" y="26"/>
                    <a:pt x="58" y="26"/>
                  </a:cubicBezTo>
                  <a:moveTo>
                    <a:pt x="58" y="124"/>
                  </a:moveTo>
                  <a:cubicBezTo>
                    <a:pt x="27" y="124"/>
                    <a:pt x="0" y="104"/>
                    <a:pt x="0" y="62"/>
                  </a:cubicBezTo>
                  <a:cubicBezTo>
                    <a:pt x="0" y="19"/>
                    <a:pt x="27" y="0"/>
                    <a:pt x="58" y="0"/>
                  </a:cubicBezTo>
                  <a:cubicBezTo>
                    <a:pt x="88" y="0"/>
                    <a:pt x="116" y="19"/>
                    <a:pt x="116" y="62"/>
                  </a:cubicBezTo>
                  <a:cubicBezTo>
                    <a:pt x="116" y="104"/>
                    <a:pt x="88" y="124"/>
                    <a:pt x="58" y="124"/>
                  </a:cubicBezTo>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sp>
          <p:nvSpPr>
            <p:cNvPr id="20" name="Google Shape;20;p2"/>
            <p:cNvSpPr/>
            <p:nvPr/>
          </p:nvSpPr>
          <p:spPr>
            <a:xfrm>
              <a:off x="602092" y="2650392"/>
              <a:ext cx="89785" cy="164031"/>
            </a:xfrm>
            <a:custGeom>
              <a:avLst/>
              <a:gdLst/>
              <a:ahLst/>
              <a:cxnLst/>
              <a:rect l="l" t="t" r="r" b="b"/>
              <a:pathLst>
                <a:path w="66" h="120" extrusionOk="0">
                  <a:moveTo>
                    <a:pt x="0" y="3"/>
                  </a:moveTo>
                  <a:cubicBezTo>
                    <a:pt x="30" y="3"/>
                    <a:pt x="30" y="3"/>
                    <a:pt x="30" y="3"/>
                  </a:cubicBezTo>
                  <a:cubicBezTo>
                    <a:pt x="30" y="17"/>
                    <a:pt x="30" y="17"/>
                    <a:pt x="30" y="17"/>
                  </a:cubicBezTo>
                  <a:cubicBezTo>
                    <a:pt x="35" y="9"/>
                    <a:pt x="49" y="0"/>
                    <a:pt x="62" y="0"/>
                  </a:cubicBezTo>
                  <a:cubicBezTo>
                    <a:pt x="63" y="0"/>
                    <a:pt x="65" y="0"/>
                    <a:pt x="66" y="1"/>
                  </a:cubicBezTo>
                  <a:cubicBezTo>
                    <a:pt x="66" y="30"/>
                    <a:pt x="66" y="30"/>
                    <a:pt x="66" y="30"/>
                  </a:cubicBezTo>
                  <a:cubicBezTo>
                    <a:pt x="64" y="30"/>
                    <a:pt x="64" y="30"/>
                    <a:pt x="64" y="30"/>
                  </a:cubicBezTo>
                  <a:cubicBezTo>
                    <a:pt x="51" y="30"/>
                    <a:pt x="36" y="32"/>
                    <a:pt x="32" y="42"/>
                  </a:cubicBezTo>
                  <a:cubicBezTo>
                    <a:pt x="32" y="120"/>
                    <a:pt x="32" y="120"/>
                    <a:pt x="32" y="120"/>
                  </a:cubicBezTo>
                  <a:cubicBezTo>
                    <a:pt x="0" y="120"/>
                    <a:pt x="0" y="120"/>
                    <a:pt x="0" y="120"/>
                  </a:cubicBezTo>
                  <a:lnTo>
                    <a:pt x="0" y="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sp>
          <p:nvSpPr>
            <p:cNvPr id="21" name="Google Shape;21;p2"/>
            <p:cNvSpPr/>
            <p:nvPr/>
          </p:nvSpPr>
          <p:spPr>
            <a:xfrm>
              <a:off x="1051020" y="2650392"/>
              <a:ext cx="149642" cy="226766"/>
            </a:xfrm>
            <a:custGeom>
              <a:avLst/>
              <a:gdLst/>
              <a:ahLst/>
              <a:cxnLst/>
              <a:rect l="l" t="t" r="r" b="b"/>
              <a:pathLst>
                <a:path w="110" h="166" extrusionOk="0">
                  <a:moveTo>
                    <a:pt x="110" y="2"/>
                  </a:moveTo>
                  <a:cubicBezTo>
                    <a:pt x="110" y="114"/>
                    <a:pt x="110" y="114"/>
                    <a:pt x="110" y="114"/>
                  </a:cubicBezTo>
                  <a:cubicBezTo>
                    <a:pt x="110" y="133"/>
                    <a:pt x="108" y="166"/>
                    <a:pt x="52" y="166"/>
                  </a:cubicBezTo>
                  <a:cubicBezTo>
                    <a:pt x="29" y="166"/>
                    <a:pt x="8" y="157"/>
                    <a:pt x="3" y="137"/>
                  </a:cubicBezTo>
                  <a:cubicBezTo>
                    <a:pt x="34" y="132"/>
                    <a:pt x="34" y="132"/>
                    <a:pt x="34" y="132"/>
                  </a:cubicBezTo>
                  <a:cubicBezTo>
                    <a:pt x="35" y="138"/>
                    <a:pt x="39" y="143"/>
                    <a:pt x="56" y="143"/>
                  </a:cubicBezTo>
                  <a:cubicBezTo>
                    <a:pt x="72" y="143"/>
                    <a:pt x="80" y="136"/>
                    <a:pt x="80" y="117"/>
                  </a:cubicBezTo>
                  <a:cubicBezTo>
                    <a:pt x="80" y="104"/>
                    <a:pt x="80" y="104"/>
                    <a:pt x="80" y="104"/>
                  </a:cubicBezTo>
                  <a:cubicBezTo>
                    <a:pt x="79" y="103"/>
                    <a:pt x="79" y="103"/>
                    <a:pt x="79" y="103"/>
                  </a:cubicBezTo>
                  <a:cubicBezTo>
                    <a:pt x="74" y="112"/>
                    <a:pt x="67" y="120"/>
                    <a:pt x="49" y="120"/>
                  </a:cubicBezTo>
                  <a:cubicBezTo>
                    <a:pt x="22" y="120"/>
                    <a:pt x="0" y="101"/>
                    <a:pt x="0" y="62"/>
                  </a:cubicBezTo>
                  <a:cubicBezTo>
                    <a:pt x="0" y="22"/>
                    <a:pt x="22" y="0"/>
                    <a:pt x="47" y="0"/>
                  </a:cubicBezTo>
                  <a:cubicBezTo>
                    <a:pt x="71" y="0"/>
                    <a:pt x="79" y="11"/>
                    <a:pt x="81" y="17"/>
                  </a:cubicBezTo>
                  <a:cubicBezTo>
                    <a:pt x="81" y="16"/>
                    <a:pt x="81" y="16"/>
                    <a:pt x="81" y="16"/>
                  </a:cubicBezTo>
                  <a:cubicBezTo>
                    <a:pt x="84" y="2"/>
                    <a:pt x="84" y="2"/>
                    <a:pt x="84" y="2"/>
                  </a:cubicBezTo>
                  <a:lnTo>
                    <a:pt x="110" y="2"/>
                  </a:lnTo>
                  <a:close/>
                  <a:moveTo>
                    <a:pt x="55" y="95"/>
                  </a:moveTo>
                  <a:cubicBezTo>
                    <a:pt x="78" y="95"/>
                    <a:pt x="80" y="71"/>
                    <a:pt x="80" y="55"/>
                  </a:cubicBezTo>
                  <a:cubicBezTo>
                    <a:pt x="80" y="37"/>
                    <a:pt x="71" y="22"/>
                    <a:pt x="54" y="22"/>
                  </a:cubicBezTo>
                  <a:cubicBezTo>
                    <a:pt x="43" y="22"/>
                    <a:pt x="31" y="30"/>
                    <a:pt x="31" y="57"/>
                  </a:cubicBezTo>
                  <a:cubicBezTo>
                    <a:pt x="31" y="71"/>
                    <a:pt x="32" y="95"/>
                    <a:pt x="55" y="95"/>
                  </a:cubicBezTo>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sp>
          <p:nvSpPr>
            <p:cNvPr id="22" name="Google Shape;22;p2"/>
            <p:cNvSpPr/>
            <p:nvPr/>
          </p:nvSpPr>
          <p:spPr>
            <a:xfrm>
              <a:off x="1348002" y="2593413"/>
              <a:ext cx="112232" cy="52950"/>
            </a:xfrm>
            <a:custGeom>
              <a:avLst/>
              <a:gdLst/>
              <a:ahLst/>
              <a:cxnLst/>
              <a:rect l="l" t="t" r="r" b="b"/>
              <a:pathLst>
                <a:path w="195" h="92" extrusionOk="0">
                  <a:moveTo>
                    <a:pt x="195" y="92"/>
                  </a:moveTo>
                  <a:lnTo>
                    <a:pt x="178" y="92"/>
                  </a:lnTo>
                  <a:lnTo>
                    <a:pt x="178" y="16"/>
                  </a:lnTo>
                  <a:lnTo>
                    <a:pt x="178" y="16"/>
                  </a:lnTo>
                  <a:lnTo>
                    <a:pt x="147" y="92"/>
                  </a:lnTo>
                  <a:lnTo>
                    <a:pt x="138" y="92"/>
                  </a:lnTo>
                  <a:lnTo>
                    <a:pt x="110" y="16"/>
                  </a:lnTo>
                  <a:lnTo>
                    <a:pt x="107" y="16"/>
                  </a:lnTo>
                  <a:lnTo>
                    <a:pt x="107" y="92"/>
                  </a:lnTo>
                  <a:lnTo>
                    <a:pt x="93" y="92"/>
                  </a:lnTo>
                  <a:lnTo>
                    <a:pt x="93" y="0"/>
                  </a:lnTo>
                  <a:lnTo>
                    <a:pt x="117" y="0"/>
                  </a:lnTo>
                  <a:lnTo>
                    <a:pt x="145" y="71"/>
                  </a:lnTo>
                  <a:lnTo>
                    <a:pt x="171" y="0"/>
                  </a:lnTo>
                  <a:lnTo>
                    <a:pt x="195" y="0"/>
                  </a:lnTo>
                  <a:lnTo>
                    <a:pt x="195" y="92"/>
                  </a:lnTo>
                  <a:close/>
                  <a:moveTo>
                    <a:pt x="74" y="14"/>
                  </a:moveTo>
                  <a:lnTo>
                    <a:pt x="46" y="14"/>
                  </a:lnTo>
                  <a:lnTo>
                    <a:pt x="46" y="92"/>
                  </a:lnTo>
                  <a:lnTo>
                    <a:pt x="31" y="92"/>
                  </a:lnTo>
                  <a:lnTo>
                    <a:pt x="31" y="14"/>
                  </a:lnTo>
                  <a:lnTo>
                    <a:pt x="0" y="14"/>
                  </a:lnTo>
                  <a:lnTo>
                    <a:pt x="0" y="0"/>
                  </a:lnTo>
                  <a:lnTo>
                    <a:pt x="74" y="0"/>
                  </a:lnTo>
                  <a:lnTo>
                    <a:pt x="74" y="1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800"/>
                <a:buFont typeface="Helvetica Neue"/>
                <a:buNone/>
              </a:pPr>
              <a:endParaRPr sz="1800" b="1" i="0" u="none" strike="noStrike" cap="none">
                <a:solidFill>
                  <a:srgbClr val="000000"/>
                </a:solidFill>
                <a:latin typeface="Helvetica Neue"/>
                <a:ea typeface="Helvetica Neue"/>
                <a:cs typeface="Helvetica Neue"/>
                <a:sym typeface="Helvetica Neue"/>
              </a:endParaRPr>
            </a:p>
          </p:txBody>
        </p:sp>
      </p:grpSp>
    </p:spTree>
    <p:extLst>
      <p:ext uri="{BB962C8B-B14F-4D97-AF65-F5344CB8AC3E}">
        <p14:creationId xmlns:p14="http://schemas.microsoft.com/office/powerpoint/2010/main" val="395465444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a:t>Click to edit Master title style</a:t>
            </a:r>
            <a:endParaRPr lang="ar-EG"/>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26552242-5699-4181-B818-D18838724FA9}" type="datetimeFigureOut">
              <a:rPr lang="en-US" smtClean="0"/>
              <a:t>11/16/2025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50EE6E80-D1C8-4A0A-9B51-9CEE03326FD0}" type="slidenum">
              <a:rPr lang="en-US" smtClean="0"/>
              <a:t>‹#›</a:t>
            </a:fld>
            <a:endParaRPr lang="en-US" dirty="0"/>
          </a:p>
        </p:txBody>
      </p:sp>
    </p:spTree>
    <p:extLst>
      <p:ext uri="{BB962C8B-B14F-4D97-AF65-F5344CB8AC3E}">
        <p14:creationId xmlns:p14="http://schemas.microsoft.com/office/powerpoint/2010/main" val="4163860514"/>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package" Target="../embeddings/Microsoft_PowerPoint_Presentation.ppt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4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0.emf"/></Relationships>
</file>

<file path=ppt/slides/_rels/slide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5" Type="http://schemas.openxmlformats.org/officeDocument/2006/relationships/image" Target="../media/image96.png"/><Relationship Id="rId4" Type="http://schemas.openxmlformats.org/officeDocument/2006/relationships/image" Target="../media/image95.png"/></Relationships>
</file>

<file path=ppt/slides/_rels/slide64.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6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 Id="rId4" Type="http://schemas.openxmlformats.org/officeDocument/2006/relationships/image" Target="../media/image10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1.png"/><Relationship Id="rId4" Type="http://schemas.openxmlformats.org/officeDocument/2006/relationships/image" Target="../media/image110.png"/></Relationships>
</file>

<file path=ppt/slides/_rels/slide8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8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8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8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0.png"/><Relationship Id="rId4" Type="http://schemas.openxmlformats.org/officeDocument/2006/relationships/image" Target="../media/image129.png"/></Relationships>
</file>

<file path=ppt/slides/_rels/slide9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3.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9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9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8.png"/><Relationship Id="rId1" Type="http://schemas.openxmlformats.org/officeDocument/2006/relationships/slideLayout" Target="../slideLayouts/slideLayout7.xml"/><Relationship Id="rId4" Type="http://schemas.openxmlformats.org/officeDocument/2006/relationships/image" Target="../media/image129.png"/></Relationships>
</file>

<file path=ppt/slides/_rels/slide9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9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7.xml"/><Relationship Id="rId4" Type="http://schemas.openxmlformats.org/officeDocument/2006/relationships/image" Target="../media/image142.png"/></Relationships>
</file>

<file path=ppt/slides/_rels/slide99.xml.rels><?xml version="1.0" encoding="UTF-8" standalone="yes"?>
<Relationships xmlns="http://schemas.openxmlformats.org/package/2006/relationships"><Relationship Id="rId3" Type="http://schemas.openxmlformats.org/officeDocument/2006/relationships/hyperlink" Target="http://orangepedia/Products/Complains/Pages/Online%20Gaming/Online-Gaming.aspx"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43.png"/><Relationship Id="rId4" Type="http://schemas.openxmlformats.org/officeDocument/2006/relationships/hyperlink" Target="http://www.speedtest.net/" TargetMode="External"/></Relationships>
</file>

<file path=ppt/slides/_rels/slide10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hyperlink" Target="http://www.speedtest.net/" TargetMode="External"/><Relationship Id="rId2" Type="http://schemas.openxmlformats.org/officeDocument/2006/relationships/hyperlink" Target="http://orangepedia/Products/Complains/Pages/Online%20Gaming/Online-Gaming.aspx" TargetMode="External"/><Relationship Id="rId1" Type="http://schemas.openxmlformats.org/officeDocument/2006/relationships/slideLayout" Target="../slideLayouts/slideLayout7.xml"/><Relationship Id="rId4" Type="http://schemas.openxmlformats.org/officeDocument/2006/relationships/image" Target="../media/image143.png"/></Relationships>
</file>

<file path=ppt/slides/_rels/slide10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60.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11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7.xml"/><Relationship Id="rId4" Type="http://schemas.openxmlformats.org/officeDocument/2006/relationships/image" Target="../media/image158.png"/></Relationships>
</file>

<file path=ppt/slides/_rels/slide11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7.xml"/><Relationship Id="rId4" Type="http://schemas.openxmlformats.org/officeDocument/2006/relationships/image" Target="../media/image158.png"/></Relationships>
</file>

<file path=ppt/slides/_rels/slide12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61.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12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8.png"/><Relationship Id="rId1" Type="http://schemas.openxmlformats.org/officeDocument/2006/relationships/slideLayout" Target="../slideLayouts/slideLayout7.xml"/><Relationship Id="rId4" Type="http://schemas.openxmlformats.org/officeDocument/2006/relationships/image" Target="../media/image158.png"/></Relationships>
</file>

<file path=ppt/slides/_rels/slide124.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77.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7.xml"/><Relationship Id="rId4" Type="http://schemas.openxmlformats.org/officeDocument/2006/relationships/image" Target="../media/image183.png"/></Relationships>
</file>

<file path=ppt/slides/_rels/slide135.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s>
</file>

<file path=ppt/slides/_rels/slide136.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139.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7.xml"/><Relationship Id="rId4" Type="http://schemas.openxmlformats.org/officeDocument/2006/relationships/image" Target="../media/image196.png"/></Relationships>
</file>

<file path=ppt/slides/_rels/slide144.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8.png"/></Relationships>
</file>

<file path=ppt/slides/_rels/slide1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00.png"/><Relationship Id="rId4" Type="http://schemas.openxmlformats.org/officeDocument/2006/relationships/image" Target="../media/image199.png"/></Relationships>
</file>

<file path=ppt/slides/_rels/slide146.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149.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7.xml"/><Relationship Id="rId4" Type="http://schemas.openxmlformats.org/officeDocument/2006/relationships/image" Target="../media/image212.png"/></Relationships>
</file>

<file path=ppt/slides/_rels/slide153.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5.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png"/><Relationship Id="rId1" Type="http://schemas.openxmlformats.org/officeDocument/2006/relationships/slideLayout" Target="../slideLayouts/slideLayout7.xml"/><Relationship Id="rId4" Type="http://schemas.openxmlformats.org/officeDocument/2006/relationships/image" Target="../media/image219.png"/></Relationships>
</file>

<file path=ppt/slides/_rels/slide156.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228.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slideLayout" Target="../slideLayouts/slideLayout7.xml"/><Relationship Id="rId5" Type="http://schemas.openxmlformats.org/officeDocument/2006/relationships/image" Target="../media/image233.png"/><Relationship Id="rId4" Type="http://schemas.openxmlformats.org/officeDocument/2006/relationships/image" Target="../media/image232.png"/></Relationships>
</file>

<file path=ppt/slides/_rels/slide165.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image" Target="../media/image231.png"/><Relationship Id="rId1" Type="http://schemas.openxmlformats.org/officeDocument/2006/relationships/slideLayout" Target="../slideLayouts/slideLayout7.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4.png"/></Relationships>
</file>

<file path=ppt/slides/_rels/slide166.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7.xml"/><Relationship Id="rId4" Type="http://schemas.openxmlformats.org/officeDocument/2006/relationships/image" Target="../media/image239.png"/></Relationships>
</file>

<file path=ppt/slides/_rels/slide167.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image" Target="../media/image240.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34.png"/><Relationship Id="rId1" Type="http://schemas.openxmlformats.org/officeDocument/2006/relationships/slideLayout" Target="../slideLayouts/slideLayout7.xml"/><Relationship Id="rId4" Type="http://schemas.openxmlformats.org/officeDocument/2006/relationships/image" Target="../media/image235.png"/></Relationships>
</file>

<file path=ppt/slides/_rels/slide170.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image" Target="../media/image243.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248.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249.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51.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57.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53.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image" Target="../media/image262.pn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264.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47.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image" Target="../media/image267.pn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image" Target="../media/image264.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8.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image" Target="../media/image270.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image" Target="../media/image246.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274.pn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275.pn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276.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image" Target="../media/image278.pn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image" Target="../media/image283.png"/><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image" Target="../media/image284.pn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51.png"/><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267.pn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media/image264.png"/><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8.pn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86.png"/><Relationship Id="rId4" Type="http://schemas.openxmlformats.org/officeDocument/2006/relationships/image" Target="../media/image285.png"/></Relationships>
</file>

<file path=ppt/slides/_rels/slide222.xml.rels><?xml version="1.0" encoding="UTF-8" standalone="yes"?>
<Relationships xmlns="http://schemas.openxmlformats.org/package/2006/relationships"><Relationship Id="rId2" Type="http://schemas.openxmlformats.org/officeDocument/2006/relationships/image" Target="../media/image287.pn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image" Target="../media/image288.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291.png"/><Relationship Id="rId1" Type="http://schemas.openxmlformats.org/officeDocument/2006/relationships/slideLayout" Target="../slideLayouts/slideLayout7.xml"/><Relationship Id="rId4" Type="http://schemas.openxmlformats.org/officeDocument/2006/relationships/image" Target="../media/image293.png"/></Relationships>
</file>

<file path=ppt/slides/_rels/slide226.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4" Type="http://schemas.openxmlformats.org/officeDocument/2006/relationships/image" Target="../media/image296.png"/></Relationships>
</file>

<file path=ppt/slides/_rels/slide227.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image" Target="../media/image297.png"/><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9.png"/><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image" Target="../media/image301.png"/><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3.pn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image" Target="../media/image305.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306.png"/><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2" Type="http://schemas.openxmlformats.org/officeDocument/2006/relationships/image" Target="../media/image307.png"/><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11.png"/><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image" Target="../media/image287.png"/><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image" Target="../media/image313.pn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3" Type="http://schemas.openxmlformats.org/officeDocument/2006/relationships/image" Target="../media/image316.png"/><Relationship Id="rId2" Type="http://schemas.openxmlformats.org/officeDocument/2006/relationships/image" Target="../media/image315.png"/><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3" Type="http://schemas.openxmlformats.org/officeDocument/2006/relationships/image" Target="../media/image318.png"/><Relationship Id="rId2" Type="http://schemas.openxmlformats.org/officeDocument/2006/relationships/image" Target="../media/image317.png"/><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E3A46-AB78-27B4-4E42-88128A2F4168}"/>
              </a:ext>
            </a:extLst>
          </p:cNvPr>
          <p:cNvSpPr>
            <a:spLocks noGrp="1"/>
          </p:cNvSpPr>
          <p:nvPr>
            <p:ph type="title"/>
          </p:nvPr>
        </p:nvSpPr>
        <p:spPr>
          <a:xfrm>
            <a:off x="0" y="2195643"/>
            <a:ext cx="9144000" cy="1202532"/>
          </a:xfrm>
        </p:spPr>
        <p:txBody>
          <a:bodyPr>
            <a:normAutofit fontScale="90000"/>
          </a:bodyPr>
          <a:lstStyle/>
          <a:p>
            <a:pPr algn="ctr"/>
            <a:r>
              <a:rPr lang="en-US" dirty="0">
                <a:solidFill>
                  <a:schemeClr val="accent6"/>
                </a:solidFill>
              </a:rPr>
              <a:t>WELCOME</a:t>
            </a:r>
            <a:r>
              <a:rPr lang="en-US" dirty="0">
                <a:solidFill>
                  <a:schemeClr val="accent2"/>
                </a:solidFill>
              </a:rPr>
              <a:t> </a:t>
            </a:r>
            <a:r>
              <a:rPr lang="en-US" dirty="0">
                <a:solidFill>
                  <a:schemeClr val="accent6"/>
                </a:solidFill>
              </a:rPr>
              <a:t>TO Catching Kowa DSL Training</a:t>
            </a:r>
          </a:p>
        </p:txBody>
      </p:sp>
      <p:sp>
        <p:nvSpPr>
          <p:cNvPr id="3" name="Content Placeholder 2">
            <a:extLst>
              <a:ext uri="{FF2B5EF4-FFF2-40B4-BE49-F238E27FC236}">
                <a16:creationId xmlns:a16="http://schemas.microsoft.com/office/drawing/2014/main" id="{5ACC5DE3-E955-0BF5-057C-2CBD3BDC934E}"/>
              </a:ext>
            </a:extLst>
          </p:cNvPr>
          <p:cNvSpPr>
            <a:spLocks noGrp="1"/>
          </p:cNvSpPr>
          <p:nvPr>
            <p:ph idx="1"/>
          </p:nvPr>
        </p:nvSpPr>
        <p:spPr>
          <a:xfrm>
            <a:off x="1013337" y="2366011"/>
            <a:ext cx="7419109" cy="3634739"/>
          </a:xfrm>
        </p:spPr>
        <p:txBody>
          <a:bodyPr/>
          <a:lstStyle/>
          <a:p>
            <a:pPr algn="ctr"/>
            <a:endParaRPr lang="en-US" dirty="0"/>
          </a:p>
          <a:p>
            <a:pPr algn="ctr"/>
            <a:endParaRPr lang="en-US" dirty="0">
              <a:solidFill>
                <a:schemeClr val="accent2"/>
              </a:solidFill>
            </a:endParaRPr>
          </a:p>
          <a:p>
            <a:pPr algn="ctr"/>
            <a:endParaRPr lang="en-US" dirty="0"/>
          </a:p>
          <a:p>
            <a:pPr algn="ctr"/>
            <a:r>
              <a:rPr lang="en-US" sz="4400" dirty="0">
                <a:solidFill>
                  <a:schemeClr val="accent6"/>
                </a:solidFill>
              </a:rPr>
              <a:t>Network WF</a:t>
            </a:r>
          </a:p>
          <a:p>
            <a:pPr marL="0" indent="0" algn="ctr">
              <a:buNone/>
            </a:pPr>
            <a:r>
              <a:rPr lang="ar-EG" sz="4500" dirty="0">
                <a:solidFill>
                  <a:schemeClr val="accent2"/>
                </a:solidFill>
              </a:rPr>
              <a:t> </a:t>
            </a:r>
            <a:endParaRPr lang="en-US" sz="4500" b="1" dirty="0">
              <a:solidFill>
                <a:schemeClr val="bg1">
                  <a:lumMod val="50000"/>
                </a:schemeClr>
              </a:solidFill>
            </a:endParaRPr>
          </a:p>
        </p:txBody>
      </p:sp>
      <p:pic>
        <p:nvPicPr>
          <p:cNvPr id="1026" name="Picture 4">
            <a:extLst>
              <a:ext uri="{FF2B5EF4-FFF2-40B4-BE49-F238E27FC236}">
                <a16:creationId xmlns:a16="http://schemas.microsoft.com/office/drawing/2014/main" id="{791F55CF-94C5-D811-3D49-C4E191DCF3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036335" cy="1664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ight Triangle 6">
            <a:extLst>
              <a:ext uri="{FF2B5EF4-FFF2-40B4-BE49-F238E27FC236}">
                <a16:creationId xmlns:a16="http://schemas.microsoft.com/office/drawing/2014/main" id="{C9F6056A-5DAA-056A-382E-BA13129EDA2F}"/>
              </a:ext>
            </a:extLst>
          </p:cNvPr>
          <p:cNvSpPr/>
          <p:nvPr/>
        </p:nvSpPr>
        <p:spPr>
          <a:xfrm>
            <a:off x="0" y="5168438"/>
            <a:ext cx="2281844" cy="1664624"/>
          </a:xfrm>
          <a:prstGeom prst="rtTriangle">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350"/>
          </a:p>
        </p:txBody>
      </p:sp>
      <p:sp>
        <p:nvSpPr>
          <p:cNvPr id="8" name="Right Triangle 7">
            <a:extLst>
              <a:ext uri="{FF2B5EF4-FFF2-40B4-BE49-F238E27FC236}">
                <a16:creationId xmlns:a16="http://schemas.microsoft.com/office/drawing/2014/main" id="{F1FF0735-DBA2-6197-C8F6-07B1DF849838}"/>
              </a:ext>
            </a:extLst>
          </p:cNvPr>
          <p:cNvSpPr/>
          <p:nvPr/>
        </p:nvSpPr>
        <p:spPr>
          <a:xfrm rot="10800000">
            <a:off x="6862156" y="24938"/>
            <a:ext cx="2281844" cy="1664624"/>
          </a:xfrm>
          <a:prstGeom prst="rtTriangle">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273019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2209800"/>
            <a:ext cx="8991600" cy="1323439"/>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8000" b="1" cap="none" spc="50" dirty="0">
                <a:ln w="11430"/>
                <a:solidFill>
                  <a:schemeClr val="accent6">
                    <a:lumMod val="20000"/>
                    <a:lumOff val="80000"/>
                  </a:schemeClr>
                </a:solidFill>
                <a:effectLst>
                  <a:outerShdw blurRad="76200" dist="50800" dir="5400000" algn="tl" rotWithShape="0">
                    <a:srgbClr val="000000">
                      <a:alpha val="65000"/>
                    </a:srgbClr>
                  </a:outerShdw>
                </a:effectLst>
              </a:rPr>
              <a:t>Connection problem </a:t>
            </a:r>
          </a:p>
        </p:txBody>
      </p:sp>
    </p:spTree>
    <p:extLst>
      <p:ext uri="{BB962C8B-B14F-4D97-AF65-F5344CB8AC3E}">
        <p14:creationId xmlns:p14="http://schemas.microsoft.com/office/powerpoint/2010/main" val="2854700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66800"/>
            <a:ext cx="8382000" cy="3104213"/>
          </a:xfrm>
        </p:spPr>
        <p:txBody>
          <a:bodyPr>
            <a:normAutofit/>
          </a:bodyPr>
          <a:lstStyle/>
          <a:p>
            <a:pPr algn="l"/>
            <a:r>
              <a:rPr lang="en-US" sz="3200" dirty="0"/>
              <a:t>- To be able to use the internet , customer should configure the router to get IP (internet protocol) .</a:t>
            </a:r>
            <a:br>
              <a:rPr lang="en-US" sz="3200" dirty="0"/>
            </a:br>
            <a:r>
              <a:rPr lang="en-US" sz="3200" dirty="0"/>
              <a:t>- we have two kinds of configuration type:</a:t>
            </a:r>
            <a:br>
              <a:rPr lang="en-US" sz="3200" dirty="0"/>
            </a:br>
            <a:r>
              <a:rPr lang="en-US" sz="3200" dirty="0"/>
              <a:t>1- PPPOE ( Username same as on Siebel ) </a:t>
            </a:r>
            <a:br>
              <a:rPr lang="en-US" sz="3200" dirty="0"/>
            </a:br>
            <a:r>
              <a:rPr lang="en-US" sz="3200" dirty="0"/>
              <a:t>2- IPOE ( 8 and 16 Static IP ) </a:t>
            </a:r>
            <a:endParaRPr lang="ar-EG" sz="3200" dirty="0"/>
          </a:p>
        </p:txBody>
      </p:sp>
    </p:spTree>
    <p:extLst>
      <p:ext uri="{BB962C8B-B14F-4D97-AF65-F5344CB8AC3E}">
        <p14:creationId xmlns:p14="http://schemas.microsoft.com/office/powerpoint/2010/main" val="81840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0" y="976345"/>
            <a:ext cx="9144000" cy="4524315"/>
          </a:xfrm>
          <a:prstGeom prst="rect">
            <a:avLst/>
          </a:prstGeom>
          <a:noFill/>
        </p:spPr>
        <p:txBody>
          <a:bodyPr wrap="square" rtlCol="0">
            <a:spAutoFit/>
          </a:bodyPr>
          <a:lstStyle/>
          <a:p>
            <a:pPr rtl="0"/>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Configuration for dynamic or 1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static customer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PPPOE ) &amp; ( port forward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Please refer to the Router devices Pp</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p>
        </p:txBody>
      </p:sp>
    </p:spTree>
    <p:extLst>
      <p:ext uri="{BB962C8B-B14F-4D97-AF65-F5344CB8AC3E}">
        <p14:creationId xmlns:p14="http://schemas.microsoft.com/office/powerpoint/2010/main" val="3985574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p:nvPr>
        </p:nvSpPr>
        <p:spPr>
          <a:xfrm>
            <a:off x="0" y="2084340"/>
            <a:ext cx="9144000" cy="2308324"/>
          </a:xfrm>
          <a:prstGeom prst="rect">
            <a:avLst/>
          </a:prstGeom>
          <a:noFill/>
        </p:spPr>
        <p:txBody>
          <a:bodyPr wrap="square" rtlCol="0">
            <a:spAutoFit/>
          </a:bodyPr>
          <a:lstStyle/>
          <a:p>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Configuration for 8, 16 static </a:t>
            </a:r>
            <a:r>
              <a:rPr lang="en-US" sz="48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Ips</a:t>
            </a: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Copper )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IPOE ) </a:t>
            </a:r>
          </a:p>
        </p:txBody>
      </p:sp>
    </p:spTree>
    <p:extLst>
      <p:ext uri="{BB962C8B-B14F-4D97-AF65-F5344CB8AC3E}">
        <p14:creationId xmlns:p14="http://schemas.microsoft.com/office/powerpoint/2010/main" val="2203640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8600"/>
            <a:ext cx="9144000" cy="6477000"/>
          </a:xfrm>
          <a:prstGeom prst="rect">
            <a:avLst/>
          </a:prstGeom>
        </p:spPr>
      </p:pic>
      <p:sp>
        <p:nvSpPr>
          <p:cNvPr id="3" name="Down Arrow 2"/>
          <p:cNvSpPr/>
          <p:nvPr/>
        </p:nvSpPr>
        <p:spPr>
          <a:xfrm>
            <a:off x="2667000" y="533400"/>
            <a:ext cx="533400" cy="685800"/>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 name="Left Arrow 4"/>
          <p:cNvSpPr/>
          <p:nvPr/>
        </p:nvSpPr>
        <p:spPr>
          <a:xfrm>
            <a:off x="3419475" y="2438400"/>
            <a:ext cx="609600" cy="371475"/>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7004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880362" y="4467882"/>
            <a:ext cx="633413"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idx="4294967295"/>
          </p:nvPr>
        </p:nvSpPr>
        <p:spPr>
          <a:xfrm>
            <a:off x="0" y="274638"/>
            <a:ext cx="8229600" cy="487362"/>
          </a:xfrm>
        </p:spPr>
        <p:txBody>
          <a:bodyPr>
            <a:normAutofit fontScale="90000"/>
          </a:bodyPr>
          <a:lstStyle/>
          <a:p>
            <a:r>
              <a:rPr lang="en-US" b="1" dirty="0">
                <a:solidFill>
                  <a:srgbClr val="92D050"/>
                </a:solidFill>
              </a:rPr>
              <a:t> </a:t>
            </a:r>
          </a:p>
        </p:txBody>
      </p:sp>
    </p:spTree>
    <p:extLst>
      <p:ext uri="{BB962C8B-B14F-4D97-AF65-F5344CB8AC3E}">
        <p14:creationId xmlns:p14="http://schemas.microsoft.com/office/powerpoint/2010/main" val="496127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eft Arrow 3"/>
          <p:cNvSpPr/>
          <p:nvPr/>
        </p:nvSpPr>
        <p:spPr>
          <a:xfrm>
            <a:off x="4419600" y="3899064"/>
            <a:ext cx="609600" cy="29193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076531" y="4077522"/>
            <a:ext cx="482445" cy="68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1206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92" y="228600"/>
            <a:ext cx="9039225"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2133600"/>
            <a:ext cx="88773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own Arrow 3"/>
          <p:cNvSpPr/>
          <p:nvPr/>
        </p:nvSpPr>
        <p:spPr>
          <a:xfrm>
            <a:off x="8460318" y="228600"/>
            <a:ext cx="378882" cy="694538"/>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aphicFrame>
        <p:nvGraphicFramePr>
          <p:cNvPr id="5" name="Object 4">
            <a:hlinkClick r:id="" action="ppaction://ole?verb=0"/>
          </p:cNvPr>
          <p:cNvGraphicFramePr>
            <a:graphicFrameLocks noChangeAspect="1"/>
          </p:cNvGraphicFramePr>
          <p:nvPr>
            <p:extLst>
              <p:ext uri="{D42A27DB-BD31-4B8C-83A1-F6EECF244321}">
                <p14:modId xmlns:p14="http://schemas.microsoft.com/office/powerpoint/2010/main" val="3086372176"/>
              </p:ext>
            </p:extLst>
          </p:nvPr>
        </p:nvGraphicFramePr>
        <p:xfrm>
          <a:off x="1905000" y="3200400"/>
          <a:ext cx="914400" cy="792163"/>
        </p:xfrm>
        <a:graphic>
          <a:graphicData uri="http://schemas.openxmlformats.org/presentationml/2006/ole">
            <mc:AlternateContent xmlns:mc="http://schemas.openxmlformats.org/markup-compatibility/2006">
              <mc:Choice xmlns:v="urn:schemas-microsoft-com:vml" Requires="v">
                <p:oleObj name="Presentation" showAsIcon="1" r:id="rId4" imgW="914400" imgH="792360" progId="PowerPoint.Show.12">
                  <p:embed/>
                </p:oleObj>
              </mc:Choice>
              <mc:Fallback>
                <p:oleObj name="Presentation" showAsIcon="1" r:id="rId4" imgW="914400" imgH="792360" progId="PowerPoint.Show.12">
                  <p:embed/>
                  <p:pic>
                    <p:nvPicPr>
                      <p:cNvPr id="5" name="Object 4">
                        <a:hlinkClick r:id="" action="ppaction://ole?verb=0"/>
                      </p:cNvPr>
                      <p:cNvPicPr/>
                      <p:nvPr/>
                    </p:nvPicPr>
                    <p:blipFill>
                      <a:blip r:embed="rId5"/>
                      <a:stretch>
                        <a:fillRect/>
                      </a:stretch>
                    </p:blipFill>
                    <p:spPr>
                      <a:xfrm>
                        <a:off x="1905000" y="3200400"/>
                        <a:ext cx="914400" cy="792163"/>
                      </a:xfrm>
                      <a:prstGeom prst="rect">
                        <a:avLst/>
                      </a:prstGeom>
                    </p:spPr>
                  </p:pic>
                </p:oleObj>
              </mc:Fallback>
            </mc:AlternateContent>
          </a:graphicData>
        </a:graphic>
      </p:graphicFrame>
      <p:sp>
        <p:nvSpPr>
          <p:cNvPr id="6" name="Rectangle 5"/>
          <p:cNvSpPr/>
          <p:nvPr/>
        </p:nvSpPr>
        <p:spPr>
          <a:xfrm>
            <a:off x="762000" y="2667000"/>
            <a:ext cx="2214581" cy="369332"/>
          </a:xfrm>
          <a:prstGeom prst="rect">
            <a:avLst/>
          </a:prstGeom>
        </p:spPr>
        <p:txBody>
          <a:bodyPr wrap="none">
            <a:spAutoFit/>
          </a:bodyPr>
          <a:lstStyle/>
          <a:p>
            <a:r>
              <a:rPr lang="en-US" dirty="0">
                <a:solidFill>
                  <a:schemeClr val="accent6">
                    <a:lumMod val="75000"/>
                  </a:schemeClr>
                </a:solidFill>
                <a:effectLst>
                  <a:outerShdw blurRad="38100" dist="38100" dir="2700000" algn="tl">
                    <a:srgbClr val="000000">
                      <a:alpha val="43137"/>
                    </a:srgbClr>
                  </a:outerShdw>
                </a:effectLst>
                <a:latin typeface="Arial Rounded MT Bold" panose="020F0704030504030204" pitchFamily="34" charset="0"/>
              </a:rPr>
              <a:t>Please click here :</a:t>
            </a:r>
          </a:p>
        </p:txBody>
      </p:sp>
    </p:spTree>
    <p:extLst>
      <p:ext uri="{BB962C8B-B14F-4D97-AF65-F5344CB8AC3E}">
        <p14:creationId xmlns:p14="http://schemas.microsoft.com/office/powerpoint/2010/main" val="330443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2362200"/>
            <a:ext cx="6553200" cy="1938992"/>
          </a:xfrm>
          <a:prstGeom prst="rect">
            <a:avLst/>
          </a:prstGeom>
        </p:spPr>
        <p:txBody>
          <a:bodyPr wrap="square">
            <a:spAutoFit/>
          </a:bodyPr>
          <a:lstStyle/>
          <a:p>
            <a:pPr algn="ctr"/>
            <a:r>
              <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For MSAN customer</a:t>
            </a:r>
          </a:p>
          <a:p>
            <a:pPr algn="ctr"/>
            <a:r>
              <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IPOE  </a:t>
            </a:r>
          </a:p>
        </p:txBody>
      </p:sp>
    </p:spTree>
    <p:extLst>
      <p:ext uri="{BB962C8B-B14F-4D97-AF65-F5344CB8AC3E}">
        <p14:creationId xmlns:p14="http://schemas.microsoft.com/office/powerpoint/2010/main" val="42759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2209800"/>
            <a:ext cx="8991600" cy="1569660"/>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9600" b="1" cap="none" spc="50" dirty="0">
                <a:ln w="11430"/>
                <a:solidFill>
                  <a:schemeClr val="accent6">
                    <a:lumMod val="20000"/>
                    <a:lumOff val="80000"/>
                  </a:schemeClr>
                </a:solidFill>
                <a:effectLst>
                  <a:outerShdw blurRad="76200" dist="50800" dir="5400000" algn="tl" rotWithShape="0">
                    <a:srgbClr val="000000">
                      <a:alpha val="65000"/>
                    </a:srgbClr>
                  </a:outerShdw>
                </a:effectLst>
              </a:rPr>
              <a:t>Authentication </a:t>
            </a:r>
          </a:p>
        </p:txBody>
      </p:sp>
    </p:spTree>
    <p:extLst>
      <p:ext uri="{BB962C8B-B14F-4D97-AF65-F5344CB8AC3E}">
        <p14:creationId xmlns:p14="http://schemas.microsoft.com/office/powerpoint/2010/main" val="2854700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Authentication</a:t>
            </a:r>
            <a:endParaRPr lang="en-US" dirty="0"/>
          </a:p>
        </p:txBody>
      </p:sp>
      <p:sp>
        <p:nvSpPr>
          <p:cNvPr id="3" name="Content Placeholder 2"/>
          <p:cNvSpPr>
            <a:spLocks noGrp="1"/>
          </p:cNvSpPr>
          <p:nvPr>
            <p:ph idx="1"/>
          </p:nvPr>
        </p:nvSpPr>
        <p:spPr>
          <a:xfrm>
            <a:off x="457200" y="1600201"/>
            <a:ext cx="8229600" cy="1524000"/>
          </a:xfrm>
        </p:spPr>
        <p:txBody>
          <a:bodyPr/>
          <a:lstStyle/>
          <a:p>
            <a:pPr algn="l" rtl="0"/>
            <a:r>
              <a:rPr lang="en-US" dirty="0"/>
              <a:t>General definition : customer line is physically up with no IP ( internet protocol )</a:t>
            </a:r>
          </a:p>
          <a:p>
            <a:pPr algn="l"/>
            <a:endParaRPr lang="en-US" dirty="0"/>
          </a:p>
        </p:txBody>
      </p:sp>
    </p:spTree>
    <p:extLst>
      <p:ext uri="{BB962C8B-B14F-4D97-AF65-F5344CB8AC3E}">
        <p14:creationId xmlns:p14="http://schemas.microsoft.com/office/powerpoint/2010/main" val="2256928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546996"/>
            <a:ext cx="89154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667000" y="2590800"/>
            <a:ext cx="3200400" cy="1323439"/>
          </a:xfrm>
          <a:prstGeom prst="rect">
            <a:avLst/>
          </a:prstGeom>
          <a:noFill/>
        </p:spPr>
        <p:txBody>
          <a:bodyPr wrap="square" rtlCol="0">
            <a:spAutoFit/>
          </a:bodyPr>
          <a:lstStyle/>
          <a:p>
            <a:pPr lvl="0" algn="ctr"/>
            <a:r>
              <a:rPr lang="en-US" sz="3600" b="1" dirty="0">
                <a:solidFill>
                  <a:prstClr val="black"/>
                </a:solidFill>
              </a:rPr>
              <a:t>OCTOPUS</a:t>
            </a:r>
            <a:r>
              <a:rPr lang="en-US" sz="4400" b="1" dirty="0">
                <a:solidFill>
                  <a:prstClr val="black"/>
                </a:solidFill>
              </a:rPr>
              <a:t> </a:t>
            </a:r>
            <a:r>
              <a:rPr lang="en-US" sz="4000" b="1" dirty="0">
                <a:solidFill>
                  <a:prstClr val="black"/>
                </a:solidFill>
              </a:rPr>
              <a:t>Tool </a:t>
            </a:r>
          </a:p>
          <a:p>
            <a:pPr algn="ctr"/>
            <a:endParaRPr lang="en-US" sz="3600" b="1"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56" y="3429000"/>
            <a:ext cx="8654143" cy="3428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3581400" y="771261"/>
            <a:ext cx="2210141" cy="646331"/>
          </a:xfrm>
          <a:prstGeom prst="rect">
            <a:avLst/>
          </a:prstGeom>
        </p:spPr>
        <p:txBody>
          <a:bodyPr wrap="square">
            <a:spAutoFit/>
          </a:bodyPr>
          <a:lstStyle/>
          <a:p>
            <a:pPr lvl="0"/>
            <a:r>
              <a:rPr lang="en-US" sz="3600" b="1" dirty="0">
                <a:solidFill>
                  <a:prstClr val="black"/>
                </a:solidFill>
              </a:rPr>
              <a:t>IP tool </a:t>
            </a:r>
          </a:p>
        </p:txBody>
      </p:sp>
    </p:spTree>
    <p:extLst>
      <p:ext uri="{BB962C8B-B14F-4D97-AF65-F5344CB8AC3E}">
        <p14:creationId xmlns:p14="http://schemas.microsoft.com/office/powerpoint/2010/main" val="1749856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How to open Authentication WF</a:t>
            </a:r>
            <a:endParaRPr lang="en-US" sz="3600" b="1" dirty="0">
              <a:ln w="1905"/>
              <a:solidFill>
                <a:srgbClr val="92D050"/>
              </a:solidFill>
              <a:effectLst>
                <a:innerShdw blurRad="69850" dist="43180" dir="5400000">
                  <a:srgbClr val="000000">
                    <a:alpha val="65000"/>
                  </a:srgbClr>
                </a:innerShdw>
              </a:effectLst>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95400"/>
            <a:ext cx="9067800" cy="546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2905125"/>
            <a:ext cx="311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152400" y="2500173"/>
            <a:ext cx="311150" cy="628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320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Authentication WF</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71601"/>
            <a:ext cx="8686800" cy="4730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210594"/>
            <a:ext cx="7985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3979975"/>
            <a:ext cx="871537"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2353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06116-4467-4080-6670-7C765E4F4E12}"/>
              </a:ext>
            </a:extLst>
          </p:cNvPr>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outerShdw blurRad="38100" dist="38100" dir="2700000" algn="tl">
                    <a:srgbClr val="000000">
                      <a:alpha val="43137"/>
                    </a:srgbClr>
                  </a:outerShdw>
                </a:effectLst>
              </a:rPr>
              <a:t>Authentication WF</a:t>
            </a:r>
            <a:endParaRPr lang="en-US" dirty="0"/>
          </a:p>
        </p:txBody>
      </p:sp>
      <p:pic>
        <p:nvPicPr>
          <p:cNvPr id="5" name="Content Placeholder 4">
            <a:extLst>
              <a:ext uri="{FF2B5EF4-FFF2-40B4-BE49-F238E27FC236}">
                <a16:creationId xmlns:a16="http://schemas.microsoft.com/office/drawing/2014/main" id="{0010DCDD-3745-E090-F5F0-8CE60CB3A83D}"/>
              </a:ext>
            </a:extLst>
          </p:cNvPr>
          <p:cNvPicPr>
            <a:picLocks noGrp="1" noChangeAspect="1"/>
          </p:cNvPicPr>
          <p:nvPr>
            <p:ph idx="1"/>
          </p:nvPr>
        </p:nvPicPr>
        <p:blipFill>
          <a:blip r:embed="rId2"/>
          <a:stretch>
            <a:fillRect/>
          </a:stretch>
        </p:blipFill>
        <p:spPr>
          <a:xfrm>
            <a:off x="324464" y="4021569"/>
            <a:ext cx="8229600" cy="2720806"/>
          </a:xfrm>
        </p:spPr>
      </p:pic>
      <p:pic>
        <p:nvPicPr>
          <p:cNvPr id="6" name="Content Placeholder 3">
            <a:extLst>
              <a:ext uri="{FF2B5EF4-FFF2-40B4-BE49-F238E27FC236}">
                <a16:creationId xmlns:a16="http://schemas.microsoft.com/office/drawing/2014/main" id="{EBA59058-5D7A-5FD8-911C-436969723AC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199" y="646833"/>
            <a:ext cx="8229600" cy="3002541"/>
          </a:xfrm>
        </p:spPr>
      </p:pic>
      <p:pic>
        <p:nvPicPr>
          <p:cNvPr id="7" name="Content Placeholder 3">
            <a:extLst>
              <a:ext uri="{FF2B5EF4-FFF2-40B4-BE49-F238E27FC236}">
                <a16:creationId xmlns:a16="http://schemas.microsoft.com/office/drawing/2014/main" id="{6B5B97EB-92E7-CA0D-661A-B5A8D332B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869" y="1156893"/>
            <a:ext cx="7546259" cy="2753226"/>
          </a:xfrm>
          <a:prstGeom prst="rect">
            <a:avLst/>
          </a:prstGeom>
        </p:spPr>
      </p:pic>
      <p:sp>
        <p:nvSpPr>
          <p:cNvPr id="8" name="Left Arrow 4">
            <a:extLst>
              <a:ext uri="{FF2B5EF4-FFF2-40B4-BE49-F238E27FC236}">
                <a16:creationId xmlns:a16="http://schemas.microsoft.com/office/drawing/2014/main" id="{5DF90C2B-BFE3-467D-7521-37404046F0E8}"/>
              </a:ext>
            </a:extLst>
          </p:cNvPr>
          <p:cNvSpPr/>
          <p:nvPr/>
        </p:nvSpPr>
        <p:spPr>
          <a:xfrm>
            <a:off x="2404881" y="1470872"/>
            <a:ext cx="685800" cy="419100"/>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6482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041" y="165535"/>
            <a:ext cx="8229600" cy="563562"/>
          </a:xfrm>
        </p:spPr>
        <p:txBody>
          <a:bodyPr>
            <a:normAutofit fontScale="90000"/>
          </a:bodyPr>
          <a:lstStyle/>
          <a:p>
            <a:endParaRPr lang="en-US" dirty="0">
              <a:effectLst>
                <a:outerShdw blurRad="38100" dist="38100" dir="2700000" algn="tl">
                  <a:srgbClr val="000000">
                    <a:alpha val="43137"/>
                  </a:srgbClr>
                </a:outerShdw>
              </a:effectLst>
            </a:endParaRPr>
          </a:p>
        </p:txBody>
      </p:sp>
      <p:sp>
        <p:nvSpPr>
          <p:cNvPr id="5" name="Left Arrow 4"/>
          <p:cNvSpPr/>
          <p:nvPr/>
        </p:nvSpPr>
        <p:spPr>
          <a:xfrm>
            <a:off x="2272146" y="899248"/>
            <a:ext cx="685800" cy="419100"/>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261059" y="3490453"/>
            <a:ext cx="8591995" cy="2743200"/>
          </a:xfrm>
          <a:prstGeom prst="rect">
            <a:avLst/>
          </a:prstGeom>
        </p:spPr>
      </p:pic>
      <p:pic>
        <p:nvPicPr>
          <p:cNvPr id="9" name="Content Placeholder 8">
            <a:extLst>
              <a:ext uri="{FF2B5EF4-FFF2-40B4-BE49-F238E27FC236}">
                <a16:creationId xmlns:a16="http://schemas.microsoft.com/office/drawing/2014/main" id="{E0787DC2-FCB2-3FC7-6843-51F7529028AA}"/>
              </a:ext>
            </a:extLst>
          </p:cNvPr>
          <p:cNvPicPr>
            <a:picLocks noGrp="1" noChangeAspect="1"/>
          </p:cNvPicPr>
          <p:nvPr>
            <p:ph idx="1"/>
          </p:nvPr>
        </p:nvPicPr>
        <p:blipFill>
          <a:blip r:embed="rId3"/>
          <a:stretch>
            <a:fillRect/>
          </a:stretch>
        </p:blipFill>
        <p:spPr>
          <a:xfrm>
            <a:off x="280219" y="165535"/>
            <a:ext cx="8863781" cy="2810467"/>
          </a:xfrm>
        </p:spPr>
      </p:pic>
    </p:spTree>
    <p:extLst>
      <p:ext uri="{BB962C8B-B14F-4D97-AF65-F5344CB8AC3E}">
        <p14:creationId xmlns:p14="http://schemas.microsoft.com/office/powerpoint/2010/main" val="1900675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EEA9A7-A03D-BB69-F04C-18B019AE652C}"/>
              </a:ext>
            </a:extLst>
          </p:cNvPr>
          <p:cNvPicPr>
            <a:picLocks noChangeAspect="1"/>
          </p:cNvPicPr>
          <p:nvPr/>
        </p:nvPicPr>
        <p:blipFill>
          <a:blip r:embed="rId2"/>
          <a:stretch>
            <a:fillRect/>
          </a:stretch>
        </p:blipFill>
        <p:spPr>
          <a:xfrm>
            <a:off x="273843" y="253916"/>
            <a:ext cx="8596313" cy="1700213"/>
          </a:xfrm>
          <a:prstGeom prst="rect">
            <a:avLst/>
          </a:prstGeom>
        </p:spPr>
      </p:pic>
      <p:pic>
        <p:nvPicPr>
          <p:cNvPr id="7" name="Picture 6">
            <a:extLst>
              <a:ext uri="{FF2B5EF4-FFF2-40B4-BE49-F238E27FC236}">
                <a16:creationId xmlns:a16="http://schemas.microsoft.com/office/drawing/2014/main" id="{F723B25C-6205-294E-04C2-E825B664C2BF}"/>
              </a:ext>
            </a:extLst>
          </p:cNvPr>
          <p:cNvPicPr>
            <a:picLocks noChangeAspect="1"/>
          </p:cNvPicPr>
          <p:nvPr/>
        </p:nvPicPr>
        <p:blipFill>
          <a:blip r:embed="rId3"/>
          <a:stretch>
            <a:fillRect/>
          </a:stretch>
        </p:blipFill>
        <p:spPr>
          <a:xfrm>
            <a:off x="399047" y="2289174"/>
            <a:ext cx="7625765" cy="2867025"/>
          </a:xfrm>
          <a:prstGeom prst="rect">
            <a:avLst/>
          </a:prstGeom>
        </p:spPr>
      </p:pic>
    </p:spTree>
    <p:extLst>
      <p:ext uri="{BB962C8B-B14F-4D97-AF65-F5344CB8AC3E}">
        <p14:creationId xmlns:p14="http://schemas.microsoft.com/office/powerpoint/2010/main" val="1649384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D69FD7-40D5-F660-4614-3D8EB17A5835}"/>
              </a:ext>
            </a:extLst>
          </p:cNvPr>
          <p:cNvPicPr>
            <a:picLocks noChangeAspect="1"/>
          </p:cNvPicPr>
          <p:nvPr/>
        </p:nvPicPr>
        <p:blipFill>
          <a:blip r:embed="rId2"/>
          <a:stretch>
            <a:fillRect/>
          </a:stretch>
        </p:blipFill>
        <p:spPr>
          <a:xfrm>
            <a:off x="323850" y="1175754"/>
            <a:ext cx="8496300" cy="3575634"/>
          </a:xfrm>
          <a:prstGeom prst="rect">
            <a:avLst/>
          </a:prstGeom>
        </p:spPr>
      </p:pic>
    </p:spTree>
    <p:extLst>
      <p:ext uri="{BB962C8B-B14F-4D97-AF65-F5344CB8AC3E}">
        <p14:creationId xmlns:p14="http://schemas.microsoft.com/office/powerpoint/2010/main" val="665784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693" y="3638550"/>
            <a:ext cx="8229599" cy="2739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693" y="32982"/>
            <a:ext cx="8336507" cy="3605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121693" y="3212913"/>
            <a:ext cx="762000" cy="4191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61910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3400" y="381000"/>
            <a:ext cx="5260543" cy="369332"/>
          </a:xfrm>
          <a:prstGeom prst="rect">
            <a:avLst/>
          </a:prstGeom>
          <a:solidFill>
            <a:schemeClr val="bg1"/>
          </a:solidFill>
        </p:spPr>
        <p:txBody>
          <a:bodyPr wrap="none" rtlCol="0">
            <a:spAutoFit/>
          </a:bodyPr>
          <a:lstStyle/>
          <a:p>
            <a:pPr marL="285750" indent="-285750">
              <a:buFont typeface="Arial" panose="020B0604020202020204" pitchFamily="34" charset="0"/>
              <a:buChar char="•"/>
            </a:pPr>
            <a:r>
              <a:rPr lang="en-US" dirty="0"/>
              <a:t> Reset the customer port via FTTH Tool or octopus. ​</a:t>
            </a:r>
          </a:p>
        </p:txBody>
      </p:sp>
      <p:sp>
        <p:nvSpPr>
          <p:cNvPr id="4" name="Left Arrow 3"/>
          <p:cNvSpPr/>
          <p:nvPr/>
        </p:nvSpPr>
        <p:spPr>
          <a:xfrm>
            <a:off x="7750791" y="5127165"/>
            <a:ext cx="762000" cy="394716"/>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410388" y="936879"/>
            <a:ext cx="8320993" cy="1466850"/>
          </a:xfrm>
          <a:prstGeom prst="rect">
            <a:avLst/>
          </a:prstGeom>
        </p:spPr>
      </p:pic>
      <p:pic>
        <p:nvPicPr>
          <p:cNvPr id="5" name="Picture 4"/>
          <p:cNvPicPr>
            <a:picLocks noChangeAspect="1"/>
          </p:cNvPicPr>
          <p:nvPr/>
        </p:nvPicPr>
        <p:blipFill>
          <a:blip r:embed="rId3"/>
          <a:stretch>
            <a:fillRect/>
          </a:stretch>
        </p:blipFill>
        <p:spPr>
          <a:xfrm>
            <a:off x="410389" y="2854476"/>
            <a:ext cx="8320992" cy="1143000"/>
          </a:xfrm>
          <a:prstGeom prst="rect">
            <a:avLst/>
          </a:prstGeom>
        </p:spPr>
      </p:pic>
      <p:pic>
        <p:nvPicPr>
          <p:cNvPr id="6" name="Picture 5"/>
          <p:cNvPicPr>
            <a:picLocks noChangeAspect="1"/>
          </p:cNvPicPr>
          <p:nvPr/>
        </p:nvPicPr>
        <p:blipFill>
          <a:blip r:embed="rId4"/>
          <a:stretch>
            <a:fillRect/>
          </a:stretch>
        </p:blipFill>
        <p:spPr>
          <a:xfrm>
            <a:off x="816591" y="4448222"/>
            <a:ext cx="7696200" cy="1700495"/>
          </a:xfrm>
          <a:prstGeom prst="rect">
            <a:avLst/>
          </a:prstGeom>
        </p:spPr>
      </p:pic>
    </p:spTree>
    <p:extLst>
      <p:ext uri="{BB962C8B-B14F-4D97-AF65-F5344CB8AC3E}">
        <p14:creationId xmlns:p14="http://schemas.microsoft.com/office/powerpoint/2010/main" val="3985233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7695" y="235528"/>
            <a:ext cx="7200900" cy="4779818"/>
          </a:xfrm>
          <a:prstGeom prst="rect">
            <a:avLst/>
          </a:prstGeom>
        </p:spPr>
      </p:pic>
      <p:pic>
        <p:nvPicPr>
          <p:cNvPr id="3" name="Picture 2"/>
          <p:cNvPicPr>
            <a:picLocks noChangeAspect="1"/>
          </p:cNvPicPr>
          <p:nvPr/>
        </p:nvPicPr>
        <p:blipFill>
          <a:blip r:embed="rId3"/>
          <a:stretch>
            <a:fillRect/>
          </a:stretch>
        </p:blipFill>
        <p:spPr>
          <a:xfrm>
            <a:off x="424295" y="5181600"/>
            <a:ext cx="8267700" cy="1071129"/>
          </a:xfrm>
          <a:prstGeom prst="rect">
            <a:avLst/>
          </a:prstGeom>
        </p:spPr>
      </p:pic>
    </p:spTree>
    <p:extLst>
      <p:ext uri="{BB962C8B-B14F-4D97-AF65-F5344CB8AC3E}">
        <p14:creationId xmlns:p14="http://schemas.microsoft.com/office/powerpoint/2010/main" val="1682281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26" y="-5954"/>
            <a:ext cx="9150626" cy="1569660"/>
          </a:xfrm>
          <a:prstGeom prst="rect">
            <a:avLst/>
          </a:prstGeom>
          <a:noFill/>
        </p:spPr>
        <p:txBody>
          <a:bodyPr wrap="square" rtlCol="0">
            <a:spAutoFit/>
          </a:bodyPr>
          <a:lstStyle/>
          <a:p>
            <a:pPr algn="ctr"/>
            <a:r>
              <a:rPr lang="en-US" sz="2000" b="1" dirty="0"/>
              <a:t>Open SR </a:t>
            </a:r>
          </a:p>
          <a:p>
            <a:pPr algn="ctr"/>
            <a:r>
              <a:rPr lang="ar-EG" sz="2000" dirty="0"/>
              <a:t>تمام يااستاذ\ ة انا قدمت لحضرتك طلب والمشكلة هتكون اتحلت خلال ال 24 ساعه القادمة محتاج حضرتك تسيب الراوتر شغال ولو بعد 24 ساعه المشكلة لسه موجوده ممكن حضرتك تشرفنا بالاتصال مره تانية</a:t>
            </a:r>
            <a:r>
              <a:rPr lang="en-US" sz="2000" b="1" dirty="0">
                <a:solidFill>
                  <a:srgbClr val="92D050"/>
                </a:solidFill>
              </a:rPr>
              <a:t>)</a:t>
            </a:r>
            <a:r>
              <a:rPr lang="ar-EG" sz="2000" b="1" dirty="0">
                <a:solidFill>
                  <a:srgbClr val="92D050"/>
                </a:solidFill>
              </a:rPr>
              <a:t>   </a:t>
            </a:r>
            <a:r>
              <a:rPr lang="en-US" sz="2000" b="1" dirty="0">
                <a:solidFill>
                  <a:srgbClr val="92D050"/>
                </a:solidFill>
              </a:rPr>
              <a:t> </a:t>
            </a:r>
          </a:p>
          <a:p>
            <a:pPr algn="ctr"/>
            <a:endParaRPr lang="ar-EG" dirty="0"/>
          </a:p>
          <a:p>
            <a:pPr algn="ctr"/>
            <a:endParaRPr lang="en-US" dirty="0"/>
          </a:p>
        </p:txBody>
      </p:sp>
      <p:pic>
        <p:nvPicPr>
          <p:cNvPr id="2" name="Picture 1"/>
          <p:cNvPicPr>
            <a:picLocks noChangeAspect="1"/>
          </p:cNvPicPr>
          <p:nvPr/>
        </p:nvPicPr>
        <p:blipFill>
          <a:blip r:embed="rId2"/>
          <a:stretch>
            <a:fillRect/>
          </a:stretch>
        </p:blipFill>
        <p:spPr>
          <a:xfrm>
            <a:off x="207818" y="1191822"/>
            <a:ext cx="8936182" cy="2440258"/>
          </a:xfrm>
          <a:prstGeom prst="rect">
            <a:avLst/>
          </a:prstGeom>
        </p:spPr>
      </p:pic>
      <p:pic>
        <p:nvPicPr>
          <p:cNvPr id="4" name="Picture 3">
            <a:extLst>
              <a:ext uri="{FF2B5EF4-FFF2-40B4-BE49-F238E27FC236}">
                <a16:creationId xmlns:a16="http://schemas.microsoft.com/office/drawing/2014/main" id="{CF411B87-A402-F2F0-93C8-C04C141E3B7D}"/>
              </a:ext>
            </a:extLst>
          </p:cNvPr>
          <p:cNvPicPr>
            <a:picLocks noChangeAspect="1"/>
          </p:cNvPicPr>
          <p:nvPr/>
        </p:nvPicPr>
        <p:blipFill>
          <a:blip r:embed="rId3"/>
          <a:stretch>
            <a:fillRect/>
          </a:stretch>
        </p:blipFill>
        <p:spPr>
          <a:xfrm>
            <a:off x="358637" y="3846846"/>
            <a:ext cx="8420100" cy="1209675"/>
          </a:xfrm>
          <a:prstGeom prst="rect">
            <a:avLst/>
          </a:prstGeom>
        </p:spPr>
      </p:pic>
      <p:sp>
        <p:nvSpPr>
          <p:cNvPr id="6" name="Right Arrow 4">
            <a:extLst>
              <a:ext uri="{FF2B5EF4-FFF2-40B4-BE49-F238E27FC236}">
                <a16:creationId xmlns:a16="http://schemas.microsoft.com/office/drawing/2014/main" id="{C8114A82-FCE3-C9B3-50B1-422396231604}"/>
              </a:ext>
            </a:extLst>
          </p:cNvPr>
          <p:cNvSpPr/>
          <p:nvPr/>
        </p:nvSpPr>
        <p:spPr>
          <a:xfrm>
            <a:off x="3211976" y="4240400"/>
            <a:ext cx="632546" cy="42256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7262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27784" y="407932"/>
            <a:ext cx="7865052" cy="3133725"/>
          </a:xfrm>
          <a:prstGeom prst="rect">
            <a:avLst/>
          </a:prstGeom>
        </p:spPr>
      </p:pic>
      <p:pic>
        <p:nvPicPr>
          <p:cNvPr id="3" name="Picture 2"/>
          <p:cNvPicPr>
            <a:picLocks noChangeAspect="1"/>
          </p:cNvPicPr>
          <p:nvPr/>
        </p:nvPicPr>
        <p:blipFill>
          <a:blip r:embed="rId4"/>
          <a:stretch>
            <a:fillRect/>
          </a:stretch>
        </p:blipFill>
        <p:spPr>
          <a:xfrm>
            <a:off x="770226" y="2128404"/>
            <a:ext cx="7867650" cy="2952750"/>
          </a:xfrm>
          <a:prstGeom prst="rect">
            <a:avLst/>
          </a:prstGeom>
        </p:spPr>
      </p:pic>
      <p:sp>
        <p:nvSpPr>
          <p:cNvPr id="5" name="Right Arrow 4"/>
          <p:cNvSpPr/>
          <p:nvPr/>
        </p:nvSpPr>
        <p:spPr>
          <a:xfrm>
            <a:off x="625186" y="3553689"/>
            <a:ext cx="632546" cy="42256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9954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r>
              <a:rPr lang="en-US" sz="2400" dirty="0"/>
              <a:t>We should match the username on session logs with username on </a:t>
            </a:r>
            <a:br>
              <a:rPr lang="en-US" sz="2400" dirty="0"/>
            </a:br>
            <a:r>
              <a:rPr lang="en-US" sz="2400" dirty="0"/>
              <a:t>Siebel </a:t>
            </a:r>
            <a:endParaRPr lang="ar-EG" sz="2400" dirty="0"/>
          </a:p>
        </p:txBody>
      </p:sp>
      <p:pic>
        <p:nvPicPr>
          <p:cNvPr id="6" name="Picture 5"/>
          <p:cNvPicPr>
            <a:picLocks noChangeAspect="1"/>
          </p:cNvPicPr>
          <p:nvPr/>
        </p:nvPicPr>
        <p:blipFill>
          <a:blip r:embed="rId2"/>
          <a:stretch>
            <a:fillRect/>
          </a:stretch>
        </p:blipFill>
        <p:spPr>
          <a:xfrm>
            <a:off x="571500" y="1668608"/>
            <a:ext cx="8001000" cy="1238250"/>
          </a:xfrm>
          <a:prstGeom prst="rect">
            <a:avLst/>
          </a:prstGeom>
        </p:spPr>
      </p:pic>
      <p:sp>
        <p:nvSpPr>
          <p:cNvPr id="7" name="Down Arrow 6"/>
          <p:cNvSpPr/>
          <p:nvPr/>
        </p:nvSpPr>
        <p:spPr>
          <a:xfrm>
            <a:off x="1884218" y="913535"/>
            <a:ext cx="471055" cy="692727"/>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970684" y="3003841"/>
            <a:ext cx="6953250" cy="3258414"/>
          </a:xfrm>
          <a:prstGeom prst="rect">
            <a:avLst/>
          </a:prstGeom>
        </p:spPr>
      </p:pic>
    </p:spTree>
    <p:extLst>
      <p:ext uri="{BB962C8B-B14F-4D97-AF65-F5344CB8AC3E}">
        <p14:creationId xmlns:p14="http://schemas.microsoft.com/office/powerpoint/2010/main" val="84484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2117" y="714812"/>
            <a:ext cx="8001000" cy="1065066"/>
          </a:xfrm>
          <a:prstGeom prst="rect">
            <a:avLst/>
          </a:prstGeom>
        </p:spPr>
      </p:pic>
      <p:sp>
        <p:nvSpPr>
          <p:cNvPr id="3" name="Down Arrow 2"/>
          <p:cNvSpPr/>
          <p:nvPr/>
        </p:nvSpPr>
        <p:spPr>
          <a:xfrm>
            <a:off x="4094017" y="152400"/>
            <a:ext cx="457200" cy="554182"/>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888854" y="1773387"/>
            <a:ext cx="7019925" cy="2492085"/>
          </a:xfrm>
          <a:prstGeom prst="rect">
            <a:avLst/>
          </a:prstGeom>
        </p:spPr>
      </p:pic>
      <p:pic>
        <p:nvPicPr>
          <p:cNvPr id="6" name="Picture 5"/>
          <p:cNvPicPr>
            <a:picLocks noChangeAspect="1"/>
          </p:cNvPicPr>
          <p:nvPr/>
        </p:nvPicPr>
        <p:blipFill>
          <a:blip r:embed="rId4"/>
          <a:stretch>
            <a:fillRect/>
          </a:stretch>
        </p:blipFill>
        <p:spPr>
          <a:xfrm>
            <a:off x="888854" y="4166759"/>
            <a:ext cx="7705725" cy="2314575"/>
          </a:xfrm>
          <a:prstGeom prst="rect">
            <a:avLst/>
          </a:prstGeom>
        </p:spPr>
      </p:pic>
    </p:spTree>
    <p:extLst>
      <p:ext uri="{BB962C8B-B14F-4D97-AF65-F5344CB8AC3E}">
        <p14:creationId xmlns:p14="http://schemas.microsoft.com/office/powerpoint/2010/main" val="2084362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90537" y="846210"/>
            <a:ext cx="8001000" cy="1238250"/>
          </a:xfrm>
          <a:prstGeom prst="rect">
            <a:avLst/>
          </a:prstGeom>
        </p:spPr>
      </p:pic>
      <p:sp>
        <p:nvSpPr>
          <p:cNvPr id="4" name="Down Arrow 3"/>
          <p:cNvSpPr/>
          <p:nvPr/>
        </p:nvSpPr>
        <p:spPr>
          <a:xfrm>
            <a:off x="6719455" y="184225"/>
            <a:ext cx="443346" cy="661985"/>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1157287" y="2105025"/>
            <a:ext cx="6829425" cy="2647950"/>
          </a:xfrm>
          <a:prstGeom prst="rect">
            <a:avLst/>
          </a:prstGeom>
        </p:spPr>
      </p:pic>
      <p:pic>
        <p:nvPicPr>
          <p:cNvPr id="7" name="Picture 6"/>
          <p:cNvPicPr>
            <a:picLocks noChangeAspect="1"/>
          </p:cNvPicPr>
          <p:nvPr/>
        </p:nvPicPr>
        <p:blipFill>
          <a:blip r:embed="rId4"/>
          <a:stretch>
            <a:fillRect/>
          </a:stretch>
        </p:blipFill>
        <p:spPr>
          <a:xfrm>
            <a:off x="300037" y="4897148"/>
            <a:ext cx="8191500" cy="1392816"/>
          </a:xfrm>
          <a:prstGeom prst="rect">
            <a:avLst/>
          </a:prstGeom>
        </p:spPr>
      </p:pic>
    </p:spTree>
    <p:extLst>
      <p:ext uri="{BB962C8B-B14F-4D97-AF65-F5344CB8AC3E}">
        <p14:creationId xmlns:p14="http://schemas.microsoft.com/office/powerpoint/2010/main" val="3684241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88574"/>
            <a:ext cx="8229600" cy="1143000"/>
          </a:xfrm>
        </p:spPr>
        <p:txBody>
          <a:bodyPr>
            <a:normAutofit fontScale="90000"/>
          </a:bodyPr>
          <a:lstStyle/>
          <a:p>
            <a:pPr marL="171450" indent="-171450" algn="l">
              <a:buFont typeface="Arial" panose="020B0604020202020204" pitchFamily="34" charset="0"/>
              <a:buChar char="•"/>
            </a:pPr>
            <a:r>
              <a:rPr lang="en-US" sz="1100" b="0" i="0" dirty="0">
                <a:solidFill>
                  <a:srgbClr val="000000"/>
                </a:solidFill>
                <a:effectLst/>
                <a:latin typeface="Helvetica Neue"/>
              </a:rPr>
              <a:t>​​​​​​​​​​​​​​</a:t>
            </a:r>
            <a:r>
              <a:rPr lang="en-US" sz="1100" b="1" i="0" dirty="0">
                <a:solidFill>
                  <a:srgbClr val="000000"/>
                </a:solidFill>
                <a:effectLst/>
                <a:latin typeface="Helvetica Neue"/>
              </a:rPr>
              <a:t> </a:t>
            </a:r>
            <a:r>
              <a:rPr lang="en-US" sz="1800" b="1" i="0" dirty="0">
                <a:solidFill>
                  <a:srgbClr val="000000"/>
                </a:solidFill>
                <a:effectLst/>
                <a:latin typeface="Helvetica Neue"/>
              </a:rPr>
              <a:t>In case customer has login failed with matched username, call assist hunt (08100) even if customer doesn't have Inner VLAN or Cabinet code mismatch to confirm that there is no mismatch on falcon as well.</a:t>
            </a:r>
            <a:br>
              <a:rPr lang="en-US" sz="1100" b="1" i="0" dirty="0">
                <a:solidFill>
                  <a:srgbClr val="000000"/>
                </a:solidFill>
                <a:effectLst/>
                <a:latin typeface="Helvetica Neue"/>
              </a:rPr>
            </a:br>
            <a:r>
              <a:rPr lang="en-US" sz="1800" b="1" i="0" dirty="0">
                <a:solidFill>
                  <a:srgbClr val="000000"/>
                </a:solidFill>
                <a:effectLst/>
                <a:latin typeface="Helvetica Neue"/>
              </a:rPr>
              <a:t>Compare between Octopus​ &amp; TE-Portal (Cabinet Code &amp; Inner VLAN)</a:t>
            </a:r>
            <a:endParaRPr lang="en-US" sz="1100" b="1" i="0" dirty="0">
              <a:solidFill>
                <a:srgbClr val="000000"/>
              </a:solidFill>
              <a:effectLst/>
              <a:latin typeface="Helvetica Neue"/>
            </a:endParaRPr>
          </a:p>
        </p:txBody>
      </p:sp>
      <p:sp>
        <p:nvSpPr>
          <p:cNvPr id="3" name="Content Placeholder 2"/>
          <p:cNvSpPr>
            <a:spLocks noGrp="1"/>
          </p:cNvSpPr>
          <p:nvPr>
            <p:ph idx="1"/>
          </p:nvPr>
        </p:nvSpPr>
        <p:spPr>
          <a:xfrm>
            <a:off x="457200" y="1231574"/>
            <a:ext cx="8229600" cy="4708525"/>
          </a:xfrm>
          <a:solidFill>
            <a:schemeClr val="bg1"/>
          </a:solidFill>
        </p:spPr>
        <p:txBody>
          <a:bodyPr>
            <a:normAutofit/>
          </a:bodyPr>
          <a:lstStyle/>
          <a:p>
            <a:pPr marL="0" indent="0" algn="l">
              <a:buNone/>
            </a:pPr>
            <a:r>
              <a:rPr lang="en-US" sz="2000" dirty="0"/>
              <a:t>1-If Customer has Cabinet code Miss match</a:t>
            </a:r>
          </a:p>
          <a:p>
            <a:pPr marL="0" indent="0" algn="l">
              <a:buNone/>
            </a:pPr>
            <a:r>
              <a:rPr lang="en-US" sz="2000" b="1" dirty="0">
                <a:solidFill>
                  <a:schemeClr val="accent6">
                    <a:lumMod val="75000"/>
                  </a:schemeClr>
                </a:solidFill>
              </a:rPr>
              <a:t>*OCTOPUS                                                               </a:t>
            </a:r>
          </a:p>
          <a:p>
            <a:pPr marL="0" indent="0" algn="l">
              <a:buNone/>
            </a:pPr>
            <a:endParaRPr lang="en-US" sz="2000" b="1" dirty="0">
              <a:solidFill>
                <a:schemeClr val="accent6">
                  <a:lumMod val="75000"/>
                </a:schemeClr>
              </a:solidFill>
            </a:endParaRPr>
          </a:p>
          <a:p>
            <a:pPr marL="0" indent="0" algn="l">
              <a:buNone/>
            </a:pPr>
            <a:endParaRPr lang="en-US" sz="2000" b="1" dirty="0">
              <a:solidFill>
                <a:schemeClr val="accent6">
                  <a:lumMod val="75000"/>
                </a:schemeClr>
              </a:solidFill>
            </a:endParaRPr>
          </a:p>
          <a:p>
            <a:pPr marL="0" indent="0" algn="l">
              <a:buNone/>
            </a:pPr>
            <a:endParaRPr lang="en-US" sz="2000" b="1" dirty="0">
              <a:solidFill>
                <a:schemeClr val="accent6">
                  <a:lumMod val="75000"/>
                </a:schemeClr>
              </a:solidFill>
            </a:endParaRPr>
          </a:p>
          <a:p>
            <a:pPr marL="0" indent="0" algn="l">
              <a:buNone/>
            </a:pPr>
            <a:endParaRPr lang="en-US" sz="2000" b="1" dirty="0">
              <a:solidFill>
                <a:schemeClr val="accent6">
                  <a:lumMod val="75000"/>
                </a:schemeClr>
              </a:solidFill>
            </a:endParaRPr>
          </a:p>
          <a:p>
            <a:pPr marL="0" indent="0" algn="l">
              <a:buNone/>
            </a:pPr>
            <a:r>
              <a:rPr lang="en-US" sz="2000" b="1" dirty="0">
                <a:solidFill>
                  <a:schemeClr val="accent6">
                    <a:lumMod val="75000"/>
                  </a:schemeClr>
                </a:solidFill>
              </a:rPr>
              <a:t>*FTTH Tool</a:t>
            </a:r>
          </a:p>
          <a:p>
            <a:pPr marL="0" indent="0" algn="l">
              <a:buNone/>
            </a:pPr>
            <a:endParaRPr lang="en-US" sz="2000" b="1" dirty="0">
              <a:solidFill>
                <a:schemeClr val="accent6">
                  <a:lumMod val="75000"/>
                </a:schemeClr>
              </a:solidFill>
            </a:endParaRPr>
          </a:p>
          <a:p>
            <a:pPr marL="0" indent="0" algn="l">
              <a:buNone/>
            </a:pPr>
            <a:endParaRPr lang="en-US" sz="2000" b="1" dirty="0">
              <a:solidFill>
                <a:schemeClr val="accent6">
                  <a:lumMod val="75000"/>
                </a:schemeClr>
              </a:solidFill>
            </a:endParaRPr>
          </a:p>
        </p:txBody>
      </p:sp>
      <p:pic>
        <p:nvPicPr>
          <p:cNvPr id="4" name="Picture 3"/>
          <p:cNvPicPr>
            <a:picLocks noChangeAspect="1"/>
          </p:cNvPicPr>
          <p:nvPr/>
        </p:nvPicPr>
        <p:blipFill>
          <a:blip r:embed="rId2"/>
          <a:stretch>
            <a:fillRect/>
          </a:stretch>
        </p:blipFill>
        <p:spPr>
          <a:xfrm>
            <a:off x="1149928" y="1903841"/>
            <a:ext cx="4081030" cy="1532372"/>
          </a:xfrm>
          <a:prstGeom prst="rect">
            <a:avLst/>
          </a:prstGeom>
        </p:spPr>
      </p:pic>
      <p:pic>
        <p:nvPicPr>
          <p:cNvPr id="9" name="Picture 8"/>
          <p:cNvPicPr>
            <a:picLocks noChangeAspect="1"/>
          </p:cNvPicPr>
          <p:nvPr/>
        </p:nvPicPr>
        <p:blipFill>
          <a:blip r:embed="rId3"/>
          <a:stretch>
            <a:fillRect/>
          </a:stretch>
        </p:blipFill>
        <p:spPr>
          <a:xfrm>
            <a:off x="529503" y="3913321"/>
            <a:ext cx="8140411" cy="1686004"/>
          </a:xfrm>
          <a:prstGeom prst="rect">
            <a:avLst/>
          </a:prstGeom>
        </p:spPr>
      </p:pic>
      <p:sp>
        <p:nvSpPr>
          <p:cNvPr id="10" name="Right Arrow 9"/>
          <p:cNvSpPr/>
          <p:nvPr/>
        </p:nvSpPr>
        <p:spPr>
          <a:xfrm>
            <a:off x="1579419" y="2496846"/>
            <a:ext cx="526473" cy="346363"/>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Right Arrow 10"/>
          <p:cNvSpPr/>
          <p:nvPr/>
        </p:nvSpPr>
        <p:spPr>
          <a:xfrm>
            <a:off x="4350326" y="4302122"/>
            <a:ext cx="498764" cy="27709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4"/>
          <a:stretch>
            <a:fillRect/>
          </a:stretch>
        </p:blipFill>
        <p:spPr>
          <a:xfrm>
            <a:off x="387926" y="5849746"/>
            <a:ext cx="8354291" cy="762619"/>
          </a:xfrm>
          <a:prstGeom prst="rect">
            <a:avLst/>
          </a:prstGeom>
        </p:spPr>
      </p:pic>
    </p:spTree>
    <p:extLst>
      <p:ext uri="{BB962C8B-B14F-4D97-AF65-F5344CB8AC3E}">
        <p14:creationId xmlns:p14="http://schemas.microsoft.com/office/powerpoint/2010/main" val="3123708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20763"/>
          </a:xfrm>
        </p:spPr>
        <p:txBody>
          <a:bodyPr>
            <a:normAutofit/>
          </a:bodyPr>
          <a:lstStyle/>
          <a:p>
            <a:pPr algn="l"/>
            <a:r>
              <a:rPr lang="en-US" sz="2800" dirty="0"/>
              <a:t>2- If Customer has Inner VLAN Mismatch</a:t>
            </a:r>
          </a:p>
        </p:txBody>
      </p:sp>
      <p:sp>
        <p:nvSpPr>
          <p:cNvPr id="3" name="Content Placeholder 2"/>
          <p:cNvSpPr>
            <a:spLocks noGrp="1"/>
          </p:cNvSpPr>
          <p:nvPr>
            <p:ph idx="1"/>
          </p:nvPr>
        </p:nvSpPr>
        <p:spPr>
          <a:xfrm>
            <a:off x="249382" y="987949"/>
            <a:ext cx="8229600" cy="4525963"/>
          </a:xfrm>
        </p:spPr>
        <p:txBody>
          <a:bodyPr>
            <a:normAutofit/>
          </a:bodyPr>
          <a:lstStyle/>
          <a:p>
            <a:pPr marL="0" indent="0" algn="l">
              <a:buNone/>
            </a:pPr>
            <a:r>
              <a:rPr lang="en-US" sz="2800" dirty="0">
                <a:solidFill>
                  <a:schemeClr val="accent6">
                    <a:lumMod val="75000"/>
                  </a:schemeClr>
                </a:solidFill>
              </a:rPr>
              <a:t>*OCTOPUS</a:t>
            </a:r>
          </a:p>
          <a:p>
            <a:pPr marL="0" indent="0" algn="l">
              <a:buNone/>
            </a:pPr>
            <a:endParaRPr lang="en-US" sz="2800" dirty="0">
              <a:solidFill>
                <a:schemeClr val="accent6">
                  <a:lumMod val="75000"/>
                </a:schemeClr>
              </a:solidFill>
            </a:endParaRPr>
          </a:p>
          <a:p>
            <a:pPr marL="0" indent="0" algn="l">
              <a:buNone/>
            </a:pPr>
            <a:endParaRPr lang="en-US" sz="2800" dirty="0">
              <a:solidFill>
                <a:schemeClr val="accent6">
                  <a:lumMod val="75000"/>
                </a:schemeClr>
              </a:solidFill>
            </a:endParaRPr>
          </a:p>
          <a:p>
            <a:pPr marL="0" indent="0" algn="l">
              <a:buNone/>
            </a:pPr>
            <a:endParaRPr lang="en-US" sz="2800" dirty="0">
              <a:solidFill>
                <a:schemeClr val="accent6">
                  <a:lumMod val="75000"/>
                </a:schemeClr>
              </a:solidFill>
            </a:endParaRPr>
          </a:p>
          <a:p>
            <a:pPr marL="0" indent="0" algn="l">
              <a:buNone/>
            </a:pPr>
            <a:r>
              <a:rPr lang="en-US" sz="2800" dirty="0">
                <a:solidFill>
                  <a:schemeClr val="accent6">
                    <a:lumMod val="75000"/>
                  </a:schemeClr>
                </a:solidFill>
              </a:rPr>
              <a:t>*FTTH Tool </a:t>
            </a:r>
          </a:p>
          <a:p>
            <a:pPr marL="0" indent="0" algn="l">
              <a:buNone/>
            </a:pPr>
            <a:endParaRPr lang="en-US" sz="2800" dirty="0">
              <a:solidFill>
                <a:schemeClr val="accent6">
                  <a:lumMod val="75000"/>
                </a:schemeClr>
              </a:solidFill>
            </a:endParaRPr>
          </a:p>
          <a:p>
            <a:pPr marL="0" indent="0" algn="l">
              <a:buNone/>
            </a:pPr>
            <a:endParaRPr lang="en-US" sz="2800" dirty="0">
              <a:solidFill>
                <a:schemeClr val="accent6">
                  <a:lumMod val="75000"/>
                </a:schemeClr>
              </a:solidFill>
            </a:endParaRPr>
          </a:p>
          <a:p>
            <a:pPr marL="0" indent="0" algn="l">
              <a:buNone/>
            </a:pPr>
            <a:endParaRPr lang="en-US" sz="2800" dirty="0">
              <a:solidFill>
                <a:schemeClr val="accent6">
                  <a:lumMod val="75000"/>
                </a:schemeClr>
              </a:solidFill>
            </a:endParaRPr>
          </a:p>
        </p:txBody>
      </p:sp>
      <p:sp>
        <p:nvSpPr>
          <p:cNvPr id="7" name="Right Arrow 6"/>
          <p:cNvSpPr/>
          <p:nvPr/>
        </p:nvSpPr>
        <p:spPr>
          <a:xfrm rot="10800000">
            <a:off x="4572000" y="2184819"/>
            <a:ext cx="706582" cy="29514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1714500" y="1384719"/>
            <a:ext cx="2857500" cy="1600200"/>
          </a:xfrm>
          <a:prstGeom prst="rect">
            <a:avLst/>
          </a:prstGeom>
        </p:spPr>
      </p:pic>
      <p:pic>
        <p:nvPicPr>
          <p:cNvPr id="9" name="Picture 8"/>
          <p:cNvPicPr>
            <a:picLocks noChangeAspect="1"/>
          </p:cNvPicPr>
          <p:nvPr/>
        </p:nvPicPr>
        <p:blipFill>
          <a:blip r:embed="rId3"/>
          <a:stretch>
            <a:fillRect/>
          </a:stretch>
        </p:blipFill>
        <p:spPr>
          <a:xfrm>
            <a:off x="353291" y="3539803"/>
            <a:ext cx="8229600" cy="1419225"/>
          </a:xfrm>
          <a:prstGeom prst="rect">
            <a:avLst/>
          </a:prstGeom>
        </p:spPr>
      </p:pic>
      <p:sp>
        <p:nvSpPr>
          <p:cNvPr id="10" name="Down Arrow 9"/>
          <p:cNvSpPr/>
          <p:nvPr/>
        </p:nvSpPr>
        <p:spPr>
          <a:xfrm rot="5400000">
            <a:off x="3859405" y="3920894"/>
            <a:ext cx="352511" cy="657042"/>
          </a:xfrm>
          <a:prstGeom prst="downArrow">
            <a:avLst>
              <a:gd name="adj1" fmla="val 50001"/>
              <a:gd name="adj2"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4"/>
          <a:stretch>
            <a:fillRect/>
          </a:stretch>
        </p:blipFill>
        <p:spPr>
          <a:xfrm>
            <a:off x="439016" y="4651472"/>
            <a:ext cx="8143875" cy="1681824"/>
          </a:xfrm>
          <a:prstGeom prst="rect">
            <a:avLst/>
          </a:prstGeom>
        </p:spPr>
      </p:pic>
    </p:spTree>
    <p:extLst>
      <p:ext uri="{BB962C8B-B14F-4D97-AF65-F5344CB8AC3E}">
        <p14:creationId xmlns:p14="http://schemas.microsoft.com/office/powerpoint/2010/main" val="200420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928235"/>
          </a:xfrm>
        </p:spPr>
        <p:txBody>
          <a:bodyPr>
            <a:normAutofit/>
          </a:bodyPr>
          <a:lstStyle/>
          <a:p>
            <a:pPr algn="l"/>
            <a:r>
              <a:rPr lang="en-US" sz="2800" dirty="0"/>
              <a:t> 3- No Account on Falcon</a:t>
            </a:r>
          </a:p>
        </p:txBody>
      </p:sp>
      <p:pic>
        <p:nvPicPr>
          <p:cNvPr id="3" name="Picture 2"/>
          <p:cNvPicPr>
            <a:picLocks noChangeAspect="1"/>
          </p:cNvPicPr>
          <p:nvPr/>
        </p:nvPicPr>
        <p:blipFill>
          <a:blip r:embed="rId2"/>
          <a:stretch>
            <a:fillRect/>
          </a:stretch>
        </p:blipFill>
        <p:spPr>
          <a:xfrm>
            <a:off x="760052" y="2202872"/>
            <a:ext cx="7623896" cy="1662546"/>
          </a:xfrm>
          <a:prstGeom prst="rect">
            <a:avLst/>
          </a:prstGeom>
        </p:spPr>
      </p:pic>
    </p:spTree>
    <p:extLst>
      <p:ext uri="{BB962C8B-B14F-4D97-AF65-F5344CB8AC3E}">
        <p14:creationId xmlns:p14="http://schemas.microsoft.com/office/powerpoint/2010/main" val="526023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dirty="0"/>
              <a:t>4- If customer hasn't problem in Cabinet Code or Inner VLAN</a:t>
            </a:r>
          </a:p>
        </p:txBody>
      </p:sp>
      <p:pic>
        <p:nvPicPr>
          <p:cNvPr id="3" name="Picture 2"/>
          <p:cNvPicPr>
            <a:picLocks noChangeAspect="1"/>
          </p:cNvPicPr>
          <p:nvPr/>
        </p:nvPicPr>
        <p:blipFill>
          <a:blip r:embed="rId2"/>
          <a:stretch>
            <a:fillRect/>
          </a:stretch>
        </p:blipFill>
        <p:spPr>
          <a:xfrm>
            <a:off x="225137" y="1192583"/>
            <a:ext cx="8461663" cy="1647825"/>
          </a:xfrm>
          <a:prstGeom prst="rect">
            <a:avLst/>
          </a:prstGeom>
        </p:spPr>
      </p:pic>
      <p:pic>
        <p:nvPicPr>
          <p:cNvPr id="6" name="Picture 5"/>
          <p:cNvPicPr>
            <a:picLocks noChangeAspect="1"/>
          </p:cNvPicPr>
          <p:nvPr/>
        </p:nvPicPr>
        <p:blipFill>
          <a:blip r:embed="rId3"/>
          <a:stretch>
            <a:fillRect/>
          </a:stretch>
        </p:blipFill>
        <p:spPr>
          <a:xfrm>
            <a:off x="609600" y="3168216"/>
            <a:ext cx="7324725" cy="1995054"/>
          </a:xfrm>
          <a:prstGeom prst="rect">
            <a:avLst/>
          </a:prstGeom>
        </p:spPr>
      </p:pic>
      <p:pic>
        <p:nvPicPr>
          <p:cNvPr id="7" name="Picture 6"/>
          <p:cNvPicPr>
            <a:picLocks noChangeAspect="1"/>
          </p:cNvPicPr>
          <p:nvPr/>
        </p:nvPicPr>
        <p:blipFill>
          <a:blip r:embed="rId4"/>
          <a:stretch>
            <a:fillRect/>
          </a:stretch>
        </p:blipFill>
        <p:spPr>
          <a:xfrm>
            <a:off x="665018" y="5320578"/>
            <a:ext cx="7581900" cy="733425"/>
          </a:xfrm>
          <a:prstGeom prst="rect">
            <a:avLst/>
          </a:prstGeom>
        </p:spPr>
      </p:pic>
    </p:spTree>
    <p:extLst>
      <p:ext uri="{BB962C8B-B14F-4D97-AF65-F5344CB8AC3E}">
        <p14:creationId xmlns:p14="http://schemas.microsoft.com/office/powerpoint/2010/main" val="2667598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96941" y="1640670"/>
            <a:ext cx="7938655" cy="4835235"/>
          </a:xfrm>
          <a:prstGeom prst="rect">
            <a:avLst/>
          </a:prstGeom>
        </p:spPr>
      </p:pic>
      <p:sp>
        <p:nvSpPr>
          <p:cNvPr id="3" name="TextBox 2">
            <a:extLst>
              <a:ext uri="{FF2B5EF4-FFF2-40B4-BE49-F238E27FC236}">
                <a16:creationId xmlns:a16="http://schemas.microsoft.com/office/drawing/2014/main" id="{69FF199C-FFB0-6F6B-C684-211FB9CFD024}"/>
              </a:ext>
            </a:extLst>
          </p:cNvPr>
          <p:cNvSpPr txBox="1"/>
          <p:nvPr/>
        </p:nvSpPr>
        <p:spPr>
          <a:xfrm>
            <a:off x="708404" y="1108592"/>
            <a:ext cx="6761748" cy="646331"/>
          </a:xfrm>
          <a:prstGeom prst="rect">
            <a:avLst/>
          </a:prstGeom>
          <a:noFill/>
        </p:spPr>
        <p:txBody>
          <a:bodyPr wrap="square">
            <a:spAutoFit/>
          </a:bodyPr>
          <a:lstStyle/>
          <a:p>
            <a:r>
              <a:rPr lang="en-US" sz="1800" b="0" i="0" dirty="0">
                <a:solidFill>
                  <a:srgbClr val="000000"/>
                </a:solidFill>
                <a:effectLst/>
                <a:latin typeface="Helvetica Neue"/>
              </a:rPr>
              <a:t>If customer can’t browse and problem </a:t>
            </a:r>
            <a:r>
              <a:rPr lang="en-US" sz="1800" b="1" i="0" dirty="0">
                <a:solidFill>
                  <a:srgbClr val="FF6600"/>
                </a:solidFill>
                <a:effectLst/>
                <a:latin typeface="Helvetica Neue"/>
              </a:rPr>
              <a:t>isn’t solved</a:t>
            </a:r>
            <a:r>
              <a:rPr lang="en-US" sz="1800" b="0" i="0" dirty="0">
                <a:solidFill>
                  <a:srgbClr val="000000"/>
                </a:solidFill>
                <a:effectLst/>
                <a:latin typeface="Helvetica Neue"/>
              </a:rPr>
              <a:t> so let customer restart the router</a:t>
            </a:r>
            <a:endParaRPr lang="en-US" dirty="0"/>
          </a:p>
        </p:txBody>
      </p:sp>
    </p:spTree>
    <p:extLst>
      <p:ext uri="{BB962C8B-B14F-4D97-AF65-F5344CB8AC3E}">
        <p14:creationId xmlns:p14="http://schemas.microsoft.com/office/powerpoint/2010/main" val="2886562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5954"/>
            <a:ext cx="9137373" cy="2492990"/>
          </a:xfrm>
          <a:prstGeom prst="rect">
            <a:avLst/>
          </a:prstGeom>
          <a:noFill/>
        </p:spPr>
        <p:txBody>
          <a:bodyPr wrap="square" rtlCol="0">
            <a:spAutoFit/>
          </a:bodyPr>
          <a:lstStyle/>
          <a:p>
            <a:pPr algn="ctr"/>
            <a:r>
              <a:rPr lang="en-US" sz="2400" b="1" dirty="0"/>
              <a:t>Open SR </a:t>
            </a:r>
          </a:p>
          <a:p>
            <a:pPr algn="ctr"/>
            <a:endParaRPr lang="en-US" sz="2400" dirty="0"/>
          </a:p>
          <a:p>
            <a:pPr algn="ctr"/>
            <a:r>
              <a:rPr lang="ar-EG" sz="2400" dirty="0"/>
              <a:t>تمام يااستاذ\ ة انا قدمت لحضرتك طلب والمشكلة هتكون اتحلت خلال ال 24 ساعه القادمة محتاج حضرتك تسيب الراوتر شغال ولو بعد 24 ساعه المشكلة لسه موجوده ممكن حضرتك تشرفنا بالاتصال مره تانية   </a:t>
            </a:r>
            <a:endParaRPr lang="en-US" sz="2400" dirty="0"/>
          </a:p>
          <a:p>
            <a:pPr algn="ctr"/>
            <a:endParaRPr lang="ar-EG" dirty="0"/>
          </a:p>
          <a:p>
            <a:pPr algn="ctr"/>
            <a:endParaRPr lang="en-US" dirty="0"/>
          </a:p>
        </p:txBody>
      </p:sp>
      <p:pic>
        <p:nvPicPr>
          <p:cNvPr id="3" name="Picture 2"/>
          <p:cNvPicPr>
            <a:picLocks noChangeAspect="1"/>
          </p:cNvPicPr>
          <p:nvPr/>
        </p:nvPicPr>
        <p:blipFill>
          <a:blip r:embed="rId2"/>
          <a:stretch>
            <a:fillRect/>
          </a:stretch>
        </p:blipFill>
        <p:spPr>
          <a:xfrm>
            <a:off x="398467" y="2907289"/>
            <a:ext cx="8340438" cy="2733675"/>
          </a:xfrm>
          <a:prstGeom prst="rect">
            <a:avLst/>
          </a:prstGeom>
        </p:spPr>
      </p:pic>
    </p:spTree>
    <p:extLst>
      <p:ext uri="{BB962C8B-B14F-4D97-AF65-F5344CB8AC3E}">
        <p14:creationId xmlns:p14="http://schemas.microsoft.com/office/powerpoint/2010/main" val="287509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235" y="1489477"/>
            <a:ext cx="8382000" cy="1781175"/>
          </a:xfrm>
          <a:prstGeom prst="rect">
            <a:avLst/>
          </a:prstGeom>
        </p:spPr>
      </p:pic>
      <p:pic>
        <p:nvPicPr>
          <p:cNvPr id="7" name="Picture 6"/>
          <p:cNvPicPr>
            <a:picLocks noChangeAspect="1"/>
          </p:cNvPicPr>
          <p:nvPr/>
        </p:nvPicPr>
        <p:blipFill>
          <a:blip r:embed="rId3"/>
          <a:stretch>
            <a:fillRect/>
          </a:stretch>
        </p:blipFill>
        <p:spPr>
          <a:xfrm>
            <a:off x="332509" y="3075710"/>
            <a:ext cx="8548256" cy="3362325"/>
          </a:xfrm>
          <a:prstGeom prst="rect">
            <a:avLst/>
          </a:prstGeom>
        </p:spPr>
      </p:pic>
      <p:pic>
        <p:nvPicPr>
          <p:cNvPr id="5" name="Picture 4">
            <a:extLst>
              <a:ext uri="{FF2B5EF4-FFF2-40B4-BE49-F238E27FC236}">
                <a16:creationId xmlns:a16="http://schemas.microsoft.com/office/drawing/2014/main" id="{2EFFA2EF-7FA5-0EB5-A41B-3E82475EC9E7}"/>
              </a:ext>
            </a:extLst>
          </p:cNvPr>
          <p:cNvPicPr>
            <a:picLocks noChangeAspect="1"/>
          </p:cNvPicPr>
          <p:nvPr/>
        </p:nvPicPr>
        <p:blipFill>
          <a:blip r:embed="rId4"/>
          <a:stretch>
            <a:fillRect/>
          </a:stretch>
        </p:blipFill>
        <p:spPr>
          <a:xfrm>
            <a:off x="498765" y="216100"/>
            <a:ext cx="8382000" cy="1190625"/>
          </a:xfrm>
          <a:prstGeom prst="rect">
            <a:avLst/>
          </a:prstGeom>
        </p:spPr>
      </p:pic>
      <p:sp>
        <p:nvSpPr>
          <p:cNvPr id="6" name="Down Arrow 3">
            <a:extLst>
              <a:ext uri="{FF2B5EF4-FFF2-40B4-BE49-F238E27FC236}">
                <a16:creationId xmlns:a16="http://schemas.microsoft.com/office/drawing/2014/main" id="{FDEA42FA-A10B-2667-C8D7-68AEE66A5978}"/>
              </a:ext>
            </a:extLst>
          </p:cNvPr>
          <p:cNvSpPr/>
          <p:nvPr/>
        </p:nvSpPr>
        <p:spPr>
          <a:xfrm>
            <a:off x="7934645" y="149427"/>
            <a:ext cx="443346" cy="661985"/>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Down Arrow 3">
            <a:extLst>
              <a:ext uri="{FF2B5EF4-FFF2-40B4-BE49-F238E27FC236}">
                <a16:creationId xmlns:a16="http://schemas.microsoft.com/office/drawing/2014/main" id="{A68B1359-95D8-8FEA-CB56-9DA906D5C064}"/>
              </a:ext>
            </a:extLst>
          </p:cNvPr>
          <p:cNvSpPr/>
          <p:nvPr/>
        </p:nvSpPr>
        <p:spPr>
          <a:xfrm>
            <a:off x="3603276" y="1489477"/>
            <a:ext cx="443346" cy="661985"/>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5806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65908" y="1816100"/>
            <a:ext cx="7029361" cy="1612900"/>
          </a:xfrm>
          <a:prstGeom prst="rect">
            <a:avLst/>
          </a:prstGeom>
        </p:spPr>
      </p:pic>
      <p:pic>
        <p:nvPicPr>
          <p:cNvPr id="4" name="Picture 3"/>
          <p:cNvPicPr>
            <a:picLocks noChangeAspect="1"/>
          </p:cNvPicPr>
          <p:nvPr/>
        </p:nvPicPr>
        <p:blipFill>
          <a:blip r:embed="rId3"/>
          <a:stretch>
            <a:fillRect/>
          </a:stretch>
        </p:blipFill>
        <p:spPr>
          <a:xfrm>
            <a:off x="761635" y="3580293"/>
            <a:ext cx="6722008" cy="1307140"/>
          </a:xfrm>
          <a:prstGeom prst="rect">
            <a:avLst/>
          </a:prstGeom>
        </p:spPr>
      </p:pic>
      <p:pic>
        <p:nvPicPr>
          <p:cNvPr id="6" name="Picture 5"/>
          <p:cNvPicPr>
            <a:picLocks noChangeAspect="1"/>
          </p:cNvPicPr>
          <p:nvPr/>
        </p:nvPicPr>
        <p:blipFill>
          <a:blip r:embed="rId4"/>
          <a:stretch>
            <a:fillRect/>
          </a:stretch>
        </p:blipFill>
        <p:spPr>
          <a:xfrm>
            <a:off x="865908" y="5038727"/>
            <a:ext cx="7029361" cy="1037980"/>
          </a:xfrm>
          <a:prstGeom prst="rect">
            <a:avLst/>
          </a:prstGeom>
        </p:spPr>
      </p:pic>
      <p:sp>
        <p:nvSpPr>
          <p:cNvPr id="5" name="TextBox 4">
            <a:extLst>
              <a:ext uri="{FF2B5EF4-FFF2-40B4-BE49-F238E27FC236}">
                <a16:creationId xmlns:a16="http://schemas.microsoft.com/office/drawing/2014/main" id="{13580744-F7FC-D0AB-8480-B8B42B18D8C6}"/>
              </a:ext>
            </a:extLst>
          </p:cNvPr>
          <p:cNvSpPr txBox="1"/>
          <p:nvPr/>
        </p:nvSpPr>
        <p:spPr>
          <a:xfrm>
            <a:off x="865908" y="741476"/>
            <a:ext cx="7628021" cy="923330"/>
          </a:xfrm>
          <a:prstGeom prst="rect">
            <a:avLst/>
          </a:prstGeom>
          <a:noFill/>
        </p:spPr>
        <p:txBody>
          <a:bodyPr wrap="square">
            <a:spAutoFit/>
          </a:bodyPr>
          <a:lstStyle/>
          <a:p>
            <a:pPr algn="l">
              <a:buFont typeface="Arial" panose="020B0604020202020204" pitchFamily="34" charset="0"/>
              <a:buChar char="•"/>
            </a:pPr>
            <a:r>
              <a:rPr lang="en-US" sz="1800" b="0" i="0" dirty="0">
                <a:solidFill>
                  <a:srgbClr val="000000"/>
                </a:solidFill>
                <a:effectLst/>
                <a:latin typeface="Helvetica Neue"/>
              </a:rPr>
              <a:t>If the cabinet has traffic normally:</a:t>
            </a:r>
            <a:endParaRPr lang="en-US" b="0" i="0" dirty="0">
              <a:solidFill>
                <a:srgbClr val="000000"/>
              </a:solidFill>
              <a:effectLst/>
              <a:latin typeface="Helvetica Neue"/>
            </a:endParaRPr>
          </a:p>
          <a:p>
            <a:pPr algn="l">
              <a:buFont typeface="Arial" panose="020B0604020202020204" pitchFamily="34" charset="0"/>
              <a:buChar char="•"/>
            </a:pPr>
            <a:r>
              <a:rPr lang="en-US" sz="1800" b="0" i="0" dirty="0">
                <a:solidFill>
                  <a:srgbClr val="000000"/>
                </a:solidFill>
                <a:effectLst/>
                <a:latin typeface="Helvetica Neue"/>
              </a:rPr>
              <a:t>​Reset the customer port via TE Portal​ by pressing on "Lock port then Unlock port" ​​for MSAN Lines:</a:t>
            </a:r>
            <a:endParaRPr lang="en-US" b="0" i="0" dirty="0">
              <a:solidFill>
                <a:srgbClr val="000000"/>
              </a:solidFill>
              <a:effectLst/>
              <a:latin typeface="Helvetica Neue"/>
            </a:endParaRPr>
          </a:p>
        </p:txBody>
      </p:sp>
    </p:spTree>
    <p:extLst>
      <p:ext uri="{BB962C8B-B14F-4D97-AF65-F5344CB8AC3E}">
        <p14:creationId xmlns:p14="http://schemas.microsoft.com/office/powerpoint/2010/main" val="684811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451504"/>
            <a:ext cx="8105775" cy="3095625"/>
          </a:xfrm>
          <a:prstGeom prst="rect">
            <a:avLst/>
          </a:prstGeom>
        </p:spPr>
      </p:pic>
      <p:pic>
        <p:nvPicPr>
          <p:cNvPr id="3" name="Picture 2">
            <a:extLst>
              <a:ext uri="{FF2B5EF4-FFF2-40B4-BE49-F238E27FC236}">
                <a16:creationId xmlns:a16="http://schemas.microsoft.com/office/drawing/2014/main" id="{A97C8026-161E-348B-0F13-6D3E348FC6E5}"/>
              </a:ext>
            </a:extLst>
          </p:cNvPr>
          <p:cNvPicPr>
            <a:picLocks noChangeAspect="1"/>
          </p:cNvPicPr>
          <p:nvPr/>
        </p:nvPicPr>
        <p:blipFill>
          <a:blip r:embed="rId3"/>
          <a:stretch>
            <a:fillRect/>
          </a:stretch>
        </p:blipFill>
        <p:spPr>
          <a:xfrm>
            <a:off x="242887" y="4181155"/>
            <a:ext cx="8382000" cy="1190625"/>
          </a:xfrm>
          <a:prstGeom prst="rect">
            <a:avLst/>
          </a:prstGeom>
        </p:spPr>
      </p:pic>
      <p:sp>
        <p:nvSpPr>
          <p:cNvPr id="4" name="Down Arrow 3">
            <a:extLst>
              <a:ext uri="{FF2B5EF4-FFF2-40B4-BE49-F238E27FC236}">
                <a16:creationId xmlns:a16="http://schemas.microsoft.com/office/drawing/2014/main" id="{A37EC1D1-F1E5-48A1-08FA-AB6E881827EC}"/>
              </a:ext>
            </a:extLst>
          </p:cNvPr>
          <p:cNvSpPr/>
          <p:nvPr/>
        </p:nvSpPr>
        <p:spPr>
          <a:xfrm>
            <a:off x="7694014" y="3533150"/>
            <a:ext cx="443346" cy="661985"/>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0327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5954"/>
            <a:ext cx="9137373" cy="2123658"/>
          </a:xfrm>
          <a:prstGeom prst="rect">
            <a:avLst/>
          </a:prstGeom>
          <a:noFill/>
        </p:spPr>
        <p:txBody>
          <a:bodyPr wrap="square" rtlCol="0">
            <a:spAutoFit/>
          </a:bodyPr>
          <a:lstStyle/>
          <a:p>
            <a:pPr algn="ctr"/>
            <a:r>
              <a:rPr lang="en-US" sz="2400" b="1" dirty="0"/>
              <a:t>Open SR </a:t>
            </a:r>
          </a:p>
          <a:p>
            <a:pPr algn="ctr"/>
            <a:r>
              <a:rPr lang="ar-EG" sz="2400" dirty="0"/>
              <a:t>تمام يااستاذ\ ة انا قدمت لحضرتك طلب والمشكلة هتكون اتحلت خلال ال 24 ساعه القادمة محتاج حضرتك تسيب الراوتر شغال ولو بعد 24 ساعه المشكلة لسه موجوده ممكن حضرتك تشرفنا بالاتصال مره تانية   </a:t>
            </a:r>
            <a:endParaRPr lang="en-US" sz="2400" dirty="0"/>
          </a:p>
          <a:p>
            <a:pPr algn="ctr"/>
            <a:endParaRPr lang="ar-EG" dirty="0"/>
          </a:p>
          <a:p>
            <a:pPr algn="ctr"/>
            <a:endParaRPr lang="en-US" dirty="0"/>
          </a:p>
        </p:txBody>
      </p:sp>
      <p:pic>
        <p:nvPicPr>
          <p:cNvPr id="6" name="Picture 5"/>
          <p:cNvPicPr>
            <a:picLocks noChangeAspect="1"/>
          </p:cNvPicPr>
          <p:nvPr/>
        </p:nvPicPr>
        <p:blipFill>
          <a:blip r:embed="rId2"/>
          <a:stretch>
            <a:fillRect/>
          </a:stretch>
        </p:blipFill>
        <p:spPr>
          <a:xfrm>
            <a:off x="380567" y="2534083"/>
            <a:ext cx="8638742" cy="3049299"/>
          </a:xfrm>
          <a:prstGeom prst="rect">
            <a:avLst/>
          </a:prstGeom>
        </p:spPr>
      </p:pic>
    </p:spTree>
    <p:extLst>
      <p:ext uri="{BB962C8B-B14F-4D97-AF65-F5344CB8AC3E}">
        <p14:creationId xmlns:p14="http://schemas.microsoft.com/office/powerpoint/2010/main" val="2000268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342985"/>
            <a:ext cx="8382000" cy="1781175"/>
          </a:xfrm>
          <a:prstGeom prst="rect">
            <a:avLst/>
          </a:prstGeom>
        </p:spPr>
      </p:pic>
      <p:sp>
        <p:nvSpPr>
          <p:cNvPr id="3" name="Right Arrow 2"/>
          <p:cNvSpPr/>
          <p:nvPr/>
        </p:nvSpPr>
        <p:spPr>
          <a:xfrm rot="16200000">
            <a:off x="6226361" y="1826288"/>
            <a:ext cx="709973" cy="59574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Rectangle 3"/>
          <p:cNvSpPr/>
          <p:nvPr/>
        </p:nvSpPr>
        <p:spPr>
          <a:xfrm>
            <a:off x="119279" y="2808140"/>
            <a:ext cx="4901044" cy="1446550"/>
          </a:xfrm>
          <a:prstGeom prst="rect">
            <a:avLst/>
          </a:prstGeom>
        </p:spPr>
        <p:txBody>
          <a:bodyPr wrap="square">
            <a:spAutoFit/>
          </a:bodyPr>
          <a:lstStyle/>
          <a:p>
            <a:pPr>
              <a:buFont typeface="Arial" panose="020B0604020202020204" pitchFamily="34" charset="0"/>
              <a:buChar char="•"/>
            </a:pPr>
            <a:r>
              <a:rPr lang="en-US" sz="1100" dirty="0">
                <a:solidFill>
                  <a:srgbClr val="000000"/>
                </a:solidFill>
                <a:latin typeface="Helvetica Neue"/>
              </a:rPr>
              <a:t>In case agent was checking the logical connection on </a:t>
            </a:r>
            <a:r>
              <a:rPr lang="en-US" sz="1100" b="1" dirty="0">
                <a:solidFill>
                  <a:srgbClr val="000000"/>
                </a:solidFill>
                <a:latin typeface="Helvetica Neue"/>
              </a:rPr>
              <a:t>Octopus</a:t>
            </a:r>
            <a:r>
              <a:rPr lang="en-US" sz="1100" dirty="0">
                <a:solidFill>
                  <a:srgbClr val="000000"/>
                </a:solidFill>
                <a:latin typeface="Helvetica Neue"/>
              </a:rPr>
              <a:t> and found the customer has "</a:t>
            </a:r>
            <a:r>
              <a:rPr lang="en-US" sz="1100" b="1" dirty="0">
                <a:solidFill>
                  <a:srgbClr val="000000"/>
                </a:solidFill>
                <a:latin typeface="Helvetica Neue"/>
              </a:rPr>
              <a:t>Connect Issue":</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Agent should open the router's page and modify the username to be same as Siebel username.</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In case solved​​​, agent ​should create the relevant SR and close it with the proper Sub Area.</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Not Solved, create the relevant SR to be assigned to the concerned team.</a:t>
            </a:r>
            <a:endParaRPr lang="en-US" b="0" i="0" dirty="0">
              <a:solidFill>
                <a:srgbClr val="000000"/>
              </a:solidFill>
              <a:effectLst/>
              <a:latin typeface="Helvetica Neue"/>
            </a:endParaRPr>
          </a:p>
        </p:txBody>
      </p:sp>
      <p:pic>
        <p:nvPicPr>
          <p:cNvPr id="5" name="Picture 4"/>
          <p:cNvPicPr>
            <a:picLocks noChangeAspect="1"/>
          </p:cNvPicPr>
          <p:nvPr/>
        </p:nvPicPr>
        <p:blipFill>
          <a:blip r:embed="rId3"/>
          <a:stretch>
            <a:fillRect/>
          </a:stretch>
        </p:blipFill>
        <p:spPr>
          <a:xfrm>
            <a:off x="5517574" y="2727096"/>
            <a:ext cx="3000375" cy="1914525"/>
          </a:xfrm>
          <a:prstGeom prst="rect">
            <a:avLst/>
          </a:prstGeom>
        </p:spPr>
      </p:pic>
      <p:pic>
        <p:nvPicPr>
          <p:cNvPr id="6" name="Picture 5"/>
          <p:cNvPicPr>
            <a:picLocks noChangeAspect="1"/>
          </p:cNvPicPr>
          <p:nvPr/>
        </p:nvPicPr>
        <p:blipFill>
          <a:blip r:embed="rId4"/>
          <a:stretch>
            <a:fillRect/>
          </a:stretch>
        </p:blipFill>
        <p:spPr>
          <a:xfrm>
            <a:off x="0" y="4956672"/>
            <a:ext cx="9144000" cy="1466850"/>
          </a:xfrm>
          <a:prstGeom prst="rect">
            <a:avLst/>
          </a:prstGeom>
        </p:spPr>
      </p:pic>
    </p:spTree>
    <p:extLst>
      <p:ext uri="{BB962C8B-B14F-4D97-AF65-F5344CB8AC3E}">
        <p14:creationId xmlns:p14="http://schemas.microsoft.com/office/powerpoint/2010/main" val="2598336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143000"/>
            <a:ext cx="8991600" cy="1323439"/>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8000" b="1" cap="none" spc="50" dirty="0">
                <a:ln w="11430"/>
                <a:solidFill>
                  <a:schemeClr val="accent6">
                    <a:lumMod val="20000"/>
                    <a:lumOff val="80000"/>
                  </a:schemeClr>
                </a:solidFill>
                <a:effectLst>
                  <a:outerShdw blurRad="76200" dist="50800" dir="5400000" algn="tl" rotWithShape="0">
                    <a:srgbClr val="000000">
                      <a:alpha val="65000"/>
                    </a:srgbClr>
                  </a:outerShdw>
                </a:effectLst>
              </a:rPr>
              <a:t>No </a:t>
            </a:r>
            <a:r>
              <a:rPr lang="en-US" sz="8000" b="1" spc="50" dirty="0">
                <a:ln w="11430"/>
                <a:solidFill>
                  <a:schemeClr val="accent6">
                    <a:lumMod val="20000"/>
                    <a:lumOff val="80000"/>
                  </a:schemeClr>
                </a:solidFill>
                <a:effectLst>
                  <a:outerShdw blurRad="76200" dist="50800" dir="5400000" algn="tl" rotWithShape="0">
                    <a:srgbClr val="000000">
                      <a:alpha val="65000"/>
                    </a:srgbClr>
                  </a:outerShdw>
                </a:effectLst>
              </a:rPr>
              <a:t>Browsing</a:t>
            </a:r>
            <a:r>
              <a:rPr lang="en-US" sz="8000" b="1" cap="none" spc="50" dirty="0">
                <a:ln w="11430"/>
                <a:solidFill>
                  <a:schemeClr val="accent6">
                    <a:lumMod val="20000"/>
                    <a:lumOff val="80000"/>
                  </a:schemeClr>
                </a:solidFill>
                <a:effectLst>
                  <a:outerShdw blurRad="76200" dist="50800" dir="5400000" algn="tl" rotWithShape="0">
                    <a:srgbClr val="000000">
                      <a:alpha val="65000"/>
                    </a:srgbClr>
                  </a:outerShdw>
                </a:effectLst>
              </a:rPr>
              <a:t> </a:t>
            </a:r>
          </a:p>
        </p:txBody>
      </p:sp>
      <p:sp>
        <p:nvSpPr>
          <p:cNvPr id="4" name="Subtitle 3"/>
          <p:cNvSpPr>
            <a:spLocks noGrp="1"/>
          </p:cNvSpPr>
          <p:nvPr>
            <p:ph type="subTitle" idx="1"/>
          </p:nvPr>
        </p:nvSpPr>
        <p:spPr>
          <a:xfrm>
            <a:off x="228600" y="2895600"/>
            <a:ext cx="8839200" cy="1752600"/>
          </a:xfrm>
        </p:spPr>
        <p:txBody>
          <a:bodyPr/>
          <a:lstStyle/>
          <a:p>
            <a:r>
              <a:rPr lang="en-US" dirty="0">
                <a:solidFill>
                  <a:schemeClr val="tx1"/>
                </a:solidFill>
              </a:rPr>
              <a:t> That’s mean customer authenticated with IP ,all router leds are up with right light but he can’t browse </a:t>
            </a:r>
            <a:r>
              <a:rPr lang="en-US" b="1" dirty="0">
                <a:solidFill>
                  <a:schemeClr val="tx1"/>
                </a:solidFill>
              </a:rPr>
              <a:t>all</a:t>
            </a:r>
            <a:r>
              <a:rPr lang="en-US" dirty="0">
                <a:solidFill>
                  <a:schemeClr val="tx1"/>
                </a:solidFill>
              </a:rPr>
              <a:t> web sites . </a:t>
            </a:r>
            <a:endParaRPr lang="ar-EG" dirty="0">
              <a:solidFill>
                <a:schemeClr val="tx1"/>
              </a:solidFill>
            </a:endParaRPr>
          </a:p>
        </p:txBody>
      </p:sp>
    </p:spTree>
    <p:extLst>
      <p:ext uri="{BB962C8B-B14F-4D97-AF65-F5344CB8AC3E}">
        <p14:creationId xmlns:p14="http://schemas.microsoft.com/office/powerpoint/2010/main" val="2340880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How to open no browsing WF</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3820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284" y="2550815"/>
            <a:ext cx="444500" cy="671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457200" y="2504405"/>
            <a:ext cx="4445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6605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No Browsing WF</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295400"/>
            <a:ext cx="8229600" cy="3733800"/>
          </a:xfrm>
        </p:spPr>
      </p:pic>
      <p:sp>
        <p:nvSpPr>
          <p:cNvPr id="5" name="Left Arrow 4"/>
          <p:cNvSpPr/>
          <p:nvPr/>
        </p:nvSpPr>
        <p:spPr>
          <a:xfrm>
            <a:off x="3429000" y="4191000"/>
            <a:ext cx="609600" cy="381000"/>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6" name="Left Arrow 5"/>
          <p:cNvSpPr/>
          <p:nvPr/>
        </p:nvSpPr>
        <p:spPr>
          <a:xfrm>
            <a:off x="1524000" y="3962400"/>
            <a:ext cx="457200" cy="304800"/>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94953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99" y="1941095"/>
            <a:ext cx="8550627"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85800" y="685800"/>
            <a:ext cx="8369599" cy="646331"/>
          </a:xfrm>
          <a:prstGeom prst="rect">
            <a:avLst/>
          </a:prstGeom>
          <a:noFill/>
        </p:spPr>
        <p:txBody>
          <a:bodyPr wrap="none" rtlCol="0">
            <a:spAutoFit/>
          </a:bodyPr>
          <a:lstStyle/>
          <a:p>
            <a:pPr marL="285750" indent="-285750">
              <a:buFont typeface="Arial" panose="020B0604020202020204" pitchFamily="34" charset="0"/>
              <a:buChar char="•"/>
            </a:pPr>
            <a:r>
              <a:rPr lang="en-US" dirty="0"/>
              <a:t>We have to confirm that line is up , authenticated and doesn’t have redirection page</a:t>
            </a:r>
          </a:p>
          <a:p>
            <a:pPr marL="285750" indent="-285750">
              <a:buFont typeface="Arial" panose="020B0604020202020204" pitchFamily="34" charset="0"/>
              <a:buChar char="•"/>
            </a:pPr>
            <a:r>
              <a:rPr lang="en-US" b="1" dirty="0">
                <a:solidFill>
                  <a:schemeClr val="accent6"/>
                </a:solidFill>
              </a:rPr>
              <a:t>Check IP on IP Tool as below</a:t>
            </a:r>
          </a:p>
        </p:txBody>
      </p:sp>
      <p:pic>
        <p:nvPicPr>
          <p:cNvPr id="3" name="Picture 2"/>
          <p:cNvPicPr>
            <a:picLocks noChangeAspect="1"/>
          </p:cNvPicPr>
          <p:nvPr/>
        </p:nvPicPr>
        <p:blipFill>
          <a:blip r:embed="rId4"/>
          <a:stretch>
            <a:fillRect/>
          </a:stretch>
        </p:blipFill>
        <p:spPr>
          <a:xfrm>
            <a:off x="926063" y="3457575"/>
            <a:ext cx="6830291" cy="2714625"/>
          </a:xfrm>
          <a:prstGeom prst="rect">
            <a:avLst/>
          </a:prstGeom>
        </p:spPr>
      </p:pic>
      <p:sp>
        <p:nvSpPr>
          <p:cNvPr id="4" name="TextBox 3">
            <a:extLst>
              <a:ext uri="{FF2B5EF4-FFF2-40B4-BE49-F238E27FC236}">
                <a16:creationId xmlns:a16="http://schemas.microsoft.com/office/drawing/2014/main" id="{7E19E1BC-F5B3-7E47-C70A-8ED04A0F9FD4}"/>
              </a:ext>
            </a:extLst>
          </p:cNvPr>
          <p:cNvSpPr txBox="1"/>
          <p:nvPr/>
        </p:nvSpPr>
        <p:spPr>
          <a:xfrm>
            <a:off x="601578" y="3031093"/>
            <a:ext cx="6691255" cy="369332"/>
          </a:xfrm>
          <a:prstGeom prst="rect">
            <a:avLst/>
          </a:prstGeom>
          <a:noFill/>
        </p:spPr>
        <p:txBody>
          <a:bodyPr wrap="none" rtlCol="0">
            <a:spAutoFit/>
          </a:bodyPr>
          <a:lstStyle/>
          <a:p>
            <a:r>
              <a:rPr lang="en-US" b="1" dirty="0">
                <a:solidFill>
                  <a:schemeClr val="accent6"/>
                </a:solidFill>
              </a:rPr>
              <a:t>Check if there is any redirection page or not through Siebel as below</a:t>
            </a:r>
          </a:p>
        </p:txBody>
      </p:sp>
    </p:spTree>
    <p:extLst>
      <p:ext uri="{BB962C8B-B14F-4D97-AF65-F5344CB8AC3E}">
        <p14:creationId xmlns:p14="http://schemas.microsoft.com/office/powerpoint/2010/main" val="3524120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own Arrow 3"/>
          <p:cNvSpPr/>
          <p:nvPr/>
        </p:nvSpPr>
        <p:spPr>
          <a:xfrm rot="10800000">
            <a:off x="2178625" y="3766845"/>
            <a:ext cx="464127" cy="533400"/>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 name="Rectangle 4"/>
          <p:cNvSpPr/>
          <p:nvPr/>
        </p:nvSpPr>
        <p:spPr>
          <a:xfrm>
            <a:off x="166255" y="487510"/>
            <a:ext cx="8839200" cy="1477328"/>
          </a:xfrm>
          <a:prstGeom prst="rect">
            <a:avLst/>
          </a:prstGeom>
        </p:spPr>
        <p:txBody>
          <a:bodyPr wrap="square">
            <a:spAutoFit/>
          </a:bodyPr>
          <a:lstStyle/>
          <a:p>
            <a:pPr>
              <a:buFont typeface="Arial" panose="020B0604020202020204" pitchFamily="34" charset="0"/>
              <a:buChar char="•"/>
            </a:pPr>
            <a:r>
              <a:rPr lang="en-US" b="1" dirty="0">
                <a:solidFill>
                  <a:srgbClr val="000000"/>
                </a:solidFill>
                <a:latin typeface="Helvetica Neue"/>
              </a:rPr>
              <a:t>​​</a:t>
            </a:r>
            <a:r>
              <a:rPr lang="en-US" b="1" dirty="0">
                <a:solidFill>
                  <a:srgbClr val="222222"/>
                </a:solidFill>
                <a:latin typeface="Helvetica Neue"/>
              </a:rPr>
              <a:t>​C</a:t>
            </a:r>
            <a:r>
              <a:rPr lang="en-US" dirty="0">
                <a:solidFill>
                  <a:srgbClr val="222222"/>
                </a:solidFill>
                <a:latin typeface="Helvetica Neue"/>
              </a:rPr>
              <a:t>onfirm that the line is physically up, stable &amp; authenticated​​.</a:t>
            </a:r>
          </a:p>
          <a:p>
            <a:pPr>
              <a:buFont typeface="Arial" panose="020B0604020202020204" pitchFamily="34" charset="0"/>
              <a:buChar char="•"/>
            </a:pPr>
            <a:endParaRPr lang="en-US" dirty="0">
              <a:solidFill>
                <a:srgbClr val="000000"/>
              </a:solidFill>
              <a:latin typeface="Helvetica Neue"/>
            </a:endParaRPr>
          </a:p>
          <a:p>
            <a:pPr>
              <a:buFont typeface="Arial" panose="020B0604020202020204" pitchFamily="34" charset="0"/>
              <a:buChar char="•"/>
            </a:pPr>
            <a:r>
              <a:rPr lang="en-US" dirty="0">
                <a:solidFill>
                  <a:srgbClr val="000000"/>
                </a:solidFill>
                <a:latin typeface="Helvetica Neue"/>
              </a:rPr>
              <a:t>Advise the customer to open any browser and type this IP (172.217.23.100).</a:t>
            </a:r>
          </a:p>
          <a:p>
            <a:pPr>
              <a:buFont typeface="Arial" panose="020B0604020202020204" pitchFamily="34" charset="0"/>
              <a:buChar char="•"/>
            </a:pPr>
            <a:r>
              <a:rPr lang="en-US" dirty="0">
                <a:solidFill>
                  <a:srgbClr val="000000"/>
                </a:solidFill>
                <a:latin typeface="Helvetica Neue"/>
              </a:rPr>
              <a:t>​</a:t>
            </a:r>
          </a:p>
          <a:p>
            <a:pPr>
              <a:buFont typeface="Arial" panose="020B0604020202020204" pitchFamily="34" charset="0"/>
              <a:buChar char="•"/>
            </a:pPr>
            <a:r>
              <a:rPr lang="en-US" dirty="0">
                <a:solidFill>
                  <a:srgbClr val="000000"/>
                </a:solidFill>
                <a:latin typeface="Helvetica Neue"/>
              </a:rPr>
              <a:t>Check which page the customer is directed to:</a:t>
            </a:r>
            <a:endParaRPr lang="en-US" b="0" i="0" dirty="0">
              <a:solidFill>
                <a:srgbClr val="000000"/>
              </a:solidFill>
              <a:effectLst/>
              <a:latin typeface="Helvetica Neue"/>
            </a:endParaRPr>
          </a:p>
        </p:txBody>
      </p:sp>
      <p:pic>
        <p:nvPicPr>
          <p:cNvPr id="6" name="Picture 5"/>
          <p:cNvPicPr>
            <a:picLocks noChangeAspect="1"/>
          </p:cNvPicPr>
          <p:nvPr/>
        </p:nvPicPr>
        <p:blipFill>
          <a:blip r:embed="rId2"/>
          <a:stretch>
            <a:fillRect/>
          </a:stretch>
        </p:blipFill>
        <p:spPr>
          <a:xfrm>
            <a:off x="193961" y="2054848"/>
            <a:ext cx="7855529" cy="1695450"/>
          </a:xfrm>
          <a:prstGeom prst="rect">
            <a:avLst/>
          </a:prstGeom>
        </p:spPr>
      </p:pic>
      <p:pic>
        <p:nvPicPr>
          <p:cNvPr id="7" name="Picture 6"/>
          <p:cNvPicPr>
            <a:picLocks noChangeAspect="1"/>
          </p:cNvPicPr>
          <p:nvPr/>
        </p:nvPicPr>
        <p:blipFill>
          <a:blip r:embed="rId3"/>
          <a:stretch>
            <a:fillRect/>
          </a:stretch>
        </p:blipFill>
        <p:spPr>
          <a:xfrm>
            <a:off x="547255" y="4316792"/>
            <a:ext cx="8077200" cy="1209675"/>
          </a:xfrm>
          <a:prstGeom prst="rect">
            <a:avLst/>
          </a:prstGeom>
        </p:spPr>
      </p:pic>
      <p:sp>
        <p:nvSpPr>
          <p:cNvPr id="8" name="Rectangle 7"/>
          <p:cNvSpPr/>
          <p:nvPr/>
        </p:nvSpPr>
        <p:spPr>
          <a:xfrm>
            <a:off x="1274619" y="5727790"/>
            <a:ext cx="7384473" cy="748923"/>
          </a:xfrm>
          <a:prstGeom prst="rect">
            <a:avLst/>
          </a:prstGeom>
        </p:spPr>
        <p:txBody>
          <a:bodyPr wrap="square">
            <a:spAutoFit/>
          </a:bodyPr>
          <a:lstStyle/>
          <a:p>
            <a:pPr algn="r" rtl="1">
              <a:spcAft>
                <a:spcPts val="750"/>
              </a:spcAft>
            </a:pPr>
            <a:r>
              <a:rPr lang="ar-SA" dirty="0">
                <a:solidFill>
                  <a:srgbClr val="000000"/>
                </a:solidFill>
                <a:latin typeface="Helvetica Neue"/>
                <a:cs typeface="tahoma" panose="020B0604030504040204" pitchFamily="34" charset="0"/>
              </a:rPr>
              <a:t> انا واضح عندي يافندم ان في مشكلة فنية على خط حضرتك.</a:t>
            </a:r>
            <a:endParaRPr lang="ar-SA" dirty="0">
              <a:solidFill>
                <a:srgbClr val="000000"/>
              </a:solidFill>
              <a:latin typeface="Helvetica Neue"/>
            </a:endParaRPr>
          </a:p>
          <a:p>
            <a:pPr algn="r" rtl="1"/>
            <a:r>
              <a:rPr lang="ar-SA" dirty="0">
                <a:solidFill>
                  <a:srgbClr val="000000"/>
                </a:solidFill>
                <a:latin typeface="Helvetica Neue"/>
                <a:cs typeface="tahoma" panose="020B0604030504040204" pitchFamily="34" charset="0"/>
              </a:rPr>
              <a:t>انا هقدم لحضرتك شكوى وهيتم التواصل مع حضرتك خلال 48 ساعه</a:t>
            </a:r>
            <a:endParaRPr lang="ar-SA" b="0" i="0" dirty="0">
              <a:solidFill>
                <a:srgbClr val="000000"/>
              </a:solidFill>
              <a:effectLst/>
              <a:latin typeface="Helvetica Neue"/>
            </a:endParaRPr>
          </a:p>
        </p:txBody>
      </p:sp>
    </p:spTree>
    <p:extLst>
      <p:ext uri="{BB962C8B-B14F-4D97-AF65-F5344CB8AC3E}">
        <p14:creationId xmlns:p14="http://schemas.microsoft.com/office/powerpoint/2010/main" val="4260587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7556" y="410227"/>
            <a:ext cx="7855529" cy="1695450"/>
          </a:xfrm>
          <a:prstGeom prst="rect">
            <a:avLst/>
          </a:prstGeom>
        </p:spPr>
      </p:pic>
      <p:sp>
        <p:nvSpPr>
          <p:cNvPr id="3" name="Down Arrow 2"/>
          <p:cNvSpPr/>
          <p:nvPr/>
        </p:nvSpPr>
        <p:spPr>
          <a:xfrm rot="10800000">
            <a:off x="6151416" y="2570362"/>
            <a:ext cx="443346" cy="540327"/>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507556" y="2416968"/>
            <a:ext cx="8553450" cy="2238375"/>
          </a:xfrm>
          <a:prstGeom prst="rect">
            <a:avLst/>
          </a:prstGeom>
        </p:spPr>
      </p:pic>
      <p:sp>
        <p:nvSpPr>
          <p:cNvPr id="5" name="Down Arrow 4"/>
          <p:cNvSpPr/>
          <p:nvPr/>
        </p:nvSpPr>
        <p:spPr>
          <a:xfrm rot="10800000">
            <a:off x="3305037" y="3931918"/>
            <a:ext cx="443346" cy="633414"/>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EB6E8E8-0788-0739-5981-C1C967E63D3C}"/>
              </a:ext>
            </a:extLst>
          </p:cNvPr>
          <p:cNvPicPr>
            <a:picLocks noChangeAspect="1"/>
          </p:cNvPicPr>
          <p:nvPr/>
        </p:nvPicPr>
        <p:blipFill>
          <a:blip r:embed="rId4"/>
          <a:stretch>
            <a:fillRect/>
          </a:stretch>
        </p:blipFill>
        <p:spPr>
          <a:xfrm>
            <a:off x="242365" y="4512541"/>
            <a:ext cx="8467725" cy="1590675"/>
          </a:xfrm>
          <a:prstGeom prst="rect">
            <a:avLst/>
          </a:prstGeom>
        </p:spPr>
      </p:pic>
    </p:spTree>
    <p:extLst>
      <p:ext uri="{BB962C8B-B14F-4D97-AF65-F5344CB8AC3E}">
        <p14:creationId xmlns:p14="http://schemas.microsoft.com/office/powerpoint/2010/main" val="14550005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9E18FB-0DEB-CDD4-8A6B-662778D1ED2F}"/>
              </a:ext>
            </a:extLst>
          </p:cNvPr>
          <p:cNvPicPr>
            <a:picLocks noChangeAspect="1"/>
          </p:cNvPicPr>
          <p:nvPr/>
        </p:nvPicPr>
        <p:blipFill>
          <a:blip r:embed="rId2"/>
          <a:stretch>
            <a:fillRect/>
          </a:stretch>
        </p:blipFill>
        <p:spPr>
          <a:xfrm>
            <a:off x="423335" y="780673"/>
            <a:ext cx="8553450" cy="2238375"/>
          </a:xfrm>
          <a:prstGeom prst="rect">
            <a:avLst/>
          </a:prstGeom>
        </p:spPr>
      </p:pic>
      <p:sp>
        <p:nvSpPr>
          <p:cNvPr id="3" name="Down Arrow 4">
            <a:extLst>
              <a:ext uri="{FF2B5EF4-FFF2-40B4-BE49-F238E27FC236}">
                <a16:creationId xmlns:a16="http://schemas.microsoft.com/office/drawing/2014/main" id="{7C478016-C330-06A4-8956-F13206E22EE1}"/>
              </a:ext>
            </a:extLst>
          </p:cNvPr>
          <p:cNvSpPr/>
          <p:nvPr/>
        </p:nvSpPr>
        <p:spPr>
          <a:xfrm rot="10800000">
            <a:off x="7720626" y="2385634"/>
            <a:ext cx="443346" cy="633414"/>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F921673-3EA7-C401-1AF0-978763079EC3}"/>
              </a:ext>
            </a:extLst>
          </p:cNvPr>
          <p:cNvPicPr>
            <a:picLocks noChangeAspect="1"/>
          </p:cNvPicPr>
          <p:nvPr/>
        </p:nvPicPr>
        <p:blipFill>
          <a:blip r:embed="rId3"/>
          <a:stretch>
            <a:fillRect/>
          </a:stretch>
        </p:blipFill>
        <p:spPr>
          <a:xfrm>
            <a:off x="1443311" y="3019048"/>
            <a:ext cx="6559957" cy="3374985"/>
          </a:xfrm>
          <a:prstGeom prst="rect">
            <a:avLst/>
          </a:prstGeom>
        </p:spPr>
      </p:pic>
    </p:spTree>
    <p:extLst>
      <p:ext uri="{BB962C8B-B14F-4D97-AF65-F5344CB8AC3E}">
        <p14:creationId xmlns:p14="http://schemas.microsoft.com/office/powerpoint/2010/main" val="24035229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F2E985-B946-27A6-9351-6E93FCFB6C70}"/>
              </a:ext>
            </a:extLst>
          </p:cNvPr>
          <p:cNvPicPr>
            <a:picLocks noChangeAspect="1"/>
          </p:cNvPicPr>
          <p:nvPr/>
        </p:nvPicPr>
        <p:blipFill>
          <a:blip r:embed="rId2"/>
          <a:stretch>
            <a:fillRect/>
          </a:stretch>
        </p:blipFill>
        <p:spPr>
          <a:xfrm>
            <a:off x="352425" y="2690812"/>
            <a:ext cx="8439150" cy="1476375"/>
          </a:xfrm>
          <a:prstGeom prst="rect">
            <a:avLst/>
          </a:prstGeom>
        </p:spPr>
      </p:pic>
      <p:sp>
        <p:nvSpPr>
          <p:cNvPr id="4" name="TextBox 3">
            <a:extLst>
              <a:ext uri="{FF2B5EF4-FFF2-40B4-BE49-F238E27FC236}">
                <a16:creationId xmlns:a16="http://schemas.microsoft.com/office/drawing/2014/main" id="{5E4DA053-3281-2661-FC5F-FCE118FB7517}"/>
              </a:ext>
            </a:extLst>
          </p:cNvPr>
          <p:cNvSpPr txBox="1"/>
          <p:nvPr/>
        </p:nvSpPr>
        <p:spPr>
          <a:xfrm>
            <a:off x="842211" y="1299410"/>
            <a:ext cx="3675302" cy="369332"/>
          </a:xfrm>
          <a:prstGeom prst="rect">
            <a:avLst/>
          </a:prstGeom>
          <a:noFill/>
        </p:spPr>
        <p:txBody>
          <a:bodyPr wrap="none" rtlCol="0">
            <a:spAutoFit/>
          </a:bodyPr>
          <a:lstStyle/>
          <a:p>
            <a:pPr marL="285750" indent="-285750">
              <a:buFont typeface="Arial" panose="020B0604020202020204" pitchFamily="34" charset="0"/>
              <a:buChar char="•"/>
            </a:pPr>
            <a:r>
              <a:rPr lang="en-US" b="1" dirty="0"/>
              <a:t>If issue is solved after CPE restart </a:t>
            </a:r>
          </a:p>
        </p:txBody>
      </p:sp>
    </p:spTree>
    <p:extLst>
      <p:ext uri="{BB962C8B-B14F-4D97-AF65-F5344CB8AC3E}">
        <p14:creationId xmlns:p14="http://schemas.microsoft.com/office/powerpoint/2010/main" val="32017357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22205" y="294842"/>
            <a:ext cx="6905625" cy="3552825"/>
          </a:xfrm>
          <a:prstGeom prst="rect">
            <a:avLst/>
          </a:prstGeom>
        </p:spPr>
      </p:pic>
      <p:pic>
        <p:nvPicPr>
          <p:cNvPr id="3" name="Picture 2"/>
          <p:cNvPicPr>
            <a:picLocks noChangeAspect="1"/>
          </p:cNvPicPr>
          <p:nvPr/>
        </p:nvPicPr>
        <p:blipFill>
          <a:blip r:embed="rId3"/>
          <a:stretch>
            <a:fillRect/>
          </a:stretch>
        </p:blipFill>
        <p:spPr>
          <a:xfrm>
            <a:off x="2084242" y="4448175"/>
            <a:ext cx="4781550" cy="1314450"/>
          </a:xfrm>
          <a:prstGeom prst="rect">
            <a:avLst/>
          </a:prstGeom>
        </p:spPr>
      </p:pic>
      <p:sp>
        <p:nvSpPr>
          <p:cNvPr id="4" name="Down Arrow 3"/>
          <p:cNvSpPr/>
          <p:nvPr/>
        </p:nvSpPr>
        <p:spPr>
          <a:xfrm rot="5400000">
            <a:off x="6925324" y="4458349"/>
            <a:ext cx="512618" cy="1070698"/>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4142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4537" y="311336"/>
            <a:ext cx="9500445" cy="369332"/>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rgbClr val="000000"/>
                </a:solidFill>
                <a:effectLst/>
                <a:latin typeface="Helvetica Neue"/>
              </a:rPr>
              <a:t>Check customer's QOS Profile through PCRF and Connected with IP through IP tool</a:t>
            </a:r>
            <a:endParaRPr lang="en-US" dirty="0"/>
          </a:p>
        </p:txBody>
      </p:sp>
      <p:pic>
        <p:nvPicPr>
          <p:cNvPr id="4" name="Picture 3"/>
          <p:cNvPicPr>
            <a:picLocks noChangeAspect="1"/>
          </p:cNvPicPr>
          <p:nvPr/>
        </p:nvPicPr>
        <p:blipFill>
          <a:blip r:embed="rId2"/>
          <a:stretch>
            <a:fillRect/>
          </a:stretch>
        </p:blipFill>
        <p:spPr>
          <a:xfrm>
            <a:off x="55417" y="801832"/>
            <a:ext cx="8791575" cy="1971675"/>
          </a:xfrm>
          <a:prstGeom prst="rect">
            <a:avLst/>
          </a:prstGeom>
        </p:spPr>
      </p:pic>
      <p:pic>
        <p:nvPicPr>
          <p:cNvPr id="5" name="Picture 4"/>
          <p:cNvPicPr>
            <a:picLocks noChangeAspect="1"/>
          </p:cNvPicPr>
          <p:nvPr/>
        </p:nvPicPr>
        <p:blipFill>
          <a:blip r:embed="rId3"/>
          <a:stretch>
            <a:fillRect/>
          </a:stretch>
        </p:blipFill>
        <p:spPr>
          <a:xfrm>
            <a:off x="428625" y="2582141"/>
            <a:ext cx="8715375" cy="2019300"/>
          </a:xfrm>
          <a:prstGeom prst="rect">
            <a:avLst/>
          </a:prstGeom>
        </p:spPr>
      </p:pic>
      <p:pic>
        <p:nvPicPr>
          <p:cNvPr id="6" name="Picture 5"/>
          <p:cNvPicPr>
            <a:picLocks noChangeAspect="1"/>
          </p:cNvPicPr>
          <p:nvPr/>
        </p:nvPicPr>
        <p:blipFill>
          <a:blip r:embed="rId4"/>
          <a:stretch>
            <a:fillRect/>
          </a:stretch>
        </p:blipFill>
        <p:spPr>
          <a:xfrm>
            <a:off x="950766" y="4410075"/>
            <a:ext cx="7000875" cy="2295525"/>
          </a:xfrm>
          <a:prstGeom prst="rect">
            <a:avLst/>
          </a:prstGeom>
        </p:spPr>
      </p:pic>
      <p:sp>
        <p:nvSpPr>
          <p:cNvPr id="7" name="Right Arrow 6"/>
          <p:cNvSpPr/>
          <p:nvPr/>
        </p:nvSpPr>
        <p:spPr>
          <a:xfrm rot="10800000">
            <a:off x="5444837" y="724766"/>
            <a:ext cx="762000" cy="37227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88969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ight Arrow 5"/>
          <p:cNvSpPr/>
          <p:nvPr/>
        </p:nvSpPr>
        <p:spPr>
          <a:xfrm rot="16200000">
            <a:off x="1433946" y="4809658"/>
            <a:ext cx="762000" cy="3810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 name="Rectangle 2"/>
          <p:cNvSpPr/>
          <p:nvPr/>
        </p:nvSpPr>
        <p:spPr>
          <a:xfrm>
            <a:off x="533400" y="1101039"/>
            <a:ext cx="7831772" cy="646331"/>
          </a:xfrm>
          <a:prstGeom prst="rect">
            <a:avLst/>
          </a:prstGeom>
        </p:spPr>
        <p:txBody>
          <a:bodyPr wrap="square">
            <a:spAutoFit/>
          </a:bodyPr>
          <a:lstStyle/>
          <a:p>
            <a:r>
              <a:rPr lang="en-US" dirty="0"/>
              <a:t> If Customer can’t browse, Check customer services type Dynamic IP or 1 Static IP from SRs on Siebel:</a:t>
            </a:r>
          </a:p>
        </p:txBody>
      </p:sp>
      <p:pic>
        <p:nvPicPr>
          <p:cNvPr id="2" name="Picture 1"/>
          <p:cNvPicPr>
            <a:picLocks noChangeAspect="1"/>
          </p:cNvPicPr>
          <p:nvPr/>
        </p:nvPicPr>
        <p:blipFill>
          <a:blip r:embed="rId2"/>
          <a:stretch>
            <a:fillRect/>
          </a:stretch>
        </p:blipFill>
        <p:spPr>
          <a:xfrm>
            <a:off x="220186" y="2704633"/>
            <a:ext cx="8458200" cy="1914525"/>
          </a:xfrm>
          <a:prstGeom prst="rect">
            <a:avLst/>
          </a:prstGeom>
        </p:spPr>
      </p:pic>
    </p:spTree>
    <p:extLst>
      <p:ext uri="{BB962C8B-B14F-4D97-AF65-F5344CB8AC3E}">
        <p14:creationId xmlns:p14="http://schemas.microsoft.com/office/powerpoint/2010/main" val="13938284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72586" y="2166037"/>
            <a:ext cx="8543925" cy="2641489"/>
          </a:xfrm>
          <a:prstGeom prst="rect">
            <a:avLst/>
          </a:prstGeom>
        </p:spPr>
      </p:pic>
      <p:sp>
        <p:nvSpPr>
          <p:cNvPr id="4" name="Down Arrow 3"/>
          <p:cNvSpPr/>
          <p:nvPr/>
        </p:nvSpPr>
        <p:spPr>
          <a:xfrm rot="10800000">
            <a:off x="2022763" y="4682835"/>
            <a:ext cx="623454" cy="942109"/>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2331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515" y="721734"/>
            <a:ext cx="8734425" cy="4650455"/>
          </a:xfrm>
          <a:prstGeom prst="rect">
            <a:avLst/>
          </a:prstGeom>
        </p:spPr>
      </p:pic>
      <p:sp>
        <p:nvSpPr>
          <p:cNvPr id="3" name="Down Arrow 2"/>
          <p:cNvSpPr/>
          <p:nvPr/>
        </p:nvSpPr>
        <p:spPr>
          <a:xfrm rot="10800000">
            <a:off x="5140036" y="4765964"/>
            <a:ext cx="498764" cy="942109"/>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4861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3999" cy="6748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61969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381000"/>
            <a:ext cx="9067799" cy="6167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86697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90513"/>
            <a:ext cx="9144000" cy="627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92927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9658350" cy="609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3829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23850"/>
            <a:ext cx="9067799" cy="6210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12395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57200"/>
            <a:ext cx="8991599"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7226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4D27043-E2FB-A59E-7C01-BB3336DA10C0}"/>
              </a:ext>
            </a:extLst>
          </p:cNvPr>
          <p:cNvPicPr>
            <a:picLocks noChangeAspect="1"/>
          </p:cNvPicPr>
          <p:nvPr/>
        </p:nvPicPr>
        <p:blipFill>
          <a:blip r:embed="rId2"/>
          <a:stretch>
            <a:fillRect/>
          </a:stretch>
        </p:blipFill>
        <p:spPr>
          <a:xfrm>
            <a:off x="339400" y="931613"/>
            <a:ext cx="8648700" cy="2228850"/>
          </a:xfrm>
          <a:prstGeom prst="rect">
            <a:avLst/>
          </a:prstGeom>
        </p:spPr>
      </p:pic>
      <p:sp>
        <p:nvSpPr>
          <p:cNvPr id="3" name="Down Arrow 2">
            <a:extLst>
              <a:ext uri="{FF2B5EF4-FFF2-40B4-BE49-F238E27FC236}">
                <a16:creationId xmlns:a16="http://schemas.microsoft.com/office/drawing/2014/main" id="{33009C6F-7B20-85B9-BFBE-A849CEFDF588}"/>
              </a:ext>
            </a:extLst>
          </p:cNvPr>
          <p:cNvSpPr/>
          <p:nvPr/>
        </p:nvSpPr>
        <p:spPr>
          <a:xfrm rot="10800000">
            <a:off x="2894794" y="2265458"/>
            <a:ext cx="454462" cy="594700"/>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1AC1E2E-37BC-C9BC-1E38-3DC4872CB93D}"/>
              </a:ext>
            </a:extLst>
          </p:cNvPr>
          <p:cNvPicPr>
            <a:picLocks noChangeAspect="1"/>
          </p:cNvPicPr>
          <p:nvPr/>
        </p:nvPicPr>
        <p:blipFill>
          <a:blip r:embed="rId3"/>
          <a:stretch>
            <a:fillRect/>
          </a:stretch>
        </p:blipFill>
        <p:spPr>
          <a:xfrm>
            <a:off x="336875" y="3107254"/>
            <a:ext cx="8467725" cy="1781175"/>
          </a:xfrm>
          <a:prstGeom prst="rect">
            <a:avLst/>
          </a:prstGeom>
        </p:spPr>
      </p:pic>
      <p:sp>
        <p:nvSpPr>
          <p:cNvPr id="6" name="TextBox 5">
            <a:extLst>
              <a:ext uri="{FF2B5EF4-FFF2-40B4-BE49-F238E27FC236}">
                <a16:creationId xmlns:a16="http://schemas.microsoft.com/office/drawing/2014/main" id="{6CC2F2D9-2A79-C28C-DBE6-3F62AC35E93A}"/>
              </a:ext>
            </a:extLst>
          </p:cNvPr>
          <p:cNvSpPr txBox="1"/>
          <p:nvPr/>
        </p:nvSpPr>
        <p:spPr>
          <a:xfrm>
            <a:off x="542260" y="562281"/>
            <a:ext cx="6349046" cy="369332"/>
          </a:xfrm>
          <a:prstGeom prst="rect">
            <a:avLst/>
          </a:prstGeom>
          <a:noFill/>
        </p:spPr>
        <p:txBody>
          <a:bodyPr wrap="none" rtlCol="0">
            <a:spAutoFit/>
          </a:bodyPr>
          <a:lstStyle/>
          <a:p>
            <a:r>
              <a:rPr lang="en-US" dirty="0"/>
              <a:t>If issue is solved after checking TCP/IP Setting create the below SR</a:t>
            </a:r>
          </a:p>
        </p:txBody>
      </p:sp>
    </p:spTree>
    <p:extLst>
      <p:ext uri="{BB962C8B-B14F-4D97-AF65-F5344CB8AC3E}">
        <p14:creationId xmlns:p14="http://schemas.microsoft.com/office/powerpoint/2010/main" val="16003807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4691" y="305664"/>
            <a:ext cx="8648700" cy="2228850"/>
          </a:xfrm>
          <a:prstGeom prst="rect">
            <a:avLst/>
          </a:prstGeom>
        </p:spPr>
      </p:pic>
      <p:sp>
        <p:nvSpPr>
          <p:cNvPr id="4" name="Rectangle 3"/>
          <p:cNvSpPr/>
          <p:nvPr/>
        </p:nvSpPr>
        <p:spPr>
          <a:xfrm>
            <a:off x="554180" y="2534513"/>
            <a:ext cx="5347855" cy="1200329"/>
          </a:xfrm>
          <a:prstGeom prst="rect">
            <a:avLst/>
          </a:prstGeom>
        </p:spPr>
        <p:txBody>
          <a:bodyPr wrap="square">
            <a:spAutoFit/>
          </a:bodyPr>
          <a:lstStyle/>
          <a:p>
            <a:pPr>
              <a:buFont typeface="Arial" panose="020B0604020202020204" pitchFamily="34" charset="0"/>
              <a:buChar char="•"/>
            </a:pPr>
            <a:r>
              <a:rPr lang="en-US" dirty="0">
                <a:solidFill>
                  <a:srgbClr val="000000"/>
                </a:solidFill>
                <a:latin typeface="Helvetica Neue"/>
              </a:rPr>
              <a:t>Try to reset and Re-configure CPE​</a:t>
            </a:r>
          </a:p>
          <a:p>
            <a:pPr>
              <a:buFont typeface="Arial" panose="020B0604020202020204" pitchFamily="34" charset="0"/>
              <a:buChar char="•"/>
            </a:pPr>
            <a:r>
              <a:rPr lang="en-US" dirty="0">
                <a:solidFill>
                  <a:srgbClr val="000000"/>
                </a:solidFill>
                <a:latin typeface="Helvetica Neue"/>
              </a:rPr>
              <a:t>You can check router simulation </a:t>
            </a:r>
          </a:p>
          <a:p>
            <a:br>
              <a:rPr lang="en-US" dirty="0"/>
            </a:br>
            <a:endParaRPr lang="en-US" dirty="0"/>
          </a:p>
        </p:txBody>
      </p:sp>
      <p:pic>
        <p:nvPicPr>
          <p:cNvPr id="5" name="Picture 4"/>
          <p:cNvPicPr>
            <a:picLocks noChangeAspect="1"/>
          </p:cNvPicPr>
          <p:nvPr/>
        </p:nvPicPr>
        <p:blipFill>
          <a:blip r:embed="rId3"/>
          <a:stretch>
            <a:fillRect/>
          </a:stretch>
        </p:blipFill>
        <p:spPr>
          <a:xfrm>
            <a:off x="1820141" y="4375005"/>
            <a:ext cx="5257800" cy="1266825"/>
          </a:xfrm>
          <a:prstGeom prst="rect">
            <a:avLst/>
          </a:prstGeom>
        </p:spPr>
      </p:pic>
      <p:sp>
        <p:nvSpPr>
          <p:cNvPr id="7" name="Right Arrow 6"/>
          <p:cNvSpPr/>
          <p:nvPr/>
        </p:nvSpPr>
        <p:spPr>
          <a:xfrm rot="10800000">
            <a:off x="3726873" y="4603392"/>
            <a:ext cx="845127" cy="4910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ight Arrow 6">
            <a:extLst>
              <a:ext uri="{FF2B5EF4-FFF2-40B4-BE49-F238E27FC236}">
                <a16:creationId xmlns:a16="http://schemas.microsoft.com/office/drawing/2014/main" id="{2CC097A0-0162-1C8E-A9FA-C3D07A25E0FE}"/>
              </a:ext>
            </a:extLst>
          </p:cNvPr>
          <p:cNvSpPr/>
          <p:nvPr/>
        </p:nvSpPr>
        <p:spPr>
          <a:xfrm rot="10800000">
            <a:off x="6821148" y="1216170"/>
            <a:ext cx="845127" cy="4910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0015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C1DD4E-AA87-A91E-5C41-F91B10BBE9B5}"/>
              </a:ext>
            </a:extLst>
          </p:cNvPr>
          <p:cNvPicPr>
            <a:picLocks noChangeAspect="1"/>
          </p:cNvPicPr>
          <p:nvPr/>
        </p:nvPicPr>
        <p:blipFill>
          <a:blip r:embed="rId2"/>
          <a:stretch>
            <a:fillRect/>
          </a:stretch>
        </p:blipFill>
        <p:spPr>
          <a:xfrm>
            <a:off x="1745713" y="5012958"/>
            <a:ext cx="5257800" cy="1266825"/>
          </a:xfrm>
          <a:prstGeom prst="rect">
            <a:avLst/>
          </a:prstGeom>
        </p:spPr>
      </p:pic>
      <p:sp>
        <p:nvSpPr>
          <p:cNvPr id="3" name="TextBox 2">
            <a:extLst>
              <a:ext uri="{FF2B5EF4-FFF2-40B4-BE49-F238E27FC236}">
                <a16:creationId xmlns:a16="http://schemas.microsoft.com/office/drawing/2014/main" id="{A66286FE-B9DA-5823-0149-B93479408B94}"/>
              </a:ext>
            </a:extLst>
          </p:cNvPr>
          <p:cNvSpPr txBox="1"/>
          <p:nvPr/>
        </p:nvSpPr>
        <p:spPr>
          <a:xfrm>
            <a:off x="712381" y="2004238"/>
            <a:ext cx="7549117" cy="369332"/>
          </a:xfrm>
          <a:prstGeom prst="rect">
            <a:avLst/>
          </a:prstGeom>
          <a:noFill/>
        </p:spPr>
        <p:txBody>
          <a:bodyPr wrap="square" rtlCol="0">
            <a:spAutoFit/>
          </a:bodyPr>
          <a:lstStyle/>
          <a:p>
            <a:r>
              <a:rPr lang="en-US" dirty="0"/>
              <a:t>If Issue is solved after </a:t>
            </a:r>
            <a:r>
              <a:rPr lang="en-US" dirty="0">
                <a:solidFill>
                  <a:srgbClr val="000000"/>
                </a:solidFill>
                <a:latin typeface="Helvetica Neue"/>
              </a:rPr>
              <a:t>reset and Re-configure CPE ,create the below SR</a:t>
            </a:r>
            <a:endParaRPr lang="en-US" dirty="0"/>
          </a:p>
        </p:txBody>
      </p:sp>
      <p:pic>
        <p:nvPicPr>
          <p:cNvPr id="5" name="Picture 4">
            <a:extLst>
              <a:ext uri="{FF2B5EF4-FFF2-40B4-BE49-F238E27FC236}">
                <a16:creationId xmlns:a16="http://schemas.microsoft.com/office/drawing/2014/main" id="{738752C9-6F9D-0348-9ABF-422E4F170FF6}"/>
              </a:ext>
            </a:extLst>
          </p:cNvPr>
          <p:cNvPicPr>
            <a:picLocks noChangeAspect="1"/>
          </p:cNvPicPr>
          <p:nvPr/>
        </p:nvPicPr>
        <p:blipFill>
          <a:blip r:embed="rId3"/>
          <a:stretch>
            <a:fillRect/>
          </a:stretch>
        </p:blipFill>
        <p:spPr>
          <a:xfrm>
            <a:off x="42862" y="2905125"/>
            <a:ext cx="9058275" cy="1047750"/>
          </a:xfrm>
          <a:prstGeom prst="rect">
            <a:avLst/>
          </a:prstGeom>
        </p:spPr>
      </p:pic>
      <p:sp>
        <p:nvSpPr>
          <p:cNvPr id="6" name="Right Arrow 6">
            <a:extLst>
              <a:ext uri="{FF2B5EF4-FFF2-40B4-BE49-F238E27FC236}">
                <a16:creationId xmlns:a16="http://schemas.microsoft.com/office/drawing/2014/main" id="{25F6008E-3DA9-318A-70D4-FF9FC38F9BAD}"/>
              </a:ext>
            </a:extLst>
          </p:cNvPr>
          <p:cNvSpPr/>
          <p:nvPr/>
        </p:nvSpPr>
        <p:spPr>
          <a:xfrm rot="10800000">
            <a:off x="6158386" y="5315773"/>
            <a:ext cx="845127" cy="4910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9092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0197"/>
            <a:ext cx="9144000" cy="14678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25675" y="9525"/>
            <a:ext cx="9144000" cy="1046440"/>
          </a:xfrm>
          <a:prstGeom prst="rect">
            <a:avLst/>
          </a:prstGeom>
          <a:noFill/>
        </p:spPr>
        <p:txBody>
          <a:bodyPr wrap="square" rtlCol="0">
            <a:spAutoFit/>
          </a:bodyPr>
          <a:lstStyle/>
          <a:p>
            <a:pPr lvl="0"/>
            <a:r>
              <a:rPr lang="en-US" sz="2400" b="1" dirty="0">
                <a:solidFill>
                  <a:prstClr val="black"/>
                </a:solidFill>
              </a:rPr>
              <a:t>Script</a:t>
            </a:r>
            <a:r>
              <a:rPr lang="ar-EG" sz="2400" b="1" dirty="0">
                <a:solidFill>
                  <a:prstClr val="black"/>
                </a:solidFill>
              </a:rPr>
              <a:t>:</a:t>
            </a:r>
            <a:endParaRPr lang="en-US" sz="2400" b="1" dirty="0">
              <a:solidFill>
                <a:prstClr val="black"/>
              </a:solidFill>
            </a:endParaRPr>
          </a:p>
          <a:p>
            <a:pPr lvl="0" algn="r"/>
            <a:r>
              <a:rPr lang="en-US" sz="2000" dirty="0">
                <a:solidFill>
                  <a:prstClr val="black"/>
                </a:solidFill>
              </a:rPr>
              <a:t>              </a:t>
            </a:r>
            <a:r>
              <a:rPr lang="ar-AE" dirty="0"/>
              <a:t> </a:t>
            </a:r>
            <a:r>
              <a:rPr lang="ar-AE" b="1" dirty="0"/>
              <a:t>     تمام يا أستاذ/ة....... أنا سجلت الطلب لحضرتك وفي خلال الـ24 ساعة اللي جاية فيه حد هيتواصل مع حضرتك من جانبنا لحل المشكلة ونستأذنك تسيب الراوتر شغال ​.​​​​​​</a:t>
            </a:r>
            <a:endParaRPr lang="en-US" sz="2000" b="1" dirty="0"/>
          </a:p>
        </p:txBody>
      </p:sp>
      <p:graphicFrame>
        <p:nvGraphicFramePr>
          <p:cNvPr id="2" name="Table 1"/>
          <p:cNvGraphicFramePr>
            <a:graphicFrameLocks noGrp="1"/>
          </p:cNvGraphicFramePr>
          <p:nvPr>
            <p:extLst>
              <p:ext uri="{D42A27DB-BD31-4B8C-83A1-F6EECF244321}">
                <p14:modId xmlns:p14="http://schemas.microsoft.com/office/powerpoint/2010/main" val="3719945331"/>
              </p:ext>
            </p:extLst>
          </p:nvPr>
        </p:nvGraphicFramePr>
        <p:xfrm>
          <a:off x="818053" y="1302841"/>
          <a:ext cx="2800350" cy="3840480"/>
        </p:xfrm>
        <a:graphic>
          <a:graphicData uri="http://schemas.openxmlformats.org/drawingml/2006/table">
            <a:tbl>
              <a:tblPr/>
              <a:tblGrid>
                <a:gridCol w="9144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tblGrid>
              <a:tr h="200025">
                <a:tc>
                  <a:txBody>
                    <a:bodyPr/>
                    <a:lstStyle/>
                    <a:p>
                      <a:pPr algn="ctr"/>
                      <a:r>
                        <a:rPr lang="en-US" b="1" dirty="0">
                          <a:solidFill>
                            <a:srgbClr val="FFFFFF"/>
                          </a:solidFill>
                          <a:effectLst/>
                          <a:latin typeface="Helvetica Neue"/>
                        </a:rPr>
                        <a:t>Short Code </a:t>
                      </a:r>
                      <a:endParaRPr lang="en-US" dirty="0">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40013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a:r>
                        <a:rPr lang="en-US" b="1">
                          <a:solidFill>
                            <a:srgbClr val="FFFFFF"/>
                          </a:solidFill>
                          <a:effectLst/>
                          <a:latin typeface="Helvetica Neue"/>
                        </a:rPr>
                        <a:t>Type </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DSL Fault For Connectivity​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algn="ctr"/>
                      <a:r>
                        <a:rPr lang="en-US" b="1">
                          <a:solidFill>
                            <a:srgbClr val="FFFFFF"/>
                          </a:solidFill>
                          <a:effectLst/>
                          <a:latin typeface="Helvetica Neue"/>
                        </a:rPr>
                        <a:t>Area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dirty="0">
                          <a:effectLst/>
                          <a:latin typeface="Helvetica Neue"/>
                        </a:rPr>
                        <a:t>No Browsing​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a:r>
                        <a:rPr lang="en-US" b="1">
                          <a:solidFill>
                            <a:srgbClr val="FFFFFF"/>
                          </a:solidFill>
                          <a:effectLst/>
                          <a:latin typeface="Helvetica Neue"/>
                        </a:rPr>
                        <a:t>Product</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dirty="0">
                          <a:effectLst/>
                          <a:latin typeface="Helvetica Neue"/>
                        </a:rPr>
                        <a:t>ADSL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a:r>
                        <a:rPr lang="en-US" b="1">
                          <a:solidFill>
                            <a:srgbClr val="FFFFFF"/>
                          </a:solidFill>
                          <a:effectLst/>
                          <a:latin typeface="Helvetica Neue"/>
                        </a:rPr>
                        <a:t>Owner Group</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dirty="0">
                          <a:effectLst/>
                          <a:latin typeface="Helvetica Neue"/>
                        </a:rPr>
                        <a:t>Data Tech Con Support-Network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a:r>
                        <a:rPr lang="en-US" b="1">
                          <a:solidFill>
                            <a:srgbClr val="FFFFFF"/>
                          </a:solidFill>
                          <a:effectLst/>
                          <a:latin typeface="Helvetica Neue"/>
                        </a:rPr>
                        <a:t>Sub Area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Empty​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025">
                <a:tc>
                  <a:txBody>
                    <a:bodyPr/>
                    <a:lstStyle/>
                    <a:p>
                      <a:pPr algn="ctr"/>
                      <a:r>
                        <a:rPr lang="en-US" b="1">
                          <a:solidFill>
                            <a:srgbClr val="FFFFFF"/>
                          </a:solidFill>
                          <a:effectLst/>
                          <a:latin typeface="Helvetica Neue"/>
                        </a:rPr>
                        <a:t>Status</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dirty="0">
                          <a:effectLst/>
                          <a:latin typeface="Helvetica Neue"/>
                        </a:rPr>
                        <a:t>Open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025">
                <a:tc>
                  <a:txBody>
                    <a:bodyPr/>
                    <a:lstStyle/>
                    <a:p>
                      <a:pPr algn="ctr"/>
                      <a:r>
                        <a:rPr lang="en-US" b="1">
                          <a:solidFill>
                            <a:srgbClr val="FFFFFF"/>
                          </a:solidFill>
                          <a:effectLst/>
                          <a:latin typeface="Helvetica Neue"/>
                        </a:rPr>
                        <a:t>Smart Script</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Yes​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025">
                <a:tc>
                  <a:txBody>
                    <a:bodyPr/>
                    <a:lstStyle/>
                    <a:p>
                      <a:pPr algn="ctr"/>
                      <a:r>
                        <a:rPr lang="en-US" b="1">
                          <a:solidFill>
                            <a:srgbClr val="FFFFFF"/>
                          </a:solidFill>
                          <a:effectLst/>
                          <a:latin typeface="Helvetica Neue"/>
                        </a:rPr>
                        <a:t>SLA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dirty="0">
                          <a:effectLst/>
                          <a:latin typeface="Helvetica Neue"/>
                        </a:rPr>
                        <a:t>24 H​​</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6456" y="1600200"/>
            <a:ext cx="4707544" cy="3789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4891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77421" y="1082933"/>
            <a:ext cx="8966579" cy="194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own Arrow 2"/>
          <p:cNvSpPr/>
          <p:nvPr/>
        </p:nvSpPr>
        <p:spPr>
          <a:xfrm>
            <a:off x="5624473" y="1681716"/>
            <a:ext cx="396323" cy="551121"/>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1CA99EC4-35FC-72DE-15C8-DD8F93515DF3}"/>
              </a:ext>
            </a:extLst>
          </p:cNvPr>
          <p:cNvSpPr txBox="1"/>
          <p:nvPr/>
        </p:nvSpPr>
        <p:spPr>
          <a:xfrm>
            <a:off x="552893" y="371214"/>
            <a:ext cx="7115794" cy="369332"/>
          </a:xfrm>
          <a:prstGeom prst="rect">
            <a:avLst/>
          </a:prstGeom>
          <a:noFill/>
        </p:spPr>
        <p:txBody>
          <a:bodyPr wrap="none" rtlCol="0">
            <a:spAutoFit/>
          </a:bodyPr>
          <a:lstStyle/>
          <a:p>
            <a:r>
              <a:rPr lang="en-US" dirty="0"/>
              <a:t>In case customer has no browsing while using mobile and doesn’t have PC</a:t>
            </a:r>
          </a:p>
        </p:txBody>
      </p:sp>
      <p:pic>
        <p:nvPicPr>
          <p:cNvPr id="6" name="Picture 5">
            <a:extLst>
              <a:ext uri="{FF2B5EF4-FFF2-40B4-BE49-F238E27FC236}">
                <a16:creationId xmlns:a16="http://schemas.microsoft.com/office/drawing/2014/main" id="{1990AE73-85F5-5D26-3778-D3A141041364}"/>
              </a:ext>
            </a:extLst>
          </p:cNvPr>
          <p:cNvPicPr>
            <a:picLocks noChangeAspect="1"/>
          </p:cNvPicPr>
          <p:nvPr/>
        </p:nvPicPr>
        <p:blipFill>
          <a:blip r:embed="rId3"/>
          <a:stretch>
            <a:fillRect/>
          </a:stretch>
        </p:blipFill>
        <p:spPr>
          <a:xfrm>
            <a:off x="66675" y="3120652"/>
            <a:ext cx="9077325" cy="1019175"/>
          </a:xfrm>
          <a:prstGeom prst="rect">
            <a:avLst/>
          </a:prstGeom>
        </p:spPr>
      </p:pic>
    </p:spTree>
    <p:extLst>
      <p:ext uri="{BB962C8B-B14F-4D97-AF65-F5344CB8AC3E}">
        <p14:creationId xmlns:p14="http://schemas.microsoft.com/office/powerpoint/2010/main" val="1161089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228600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42963"/>
            <a:ext cx="4295775" cy="187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EEA53319-8793-F10A-C850-BE97519BAFFF}"/>
              </a:ext>
            </a:extLst>
          </p:cNvPr>
          <p:cNvPicPr>
            <a:picLocks noChangeAspect="1"/>
          </p:cNvPicPr>
          <p:nvPr/>
        </p:nvPicPr>
        <p:blipFill>
          <a:blip r:embed="rId4"/>
          <a:stretch>
            <a:fillRect/>
          </a:stretch>
        </p:blipFill>
        <p:spPr>
          <a:xfrm>
            <a:off x="119062" y="2714625"/>
            <a:ext cx="8905875" cy="895350"/>
          </a:xfrm>
          <a:prstGeom prst="rect">
            <a:avLst/>
          </a:prstGeom>
        </p:spPr>
      </p:pic>
      <p:sp>
        <p:nvSpPr>
          <p:cNvPr id="5" name="Right Arrow 6">
            <a:extLst>
              <a:ext uri="{FF2B5EF4-FFF2-40B4-BE49-F238E27FC236}">
                <a16:creationId xmlns:a16="http://schemas.microsoft.com/office/drawing/2014/main" id="{41991C1F-DE14-6071-BF68-A9F14910B90A}"/>
              </a:ext>
            </a:extLst>
          </p:cNvPr>
          <p:cNvSpPr/>
          <p:nvPr/>
        </p:nvSpPr>
        <p:spPr>
          <a:xfrm rot="10800000">
            <a:off x="2308286" y="1719263"/>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D563ADE-909D-5A30-A4A7-C5F28E606349}"/>
              </a:ext>
            </a:extLst>
          </p:cNvPr>
          <p:cNvSpPr txBox="1"/>
          <p:nvPr/>
        </p:nvSpPr>
        <p:spPr>
          <a:xfrm>
            <a:off x="595423" y="4143375"/>
            <a:ext cx="2122825" cy="369332"/>
          </a:xfrm>
          <a:prstGeom prst="rect">
            <a:avLst/>
          </a:prstGeom>
          <a:noFill/>
        </p:spPr>
        <p:txBody>
          <a:bodyPr wrap="none" rtlCol="0">
            <a:spAutoFit/>
          </a:bodyPr>
          <a:lstStyle/>
          <a:p>
            <a:r>
              <a:rPr lang="en-US" dirty="0"/>
              <a:t>If issue is still existed</a:t>
            </a:r>
          </a:p>
        </p:txBody>
      </p:sp>
      <p:pic>
        <p:nvPicPr>
          <p:cNvPr id="8" name="Picture 7">
            <a:extLst>
              <a:ext uri="{FF2B5EF4-FFF2-40B4-BE49-F238E27FC236}">
                <a16:creationId xmlns:a16="http://schemas.microsoft.com/office/drawing/2014/main" id="{80009E0C-AA03-6D51-9A86-D4384CDBC73C}"/>
              </a:ext>
            </a:extLst>
          </p:cNvPr>
          <p:cNvPicPr>
            <a:picLocks noChangeAspect="1"/>
          </p:cNvPicPr>
          <p:nvPr/>
        </p:nvPicPr>
        <p:blipFill>
          <a:blip r:embed="rId5"/>
          <a:stretch>
            <a:fillRect/>
          </a:stretch>
        </p:blipFill>
        <p:spPr>
          <a:xfrm>
            <a:off x="294167" y="4803109"/>
            <a:ext cx="8849833" cy="1495425"/>
          </a:xfrm>
          <a:prstGeom prst="rect">
            <a:avLst/>
          </a:prstGeom>
        </p:spPr>
      </p:pic>
      <p:sp>
        <p:nvSpPr>
          <p:cNvPr id="9" name="Right Arrow 6">
            <a:extLst>
              <a:ext uri="{FF2B5EF4-FFF2-40B4-BE49-F238E27FC236}">
                <a16:creationId xmlns:a16="http://schemas.microsoft.com/office/drawing/2014/main" id="{54C5A205-AAC1-AB11-464A-3D4B3ADEC352}"/>
              </a:ext>
            </a:extLst>
          </p:cNvPr>
          <p:cNvSpPr/>
          <p:nvPr/>
        </p:nvSpPr>
        <p:spPr>
          <a:xfrm rot="10800000">
            <a:off x="7787598" y="5281613"/>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48989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90197"/>
            <a:ext cx="9144000" cy="14678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5675" y="9525"/>
            <a:ext cx="9144000" cy="1384995"/>
          </a:xfrm>
          <a:prstGeom prst="rect">
            <a:avLst/>
          </a:prstGeom>
          <a:noFill/>
        </p:spPr>
        <p:txBody>
          <a:bodyPr wrap="square" rtlCol="0">
            <a:spAutoFit/>
          </a:bodyPr>
          <a:lstStyle/>
          <a:p>
            <a:pPr lvl="0"/>
            <a:r>
              <a:rPr lang="en-US" sz="2400" b="1" dirty="0">
                <a:solidFill>
                  <a:prstClr val="black"/>
                </a:solidFill>
              </a:rPr>
              <a:t>Script</a:t>
            </a:r>
            <a:r>
              <a:rPr lang="ar-EG" sz="2400" b="1" dirty="0">
                <a:solidFill>
                  <a:prstClr val="black"/>
                </a:solidFill>
              </a:rPr>
              <a:t>:</a:t>
            </a:r>
            <a:endParaRPr lang="en-US" sz="2400" b="1" dirty="0">
              <a:solidFill>
                <a:prstClr val="black"/>
              </a:solidFill>
            </a:endParaRPr>
          </a:p>
          <a:p>
            <a:pPr lvl="0" algn="r"/>
            <a:r>
              <a:rPr lang="en-US" sz="2000" dirty="0">
                <a:solidFill>
                  <a:prstClr val="black"/>
                </a:solidFill>
              </a:rPr>
              <a:t>              </a:t>
            </a:r>
            <a:r>
              <a:rPr lang="ar-EG" sz="2000" dirty="0">
                <a:solidFill>
                  <a:prstClr val="black"/>
                </a:solidFill>
              </a:rPr>
              <a:t>تمام يا استاذ/ة...... انا قدمت طلب لحضرتك وفي خلال ال 24 ساعه اللي </a:t>
            </a:r>
            <a:r>
              <a:rPr lang="ar-EG" sz="2000" dirty="0" err="1">
                <a:solidFill>
                  <a:prstClr val="black"/>
                </a:solidFill>
              </a:rPr>
              <a:t>جايه</a:t>
            </a:r>
            <a:r>
              <a:rPr lang="ar-EG" sz="2000" dirty="0">
                <a:solidFill>
                  <a:prstClr val="black"/>
                </a:solidFill>
              </a:rPr>
              <a:t> هيتم التواصل مع حضرتك من جانبنا لحل المشكلة الفنية </a:t>
            </a:r>
          </a:p>
          <a:p>
            <a:pPr algn="r"/>
            <a:endParaRPr lang="en-US" sz="2000" dirty="0"/>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6456" y="1600200"/>
            <a:ext cx="4707544" cy="3789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2713901649"/>
              </p:ext>
            </p:extLst>
          </p:nvPr>
        </p:nvGraphicFramePr>
        <p:xfrm>
          <a:off x="457200" y="1295400"/>
          <a:ext cx="3200400" cy="3566160"/>
        </p:xfrm>
        <a:graphic>
          <a:graphicData uri="http://schemas.openxmlformats.org/drawingml/2006/table">
            <a:tbl>
              <a:tblPr/>
              <a:tblGrid>
                <a:gridCol w="1045029">
                  <a:extLst>
                    <a:ext uri="{9D8B030D-6E8A-4147-A177-3AD203B41FA5}">
                      <a16:colId xmlns:a16="http://schemas.microsoft.com/office/drawing/2014/main" val="20000"/>
                    </a:ext>
                  </a:extLst>
                </a:gridCol>
                <a:gridCol w="2155371">
                  <a:extLst>
                    <a:ext uri="{9D8B030D-6E8A-4147-A177-3AD203B41FA5}">
                      <a16:colId xmlns:a16="http://schemas.microsoft.com/office/drawing/2014/main" val="20001"/>
                    </a:ext>
                  </a:extLst>
                </a:gridCol>
              </a:tblGrid>
              <a:tr h="200025">
                <a:tc>
                  <a:txBody>
                    <a:bodyPr/>
                    <a:lstStyle/>
                    <a:p>
                      <a:pPr algn="ctr"/>
                      <a:r>
                        <a:rPr lang="en-US" b="1">
                          <a:solidFill>
                            <a:srgbClr val="FFFFFF"/>
                          </a:solidFill>
                          <a:effectLst/>
                          <a:latin typeface="Helvetica Neue"/>
                        </a:rPr>
                        <a:t>Short Code </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40013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a:r>
                        <a:rPr lang="en-US" b="1">
                          <a:solidFill>
                            <a:srgbClr val="FFFFFF"/>
                          </a:solidFill>
                          <a:effectLst/>
                          <a:latin typeface="Helvetica Neue"/>
                        </a:rPr>
                        <a:t>Type </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DSL Fault For Connectivity​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algn="ctr"/>
                      <a:r>
                        <a:rPr lang="en-US" b="1">
                          <a:solidFill>
                            <a:srgbClr val="FFFFFF"/>
                          </a:solidFill>
                          <a:effectLst/>
                          <a:latin typeface="Helvetica Neue"/>
                        </a:rPr>
                        <a:t>Area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No Browsing​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a:r>
                        <a:rPr lang="en-US" b="1">
                          <a:solidFill>
                            <a:srgbClr val="FFFFFF"/>
                          </a:solidFill>
                          <a:effectLst/>
                          <a:latin typeface="Helvetica Neue"/>
                        </a:rPr>
                        <a:t>Product</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ADSL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a:r>
                        <a:rPr lang="en-US" b="1">
                          <a:solidFill>
                            <a:srgbClr val="FFFFFF"/>
                          </a:solidFill>
                          <a:effectLst/>
                          <a:latin typeface="Helvetica Neue"/>
                        </a:rPr>
                        <a:t>Owner Group</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Data Tech Con Support-Network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a:r>
                        <a:rPr lang="en-US" b="1">
                          <a:solidFill>
                            <a:srgbClr val="FFFFFF"/>
                          </a:solidFill>
                          <a:effectLst/>
                          <a:latin typeface="Helvetica Neue"/>
                        </a:rPr>
                        <a:t>Sub Area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Empty​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025">
                <a:tc>
                  <a:txBody>
                    <a:bodyPr/>
                    <a:lstStyle/>
                    <a:p>
                      <a:pPr algn="ctr"/>
                      <a:r>
                        <a:rPr lang="en-US" b="1">
                          <a:solidFill>
                            <a:srgbClr val="FFFFFF"/>
                          </a:solidFill>
                          <a:effectLst/>
                          <a:latin typeface="Helvetica Neue"/>
                        </a:rPr>
                        <a:t>Status</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Open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025">
                <a:tc>
                  <a:txBody>
                    <a:bodyPr/>
                    <a:lstStyle/>
                    <a:p>
                      <a:pPr algn="ctr"/>
                      <a:r>
                        <a:rPr lang="en-US" b="1">
                          <a:solidFill>
                            <a:srgbClr val="FFFFFF"/>
                          </a:solidFill>
                          <a:effectLst/>
                          <a:latin typeface="Helvetica Neue"/>
                        </a:rPr>
                        <a:t>Smart Script</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a:effectLst/>
                          <a:latin typeface="Helvetica Neue"/>
                        </a:rPr>
                        <a:t>Yes​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025">
                <a:tc>
                  <a:txBody>
                    <a:bodyPr/>
                    <a:lstStyle/>
                    <a:p>
                      <a:pPr algn="ctr"/>
                      <a:r>
                        <a:rPr lang="en-US" b="1">
                          <a:solidFill>
                            <a:srgbClr val="FFFFFF"/>
                          </a:solidFill>
                          <a:effectLst/>
                          <a:latin typeface="Helvetica Neue"/>
                        </a:rPr>
                        <a:t>SLA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r>
                        <a:rPr lang="en-US" dirty="0">
                          <a:effectLst/>
                          <a:latin typeface="Helvetica Neue"/>
                        </a:rPr>
                        <a:t>24 H​​</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283753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ABF53F-4303-D273-31EB-7C003E51AC07}"/>
              </a:ext>
            </a:extLst>
          </p:cNvPr>
          <p:cNvPicPr>
            <a:picLocks noChangeAspect="1"/>
          </p:cNvPicPr>
          <p:nvPr/>
        </p:nvPicPr>
        <p:blipFill>
          <a:blip r:embed="rId2"/>
          <a:stretch>
            <a:fillRect/>
          </a:stretch>
        </p:blipFill>
        <p:spPr>
          <a:xfrm>
            <a:off x="123825" y="1371820"/>
            <a:ext cx="9020175" cy="1809750"/>
          </a:xfrm>
          <a:prstGeom prst="rect">
            <a:avLst/>
          </a:prstGeom>
        </p:spPr>
      </p:pic>
      <p:sp>
        <p:nvSpPr>
          <p:cNvPr id="5" name="Right Arrow 6">
            <a:extLst>
              <a:ext uri="{FF2B5EF4-FFF2-40B4-BE49-F238E27FC236}">
                <a16:creationId xmlns:a16="http://schemas.microsoft.com/office/drawing/2014/main" id="{686FEB18-9070-3EFD-3B04-584198C941B5}"/>
              </a:ext>
            </a:extLst>
          </p:cNvPr>
          <p:cNvSpPr/>
          <p:nvPr/>
        </p:nvSpPr>
        <p:spPr>
          <a:xfrm rot="10800000">
            <a:off x="5352743" y="2276695"/>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07D4278-BBC7-FA9E-B88D-BB206D0B419B}"/>
              </a:ext>
            </a:extLst>
          </p:cNvPr>
          <p:cNvPicPr>
            <a:picLocks noChangeAspect="1"/>
          </p:cNvPicPr>
          <p:nvPr/>
        </p:nvPicPr>
        <p:blipFill>
          <a:blip r:embed="rId3"/>
          <a:stretch>
            <a:fillRect/>
          </a:stretch>
        </p:blipFill>
        <p:spPr>
          <a:xfrm>
            <a:off x="123825" y="3676431"/>
            <a:ext cx="9020175" cy="2038350"/>
          </a:xfrm>
          <a:prstGeom prst="rect">
            <a:avLst/>
          </a:prstGeom>
        </p:spPr>
      </p:pic>
      <p:sp>
        <p:nvSpPr>
          <p:cNvPr id="8" name="Right Arrow 6">
            <a:extLst>
              <a:ext uri="{FF2B5EF4-FFF2-40B4-BE49-F238E27FC236}">
                <a16:creationId xmlns:a16="http://schemas.microsoft.com/office/drawing/2014/main" id="{79C70B1C-D8CA-C808-A2D3-A829AC7FB815}"/>
              </a:ext>
            </a:extLst>
          </p:cNvPr>
          <p:cNvSpPr/>
          <p:nvPr/>
        </p:nvSpPr>
        <p:spPr>
          <a:xfrm rot="10800000">
            <a:off x="3697607" y="4695606"/>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8341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25A41C-F7A3-0A65-AD60-053674F67711}"/>
              </a:ext>
            </a:extLst>
          </p:cNvPr>
          <p:cNvSpPr txBox="1"/>
          <p:nvPr/>
        </p:nvSpPr>
        <p:spPr>
          <a:xfrm>
            <a:off x="520995" y="1403497"/>
            <a:ext cx="7506286" cy="369332"/>
          </a:xfrm>
          <a:prstGeom prst="rect">
            <a:avLst/>
          </a:prstGeom>
          <a:noFill/>
        </p:spPr>
        <p:txBody>
          <a:bodyPr wrap="none" rtlCol="0">
            <a:spAutoFit/>
          </a:bodyPr>
          <a:lstStyle/>
          <a:p>
            <a:r>
              <a:rPr lang="en-US" dirty="0"/>
              <a:t>If Matched, we will continue the same previous WF steps from the below point</a:t>
            </a:r>
          </a:p>
        </p:txBody>
      </p:sp>
      <p:pic>
        <p:nvPicPr>
          <p:cNvPr id="4" name="Picture 3">
            <a:extLst>
              <a:ext uri="{FF2B5EF4-FFF2-40B4-BE49-F238E27FC236}">
                <a16:creationId xmlns:a16="http://schemas.microsoft.com/office/drawing/2014/main" id="{A13D581F-DE68-0A55-A7FE-749D84A87755}"/>
              </a:ext>
            </a:extLst>
          </p:cNvPr>
          <p:cNvPicPr>
            <a:picLocks noChangeAspect="1"/>
          </p:cNvPicPr>
          <p:nvPr/>
        </p:nvPicPr>
        <p:blipFill>
          <a:blip r:embed="rId2"/>
          <a:stretch>
            <a:fillRect/>
          </a:stretch>
        </p:blipFill>
        <p:spPr>
          <a:xfrm>
            <a:off x="123825" y="1957609"/>
            <a:ext cx="8896350" cy="1666875"/>
          </a:xfrm>
          <a:prstGeom prst="rect">
            <a:avLst/>
          </a:prstGeom>
        </p:spPr>
      </p:pic>
      <p:pic>
        <p:nvPicPr>
          <p:cNvPr id="7" name="Picture 6">
            <a:extLst>
              <a:ext uri="{FF2B5EF4-FFF2-40B4-BE49-F238E27FC236}">
                <a16:creationId xmlns:a16="http://schemas.microsoft.com/office/drawing/2014/main" id="{9A7BA0FF-EAFF-252C-75B2-05F1C1A07E19}"/>
              </a:ext>
            </a:extLst>
          </p:cNvPr>
          <p:cNvPicPr>
            <a:picLocks noChangeAspect="1"/>
          </p:cNvPicPr>
          <p:nvPr/>
        </p:nvPicPr>
        <p:blipFill>
          <a:blip r:embed="rId3"/>
          <a:stretch>
            <a:fillRect/>
          </a:stretch>
        </p:blipFill>
        <p:spPr>
          <a:xfrm>
            <a:off x="180975" y="4306629"/>
            <a:ext cx="8963025" cy="1562100"/>
          </a:xfrm>
          <a:prstGeom prst="rect">
            <a:avLst/>
          </a:prstGeom>
        </p:spPr>
      </p:pic>
      <p:sp>
        <p:nvSpPr>
          <p:cNvPr id="8" name="TextBox 7">
            <a:extLst>
              <a:ext uri="{FF2B5EF4-FFF2-40B4-BE49-F238E27FC236}">
                <a16:creationId xmlns:a16="http://schemas.microsoft.com/office/drawing/2014/main" id="{0B3DFD08-FC6E-AE57-B846-10C89236C7FE}"/>
              </a:ext>
            </a:extLst>
          </p:cNvPr>
          <p:cNvSpPr txBox="1"/>
          <p:nvPr/>
        </p:nvSpPr>
        <p:spPr>
          <a:xfrm>
            <a:off x="393405" y="3916475"/>
            <a:ext cx="1575944" cy="369332"/>
          </a:xfrm>
          <a:prstGeom prst="rect">
            <a:avLst/>
          </a:prstGeom>
          <a:noFill/>
        </p:spPr>
        <p:txBody>
          <a:bodyPr wrap="none" rtlCol="0">
            <a:spAutoFit/>
          </a:bodyPr>
          <a:lstStyle/>
          <a:p>
            <a:r>
              <a:rPr lang="en-US" dirty="0"/>
              <a:t>If not Matched</a:t>
            </a:r>
          </a:p>
        </p:txBody>
      </p:sp>
      <p:sp>
        <p:nvSpPr>
          <p:cNvPr id="10" name="Right Arrow 6">
            <a:extLst>
              <a:ext uri="{FF2B5EF4-FFF2-40B4-BE49-F238E27FC236}">
                <a16:creationId xmlns:a16="http://schemas.microsoft.com/office/drawing/2014/main" id="{ED1D01DC-4514-7CE5-E299-83CF4CA0A910}"/>
              </a:ext>
            </a:extLst>
          </p:cNvPr>
          <p:cNvSpPr/>
          <p:nvPr/>
        </p:nvSpPr>
        <p:spPr>
          <a:xfrm rot="10800000">
            <a:off x="7589123" y="4892417"/>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08858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4300" y="1002631"/>
            <a:ext cx="8915400" cy="1200329"/>
          </a:xfrm>
          <a:prstGeom prst="rect">
            <a:avLst/>
          </a:prstGeom>
        </p:spPr>
        <p:txBody>
          <a:bodyPr wrap="square">
            <a:spAutoFit/>
          </a:bodyPr>
          <a:lstStyle/>
          <a:p>
            <a:pPr lvl="0"/>
            <a:r>
              <a:rPr lang="en-US" b="1" dirty="0">
                <a:solidFill>
                  <a:srgbClr val="000000"/>
                </a:solidFill>
              </a:rPr>
              <a:t>Script</a:t>
            </a:r>
          </a:p>
          <a:p>
            <a:pPr lvl="0" algn="r"/>
            <a:r>
              <a:rPr lang="ar-EG" b="1" dirty="0">
                <a:solidFill>
                  <a:srgbClr val="000000"/>
                </a:solidFill>
              </a:rPr>
              <a:t>تمام يااستاذ\ ة انا قدمت لحضرتك طلب والمشكله هتكون اتحلت خلال ال 24 ساعه القادمه محتاج حضرتك تسيب الراوتر شغال ولو بعد 24 ىساعه المشكله لسه موجوده ممكن حضرتك تشرفنا بالاتصال مره تانيه</a:t>
            </a:r>
            <a:endParaRPr lang="en-US" b="1" dirty="0">
              <a:solidFill>
                <a:srgbClr val="000000"/>
              </a:solidFill>
            </a:endParaRPr>
          </a:p>
          <a:p>
            <a:pPr algn="ctr"/>
            <a:r>
              <a:rPr lang="ar-SA" b="1" dirty="0">
                <a:solidFill>
                  <a:srgbClr val="000000"/>
                </a:solidFill>
                <a:latin typeface="tahoma" panose="020B0604030504040204" pitchFamily="34" charset="0"/>
              </a:rPr>
              <a:t>​</a:t>
            </a:r>
            <a:endParaRPr lang="en-US" b="1" dirty="0"/>
          </a:p>
        </p:txBody>
      </p:sp>
      <p:pic>
        <p:nvPicPr>
          <p:cNvPr id="5" name="Picture 4"/>
          <p:cNvPicPr>
            <a:picLocks noChangeAspect="1"/>
          </p:cNvPicPr>
          <p:nvPr/>
        </p:nvPicPr>
        <p:blipFill>
          <a:blip r:embed="rId2"/>
          <a:stretch>
            <a:fillRect/>
          </a:stretch>
        </p:blipFill>
        <p:spPr>
          <a:xfrm>
            <a:off x="413085" y="2828925"/>
            <a:ext cx="8534400" cy="1200150"/>
          </a:xfrm>
          <a:prstGeom prst="rect">
            <a:avLst/>
          </a:prstGeom>
        </p:spPr>
      </p:pic>
    </p:spTree>
    <p:extLst>
      <p:ext uri="{BB962C8B-B14F-4D97-AF65-F5344CB8AC3E}">
        <p14:creationId xmlns:p14="http://schemas.microsoft.com/office/powerpoint/2010/main" val="38755442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4C0492-D615-95AD-199C-2DC3D9D1170E}"/>
              </a:ext>
            </a:extLst>
          </p:cNvPr>
          <p:cNvSpPr txBox="1"/>
          <p:nvPr/>
        </p:nvSpPr>
        <p:spPr>
          <a:xfrm>
            <a:off x="416980" y="152400"/>
            <a:ext cx="8578516"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000000"/>
                </a:solidFill>
                <a:effectLst/>
                <a:latin typeface="Helvetica Neue"/>
              </a:rPr>
              <a:t>Check customer's QOS Profile through PCRF and Connected with IP through IP tool</a:t>
            </a:r>
            <a:endParaRPr lang="en-US" dirty="0"/>
          </a:p>
        </p:txBody>
      </p:sp>
      <p:pic>
        <p:nvPicPr>
          <p:cNvPr id="5" name="Picture 4">
            <a:extLst>
              <a:ext uri="{FF2B5EF4-FFF2-40B4-BE49-F238E27FC236}">
                <a16:creationId xmlns:a16="http://schemas.microsoft.com/office/drawing/2014/main" id="{11D01C3A-C90E-1517-2A58-49AFD56ACFC6}"/>
              </a:ext>
            </a:extLst>
          </p:cNvPr>
          <p:cNvPicPr>
            <a:picLocks noChangeAspect="1"/>
          </p:cNvPicPr>
          <p:nvPr/>
        </p:nvPicPr>
        <p:blipFill>
          <a:blip r:embed="rId2"/>
          <a:stretch>
            <a:fillRect/>
          </a:stretch>
        </p:blipFill>
        <p:spPr>
          <a:xfrm>
            <a:off x="0" y="798731"/>
            <a:ext cx="8791575" cy="1971675"/>
          </a:xfrm>
          <a:prstGeom prst="rect">
            <a:avLst/>
          </a:prstGeom>
        </p:spPr>
      </p:pic>
      <p:pic>
        <p:nvPicPr>
          <p:cNvPr id="6" name="Picture 5">
            <a:extLst>
              <a:ext uri="{FF2B5EF4-FFF2-40B4-BE49-F238E27FC236}">
                <a16:creationId xmlns:a16="http://schemas.microsoft.com/office/drawing/2014/main" id="{9815966C-E26F-688A-72F8-EF4DC723C1B9}"/>
              </a:ext>
            </a:extLst>
          </p:cNvPr>
          <p:cNvPicPr>
            <a:picLocks noChangeAspect="1"/>
          </p:cNvPicPr>
          <p:nvPr/>
        </p:nvPicPr>
        <p:blipFill>
          <a:blip r:embed="rId3"/>
          <a:stretch>
            <a:fillRect/>
          </a:stretch>
        </p:blipFill>
        <p:spPr>
          <a:xfrm>
            <a:off x="352425" y="2770406"/>
            <a:ext cx="8715375" cy="2019300"/>
          </a:xfrm>
          <a:prstGeom prst="rect">
            <a:avLst/>
          </a:prstGeom>
        </p:spPr>
      </p:pic>
      <p:pic>
        <p:nvPicPr>
          <p:cNvPr id="7" name="Picture 6">
            <a:extLst>
              <a:ext uri="{FF2B5EF4-FFF2-40B4-BE49-F238E27FC236}">
                <a16:creationId xmlns:a16="http://schemas.microsoft.com/office/drawing/2014/main" id="{A9CDDC16-3F7B-BC0B-5182-BF36C23C4A65}"/>
              </a:ext>
            </a:extLst>
          </p:cNvPr>
          <p:cNvPicPr>
            <a:picLocks noChangeAspect="1"/>
          </p:cNvPicPr>
          <p:nvPr/>
        </p:nvPicPr>
        <p:blipFill>
          <a:blip r:embed="rId4"/>
          <a:stretch>
            <a:fillRect/>
          </a:stretch>
        </p:blipFill>
        <p:spPr>
          <a:xfrm>
            <a:off x="895349" y="4562475"/>
            <a:ext cx="7000875" cy="2295525"/>
          </a:xfrm>
          <a:prstGeom prst="rect">
            <a:avLst/>
          </a:prstGeom>
        </p:spPr>
      </p:pic>
      <p:sp>
        <p:nvSpPr>
          <p:cNvPr id="8" name="Right Arrow 6">
            <a:extLst>
              <a:ext uri="{FF2B5EF4-FFF2-40B4-BE49-F238E27FC236}">
                <a16:creationId xmlns:a16="http://schemas.microsoft.com/office/drawing/2014/main" id="{6D64A0A8-2A78-7F6D-71DE-5383F43494CB}"/>
              </a:ext>
            </a:extLst>
          </p:cNvPr>
          <p:cNvSpPr/>
          <p:nvPr/>
        </p:nvSpPr>
        <p:spPr>
          <a:xfrm rot="10800000">
            <a:off x="5688134" y="2770406"/>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57218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81BD83-C422-3421-3DBD-125FBC187A1C}"/>
              </a:ext>
            </a:extLst>
          </p:cNvPr>
          <p:cNvPicPr>
            <a:picLocks noChangeAspect="1"/>
          </p:cNvPicPr>
          <p:nvPr/>
        </p:nvPicPr>
        <p:blipFill>
          <a:blip r:embed="rId2"/>
          <a:stretch>
            <a:fillRect/>
          </a:stretch>
        </p:blipFill>
        <p:spPr>
          <a:xfrm>
            <a:off x="0" y="1685674"/>
            <a:ext cx="9086850" cy="4077452"/>
          </a:xfrm>
          <a:prstGeom prst="rect">
            <a:avLst/>
          </a:prstGeom>
        </p:spPr>
      </p:pic>
    </p:spTree>
    <p:extLst>
      <p:ext uri="{BB962C8B-B14F-4D97-AF65-F5344CB8AC3E}">
        <p14:creationId xmlns:p14="http://schemas.microsoft.com/office/powerpoint/2010/main" val="4551149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9BEE0A-39D1-2C43-44E6-43B10D2182CD}"/>
              </a:ext>
            </a:extLst>
          </p:cNvPr>
          <p:cNvSpPr txBox="1"/>
          <p:nvPr/>
        </p:nvSpPr>
        <p:spPr>
          <a:xfrm>
            <a:off x="360947" y="188040"/>
            <a:ext cx="8422106" cy="646331"/>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000000"/>
                </a:solidFill>
                <a:effectLst/>
                <a:latin typeface="Helvetica Neue"/>
              </a:rPr>
              <a:t>Check customer's QOS Profile through PCRF and Connected with IP through IP tool</a:t>
            </a:r>
            <a:endParaRPr lang="en-US" dirty="0"/>
          </a:p>
        </p:txBody>
      </p:sp>
      <p:pic>
        <p:nvPicPr>
          <p:cNvPr id="4" name="Picture 3">
            <a:extLst>
              <a:ext uri="{FF2B5EF4-FFF2-40B4-BE49-F238E27FC236}">
                <a16:creationId xmlns:a16="http://schemas.microsoft.com/office/drawing/2014/main" id="{901B0C66-36E9-4303-0AAF-A10C090A16F7}"/>
              </a:ext>
            </a:extLst>
          </p:cNvPr>
          <p:cNvPicPr>
            <a:picLocks noChangeAspect="1"/>
          </p:cNvPicPr>
          <p:nvPr/>
        </p:nvPicPr>
        <p:blipFill>
          <a:blip r:embed="rId2"/>
          <a:stretch>
            <a:fillRect/>
          </a:stretch>
        </p:blipFill>
        <p:spPr>
          <a:xfrm>
            <a:off x="0" y="798731"/>
            <a:ext cx="8791575" cy="1971675"/>
          </a:xfrm>
          <a:prstGeom prst="rect">
            <a:avLst/>
          </a:prstGeom>
        </p:spPr>
      </p:pic>
      <p:pic>
        <p:nvPicPr>
          <p:cNvPr id="5" name="Picture 4">
            <a:extLst>
              <a:ext uri="{FF2B5EF4-FFF2-40B4-BE49-F238E27FC236}">
                <a16:creationId xmlns:a16="http://schemas.microsoft.com/office/drawing/2014/main" id="{35559FAA-F298-5AF1-9E4B-128B57E201DA}"/>
              </a:ext>
            </a:extLst>
          </p:cNvPr>
          <p:cNvPicPr>
            <a:picLocks noChangeAspect="1"/>
          </p:cNvPicPr>
          <p:nvPr/>
        </p:nvPicPr>
        <p:blipFill>
          <a:blip r:embed="rId3"/>
          <a:stretch>
            <a:fillRect/>
          </a:stretch>
        </p:blipFill>
        <p:spPr>
          <a:xfrm>
            <a:off x="352425" y="2770406"/>
            <a:ext cx="8715375" cy="2019300"/>
          </a:xfrm>
          <a:prstGeom prst="rect">
            <a:avLst/>
          </a:prstGeom>
        </p:spPr>
      </p:pic>
      <p:pic>
        <p:nvPicPr>
          <p:cNvPr id="6" name="Picture 5">
            <a:extLst>
              <a:ext uri="{FF2B5EF4-FFF2-40B4-BE49-F238E27FC236}">
                <a16:creationId xmlns:a16="http://schemas.microsoft.com/office/drawing/2014/main" id="{5CAA39CB-A7C8-53BC-B142-0318CA478C8D}"/>
              </a:ext>
            </a:extLst>
          </p:cNvPr>
          <p:cNvPicPr>
            <a:picLocks noChangeAspect="1"/>
          </p:cNvPicPr>
          <p:nvPr/>
        </p:nvPicPr>
        <p:blipFill>
          <a:blip r:embed="rId4"/>
          <a:stretch>
            <a:fillRect/>
          </a:stretch>
        </p:blipFill>
        <p:spPr>
          <a:xfrm>
            <a:off x="895349" y="4562475"/>
            <a:ext cx="7000875" cy="2295525"/>
          </a:xfrm>
          <a:prstGeom prst="rect">
            <a:avLst/>
          </a:prstGeom>
        </p:spPr>
      </p:pic>
      <p:sp>
        <p:nvSpPr>
          <p:cNvPr id="7" name="Right Arrow 6">
            <a:extLst>
              <a:ext uri="{FF2B5EF4-FFF2-40B4-BE49-F238E27FC236}">
                <a16:creationId xmlns:a16="http://schemas.microsoft.com/office/drawing/2014/main" id="{75AB11EC-91A7-60EF-E53E-F763E3495E2E}"/>
              </a:ext>
            </a:extLst>
          </p:cNvPr>
          <p:cNvSpPr/>
          <p:nvPr/>
        </p:nvSpPr>
        <p:spPr>
          <a:xfrm rot="10800000">
            <a:off x="6698787" y="5238067"/>
            <a:ext cx="565028" cy="39052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5454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891545"/>
            <a:ext cx="9162316" cy="1569660"/>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9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Redirection Page</a:t>
            </a:r>
          </a:p>
        </p:txBody>
      </p:sp>
    </p:spTree>
    <p:extLst>
      <p:ext uri="{BB962C8B-B14F-4D97-AF65-F5344CB8AC3E}">
        <p14:creationId xmlns:p14="http://schemas.microsoft.com/office/powerpoint/2010/main" val="24324791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7325" y="4289426"/>
            <a:ext cx="5834742" cy="2466974"/>
          </a:xfrm>
          <a:prstGeom prst="rect">
            <a:avLst/>
          </a:prstGeom>
        </p:spPr>
      </p:pic>
      <p:pic>
        <p:nvPicPr>
          <p:cNvPr id="3" name="Picture 2"/>
          <p:cNvPicPr>
            <a:picLocks noChangeAspect="1"/>
          </p:cNvPicPr>
          <p:nvPr/>
        </p:nvPicPr>
        <p:blipFill>
          <a:blip r:embed="rId3"/>
          <a:stretch>
            <a:fillRect/>
          </a:stretch>
        </p:blipFill>
        <p:spPr>
          <a:xfrm>
            <a:off x="-16503" y="1779"/>
            <a:ext cx="6502399" cy="2364870"/>
          </a:xfrm>
          <a:prstGeom prst="rect">
            <a:avLst/>
          </a:prstGeom>
        </p:spPr>
      </p:pic>
      <p:pic>
        <p:nvPicPr>
          <p:cNvPr id="4" name="Picture 3"/>
          <p:cNvPicPr>
            <a:picLocks noChangeAspect="1"/>
          </p:cNvPicPr>
          <p:nvPr/>
        </p:nvPicPr>
        <p:blipFill>
          <a:blip r:embed="rId4"/>
          <a:stretch>
            <a:fillRect/>
          </a:stretch>
        </p:blipFill>
        <p:spPr>
          <a:xfrm>
            <a:off x="5477329" y="2047964"/>
            <a:ext cx="3390900" cy="2400300"/>
          </a:xfrm>
          <a:prstGeom prst="rect">
            <a:avLst/>
          </a:prstGeom>
        </p:spPr>
      </p:pic>
    </p:spTree>
    <p:extLst>
      <p:ext uri="{BB962C8B-B14F-4D97-AF65-F5344CB8AC3E}">
        <p14:creationId xmlns:p14="http://schemas.microsoft.com/office/powerpoint/2010/main" val="3929753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304800"/>
            <a:ext cx="8305800" cy="5139869"/>
          </a:xfrm>
          <a:prstGeom prst="rect">
            <a:avLst/>
          </a:prstGeom>
        </p:spPr>
        <p:txBody>
          <a:bodyPr wrap="square">
            <a:spAutoFit/>
          </a:bodyPr>
          <a:lstStyle/>
          <a:p>
            <a:pPr lvl="1"/>
            <a:endParaRPr lang="en-US" sz="1400" dirty="0">
              <a:solidFill>
                <a:srgbClr val="000000"/>
              </a:solidFill>
              <a:latin typeface="Helvetica Neue"/>
            </a:endParaRPr>
          </a:p>
          <a:p>
            <a:pPr>
              <a:buFont typeface="Arial"/>
              <a:buChar char="•"/>
            </a:pPr>
            <a:r>
              <a:rPr lang="en-US" sz="1400" dirty="0">
                <a:solidFill>
                  <a:srgbClr val="FF6600"/>
                </a:solidFill>
                <a:latin typeface="Helvetica Neue"/>
              </a:rPr>
              <a:t>​</a:t>
            </a:r>
            <a:r>
              <a:rPr lang="en-US" sz="1400" b="1" dirty="0">
                <a:solidFill>
                  <a:srgbClr val="FF6600"/>
                </a:solidFill>
                <a:latin typeface="Helvetica Neue"/>
              </a:rPr>
              <a:t>List of redirections that the action will be taken through SRs:</a:t>
            </a:r>
            <a:endParaRPr lang="en-US" sz="1400" dirty="0">
              <a:solidFill>
                <a:srgbClr val="000000"/>
              </a:solidFill>
              <a:latin typeface="Helvetica Neue"/>
            </a:endParaRPr>
          </a:p>
          <a:p>
            <a:pPr marL="742950" lvl="1" indent="-285750">
              <a:buFont typeface="Arial"/>
              <a:buChar char="•"/>
            </a:pPr>
            <a:r>
              <a:rPr lang="en-US" sz="1400" dirty="0">
                <a:solidFill>
                  <a:srgbClr val="000000"/>
                </a:solidFill>
                <a:latin typeface="Helvetica Neue"/>
              </a:rPr>
              <a:t>Redirection Activation: Related SR (3102)</a:t>
            </a:r>
          </a:p>
          <a:p>
            <a:pPr marL="742950" lvl="1" indent="-285750">
              <a:buFont typeface="Arial"/>
              <a:buChar char="•"/>
            </a:pPr>
            <a:r>
              <a:rPr lang="en-US" sz="1400" dirty="0">
                <a:solidFill>
                  <a:srgbClr val="000000"/>
                </a:solidFill>
                <a:latin typeface="Helvetica Neue"/>
              </a:rPr>
              <a:t>Redirection Suspension: Related SR (3104)</a:t>
            </a:r>
          </a:p>
          <a:p>
            <a:pPr marL="742950" lvl="1" indent="-285750">
              <a:buFont typeface="Arial"/>
              <a:buChar char="•"/>
            </a:pPr>
            <a:r>
              <a:rPr lang="en-US" sz="1400" dirty="0">
                <a:solidFill>
                  <a:srgbClr val="000000"/>
                </a:solidFill>
                <a:latin typeface="Helvetica Neue"/>
              </a:rPr>
              <a:t>Redirection No payment: Related SR (3100)</a:t>
            </a:r>
          </a:p>
          <a:p>
            <a:pPr marL="742950" lvl="1" indent="-285750">
              <a:buFont typeface="Arial"/>
              <a:buChar char="•"/>
            </a:pPr>
            <a:r>
              <a:rPr lang="en-US" sz="1400" dirty="0">
                <a:solidFill>
                  <a:srgbClr val="000000"/>
                </a:solidFill>
                <a:latin typeface="Helvetica Neue"/>
              </a:rPr>
              <a:t>Redirection Unknown : Related SR  (3101 )</a:t>
            </a:r>
          </a:p>
          <a:p>
            <a:pPr marL="742950" lvl="1" indent="-285750">
              <a:buFont typeface="Arial"/>
              <a:buChar char="•"/>
            </a:pPr>
            <a:r>
              <a:rPr lang="en-US" sz="1400" dirty="0">
                <a:solidFill>
                  <a:srgbClr val="000000"/>
                </a:solidFill>
                <a:latin typeface="Helvetica Neue"/>
              </a:rPr>
              <a:t>Redirection Cancelation: Related SR (3103)​</a:t>
            </a:r>
            <a:br>
              <a:rPr lang="en-US" sz="1400" dirty="0">
                <a:solidFill>
                  <a:srgbClr val="000000"/>
                </a:solidFill>
                <a:latin typeface="Helvetica Neue"/>
              </a:rPr>
            </a:br>
            <a:endParaRPr lang="en-US" sz="1400" dirty="0">
              <a:solidFill>
                <a:srgbClr val="000000"/>
              </a:solidFill>
              <a:latin typeface="Helvetica Neue"/>
            </a:endParaRPr>
          </a:p>
          <a:p>
            <a:pPr>
              <a:buFont typeface="Arial"/>
              <a:buChar char="•"/>
            </a:pPr>
            <a:r>
              <a:rPr lang="en-US" sz="1400" dirty="0">
                <a:solidFill>
                  <a:srgbClr val="FF6600"/>
                </a:solidFill>
                <a:latin typeface="Helvetica Neue"/>
              </a:rPr>
              <a:t>​​</a:t>
            </a:r>
            <a:r>
              <a:rPr lang="en-US" sz="1400" b="1" dirty="0">
                <a:solidFill>
                  <a:srgbClr val="FF6600"/>
                </a:solidFill>
                <a:latin typeface="Helvetica Neue"/>
              </a:rPr>
              <a:t>Important Notes:</a:t>
            </a:r>
            <a:endParaRPr lang="en-US" sz="1400" dirty="0">
              <a:solidFill>
                <a:srgbClr val="000000"/>
              </a:solidFill>
              <a:latin typeface="Helvetica Neue"/>
            </a:endParaRPr>
          </a:p>
          <a:p>
            <a:pPr marL="742950" lvl="1" indent="-285750">
              <a:buFont typeface="Arial"/>
              <a:buChar char="•"/>
            </a:pPr>
            <a:r>
              <a:rPr lang="en-US" sz="1400" dirty="0">
                <a:solidFill>
                  <a:srgbClr val="000000"/>
                </a:solidFill>
                <a:latin typeface="Helvetica Neue"/>
              </a:rPr>
              <a:t>In case of Active Account: SR should be assigned to DSL CH VAS​.</a:t>
            </a:r>
          </a:p>
          <a:p>
            <a:pPr marL="742950" lvl="1" indent="-285750">
              <a:buFont typeface="Arial"/>
              <a:buChar char="•"/>
            </a:pPr>
            <a:r>
              <a:rPr lang="en-US" sz="1400" dirty="0">
                <a:solidFill>
                  <a:srgbClr val="000000"/>
                </a:solidFill>
                <a:latin typeface="Helvetica Neue"/>
              </a:rPr>
              <a:t>In case of Candidate Account: SR should be assigned to DSL Installation Team as below 2 scenarios:</a:t>
            </a:r>
          </a:p>
          <a:p>
            <a:pPr marL="1143000" lvl="2" indent="-228600">
              <a:buFont typeface="Arial"/>
              <a:buChar char="•"/>
            </a:pPr>
            <a:r>
              <a:rPr lang="en-US" sz="1400" dirty="0">
                <a:solidFill>
                  <a:srgbClr val="000000"/>
                </a:solidFill>
                <a:latin typeface="Helvetica Neue"/>
              </a:rPr>
              <a:t>New activation.</a:t>
            </a:r>
          </a:p>
          <a:p>
            <a:pPr marL="1143000" lvl="2" indent="-228600">
              <a:buFont typeface="Arial"/>
              <a:buChar char="•"/>
            </a:pPr>
            <a:r>
              <a:rPr lang="en-US" sz="1400" dirty="0">
                <a:solidFill>
                  <a:srgbClr val="000000"/>
                </a:solidFill>
                <a:latin typeface="Helvetica Neue"/>
              </a:rPr>
              <a:t>Change user name or connectivity.​</a:t>
            </a:r>
            <a:r>
              <a:rPr lang="en-US" sz="1400" dirty="0"/>
              <a:t> </a:t>
            </a:r>
          </a:p>
          <a:p>
            <a:pPr marL="1143000" lvl="2" indent="-228600">
              <a:buFont typeface="Arial"/>
              <a:buChar char="•"/>
            </a:pPr>
            <a:endParaRPr lang="en-US" sz="1400" dirty="0"/>
          </a:p>
          <a:p>
            <a:r>
              <a:rPr lang="en-US" sz="1400" b="1" dirty="0" err="1">
                <a:solidFill>
                  <a:srgbClr val="FF6600"/>
                </a:solidFill>
                <a:latin typeface="helvetica75"/>
              </a:rPr>
              <a:t>Redirect_Activation</a:t>
            </a:r>
            <a:r>
              <a:rPr lang="en-US" sz="1400" b="1" dirty="0">
                <a:solidFill>
                  <a:srgbClr val="FF6600"/>
                </a:solidFill>
                <a:latin typeface="helvetica75"/>
              </a:rPr>
              <a:t> : </a:t>
            </a:r>
          </a:p>
          <a:p>
            <a:endParaRPr lang="en-US" sz="1400" b="1" dirty="0">
              <a:solidFill>
                <a:srgbClr val="FF6600"/>
              </a:solidFill>
              <a:latin typeface="helvetica75"/>
            </a:endParaRPr>
          </a:p>
          <a:p>
            <a:pPr marL="742950" lvl="1" indent="-285750">
              <a:buFont typeface="Arial"/>
              <a:buChar char="•"/>
            </a:pPr>
            <a:r>
              <a:rPr lang="en-US" sz="1400" dirty="0">
                <a:solidFill>
                  <a:srgbClr val="000000"/>
                </a:solidFill>
                <a:latin typeface="Helvetica Neue"/>
              </a:rPr>
              <a:t>Check if the customer has ( New Activation order ) , check if the self installation task is still pending  , configure the CPE with customer and then activate the service via ( aa.com  )</a:t>
            </a:r>
            <a:r>
              <a:rPr lang="en-US" dirty="0"/>
              <a:t> </a:t>
            </a:r>
            <a:r>
              <a:rPr lang="en-US" sz="1400" b="1" dirty="0"/>
              <a:t> ( 172.217.23.110 )​, or (74.125.133.113 )</a:t>
            </a:r>
            <a:r>
              <a:rPr lang="en-US" sz="1100" b="1" dirty="0">
                <a:solidFill>
                  <a:srgbClr val="000000"/>
                </a:solidFill>
                <a:latin typeface="Helvetica Neue"/>
              </a:rPr>
              <a:t> </a:t>
            </a:r>
            <a:r>
              <a:rPr lang="en-US" sz="1400" dirty="0">
                <a:solidFill>
                  <a:srgbClr val="000000"/>
                </a:solidFill>
                <a:latin typeface="Helvetica Neue"/>
              </a:rPr>
              <a:t>by asking the customer to press on activate option and if he already configured his CPE proceed on activation step , finally recheck if self installation task is closed automatically or not , </a:t>
            </a:r>
            <a:r>
              <a:rPr lang="en-US" sz="1600" b="1" dirty="0"/>
              <a:t>call Assist Hunt to close if </a:t>
            </a:r>
            <a:r>
              <a:rPr lang="en-US" sz="1400" dirty="0">
                <a:solidFill>
                  <a:srgbClr val="000000"/>
                </a:solidFill>
                <a:latin typeface="Helvetica Neue"/>
              </a:rPr>
              <a:t>customer did all these steps and Order is completed but still has redirect activation </a:t>
            </a:r>
            <a:r>
              <a:rPr lang="en-US" sz="1400" dirty="0">
                <a:solidFill>
                  <a:srgbClr val="FF6600"/>
                </a:solidFill>
                <a:latin typeface="Helvetica Neue"/>
              </a:rPr>
              <a:t>Create </a:t>
            </a:r>
            <a:r>
              <a:rPr lang="en-US" sz="1400" dirty="0">
                <a:solidFill>
                  <a:srgbClr val="000000"/>
                </a:solidFill>
                <a:latin typeface="Helvetica Neue"/>
              </a:rPr>
              <a:t>SR (3102)</a:t>
            </a:r>
          </a:p>
        </p:txBody>
      </p:sp>
    </p:spTree>
    <p:extLst>
      <p:ext uri="{BB962C8B-B14F-4D97-AF65-F5344CB8AC3E}">
        <p14:creationId xmlns:p14="http://schemas.microsoft.com/office/powerpoint/2010/main" val="422909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76200"/>
            <a:ext cx="8077200" cy="7325082"/>
          </a:xfrm>
          <a:prstGeom prst="rect">
            <a:avLst/>
          </a:prstGeom>
        </p:spPr>
        <p:txBody>
          <a:bodyPr wrap="square">
            <a:spAutoFit/>
          </a:bodyPr>
          <a:lstStyle/>
          <a:p>
            <a:pPr marL="285750" indent="-285750">
              <a:buFont typeface="Wingdings" panose="05000000000000000000" pitchFamily="2" charset="2"/>
              <a:buChar char="§"/>
            </a:pPr>
            <a:r>
              <a:rPr lang="en-US" b="1" u="sng" dirty="0" err="1">
                <a:solidFill>
                  <a:srgbClr val="FF6600"/>
                </a:solidFill>
                <a:latin typeface="Helvetica75"/>
              </a:rPr>
              <a:t>Redirect_Suspension</a:t>
            </a:r>
            <a:r>
              <a:rPr lang="en-US" dirty="0">
                <a:solidFill>
                  <a:srgbClr val="FF6600"/>
                </a:solidFill>
                <a:latin typeface="Helvetica75"/>
              </a:rPr>
              <a:t> ​:</a:t>
            </a:r>
          </a:p>
          <a:p>
            <a:pPr marL="285750" indent="-285750">
              <a:buFont typeface="Wingdings" panose="05000000000000000000" pitchFamily="2" charset="2"/>
              <a:buChar char="§"/>
            </a:pPr>
            <a:endParaRPr lang="en-US" dirty="0">
              <a:solidFill>
                <a:srgbClr val="FF6600"/>
              </a:solidFill>
              <a:latin typeface="Helvetica75"/>
            </a:endParaRPr>
          </a:p>
          <a:p>
            <a:pPr marL="285750" indent="-285750">
              <a:buFont typeface="Wingdings" panose="05000000000000000000" pitchFamily="2" charset="2"/>
              <a:buChar char="§"/>
            </a:pPr>
            <a:r>
              <a:rPr lang="en-US" dirty="0">
                <a:solidFill>
                  <a:srgbClr val="000000"/>
                </a:solidFill>
                <a:latin typeface="Helvetica Neue"/>
              </a:rPr>
              <a:t> If the customer has Voluntary Suspension order ​ ​​&gt;&gt; Advise him how  to reactivate the Service </a:t>
            </a:r>
          </a:p>
          <a:p>
            <a:pPr marL="285750" indent="-285750">
              <a:buFont typeface="Wingdings" panose="05000000000000000000" pitchFamily="2" charset="2"/>
              <a:buChar char="§"/>
            </a:pPr>
            <a:endParaRPr lang="en-US" dirty="0">
              <a:solidFill>
                <a:srgbClr val="000000"/>
              </a:solidFill>
              <a:latin typeface="Helvetica Neue"/>
            </a:endParaRPr>
          </a:p>
          <a:p>
            <a:pPr marL="285750" indent="-285750">
              <a:buFont typeface="Wingdings" panose="05000000000000000000" pitchFamily="2" charset="2"/>
              <a:buChar char="§"/>
            </a:pPr>
            <a:r>
              <a:rPr lang="en-US" dirty="0">
                <a:solidFill>
                  <a:srgbClr val="000000"/>
                </a:solidFill>
                <a:latin typeface="Helvetica Neue"/>
              </a:rPr>
              <a:t>If the Customer has Modify Service order  ​&gt;&gt; Check the pending Task and handle it </a:t>
            </a:r>
          </a:p>
          <a:p>
            <a:pPr marL="285750" indent="-285750">
              <a:buFont typeface="Wingdings" panose="05000000000000000000" pitchFamily="2" charset="2"/>
              <a:buChar char="§"/>
            </a:pPr>
            <a:endParaRPr lang="en-US" dirty="0">
              <a:solidFill>
                <a:srgbClr val="000000"/>
              </a:solidFill>
              <a:latin typeface="Helvetica Neue"/>
            </a:endParaRPr>
          </a:p>
          <a:p>
            <a:pPr marL="285750" indent="-285750">
              <a:buFont typeface="Wingdings" panose="05000000000000000000" pitchFamily="2" charset="2"/>
              <a:buChar char="§"/>
            </a:pPr>
            <a:r>
              <a:rPr lang="en-US" dirty="0">
                <a:solidFill>
                  <a:srgbClr val="000000"/>
                </a:solidFill>
                <a:latin typeface="Helvetica Neue"/>
              </a:rPr>
              <a:t> If the Customer doesn't have Pending order , </a:t>
            </a:r>
            <a:r>
              <a:rPr lang="en-US" dirty="0">
                <a:solidFill>
                  <a:srgbClr val="FF6600"/>
                </a:solidFill>
                <a:latin typeface="Helvetica Neue"/>
              </a:rPr>
              <a:t>Create </a:t>
            </a:r>
            <a:r>
              <a:rPr lang="en-US" sz="1400" dirty="0">
                <a:solidFill>
                  <a:srgbClr val="000000"/>
                </a:solidFill>
                <a:latin typeface="Helvetica Neue"/>
              </a:rPr>
              <a:t>SR (3104)</a:t>
            </a:r>
          </a:p>
          <a:p>
            <a:pPr marL="285750" indent="-285750">
              <a:buFont typeface="Wingdings" panose="05000000000000000000" pitchFamily="2" charset="2"/>
              <a:buChar char="§"/>
            </a:pPr>
            <a:endParaRPr lang="en-US" sz="1400" dirty="0">
              <a:solidFill>
                <a:srgbClr val="000000"/>
              </a:solidFill>
              <a:latin typeface="Helvetica Neue"/>
            </a:endParaRPr>
          </a:p>
          <a:p>
            <a:pPr marL="285750" indent="-285750">
              <a:buFont typeface="Wingdings" panose="05000000000000000000" pitchFamily="2" charset="2"/>
              <a:buChar char="§"/>
            </a:pPr>
            <a:endParaRPr lang="en-US" sz="1400" dirty="0">
              <a:solidFill>
                <a:srgbClr val="000000"/>
              </a:solidFill>
              <a:latin typeface="Helvetica Neue"/>
            </a:endParaRPr>
          </a:p>
          <a:p>
            <a:pPr marL="285750" indent="-285750">
              <a:buFont typeface="Wingdings" panose="05000000000000000000" pitchFamily="2" charset="2"/>
              <a:buChar char="§"/>
            </a:pPr>
            <a:endParaRPr lang="en-US" sz="1400" dirty="0">
              <a:solidFill>
                <a:srgbClr val="000000"/>
              </a:solidFill>
              <a:latin typeface="Helvetica Neue"/>
            </a:endParaRPr>
          </a:p>
          <a:p>
            <a:r>
              <a:rPr lang="en-US" b="1" u="sng" dirty="0">
                <a:solidFill>
                  <a:srgbClr val="FF6600"/>
                </a:solidFill>
                <a:latin typeface="Helvetica75"/>
              </a:rPr>
              <a:t>Redirect​ No Payment </a:t>
            </a:r>
            <a:r>
              <a:rPr lang="en-US" dirty="0">
                <a:solidFill>
                  <a:srgbClr val="FF6600"/>
                </a:solidFill>
                <a:latin typeface="Helvetica75"/>
              </a:rPr>
              <a:t>:</a:t>
            </a:r>
            <a:r>
              <a:rPr lang="en-US" dirty="0">
                <a:solidFill>
                  <a:srgbClr val="000000"/>
                </a:solidFill>
                <a:latin typeface="Helvetica Neue"/>
              </a:rPr>
              <a:t> </a:t>
            </a:r>
          </a:p>
          <a:p>
            <a:pPr marL="285750" indent="-285750">
              <a:buFont typeface="Wingdings" panose="05000000000000000000" pitchFamily="2" charset="2"/>
              <a:buChar char="§"/>
            </a:pPr>
            <a:r>
              <a:rPr lang="en-US" b="1" dirty="0">
                <a:solidFill>
                  <a:srgbClr val="000000"/>
                </a:solidFill>
                <a:latin typeface="Helvetica Neue"/>
              </a:rPr>
              <a:t> </a:t>
            </a:r>
            <a:r>
              <a:rPr lang="en-US" sz="1400" b="1" dirty="0"/>
              <a:t>In case of receiving customer's complaint from “No browsing" issue and after checking agent found that account has due amount.</a:t>
            </a:r>
          </a:p>
          <a:p>
            <a:pPr marL="285750" indent="-285750">
              <a:buFont typeface="Wingdings" panose="05000000000000000000" pitchFamily="2" charset="2"/>
              <a:buChar char="§"/>
            </a:pPr>
            <a:endParaRPr lang="en-US" sz="1400" b="1" dirty="0"/>
          </a:p>
          <a:p>
            <a:pPr marL="285750" indent="-285750">
              <a:buFont typeface="Wingdings" panose="05000000000000000000" pitchFamily="2" charset="2"/>
              <a:buChar char="§"/>
            </a:pPr>
            <a:r>
              <a:rPr lang="en-US" sz="1400" b="1" dirty="0"/>
              <a:t>Agent should check if the customer has due bill and exceeded the grace period or not.</a:t>
            </a:r>
          </a:p>
          <a:p>
            <a:pPr marL="285750" indent="-285750">
              <a:buFont typeface="Wingdings" panose="05000000000000000000" pitchFamily="2" charset="2"/>
              <a:buChar char="§"/>
            </a:pPr>
            <a:endParaRPr lang="en-US" sz="1400" b="1" dirty="0"/>
          </a:p>
          <a:p>
            <a:pPr marL="285750" indent="-285750">
              <a:buFont typeface="Wingdings" panose="05000000000000000000" pitchFamily="2" charset="2"/>
              <a:buChar char="§"/>
            </a:pPr>
            <a:r>
              <a:rPr lang="en-US" sz="1400" b="1" dirty="0"/>
              <a:t>If yes, Advise the customer to pay his/her due amount and Create Release Line SR if eligible (promise to pay).</a:t>
            </a:r>
          </a:p>
          <a:p>
            <a:pPr marL="285750" indent="-285750">
              <a:buFont typeface="Wingdings" panose="05000000000000000000" pitchFamily="2" charset="2"/>
              <a:buChar char="§"/>
            </a:pPr>
            <a:endParaRPr lang="en-US" sz="1400" b="1" dirty="0"/>
          </a:p>
          <a:p>
            <a:pPr marL="285750" indent="-285750">
              <a:buFont typeface="Wingdings" panose="05000000000000000000" pitchFamily="2" charset="2"/>
              <a:buChar char="§"/>
            </a:pPr>
            <a:r>
              <a:rPr lang="en-US" sz="1400" b="1" dirty="0"/>
              <a:t>If no, and still has redirect No Payment ,OR , if release line SR is submitted​ but still has redirect No payment create the below relevant SR "3100".</a:t>
            </a:r>
          </a:p>
          <a:p>
            <a:br>
              <a:rPr lang="en-US" dirty="0"/>
            </a:br>
            <a:endParaRPr lang="en-US" sz="3200" dirty="0"/>
          </a:p>
          <a:p>
            <a:pPr>
              <a:buFont typeface="Arial"/>
              <a:buChar char="•"/>
            </a:pPr>
            <a:endParaRPr lang="en-US" dirty="0">
              <a:solidFill>
                <a:srgbClr val="000000"/>
              </a:solidFill>
              <a:latin typeface="Helvetica Neue"/>
            </a:endParaRPr>
          </a:p>
          <a:p>
            <a:pPr>
              <a:buFont typeface="Arial"/>
              <a:buChar char="•"/>
            </a:pPr>
            <a:endParaRPr lang="en-US" dirty="0">
              <a:solidFill>
                <a:srgbClr val="000000"/>
              </a:solidFill>
              <a:latin typeface="Helvetica Neue"/>
            </a:endParaRPr>
          </a:p>
          <a:p>
            <a:pPr>
              <a:buFont typeface="Arial"/>
              <a:buChar char="•"/>
            </a:pPr>
            <a:endParaRPr lang="en-US" b="0" i="0" dirty="0">
              <a:solidFill>
                <a:srgbClr val="000000"/>
              </a:solidFill>
              <a:effectLst/>
              <a:latin typeface="Helvetica Neue"/>
            </a:endParaRPr>
          </a:p>
        </p:txBody>
      </p:sp>
    </p:spTree>
    <p:extLst>
      <p:ext uri="{BB962C8B-B14F-4D97-AF65-F5344CB8AC3E}">
        <p14:creationId xmlns:p14="http://schemas.microsoft.com/office/powerpoint/2010/main" val="29888232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362279"/>
            <a:ext cx="8331200" cy="5098722"/>
          </a:xfrm>
          <a:prstGeom prst="rect">
            <a:avLst/>
          </a:prstGeom>
        </p:spPr>
        <p:txBody>
          <a:bodyPr wrap="square">
            <a:spAutoFit/>
          </a:bodyPr>
          <a:lstStyle/>
          <a:p>
            <a:r>
              <a:rPr lang="en-US" b="1" u="sng" dirty="0">
                <a:solidFill>
                  <a:srgbClr val="FF6600"/>
                </a:solidFill>
                <a:latin typeface="helvetica75"/>
              </a:rPr>
              <a:t>Redirect</a:t>
            </a:r>
            <a:r>
              <a:rPr lang="en-US" b="1" u="sng" dirty="0">
                <a:solidFill>
                  <a:srgbClr val="FF6600"/>
                </a:solidFill>
                <a:latin typeface="Helvetica75"/>
              </a:rPr>
              <a:t>​ Cancellation </a:t>
            </a:r>
            <a:r>
              <a:rPr lang="en-US" dirty="0">
                <a:solidFill>
                  <a:srgbClr val="FF6600"/>
                </a:solidFill>
                <a:latin typeface="Helvetica75"/>
              </a:rPr>
              <a:t>:</a:t>
            </a:r>
          </a:p>
          <a:p>
            <a:endParaRPr lang="en-US" dirty="0">
              <a:solidFill>
                <a:srgbClr val="000000"/>
              </a:solidFill>
              <a:latin typeface="Helvetica Neue"/>
            </a:endParaRPr>
          </a:p>
          <a:p>
            <a:pPr marL="285750" indent="-285750">
              <a:buFont typeface="Wingdings" panose="05000000000000000000" pitchFamily="2" charset="2"/>
              <a:buChar char="§"/>
            </a:pPr>
            <a:r>
              <a:rPr lang="en-US" sz="1600" dirty="0"/>
              <a:t>Check if the customer has "Deactivate Service Request", if yes, follow cancellation WF.</a:t>
            </a:r>
          </a:p>
          <a:p>
            <a:pPr marL="285750" indent="-285750">
              <a:buFont typeface="Wingdings" panose="05000000000000000000" pitchFamily="2" charset="2"/>
              <a:buChar char="§"/>
            </a:pPr>
            <a:endParaRPr lang="en-US" sz="1600" dirty="0"/>
          </a:p>
          <a:p>
            <a:pPr marL="285750" indent="-285750">
              <a:buFont typeface="Wingdings" panose="05000000000000000000" pitchFamily="2" charset="2"/>
              <a:buChar char="§"/>
            </a:pPr>
            <a:r>
              <a:rPr lang="en-US" sz="1600" dirty="0"/>
              <a:t>If No, or there is "Deactivate Service Request" and its status is cancelled but customer still has redirect cancellation , create the below relevant SR “3103”.</a:t>
            </a:r>
            <a:br>
              <a:rPr lang="en-US" dirty="0"/>
            </a:br>
            <a:endParaRPr lang="en-US" dirty="0"/>
          </a:p>
          <a:p>
            <a:pPr marL="285750" indent="-285750">
              <a:buFont typeface="Wingdings" panose="05000000000000000000" pitchFamily="2" charset="2"/>
              <a:buChar char="§"/>
            </a:pPr>
            <a:r>
              <a:rPr lang="en-US" dirty="0">
                <a:solidFill>
                  <a:srgbClr val="FF6600"/>
                </a:solidFill>
                <a:latin typeface="Helvetica75"/>
              </a:rPr>
              <a:t> </a:t>
            </a:r>
            <a:r>
              <a:rPr lang="en-US" b="1" u="sng" dirty="0">
                <a:solidFill>
                  <a:srgbClr val="FF6600"/>
                </a:solidFill>
                <a:latin typeface="Helvetica75"/>
              </a:rPr>
              <a:t>Redirect​ </a:t>
            </a:r>
            <a:r>
              <a:rPr lang="en-US" b="1" u="sng" dirty="0" err="1">
                <a:solidFill>
                  <a:srgbClr val="FF6600"/>
                </a:solidFill>
                <a:latin typeface="Helvetica75"/>
              </a:rPr>
              <a:t>Unknown_User</a:t>
            </a:r>
            <a:r>
              <a:rPr lang="en-US" b="1" u="sng" dirty="0">
                <a:solidFill>
                  <a:srgbClr val="FF6600"/>
                </a:solidFill>
                <a:latin typeface="Helvetica75"/>
              </a:rPr>
              <a:t> </a:t>
            </a:r>
            <a:r>
              <a:rPr lang="en-US" dirty="0">
                <a:solidFill>
                  <a:srgbClr val="FF6600"/>
                </a:solidFill>
                <a:latin typeface="Helvetica75"/>
              </a:rPr>
              <a:t>:</a:t>
            </a:r>
            <a:endParaRPr lang="en-US" dirty="0">
              <a:solidFill>
                <a:srgbClr val="000000"/>
              </a:solidFill>
              <a:latin typeface="Helvetica Neue"/>
            </a:endParaRPr>
          </a:p>
          <a:p>
            <a:r>
              <a:rPr lang="en-US" dirty="0"/>
              <a:t>Redirection Unknown User only happens in one of the below scenarios:</a:t>
            </a:r>
          </a:p>
          <a:p>
            <a:endParaRPr lang="en-US" sz="1400" dirty="0"/>
          </a:p>
          <a:p>
            <a:pPr marL="285750" lvl="1" indent="-285750">
              <a:buFont typeface="Wingdings" panose="05000000000000000000" pitchFamily="2" charset="2"/>
              <a:buChar char="§"/>
            </a:pPr>
            <a:r>
              <a:rPr lang="en-US" dirty="0"/>
              <a:t>New Activation request.</a:t>
            </a:r>
          </a:p>
          <a:p>
            <a:pPr marL="285750" lvl="1" indent="-285750">
              <a:buFont typeface="Wingdings" panose="05000000000000000000" pitchFamily="2" charset="2"/>
              <a:buChar char="§"/>
            </a:pPr>
            <a:r>
              <a:rPr lang="en-US" dirty="0"/>
              <a:t>Change Username request.</a:t>
            </a:r>
          </a:p>
          <a:p>
            <a:pPr marL="285750" lvl="1" indent="-285750">
              <a:buFont typeface="Wingdings" panose="05000000000000000000" pitchFamily="2" charset="2"/>
              <a:buChar char="§"/>
            </a:pPr>
            <a:endParaRPr lang="en-US" sz="3200" dirty="0"/>
          </a:p>
          <a:p>
            <a:pPr marL="285750" indent="-285750">
              <a:buFont typeface="Courier New" panose="02070309020205020404" pitchFamily="49" charset="0"/>
              <a:buChar char="o"/>
            </a:pPr>
            <a:r>
              <a:rPr lang="en-US" dirty="0"/>
              <a:t>Accordingly, agent should ensure that customer is configured with the same username as  Siebel (compare the username which exists on Octopus Log with</a:t>
            </a:r>
          </a:p>
          <a:p>
            <a:pPr marL="285750" indent="-285750">
              <a:buFont typeface="Courier New" panose="02070309020205020404" pitchFamily="49" charset="0"/>
              <a:buChar char="o"/>
            </a:pPr>
            <a:r>
              <a:rPr lang="en-US" dirty="0"/>
              <a:t> </a:t>
            </a:r>
          </a:p>
          <a:p>
            <a:pPr marL="285750" indent="-285750">
              <a:buFont typeface="Courier New" panose="02070309020205020404" pitchFamily="49" charset="0"/>
              <a:buChar char="o"/>
            </a:pPr>
            <a:r>
              <a:rPr lang="en-US" dirty="0"/>
              <a:t>Siebel Username) and if not modify it from router’s page.</a:t>
            </a:r>
            <a:endParaRPr lang="en-US" sz="3200" dirty="0"/>
          </a:p>
          <a:p>
            <a:pPr marL="285750" indent="-285750">
              <a:buFont typeface="Courier New" panose="02070309020205020404" pitchFamily="49" charset="0"/>
              <a:buChar char="o"/>
            </a:pPr>
            <a:r>
              <a:rPr lang="en-US" dirty="0"/>
              <a:t>If username is correct , create the below relevant SR “3101”.</a:t>
            </a:r>
          </a:p>
        </p:txBody>
      </p:sp>
    </p:spTree>
    <p:extLst>
      <p:ext uri="{BB962C8B-B14F-4D97-AF65-F5344CB8AC3E}">
        <p14:creationId xmlns:p14="http://schemas.microsoft.com/office/powerpoint/2010/main" val="38074151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182505"/>
            <a:ext cx="9296400" cy="156966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9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Slow Download</a:t>
            </a:r>
          </a:p>
        </p:txBody>
      </p:sp>
    </p:spTree>
    <p:extLst>
      <p:ext uri="{BB962C8B-B14F-4D97-AF65-F5344CB8AC3E}">
        <p14:creationId xmlns:p14="http://schemas.microsoft.com/office/powerpoint/2010/main" val="36192115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3991" y="381000"/>
            <a:ext cx="5169172" cy="523220"/>
          </a:xfrm>
          <a:prstGeom prst="rect">
            <a:avLst/>
          </a:prstGeom>
          <a:noFill/>
        </p:spPr>
        <p:txBody>
          <a:bodyPr wrap="none" rtlCol="0">
            <a:spAutoFit/>
          </a:bodyPr>
          <a:lstStyle/>
          <a:p>
            <a:r>
              <a:rPr 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How to open Slow Download WF </a:t>
            </a:r>
            <a:endParaRPr lang="en-US" sz="2800" b="1" dirty="0">
              <a:ln w="11430"/>
              <a:solidFill>
                <a:srgbClr val="92D050"/>
              </a:solidFill>
              <a:effectLst>
                <a:outerShdw blurRad="80000" dist="40000" dir="5040000" algn="tl">
                  <a:srgbClr val="000000">
                    <a:alpha val="30000"/>
                  </a:srgbClr>
                </a:outerShdw>
              </a:effectLs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23736"/>
            <a:ext cx="8786949" cy="54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365760" y="2442937"/>
            <a:ext cx="3968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716530"/>
            <a:ext cx="3968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55276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838200"/>
            <a:ext cx="8780604" cy="5405305"/>
          </a:xfrm>
          <a:prstGeom prst="rect">
            <a:avLst/>
          </a:prstGeom>
        </p:spPr>
      </p:pic>
      <p:sp>
        <p:nvSpPr>
          <p:cNvPr id="3" name="Left Arrow 2"/>
          <p:cNvSpPr/>
          <p:nvPr/>
        </p:nvSpPr>
        <p:spPr>
          <a:xfrm>
            <a:off x="1371600" y="3528441"/>
            <a:ext cx="489204" cy="242316"/>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4" name="Right Arrow 3"/>
          <p:cNvSpPr/>
          <p:nvPr/>
        </p:nvSpPr>
        <p:spPr>
          <a:xfrm>
            <a:off x="4953000" y="5372100"/>
            <a:ext cx="489204" cy="2286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959014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6200"/>
            <a:ext cx="8305799" cy="6740307"/>
          </a:xfrm>
          <a:prstGeom prst="rect">
            <a:avLst/>
          </a:prstGeom>
          <a:noFill/>
        </p:spPr>
        <p:txBody>
          <a:bodyPr wrap="square" rtlCol="0">
            <a:spAutoFit/>
          </a:bodyPr>
          <a:lstStyle/>
          <a:p>
            <a:pPr marL="285750" indent="-285750">
              <a:buFont typeface="Arial" panose="020B0604020202020204" pitchFamily="34" charset="0"/>
              <a:buChar char="•"/>
            </a:pPr>
            <a:r>
              <a:rPr lang="en-US" dirty="0"/>
              <a:t>Slow Download could be considered as Physical or network issue</a:t>
            </a:r>
          </a:p>
          <a:p>
            <a:endParaRPr lang="en-US" dirty="0"/>
          </a:p>
          <a:p>
            <a:r>
              <a:rPr lang="en-US" b="1" dirty="0"/>
              <a:t> *</a:t>
            </a:r>
            <a:r>
              <a:rPr lang="en-US" b="1" u="sng" dirty="0"/>
              <a:t>For MSAN (check from TE-Portal)</a:t>
            </a:r>
            <a:endParaRPr lang="en-US" dirty="0"/>
          </a:p>
          <a:p>
            <a:r>
              <a:rPr lang="en-US" dirty="0"/>
              <a:t>Check first pervious SRs and related comments to avoid wrong SR .</a:t>
            </a:r>
          </a:p>
          <a:p>
            <a:r>
              <a:rPr lang="en-US" dirty="0"/>
              <a:t>Bad line in </a:t>
            </a:r>
            <a:r>
              <a:rPr lang="en-US" u="sng" dirty="0"/>
              <a:t>MSAN</a:t>
            </a:r>
            <a:r>
              <a:rPr lang="en-US" dirty="0"/>
              <a:t> to considered bad if the MAX is </a:t>
            </a:r>
            <a:r>
              <a:rPr lang="en-US" b="1" u="sng" dirty="0"/>
              <a:t>less 36</a:t>
            </a:r>
            <a:r>
              <a:rPr lang="en-US" dirty="0"/>
              <a:t> maintaining that the port and router are VDSL.</a:t>
            </a:r>
          </a:p>
          <a:p>
            <a:r>
              <a:rPr lang="en-US" dirty="0"/>
              <a:t>Bad line is considered if line is less than </a:t>
            </a:r>
            <a:r>
              <a:rPr lang="en-US" b="1" u="sng" dirty="0"/>
              <a:t>15 M</a:t>
            </a:r>
            <a:r>
              <a:rPr lang="en-US" dirty="0"/>
              <a:t> for customers with </a:t>
            </a:r>
            <a:r>
              <a:rPr lang="en-US" u="sng" dirty="0"/>
              <a:t>ADSL port or ADSL router.​</a:t>
            </a:r>
          </a:p>
          <a:p>
            <a:r>
              <a:rPr lang="en-US" b="1" u="sng" dirty="0"/>
              <a:t>For Copper (check from Octopus​)</a:t>
            </a:r>
            <a:endParaRPr lang="en-US" sz="2400" dirty="0"/>
          </a:p>
          <a:p>
            <a:pPr lvl="1"/>
            <a:r>
              <a:rPr lang="en-US" dirty="0"/>
              <a:t>Relative Occupation : &lt; 85%</a:t>
            </a:r>
          </a:p>
          <a:p>
            <a:pPr lvl="1"/>
            <a:r>
              <a:rPr lang="en-US" dirty="0"/>
              <a:t>Noise Margin : &gt; 60 dB</a:t>
            </a:r>
          </a:p>
          <a:p>
            <a:pPr lvl="1"/>
            <a:r>
              <a:rPr lang="en-US" dirty="0"/>
              <a:t>Signal </a:t>
            </a:r>
            <a:r>
              <a:rPr lang="en-US" dirty="0" err="1"/>
              <a:t>Att</a:t>
            </a:r>
            <a:r>
              <a:rPr lang="en-US" dirty="0"/>
              <a:t> : &lt; 350 dB</a:t>
            </a:r>
          </a:p>
          <a:p>
            <a:pPr lvl="1"/>
            <a:r>
              <a:rPr lang="en-US" dirty="0"/>
              <a:t>Bitrate : &lt; 85% from the Max rate</a:t>
            </a:r>
          </a:p>
          <a:p>
            <a:pPr lvl="1"/>
            <a:r>
              <a:rPr lang="en-US" dirty="0"/>
              <a:t>Max </a:t>
            </a:r>
            <a:r>
              <a:rPr lang="en-US" dirty="0" err="1"/>
              <a:t>att</a:t>
            </a:r>
            <a:r>
              <a:rPr lang="en-US" dirty="0"/>
              <a:t> : &gt; 6144 kb/s​</a:t>
            </a:r>
          </a:p>
          <a:p>
            <a:pPr marL="285750" indent="-285750">
              <a:buFont typeface="Arial" panose="020B0604020202020204" pitchFamily="34" charset="0"/>
              <a:buChar char="•"/>
            </a:pPr>
            <a:r>
              <a:rPr lang="en-US" dirty="0"/>
              <a:t>It is considered as network issue if the parameters are good so if customer has problem in QOS , Bit rate , or if every thing is ok but he still has slow , it will be handled as network issue </a:t>
            </a:r>
          </a:p>
          <a:p>
            <a:endParaRPr lang="en-US" dirty="0"/>
          </a:p>
          <a:p>
            <a:pPr marL="285750" indent="-285750">
              <a:buFont typeface="Arial" panose="020B0604020202020204" pitchFamily="34" charset="0"/>
              <a:buChar char="•"/>
            </a:pPr>
            <a:r>
              <a:rPr lang="en-US" dirty="0"/>
              <a:t>Physical issues requires to check , splitter wiring , internal wiring  , Box and cabinet to be solved </a:t>
            </a:r>
          </a:p>
          <a:p>
            <a:endParaRPr lang="en-US" dirty="0"/>
          </a:p>
          <a:p>
            <a:pPr marL="285750" indent="-285750">
              <a:buFont typeface="Arial" panose="020B0604020202020204" pitchFamily="34" charset="0"/>
              <a:buChar char="•"/>
            </a:pPr>
            <a:r>
              <a:rPr lang="en-US" dirty="0"/>
              <a:t>We must make sure that customer didn’t consume all his Quota and his speed isn’t downgraded to 256 K </a:t>
            </a:r>
          </a:p>
          <a:p>
            <a:pPr marL="285750" indent="-285750">
              <a:buFont typeface="Arial" panose="020B0604020202020204" pitchFamily="34" charset="0"/>
              <a:buChar char="•"/>
            </a:pPr>
            <a:r>
              <a:rPr lang="en-US" dirty="0"/>
              <a:t>We must make sure that customer got right QOS matched with his speed </a:t>
            </a:r>
          </a:p>
        </p:txBody>
      </p:sp>
    </p:spTree>
    <p:extLst>
      <p:ext uri="{BB962C8B-B14F-4D97-AF65-F5344CB8AC3E}">
        <p14:creationId xmlns:p14="http://schemas.microsoft.com/office/powerpoint/2010/main" val="21179382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143000"/>
            <a:ext cx="8991600" cy="1323439"/>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8000" b="1" cap="none" spc="50" dirty="0">
                <a:ln w="11430"/>
                <a:solidFill>
                  <a:schemeClr val="accent6">
                    <a:lumMod val="20000"/>
                    <a:lumOff val="80000"/>
                  </a:schemeClr>
                </a:solidFill>
                <a:effectLst>
                  <a:outerShdw blurRad="76200" dist="50800" dir="5400000" algn="tl" rotWithShape="0">
                    <a:srgbClr val="000000">
                      <a:alpha val="65000"/>
                    </a:srgbClr>
                  </a:outerShdw>
                </a:effectLst>
              </a:rPr>
              <a:t>QOS </a:t>
            </a:r>
          </a:p>
        </p:txBody>
      </p:sp>
      <p:sp>
        <p:nvSpPr>
          <p:cNvPr id="4" name="TextBox 3"/>
          <p:cNvSpPr txBox="1"/>
          <p:nvPr/>
        </p:nvSpPr>
        <p:spPr>
          <a:xfrm>
            <a:off x="663791" y="3352800"/>
            <a:ext cx="7137183" cy="2031325"/>
          </a:xfrm>
          <a:prstGeom prst="rect">
            <a:avLst/>
          </a:prstGeom>
          <a:noFill/>
        </p:spPr>
        <p:txBody>
          <a:bodyPr wrap="square" rtlCol="0">
            <a:spAutoFit/>
          </a:bodyPr>
          <a:lstStyle/>
          <a:p>
            <a:pPr marL="342900" indent="-342900">
              <a:buFont typeface="+mj-lt"/>
              <a:buAutoNum type="arabicPeriod"/>
            </a:pPr>
            <a:r>
              <a:rPr lang="en-US" dirty="0"/>
              <a:t>Check customer’s quota consumption through Siebel PCRF as shown below if the package is fully consumed or not.</a:t>
            </a:r>
          </a:p>
          <a:p>
            <a:pPr marL="342900" indent="-342900">
              <a:buFont typeface="+mj-lt"/>
              <a:buAutoNum type="arabicPeriod"/>
            </a:pPr>
            <a:r>
              <a:rPr lang="en-US" dirty="0"/>
              <a:t>If not fully consumed, follow the below troubleshooting steps.</a:t>
            </a:r>
          </a:p>
          <a:p>
            <a:pPr marL="342900" indent="-342900">
              <a:buFont typeface="+mj-lt"/>
              <a:buAutoNum type="arabicPeriod"/>
            </a:pPr>
            <a:endParaRPr lang="en-US" dirty="0"/>
          </a:p>
          <a:p>
            <a:pPr marL="342900" indent="-342900">
              <a:buFont typeface="+mj-lt"/>
              <a:buAutoNum type="arabicPeriod"/>
            </a:pPr>
            <a:r>
              <a:rPr lang="en-US" dirty="0"/>
              <a:t>If fully consumed, offer upgrading the package/adding extension using the below script and create &amp; close the below SR.</a:t>
            </a:r>
            <a:br>
              <a:rPr lang="en-US" dirty="0"/>
            </a:br>
            <a:endParaRPr lang="en-US" dirty="0"/>
          </a:p>
        </p:txBody>
      </p:sp>
    </p:spTree>
    <p:extLst>
      <p:ext uri="{BB962C8B-B14F-4D97-AF65-F5344CB8AC3E}">
        <p14:creationId xmlns:p14="http://schemas.microsoft.com/office/powerpoint/2010/main" val="40819868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9781" y="128155"/>
            <a:ext cx="2590800" cy="523220"/>
          </a:xfrm>
          <a:prstGeom prst="rect">
            <a:avLst/>
          </a:prstGeom>
          <a:noFill/>
        </p:spPr>
        <p:txBody>
          <a:bodyPr wrap="square" rtlCol="0">
            <a:spAutoFit/>
          </a:bodyPr>
          <a:lstStyle/>
          <a:p>
            <a:r>
              <a:rPr lang="en-US" sz="2800" b="1" dirty="0"/>
              <a:t>Normal QOS </a:t>
            </a:r>
          </a:p>
        </p:txBody>
      </p:sp>
      <p:pic>
        <p:nvPicPr>
          <p:cNvPr id="6" name="Picture 5"/>
          <p:cNvPicPr>
            <a:picLocks noChangeAspect="1"/>
          </p:cNvPicPr>
          <p:nvPr/>
        </p:nvPicPr>
        <p:blipFill>
          <a:blip r:embed="rId3"/>
          <a:stretch>
            <a:fillRect/>
          </a:stretch>
        </p:blipFill>
        <p:spPr>
          <a:xfrm>
            <a:off x="1779155" y="651375"/>
            <a:ext cx="5333999" cy="2676025"/>
          </a:xfrm>
          <a:prstGeom prst="rect">
            <a:avLst/>
          </a:prstGeom>
        </p:spPr>
      </p:pic>
      <p:pic>
        <p:nvPicPr>
          <p:cNvPr id="8" name="Picture 7"/>
          <p:cNvPicPr>
            <a:picLocks noChangeAspect="1"/>
          </p:cNvPicPr>
          <p:nvPr/>
        </p:nvPicPr>
        <p:blipFill>
          <a:blip r:embed="rId4"/>
          <a:stretch>
            <a:fillRect/>
          </a:stretch>
        </p:blipFill>
        <p:spPr>
          <a:xfrm>
            <a:off x="0" y="3327400"/>
            <a:ext cx="8810625" cy="1514476"/>
          </a:xfrm>
          <a:prstGeom prst="rect">
            <a:avLst/>
          </a:prstGeom>
        </p:spPr>
      </p:pic>
      <p:pic>
        <p:nvPicPr>
          <p:cNvPr id="9" name="Picture 8"/>
          <p:cNvPicPr>
            <a:picLocks noChangeAspect="1"/>
          </p:cNvPicPr>
          <p:nvPr/>
        </p:nvPicPr>
        <p:blipFill>
          <a:blip r:embed="rId5"/>
          <a:stretch>
            <a:fillRect/>
          </a:stretch>
        </p:blipFill>
        <p:spPr>
          <a:xfrm>
            <a:off x="171450" y="5079500"/>
            <a:ext cx="8972550" cy="923925"/>
          </a:xfrm>
          <a:prstGeom prst="rect">
            <a:avLst/>
          </a:prstGeom>
        </p:spPr>
      </p:pic>
    </p:spTree>
    <p:extLst>
      <p:ext uri="{BB962C8B-B14F-4D97-AF65-F5344CB8AC3E}">
        <p14:creationId xmlns:p14="http://schemas.microsoft.com/office/powerpoint/2010/main" val="19079005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57389"/>
            <a:ext cx="6849431" cy="1552792"/>
          </a:xfrm>
          <a:prstGeom prst="rect">
            <a:avLst/>
          </a:prstGeom>
        </p:spPr>
      </p:pic>
      <p:sp>
        <p:nvSpPr>
          <p:cNvPr id="5" name="Right Arrow 4"/>
          <p:cNvSpPr/>
          <p:nvPr/>
        </p:nvSpPr>
        <p:spPr>
          <a:xfrm>
            <a:off x="4852447" y="939749"/>
            <a:ext cx="821246" cy="39403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393699" y="2519214"/>
            <a:ext cx="8153400" cy="1887537"/>
          </a:xfrm>
          <a:prstGeom prst="rect">
            <a:avLst/>
          </a:prstGeom>
        </p:spPr>
      </p:pic>
      <p:pic>
        <p:nvPicPr>
          <p:cNvPr id="7" name="Picture 6"/>
          <p:cNvPicPr>
            <a:picLocks noChangeAspect="1"/>
          </p:cNvPicPr>
          <p:nvPr/>
        </p:nvPicPr>
        <p:blipFill>
          <a:blip r:embed="rId4"/>
          <a:stretch>
            <a:fillRect/>
          </a:stretch>
        </p:blipFill>
        <p:spPr>
          <a:xfrm>
            <a:off x="393699" y="4815784"/>
            <a:ext cx="8734425" cy="1123950"/>
          </a:xfrm>
          <a:prstGeom prst="rect">
            <a:avLst/>
          </a:prstGeom>
        </p:spPr>
      </p:pic>
    </p:spTree>
    <p:extLst>
      <p:ext uri="{BB962C8B-B14F-4D97-AF65-F5344CB8AC3E}">
        <p14:creationId xmlns:p14="http://schemas.microsoft.com/office/powerpoint/2010/main" val="23026419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6700" y="1603443"/>
            <a:ext cx="8877300" cy="1224456"/>
          </a:xfrm>
          <a:prstGeom prst="rect">
            <a:avLst/>
          </a:prstGeom>
        </p:spPr>
      </p:pic>
      <p:sp>
        <p:nvSpPr>
          <p:cNvPr id="3" name="Right Arrow 2"/>
          <p:cNvSpPr/>
          <p:nvPr/>
        </p:nvSpPr>
        <p:spPr>
          <a:xfrm rot="16200000">
            <a:off x="6038850" y="2961249"/>
            <a:ext cx="647700" cy="3810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152400" y="3924300"/>
            <a:ext cx="8701088" cy="2247900"/>
          </a:xfrm>
          <a:prstGeom prst="rect">
            <a:avLst/>
          </a:prstGeom>
        </p:spPr>
      </p:pic>
    </p:spTree>
    <p:extLst>
      <p:ext uri="{BB962C8B-B14F-4D97-AF65-F5344CB8AC3E}">
        <p14:creationId xmlns:p14="http://schemas.microsoft.com/office/powerpoint/2010/main" val="40615106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533400"/>
            <a:ext cx="8714822" cy="369332"/>
          </a:xfrm>
          <a:prstGeom prst="rect">
            <a:avLst/>
          </a:prstGeom>
          <a:noFill/>
        </p:spPr>
        <p:txBody>
          <a:bodyPr wrap="none" rtlCol="0">
            <a:spAutoFit/>
          </a:bodyPr>
          <a:lstStyle/>
          <a:p>
            <a:r>
              <a:rPr lang="en-US" b="1" dirty="0"/>
              <a:t>- Check customer quota consumption and make sure that he didn’t consume all his Quota​</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8562" y="4544568"/>
            <a:ext cx="6849431" cy="1552792"/>
          </a:xfrm>
          <a:prstGeom prst="rect">
            <a:avLst/>
          </a:prstGeom>
        </p:spPr>
      </p:pic>
      <p:sp>
        <p:nvSpPr>
          <p:cNvPr id="8" name="Right Arrow 7"/>
          <p:cNvSpPr/>
          <p:nvPr/>
        </p:nvSpPr>
        <p:spPr>
          <a:xfrm>
            <a:off x="1033462" y="4926928"/>
            <a:ext cx="821246" cy="39403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4"/>
          <a:stretch>
            <a:fillRect/>
          </a:stretch>
        </p:blipFill>
        <p:spPr>
          <a:xfrm>
            <a:off x="1753077" y="1194496"/>
            <a:ext cx="5333999" cy="2676025"/>
          </a:xfrm>
          <a:prstGeom prst="rect">
            <a:avLst/>
          </a:prstGeom>
        </p:spPr>
      </p:pic>
    </p:spTree>
    <p:extLst>
      <p:ext uri="{BB962C8B-B14F-4D97-AF65-F5344CB8AC3E}">
        <p14:creationId xmlns:p14="http://schemas.microsoft.com/office/powerpoint/2010/main" val="40108604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381000"/>
            <a:ext cx="5996706" cy="646331"/>
          </a:xfrm>
          <a:prstGeom prst="rect">
            <a:avLst/>
          </a:prstGeom>
          <a:noFill/>
        </p:spPr>
        <p:txBody>
          <a:bodyPr wrap="none" rtlCol="0">
            <a:spAutoFit/>
          </a:bodyPr>
          <a:lstStyle/>
          <a:p>
            <a:pPr marL="285750" indent="-285750">
              <a:buFont typeface="Arial" panose="020B0604020202020204" pitchFamily="34" charset="0"/>
              <a:buChar char="•"/>
            </a:pPr>
            <a:r>
              <a:rPr lang="en-US" dirty="0"/>
              <a:t>Check line parameters to determine if they are good or not</a:t>
            </a:r>
          </a:p>
          <a:p>
            <a:pPr marL="285750" indent="-285750">
              <a:buFont typeface="Arial" panose="020B0604020202020204" pitchFamily="34" charset="0"/>
              <a:buChar char="•"/>
            </a:pPr>
            <a:r>
              <a:rPr lang="en-US" dirty="0"/>
              <a:t>For copper we will check parameters through OCTOPUS</a:t>
            </a:r>
          </a:p>
        </p:txBody>
      </p:sp>
      <p:pic>
        <p:nvPicPr>
          <p:cNvPr id="4" name="Picture 3"/>
          <p:cNvPicPr>
            <a:picLocks noChangeAspect="1"/>
          </p:cNvPicPr>
          <p:nvPr/>
        </p:nvPicPr>
        <p:blipFill>
          <a:blip r:embed="rId2"/>
          <a:stretch>
            <a:fillRect/>
          </a:stretch>
        </p:blipFill>
        <p:spPr>
          <a:xfrm>
            <a:off x="0" y="1166812"/>
            <a:ext cx="9058275" cy="2009775"/>
          </a:xfrm>
          <a:prstGeom prst="rect">
            <a:avLst/>
          </a:prstGeom>
        </p:spPr>
      </p:pic>
      <p:pic>
        <p:nvPicPr>
          <p:cNvPr id="5" name="Picture 4"/>
          <p:cNvPicPr>
            <a:picLocks noChangeAspect="1"/>
          </p:cNvPicPr>
          <p:nvPr/>
        </p:nvPicPr>
        <p:blipFill>
          <a:blip r:embed="rId3"/>
          <a:stretch>
            <a:fillRect/>
          </a:stretch>
        </p:blipFill>
        <p:spPr>
          <a:xfrm>
            <a:off x="409574" y="3176586"/>
            <a:ext cx="8239125" cy="3135313"/>
          </a:xfrm>
          <a:prstGeom prst="rect">
            <a:avLst/>
          </a:prstGeom>
        </p:spPr>
      </p:pic>
    </p:spTree>
    <p:extLst>
      <p:ext uri="{BB962C8B-B14F-4D97-AF65-F5344CB8AC3E}">
        <p14:creationId xmlns:p14="http://schemas.microsoft.com/office/powerpoint/2010/main" val="12216210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D59EF2-C0B7-76F8-2A48-4AB409923BB3}"/>
              </a:ext>
            </a:extLst>
          </p:cNvPr>
          <p:cNvPicPr>
            <a:picLocks noChangeAspect="1"/>
          </p:cNvPicPr>
          <p:nvPr/>
        </p:nvPicPr>
        <p:blipFill>
          <a:blip r:embed="rId3"/>
          <a:stretch>
            <a:fillRect/>
          </a:stretch>
        </p:blipFill>
        <p:spPr>
          <a:xfrm>
            <a:off x="96253" y="1296297"/>
            <a:ext cx="9047747" cy="3182563"/>
          </a:xfrm>
          <a:prstGeom prst="rect">
            <a:avLst/>
          </a:prstGeom>
        </p:spPr>
      </p:pic>
      <p:sp>
        <p:nvSpPr>
          <p:cNvPr id="6" name="TextBox 5">
            <a:extLst>
              <a:ext uri="{FF2B5EF4-FFF2-40B4-BE49-F238E27FC236}">
                <a16:creationId xmlns:a16="http://schemas.microsoft.com/office/drawing/2014/main" id="{6FD4E736-1ED1-EF93-4B47-445D6E013895}"/>
              </a:ext>
            </a:extLst>
          </p:cNvPr>
          <p:cNvSpPr txBox="1"/>
          <p:nvPr/>
        </p:nvSpPr>
        <p:spPr>
          <a:xfrm>
            <a:off x="481263" y="213511"/>
            <a:ext cx="3424848" cy="369332"/>
          </a:xfrm>
          <a:prstGeom prst="rect">
            <a:avLst/>
          </a:prstGeom>
          <a:noFill/>
        </p:spPr>
        <p:txBody>
          <a:bodyPr wrap="none" rtlCol="0">
            <a:spAutoFit/>
          </a:bodyPr>
          <a:lstStyle/>
          <a:p>
            <a:r>
              <a:rPr lang="en-US" b="1" i="0" u="sng" dirty="0">
                <a:solidFill>
                  <a:srgbClr val="000000"/>
                </a:solidFill>
                <a:effectLst/>
                <a:latin typeface="Helvetica Neue"/>
              </a:rPr>
              <a:t>For MSAN through FTTH Tool</a:t>
            </a:r>
            <a:endParaRPr lang="en-US" dirty="0"/>
          </a:p>
        </p:txBody>
      </p:sp>
    </p:spTree>
    <p:extLst>
      <p:ext uri="{BB962C8B-B14F-4D97-AF65-F5344CB8AC3E}">
        <p14:creationId xmlns:p14="http://schemas.microsoft.com/office/powerpoint/2010/main" val="23941647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8B0C83-7DAF-9BA1-2ADD-56C8D59F225B}"/>
              </a:ext>
            </a:extLst>
          </p:cNvPr>
          <p:cNvPicPr>
            <a:picLocks noChangeAspect="1"/>
          </p:cNvPicPr>
          <p:nvPr/>
        </p:nvPicPr>
        <p:blipFill>
          <a:blip r:embed="rId2"/>
          <a:stretch>
            <a:fillRect/>
          </a:stretch>
        </p:blipFill>
        <p:spPr>
          <a:xfrm>
            <a:off x="666750" y="246647"/>
            <a:ext cx="7810500" cy="3724275"/>
          </a:xfrm>
          <a:prstGeom prst="rect">
            <a:avLst/>
          </a:prstGeom>
        </p:spPr>
      </p:pic>
      <p:pic>
        <p:nvPicPr>
          <p:cNvPr id="4" name="Picture 3">
            <a:extLst>
              <a:ext uri="{FF2B5EF4-FFF2-40B4-BE49-F238E27FC236}">
                <a16:creationId xmlns:a16="http://schemas.microsoft.com/office/drawing/2014/main" id="{F7616D53-514C-E767-C06C-30C9D6588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258" y="4683125"/>
            <a:ext cx="6648450" cy="154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own Arrow 1">
            <a:extLst>
              <a:ext uri="{FF2B5EF4-FFF2-40B4-BE49-F238E27FC236}">
                <a16:creationId xmlns:a16="http://schemas.microsoft.com/office/drawing/2014/main" id="{8B8A74B8-A927-515C-41CF-C923535F04C1}"/>
              </a:ext>
            </a:extLst>
          </p:cNvPr>
          <p:cNvSpPr/>
          <p:nvPr/>
        </p:nvSpPr>
        <p:spPr>
          <a:xfrm rot="5400000">
            <a:off x="7721131" y="5063039"/>
            <a:ext cx="249822" cy="533400"/>
          </a:xfrm>
          <a:prstGeom prst="downArrow">
            <a:avLst>
              <a:gd name="adj1" fmla="val 70000"/>
              <a:gd name="adj2" fmla="val 5000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22932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7975" y="104963"/>
            <a:ext cx="8366125" cy="2511425"/>
          </a:xfrm>
          <a:prstGeom prst="rect">
            <a:avLst/>
          </a:prstGeom>
        </p:spPr>
      </p:pic>
      <p:sp>
        <p:nvSpPr>
          <p:cNvPr id="3" name="Down Arrow 2"/>
          <p:cNvSpPr/>
          <p:nvPr/>
        </p:nvSpPr>
        <p:spPr>
          <a:xfrm rot="16200000">
            <a:off x="1441451" y="986025"/>
            <a:ext cx="558800" cy="749300"/>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p:nvPr/>
        </p:nvPicPr>
        <p:blipFill>
          <a:blip r:embed="rId3"/>
          <a:stretch>
            <a:fillRect/>
          </a:stretch>
        </p:blipFill>
        <p:spPr>
          <a:xfrm>
            <a:off x="307975" y="2616386"/>
            <a:ext cx="8049904" cy="2176046"/>
          </a:xfrm>
          <a:prstGeom prst="rect">
            <a:avLst/>
          </a:prstGeom>
        </p:spPr>
      </p:pic>
      <p:sp>
        <p:nvSpPr>
          <p:cNvPr id="5" name="Rectangle 4"/>
          <p:cNvSpPr/>
          <p:nvPr/>
        </p:nvSpPr>
        <p:spPr>
          <a:xfrm>
            <a:off x="1168401" y="2519768"/>
            <a:ext cx="4041766" cy="584775"/>
          </a:xfrm>
          <a:prstGeom prst="rect">
            <a:avLst/>
          </a:prstGeom>
        </p:spPr>
        <p:txBody>
          <a:bodyPr wrap="square">
            <a:spAutoFit/>
          </a:bodyPr>
          <a:lstStyle/>
          <a:p>
            <a:pPr lvl="0"/>
            <a:r>
              <a:rPr lang="en-US" sz="2800" b="1" dirty="0">
                <a:solidFill>
                  <a:srgbClr val="F4740A"/>
                </a:solidFill>
              </a:rPr>
              <a:t>* </a:t>
            </a:r>
            <a:r>
              <a:rPr lang="en-US" sz="3200" b="1" dirty="0">
                <a:solidFill>
                  <a:srgbClr val="F4740A"/>
                </a:solidFill>
              </a:rPr>
              <a:t>For</a:t>
            </a:r>
            <a:r>
              <a:rPr lang="en-US" sz="2800" b="1" dirty="0">
                <a:solidFill>
                  <a:srgbClr val="F4740A"/>
                </a:solidFill>
              </a:rPr>
              <a:t> Copper</a:t>
            </a:r>
          </a:p>
        </p:txBody>
      </p:sp>
      <p:sp>
        <p:nvSpPr>
          <p:cNvPr id="6" name="Rectangle 5"/>
          <p:cNvSpPr/>
          <p:nvPr/>
        </p:nvSpPr>
        <p:spPr>
          <a:xfrm>
            <a:off x="1090325" y="4298434"/>
            <a:ext cx="3659475" cy="584775"/>
          </a:xfrm>
          <a:prstGeom prst="rect">
            <a:avLst/>
          </a:prstGeom>
        </p:spPr>
        <p:txBody>
          <a:bodyPr wrap="square">
            <a:spAutoFit/>
          </a:bodyPr>
          <a:lstStyle/>
          <a:p>
            <a:pPr lvl="0"/>
            <a:r>
              <a:rPr lang="en-US" sz="2800" b="1" dirty="0">
                <a:solidFill>
                  <a:srgbClr val="F79646">
                    <a:lumMod val="75000"/>
                  </a:srgbClr>
                </a:solidFill>
              </a:rPr>
              <a:t>*</a:t>
            </a:r>
            <a:r>
              <a:rPr lang="en-US" sz="3200" b="1" dirty="0">
                <a:solidFill>
                  <a:srgbClr val="F79646">
                    <a:lumMod val="75000"/>
                  </a:srgbClr>
                </a:solidFill>
              </a:rPr>
              <a:t>For</a:t>
            </a:r>
            <a:r>
              <a:rPr lang="en-US" sz="2800" b="1" dirty="0">
                <a:solidFill>
                  <a:srgbClr val="F79646">
                    <a:lumMod val="75000"/>
                  </a:srgbClr>
                </a:solidFill>
              </a:rPr>
              <a:t> </a:t>
            </a:r>
            <a:r>
              <a:rPr lang="en-US" sz="3200" b="1" dirty="0">
                <a:solidFill>
                  <a:srgbClr val="F79646">
                    <a:lumMod val="75000"/>
                  </a:srgbClr>
                </a:solidFill>
              </a:rPr>
              <a:t>MSAN</a:t>
            </a:r>
            <a:endParaRPr lang="en-US" sz="2800" b="1" dirty="0">
              <a:solidFill>
                <a:srgbClr val="F79646">
                  <a:lumMod val="75000"/>
                </a:srgbClr>
              </a:solidFill>
            </a:endParaRPr>
          </a:p>
        </p:txBody>
      </p:sp>
      <p:pic>
        <p:nvPicPr>
          <p:cNvPr id="7" name="Picture 6"/>
          <p:cNvPicPr>
            <a:picLocks noChangeAspect="1"/>
          </p:cNvPicPr>
          <p:nvPr/>
        </p:nvPicPr>
        <p:blipFill>
          <a:blip r:embed="rId4"/>
          <a:stretch>
            <a:fillRect/>
          </a:stretch>
        </p:blipFill>
        <p:spPr>
          <a:xfrm>
            <a:off x="957111" y="5053991"/>
            <a:ext cx="7920190" cy="1123950"/>
          </a:xfrm>
          <a:prstGeom prst="rect">
            <a:avLst/>
          </a:prstGeom>
        </p:spPr>
      </p:pic>
    </p:spTree>
    <p:extLst>
      <p:ext uri="{BB962C8B-B14F-4D97-AF65-F5344CB8AC3E}">
        <p14:creationId xmlns:p14="http://schemas.microsoft.com/office/powerpoint/2010/main" val="29248872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888575" y="3244334"/>
            <a:ext cx="184731" cy="369332"/>
          </a:xfrm>
          <a:prstGeom prst="rect">
            <a:avLst/>
          </a:prstGeom>
        </p:spPr>
        <p:txBody>
          <a:bodyPr wrap="none">
            <a:spAutoFit/>
          </a:bodyPr>
          <a:lstStyle/>
          <a:p>
            <a:endParaRPr lang="en-US" b="1" dirty="0">
              <a:solidFill>
                <a:srgbClr val="F4740A"/>
              </a:solidFill>
            </a:endParaRPr>
          </a:p>
        </p:txBody>
      </p:sp>
      <p:pic>
        <p:nvPicPr>
          <p:cNvPr id="1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34" y="2889766"/>
            <a:ext cx="6898944"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Left Arrow 17"/>
          <p:cNvSpPr/>
          <p:nvPr/>
        </p:nvSpPr>
        <p:spPr>
          <a:xfrm>
            <a:off x="7617447" y="3475594"/>
            <a:ext cx="762000" cy="48463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24031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3636" y="2273300"/>
            <a:ext cx="6448425" cy="458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eft Arrow 2"/>
          <p:cNvSpPr/>
          <p:nvPr/>
        </p:nvSpPr>
        <p:spPr>
          <a:xfrm>
            <a:off x="7632061" y="5904484"/>
            <a:ext cx="876939" cy="48463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211F8875-4BEC-1BF8-ADD8-BBF55A8CCC2F}"/>
              </a:ext>
            </a:extLst>
          </p:cNvPr>
          <p:cNvPicPr>
            <a:picLocks noChangeAspect="1"/>
          </p:cNvPicPr>
          <p:nvPr/>
        </p:nvPicPr>
        <p:blipFill>
          <a:blip r:embed="rId3"/>
          <a:stretch>
            <a:fillRect/>
          </a:stretch>
        </p:blipFill>
        <p:spPr>
          <a:xfrm>
            <a:off x="593837" y="263525"/>
            <a:ext cx="7628021" cy="200977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3224380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16632"/>
            <a:ext cx="8424936" cy="2000548"/>
          </a:xfrm>
          <a:prstGeom prst="rect">
            <a:avLst/>
          </a:prstGeom>
          <a:noFill/>
        </p:spPr>
        <p:txBody>
          <a:bodyPr wrap="square" lIns="91440" tIns="45720" rIns="91440" bIns="45720">
            <a:spAutoFit/>
          </a:bodyPr>
          <a:lstStyle/>
          <a:p>
            <a:pPr algn="ctr"/>
            <a:r>
              <a:rPr lang="en-US" sz="2800" dirty="0"/>
              <a:t>Open SR</a:t>
            </a:r>
            <a:endParaRPr lang="en-US" sz="2400" dirty="0"/>
          </a:p>
          <a:p>
            <a:pPr algn="ctr"/>
            <a:r>
              <a:rPr lang="en-US" sz="2400" dirty="0"/>
              <a:t> </a:t>
            </a:r>
            <a:r>
              <a:rPr lang="ar-EG" sz="2400" dirty="0"/>
              <a:t>تمام يا أستاذ/ة....... أنا سجلت طلب حضرتك وفى حد من الدعم الفني هيتابع الشكوى، بستأذن حضرتك نسيب الراوتر متوصل، ولو مفيش أي تأخير من المصرية للاتصالات في خلال </a:t>
            </a:r>
            <a:r>
              <a:rPr lang="ar-EG" sz="2400" b="1" dirty="0">
                <a:solidFill>
                  <a:srgbClr val="FF6600"/>
                </a:solidFill>
              </a:rPr>
              <a:t>48</a:t>
            </a:r>
            <a:r>
              <a:rPr lang="ar-EG" sz="2400" b="1" dirty="0">
                <a:solidFill>
                  <a:srgbClr val="FF0000"/>
                </a:solidFill>
              </a:rPr>
              <a:t> </a:t>
            </a:r>
            <a:r>
              <a:rPr lang="ar-EG" sz="2400" dirty="0"/>
              <a:t>ساعة عمل هتكون الخدمة شغاله بصوره طبيعية عند حضرتك </a:t>
            </a:r>
          </a:p>
        </p:txBody>
      </p:sp>
      <p:sp>
        <p:nvSpPr>
          <p:cNvPr id="5" name="Rectangle 4"/>
          <p:cNvSpPr/>
          <p:nvPr/>
        </p:nvSpPr>
        <p:spPr>
          <a:xfrm>
            <a:off x="444500" y="2117180"/>
            <a:ext cx="4572000" cy="2862322"/>
          </a:xfrm>
          <a:prstGeom prst="rect">
            <a:avLst/>
          </a:prstGeom>
        </p:spPr>
        <p:txBody>
          <a:bodyPr>
            <a:spAutoFit/>
          </a:bodyPr>
          <a:lstStyle/>
          <a:p>
            <a:r>
              <a:rPr lang="en-US" dirty="0"/>
              <a:t>Sort code           39013</a:t>
            </a:r>
          </a:p>
          <a:p>
            <a:r>
              <a:rPr lang="en-US" dirty="0"/>
              <a:t>Type                    DSL Fault For Physical</a:t>
            </a:r>
          </a:p>
          <a:p>
            <a:r>
              <a:rPr lang="en-US" dirty="0"/>
              <a:t>Area                    Bad Line</a:t>
            </a:r>
          </a:p>
          <a:p>
            <a:r>
              <a:rPr lang="en-US" dirty="0"/>
              <a:t>Product               ADSL</a:t>
            </a:r>
          </a:p>
          <a:p>
            <a:r>
              <a:rPr lang="en-US" dirty="0"/>
              <a:t>Smart Script       Yes</a:t>
            </a:r>
          </a:p>
          <a:p>
            <a:r>
              <a:rPr lang="en-US" dirty="0"/>
              <a:t>Owner Group    Data Tech Con Support-Physical</a:t>
            </a:r>
          </a:p>
          <a:p>
            <a:r>
              <a:rPr lang="en-US" dirty="0"/>
              <a:t>Sub Area             Empty </a:t>
            </a:r>
          </a:p>
          <a:p>
            <a:r>
              <a:rPr lang="en-US" dirty="0"/>
              <a:t>Status                  Open</a:t>
            </a:r>
          </a:p>
          <a:p>
            <a:r>
              <a:rPr lang="en-US" dirty="0"/>
              <a:t>SLA                      </a:t>
            </a:r>
            <a:r>
              <a:rPr lang="ar-EG" dirty="0"/>
              <a:t>48</a:t>
            </a:r>
            <a:r>
              <a:rPr lang="en-US" dirty="0"/>
              <a:t> WH</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5" y="5410200"/>
            <a:ext cx="9003559" cy="1046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4691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81000"/>
            <a:ext cx="8763000" cy="5078313"/>
          </a:xfrm>
          <a:prstGeom prst="rect">
            <a:avLst/>
          </a:prstGeom>
          <a:noFill/>
        </p:spPr>
        <p:txBody>
          <a:bodyPr wrap="square" rtlCol="0">
            <a:spAutoFit/>
          </a:bodyPr>
          <a:lstStyle/>
          <a:p>
            <a:pPr marL="285750" indent="-285750">
              <a:buFont typeface="Arial" panose="020B0604020202020204" pitchFamily="34" charset="0"/>
              <a:buChar char="•"/>
            </a:pPr>
            <a:r>
              <a:rPr lang="en-US" dirty="0"/>
              <a:t>      To determine if customer has bitrate Mismatch or not check the following :</a:t>
            </a:r>
          </a:p>
          <a:p>
            <a:pPr marL="285750" indent="-285750">
              <a:buFont typeface="Arial" panose="020B0604020202020204" pitchFamily="34" charset="0"/>
              <a:buChar char="•"/>
            </a:pPr>
            <a:r>
              <a:rPr lang="en-US" dirty="0"/>
              <a:t>      Relative Occupation should be less than 85%   ( Relative Occupation = Current Rate / Max attainable Rate )</a:t>
            </a:r>
          </a:p>
          <a:p>
            <a:pPr marL="285750" indent="-285750">
              <a:buFont typeface="Arial" panose="020B0604020202020204" pitchFamily="34" charset="0"/>
              <a:buChar char="•"/>
            </a:pPr>
            <a:endParaRPr lang="en-US" dirty="0"/>
          </a:p>
          <a:p>
            <a:r>
              <a:rPr lang="en-US" b="1" u="sng" dirty="0">
                <a:solidFill>
                  <a:srgbClr val="F5750B"/>
                </a:solidFill>
              </a:rPr>
              <a:t>Example 1 :</a:t>
            </a:r>
          </a:p>
          <a:p>
            <a:br>
              <a:rPr lang="en-US" dirty="0"/>
            </a:br>
            <a:r>
              <a:rPr lang="en-US" dirty="0"/>
              <a:t>    If the Max Attainable Rate is 20480 , the Bitrate should be less than 85% from 20480   (Current Rate 16384)</a:t>
            </a:r>
          </a:p>
          <a:p>
            <a:r>
              <a:rPr lang="en-US" dirty="0"/>
              <a:t>   We will divide Current Rate / Max Attainable Rate )   16384/20480 =  80 %    &gt;&gt;&gt; </a:t>
            </a:r>
            <a:r>
              <a:rPr lang="en-US" dirty="0">
                <a:solidFill>
                  <a:srgbClr val="F5750B"/>
                </a:solidFill>
              </a:rPr>
              <a:t> </a:t>
            </a:r>
            <a:r>
              <a:rPr lang="en-US" b="1" dirty="0">
                <a:solidFill>
                  <a:srgbClr val="F5750B"/>
                </a:solidFill>
              </a:rPr>
              <a:t>doesn't have Bit rate Mismatch</a:t>
            </a:r>
          </a:p>
          <a:p>
            <a:endParaRPr lang="en-US" b="1" dirty="0">
              <a:solidFill>
                <a:srgbClr val="F5750B"/>
              </a:solidFill>
            </a:endParaRPr>
          </a:p>
          <a:p>
            <a:r>
              <a:rPr lang="en-US" b="1" u="sng" dirty="0">
                <a:solidFill>
                  <a:srgbClr val="F5750B"/>
                </a:solidFill>
              </a:rPr>
              <a:t>Example 2:</a:t>
            </a:r>
          </a:p>
          <a:p>
            <a:br>
              <a:rPr lang="en-US" dirty="0"/>
            </a:br>
            <a:r>
              <a:rPr lang="en-US" dirty="0"/>
              <a:t>          If the Max Attainable Rate is 20480 , the Bitrate should be less than 85% from 20480    (Current Rate 10240)</a:t>
            </a:r>
          </a:p>
          <a:p>
            <a:r>
              <a:rPr lang="en-US" dirty="0"/>
              <a:t>          We will divide Current Rate / Max Attainable Rate )   10240/20480 =  50%    &gt;&gt;&gt;   </a:t>
            </a:r>
            <a:r>
              <a:rPr lang="en-US" b="1" dirty="0">
                <a:solidFill>
                  <a:srgbClr val="F5750B"/>
                </a:solidFill>
              </a:rPr>
              <a:t>has Bit rate Mismatch​</a:t>
            </a:r>
          </a:p>
          <a:p>
            <a:endParaRPr lang="en-US" dirty="0"/>
          </a:p>
        </p:txBody>
      </p:sp>
    </p:spTree>
    <p:extLst>
      <p:ext uri="{BB962C8B-B14F-4D97-AF65-F5344CB8AC3E}">
        <p14:creationId xmlns:p14="http://schemas.microsoft.com/office/powerpoint/2010/main" val="17524413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52400"/>
            <a:ext cx="7467600" cy="707886"/>
          </a:xfrm>
          <a:prstGeom prst="rect">
            <a:avLst/>
          </a:prstGeom>
          <a:noFill/>
        </p:spPr>
        <p:txBody>
          <a:bodyPr wrap="square" rtlCol="0">
            <a:spAutoFit/>
          </a:bodyPr>
          <a:lstStyle/>
          <a:p>
            <a:r>
              <a:rPr lang="en-US" sz="2000" b="1" dirty="0"/>
              <a:t> If parameters are good , Check Bit Rate on OCTOPUS for copper or FTTH Tool for MSAN </a:t>
            </a: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648" y="5257800"/>
            <a:ext cx="762000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a:xfrm>
            <a:off x="962538" y="5856808"/>
            <a:ext cx="678299" cy="3810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14875"/>
            <a:ext cx="8458200" cy="1904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81000" y="1600200"/>
            <a:ext cx="8001000" cy="266937"/>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381000" y="2133600"/>
            <a:ext cx="8158091" cy="2286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63E34FD0-6425-3152-16BA-F70D29B3E09C}"/>
              </a:ext>
            </a:extLst>
          </p:cNvPr>
          <p:cNvPicPr>
            <a:picLocks noChangeAspect="1"/>
          </p:cNvPicPr>
          <p:nvPr/>
        </p:nvPicPr>
        <p:blipFill>
          <a:blip r:embed="rId5"/>
          <a:stretch>
            <a:fillRect/>
          </a:stretch>
        </p:blipFill>
        <p:spPr>
          <a:xfrm>
            <a:off x="525631" y="2690833"/>
            <a:ext cx="7210674" cy="2694579"/>
          </a:xfrm>
          <a:prstGeom prst="rect">
            <a:avLst/>
          </a:prstGeom>
        </p:spPr>
      </p:pic>
    </p:spTree>
    <p:extLst>
      <p:ext uri="{BB962C8B-B14F-4D97-AF65-F5344CB8AC3E}">
        <p14:creationId xmlns:p14="http://schemas.microsoft.com/office/powerpoint/2010/main" val="39852759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900" y="217888"/>
            <a:ext cx="2495374" cy="584775"/>
          </a:xfrm>
          <a:prstGeom prst="rect">
            <a:avLst/>
          </a:prstGeom>
          <a:noFill/>
        </p:spPr>
        <p:txBody>
          <a:bodyPr wrap="square" rtlCol="0">
            <a:spAutoFit/>
          </a:bodyPr>
          <a:lstStyle/>
          <a:p>
            <a:r>
              <a:rPr lang="en-US" sz="3200" b="1" dirty="0">
                <a:solidFill>
                  <a:srgbClr val="F4740A"/>
                </a:solidFill>
              </a:rPr>
              <a:t>For Copper :</a:t>
            </a:r>
          </a:p>
        </p:txBody>
      </p:sp>
      <p:pic>
        <p:nvPicPr>
          <p:cNvPr id="4" name="Picture 3"/>
          <p:cNvPicPr/>
          <p:nvPr/>
        </p:nvPicPr>
        <p:blipFill>
          <a:blip r:embed="rId2"/>
          <a:stretch>
            <a:fillRect/>
          </a:stretch>
        </p:blipFill>
        <p:spPr>
          <a:xfrm>
            <a:off x="533400" y="1143000"/>
            <a:ext cx="7467600" cy="1371600"/>
          </a:xfrm>
          <a:prstGeom prst="rect">
            <a:avLst/>
          </a:prstGeom>
        </p:spPr>
      </p:pic>
      <p:sp>
        <p:nvSpPr>
          <p:cNvPr id="2" name="Rectangle 1"/>
          <p:cNvSpPr/>
          <p:nvPr/>
        </p:nvSpPr>
        <p:spPr>
          <a:xfrm>
            <a:off x="228600" y="2514600"/>
            <a:ext cx="5001177" cy="523220"/>
          </a:xfrm>
          <a:prstGeom prst="rect">
            <a:avLst/>
          </a:prstGeom>
        </p:spPr>
        <p:txBody>
          <a:bodyPr wrap="square">
            <a:spAutoFit/>
          </a:bodyPr>
          <a:lstStyle/>
          <a:p>
            <a:r>
              <a:rPr lang="en-US" sz="2800" b="1" dirty="0">
                <a:solidFill>
                  <a:srgbClr val="F4740A"/>
                </a:solidFill>
              </a:rPr>
              <a:t>For MSAN : </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 y="4886895"/>
            <a:ext cx="7229475"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Left Arrow 7"/>
          <p:cNvSpPr/>
          <p:nvPr/>
        </p:nvSpPr>
        <p:spPr>
          <a:xfrm>
            <a:off x="7788276" y="5230073"/>
            <a:ext cx="862430" cy="484927"/>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9" name="Picture 8"/>
          <p:cNvPicPr>
            <a:picLocks noChangeAspect="1"/>
          </p:cNvPicPr>
          <p:nvPr/>
        </p:nvPicPr>
        <p:blipFill>
          <a:blip r:embed="rId4"/>
          <a:stretch>
            <a:fillRect/>
          </a:stretch>
        </p:blipFill>
        <p:spPr>
          <a:xfrm>
            <a:off x="639611" y="3285470"/>
            <a:ext cx="7920190" cy="1123950"/>
          </a:xfrm>
          <a:prstGeom prst="rect">
            <a:avLst/>
          </a:prstGeom>
        </p:spPr>
      </p:pic>
    </p:spTree>
    <p:extLst>
      <p:ext uri="{BB962C8B-B14F-4D97-AF65-F5344CB8AC3E}">
        <p14:creationId xmlns:p14="http://schemas.microsoft.com/office/powerpoint/2010/main" val="34900850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8275" y="835024"/>
            <a:ext cx="8705850" cy="1400175"/>
          </a:xfrm>
          <a:prstGeom prst="rect">
            <a:avLst/>
          </a:prstGeom>
        </p:spPr>
      </p:pic>
      <p:pic>
        <p:nvPicPr>
          <p:cNvPr id="3" name="Picture 2"/>
          <p:cNvPicPr>
            <a:picLocks noChangeAspect="1"/>
          </p:cNvPicPr>
          <p:nvPr/>
        </p:nvPicPr>
        <p:blipFill>
          <a:blip r:embed="rId3"/>
          <a:stretch>
            <a:fillRect/>
          </a:stretch>
        </p:blipFill>
        <p:spPr>
          <a:xfrm>
            <a:off x="0" y="2403474"/>
            <a:ext cx="8820150" cy="1266825"/>
          </a:xfrm>
          <a:prstGeom prst="rect">
            <a:avLst/>
          </a:prstGeom>
        </p:spPr>
      </p:pic>
      <p:pic>
        <p:nvPicPr>
          <p:cNvPr id="4" name="Picture 3"/>
          <p:cNvPicPr>
            <a:picLocks noChangeAspect="1"/>
          </p:cNvPicPr>
          <p:nvPr/>
        </p:nvPicPr>
        <p:blipFill>
          <a:blip r:embed="rId4"/>
          <a:stretch>
            <a:fillRect/>
          </a:stretch>
        </p:blipFill>
        <p:spPr>
          <a:xfrm>
            <a:off x="-3175" y="3932237"/>
            <a:ext cx="8877300" cy="1914525"/>
          </a:xfrm>
          <a:prstGeom prst="rect">
            <a:avLst/>
          </a:prstGeom>
        </p:spPr>
      </p:pic>
      <p:pic>
        <p:nvPicPr>
          <p:cNvPr id="5" name="Picture 4"/>
          <p:cNvPicPr>
            <a:picLocks noChangeAspect="1"/>
          </p:cNvPicPr>
          <p:nvPr/>
        </p:nvPicPr>
        <p:blipFill>
          <a:blip r:embed="rId5"/>
          <a:stretch>
            <a:fillRect/>
          </a:stretch>
        </p:blipFill>
        <p:spPr>
          <a:xfrm>
            <a:off x="463550" y="5846762"/>
            <a:ext cx="8115300" cy="733425"/>
          </a:xfrm>
          <a:prstGeom prst="rect">
            <a:avLst/>
          </a:prstGeom>
        </p:spPr>
      </p:pic>
    </p:spTree>
    <p:extLst>
      <p:ext uri="{BB962C8B-B14F-4D97-AF65-F5344CB8AC3E}">
        <p14:creationId xmlns:p14="http://schemas.microsoft.com/office/powerpoint/2010/main" val="17467028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52400"/>
            <a:ext cx="7467600" cy="400110"/>
          </a:xfrm>
          <a:prstGeom prst="rect">
            <a:avLst/>
          </a:prstGeom>
          <a:noFill/>
        </p:spPr>
        <p:txBody>
          <a:bodyPr wrap="square" rtlCol="0">
            <a:spAutoFit/>
          </a:bodyPr>
          <a:lstStyle/>
          <a:p>
            <a:r>
              <a:rPr lang="en-US" sz="2000" b="1" dirty="0"/>
              <a:t> Check Bit Rate on OTCCT  for copper or FTTH Tool for MSAN </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091" y="5267325"/>
            <a:ext cx="7620000" cy="159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7851648" y="5695346"/>
            <a:ext cx="687443" cy="367316"/>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9E05E42E-00AE-54F4-CFB5-1B58166214B4}"/>
              </a:ext>
            </a:extLst>
          </p:cNvPr>
          <p:cNvPicPr>
            <a:picLocks noChangeAspect="1"/>
          </p:cNvPicPr>
          <p:nvPr/>
        </p:nvPicPr>
        <p:blipFill>
          <a:blip r:embed="rId3"/>
          <a:stretch>
            <a:fillRect/>
          </a:stretch>
        </p:blipFill>
        <p:spPr>
          <a:xfrm>
            <a:off x="525631" y="2690833"/>
            <a:ext cx="7210674" cy="2694579"/>
          </a:xfrm>
          <a:prstGeom prst="rect">
            <a:avLst/>
          </a:prstGeom>
        </p:spPr>
      </p:pic>
      <p:pic>
        <p:nvPicPr>
          <p:cNvPr id="4" name="Picture 2">
            <a:extLst>
              <a:ext uri="{FF2B5EF4-FFF2-40B4-BE49-F238E27FC236}">
                <a16:creationId xmlns:a16="http://schemas.microsoft.com/office/drawing/2014/main" id="{718878E3-0C3E-8505-C1F0-A6A16B1D2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669410"/>
            <a:ext cx="8458200" cy="1904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39355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 y="22266"/>
            <a:ext cx="7345363"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799" y="3341482"/>
            <a:ext cx="7621587" cy="143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ight Arrow 3"/>
          <p:cNvSpPr/>
          <p:nvPr/>
        </p:nvSpPr>
        <p:spPr>
          <a:xfrm>
            <a:off x="818147" y="3788715"/>
            <a:ext cx="705852" cy="410305"/>
          </a:xfrm>
          <a:prstGeom prst="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p:cNvPicPr>
            <a:picLocks noChangeAspect="1"/>
          </p:cNvPicPr>
          <p:nvPr/>
        </p:nvPicPr>
        <p:blipFill>
          <a:blip r:embed="rId5"/>
          <a:stretch>
            <a:fillRect/>
          </a:stretch>
        </p:blipFill>
        <p:spPr>
          <a:xfrm>
            <a:off x="334961" y="1006319"/>
            <a:ext cx="8353425" cy="2390775"/>
          </a:xfrm>
          <a:prstGeom prst="rect">
            <a:avLst/>
          </a:prstGeom>
        </p:spPr>
      </p:pic>
      <p:pic>
        <p:nvPicPr>
          <p:cNvPr id="3" name="Picture 2"/>
          <p:cNvPicPr>
            <a:picLocks noChangeAspect="1"/>
          </p:cNvPicPr>
          <p:nvPr/>
        </p:nvPicPr>
        <p:blipFill>
          <a:blip r:embed="rId6"/>
          <a:stretch>
            <a:fillRect/>
          </a:stretch>
        </p:blipFill>
        <p:spPr>
          <a:xfrm>
            <a:off x="58735" y="4808085"/>
            <a:ext cx="8905875" cy="1914525"/>
          </a:xfrm>
          <a:prstGeom prst="rect">
            <a:avLst/>
          </a:prstGeom>
        </p:spPr>
      </p:pic>
    </p:spTree>
    <p:extLst>
      <p:ext uri="{BB962C8B-B14F-4D97-AF65-F5344CB8AC3E}">
        <p14:creationId xmlns:p14="http://schemas.microsoft.com/office/powerpoint/2010/main" val="15313866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030" y="381000"/>
            <a:ext cx="8443034"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30" y="2895600"/>
            <a:ext cx="791757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Left Arrow 2"/>
          <p:cNvSpPr/>
          <p:nvPr/>
        </p:nvSpPr>
        <p:spPr>
          <a:xfrm>
            <a:off x="7988472" y="3659305"/>
            <a:ext cx="614107" cy="371273"/>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345" y="4939146"/>
            <a:ext cx="476250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Left Arrow 5"/>
          <p:cNvSpPr/>
          <p:nvPr/>
        </p:nvSpPr>
        <p:spPr>
          <a:xfrm>
            <a:off x="4152547" y="5153458"/>
            <a:ext cx="762000" cy="40957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25144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6982" y="0"/>
            <a:ext cx="8777844" cy="3416320"/>
          </a:xfrm>
          <a:prstGeom prst="rect">
            <a:avLst/>
          </a:prstGeom>
          <a:noFill/>
        </p:spPr>
        <p:txBody>
          <a:bodyPr wrap="square" rtlCol="0">
            <a:spAutoFit/>
          </a:bodyPr>
          <a:lstStyle/>
          <a:p>
            <a:r>
              <a:rPr lang="en-US" dirty="0"/>
              <a:t>​​​•​​In case customer is facing a slowness for any gaming consoles, agent should follow </a:t>
            </a:r>
            <a:r>
              <a:rPr lang="en-US" b="1" u="sng" dirty="0">
                <a:hlinkClick r:id="rId3"/>
              </a:rPr>
              <a:t>Online Gaming Handling</a:t>
            </a:r>
            <a:r>
              <a:rPr lang="en-US" dirty="0"/>
              <a:t>.</a:t>
            </a:r>
          </a:p>
          <a:p>
            <a:r>
              <a:rPr lang="en-US" dirty="0"/>
              <a:t>In case customer is facing a slowness related to (computers &amp; mobiles) devices, we will follow the below handling:​</a:t>
            </a:r>
          </a:p>
          <a:p>
            <a:r>
              <a:rPr lang="en-US" dirty="0"/>
              <a:t>Agent will </a:t>
            </a:r>
            <a:r>
              <a:rPr lang="en-US" dirty="0" err="1"/>
              <a:t>guid</a:t>
            </a:r>
            <a:r>
              <a:rPr lang="en-US" dirty="0"/>
              <a:t>​e the customer to open </a:t>
            </a:r>
            <a:r>
              <a:rPr lang="en-US" b="1" u="sng" dirty="0">
                <a:hlinkClick r:id="rId4"/>
              </a:rPr>
              <a:t>http://www.speedtest.net/</a:t>
            </a:r>
            <a:r>
              <a:rPr lang="en-US" dirty="0"/>
              <a:t>.</a:t>
            </a:r>
          </a:p>
          <a:p>
            <a:r>
              <a:rPr lang="en-US" dirty="0"/>
              <a:t>Ask customer to connect the device with LAN if available.</a:t>
            </a:r>
            <a:br>
              <a:rPr lang="en-US" dirty="0"/>
            </a:br>
            <a:endParaRPr lang="en-US" dirty="0"/>
          </a:p>
          <a:p>
            <a:r>
              <a:rPr lang="en-US" dirty="0"/>
              <a:t>If not, ask customer to connect through Wi-Fi with 1 device only and disconnect all the others .  ​</a:t>
            </a:r>
          </a:p>
          <a:p>
            <a:r>
              <a:rPr lang="en-US" dirty="0"/>
              <a:t>Check speed test result and compare it with customer’s speed with minimum accepted download speed.</a:t>
            </a:r>
          </a:p>
          <a:p>
            <a:endParaRPr lang="en-US" dirty="0"/>
          </a:p>
        </p:txBody>
      </p:sp>
      <p:pic>
        <p:nvPicPr>
          <p:cNvPr id="1026" name="Picture 2" descr="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404" y="3124200"/>
            <a:ext cx="26670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7628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6225" y="138112"/>
            <a:ext cx="7981950" cy="5210175"/>
          </a:xfrm>
          <a:prstGeom prst="rect">
            <a:avLst/>
          </a:prstGeom>
        </p:spPr>
      </p:pic>
      <p:pic>
        <p:nvPicPr>
          <p:cNvPr id="3" name="Picture 2"/>
          <p:cNvPicPr>
            <a:picLocks noChangeAspect="1"/>
          </p:cNvPicPr>
          <p:nvPr/>
        </p:nvPicPr>
        <p:blipFill>
          <a:blip r:embed="rId3"/>
          <a:stretch>
            <a:fillRect/>
          </a:stretch>
        </p:blipFill>
        <p:spPr>
          <a:xfrm>
            <a:off x="485775" y="5348287"/>
            <a:ext cx="7772400" cy="733425"/>
          </a:xfrm>
          <a:prstGeom prst="rect">
            <a:avLst/>
          </a:prstGeom>
        </p:spPr>
      </p:pic>
    </p:spTree>
    <p:extLst>
      <p:ext uri="{BB962C8B-B14F-4D97-AF65-F5344CB8AC3E}">
        <p14:creationId xmlns:p14="http://schemas.microsoft.com/office/powerpoint/2010/main" val="16079520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4800600"/>
            <a:ext cx="184731" cy="369332"/>
          </a:xfrm>
          <a:prstGeom prst="rect">
            <a:avLst/>
          </a:prstGeom>
          <a:noFill/>
        </p:spPr>
        <p:txBody>
          <a:bodyPr wrap="none" rtlCol="0">
            <a:spAutoFit/>
          </a:bodyPr>
          <a:lstStyle/>
          <a:p>
            <a:endParaRPr lang="en-US" dirty="0"/>
          </a:p>
        </p:txBody>
      </p:sp>
      <p:sp>
        <p:nvSpPr>
          <p:cNvPr id="4" name="Rectangle 3"/>
          <p:cNvSpPr/>
          <p:nvPr/>
        </p:nvSpPr>
        <p:spPr>
          <a:xfrm>
            <a:off x="139700" y="89610"/>
            <a:ext cx="8851900" cy="1277273"/>
          </a:xfrm>
          <a:prstGeom prst="rect">
            <a:avLst/>
          </a:prstGeom>
        </p:spPr>
        <p:txBody>
          <a:bodyPr wrap="square">
            <a:spAutoFit/>
          </a:bodyPr>
          <a:lstStyle/>
          <a:p>
            <a:pPr>
              <a:buFont typeface="Arial" panose="020B0604020202020204" pitchFamily="34" charset="0"/>
              <a:buChar char="•"/>
            </a:pPr>
            <a:r>
              <a:rPr lang="en-US" sz="1100" dirty="0">
                <a:solidFill>
                  <a:srgbClr val="000000"/>
                </a:solidFill>
                <a:latin typeface="Helvetica Neue"/>
              </a:rPr>
              <a:t>​In case both minimum speed download rate and speed test results are matched:</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Agent will inform the customer that no problem found.</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In case speed download rate is not matched with speed test results:</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 complaint will be submitted.</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In case customer refused the Speed Test troubleshooting or wasn't convinced with the Speed Test result:</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​Agent will follow the normal handling “trusted sites" to test the download rate by informing the customer to download files from trusted sites therefore s/he can compare his/her download rate with the speed test rate.</a:t>
            </a:r>
            <a:endParaRPr lang="en-US" b="0" i="0" dirty="0">
              <a:solidFill>
                <a:srgbClr val="000000"/>
              </a:solidFill>
              <a:effectLst/>
              <a:latin typeface="Helvetica Neue"/>
            </a:endParaRPr>
          </a:p>
        </p:txBody>
      </p:sp>
      <p:sp>
        <p:nvSpPr>
          <p:cNvPr id="5" name="Rectangle 4"/>
          <p:cNvSpPr/>
          <p:nvPr/>
        </p:nvSpPr>
        <p:spPr>
          <a:xfrm>
            <a:off x="139700" y="1366883"/>
            <a:ext cx="8851900" cy="1446550"/>
          </a:xfrm>
          <a:prstGeom prst="rect">
            <a:avLst/>
          </a:prstGeom>
        </p:spPr>
        <p:txBody>
          <a:bodyPr wrap="square">
            <a:spAutoFit/>
          </a:bodyPr>
          <a:lstStyle/>
          <a:p>
            <a:pPr>
              <a:buFont typeface="Arial" panose="020B0604020202020204" pitchFamily="34" charset="0"/>
              <a:buChar char="•"/>
            </a:pPr>
            <a:r>
              <a:rPr lang="en-US" sz="1100" dirty="0">
                <a:solidFill>
                  <a:srgbClr val="FF6600"/>
                </a:solidFill>
                <a:latin typeface="Helvetica Neue"/>
              </a:rPr>
              <a:t>​</a:t>
            </a:r>
            <a:r>
              <a:rPr lang="en-US" sz="1100" b="1" dirty="0">
                <a:solidFill>
                  <a:srgbClr val="FF6600"/>
                </a:solidFill>
                <a:latin typeface="Helvetica Neue"/>
              </a:rPr>
              <a:t>Example:</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the customer's line profile through TE Portal is 16 Mbps, make a speed test and get the accepted rate by applying the below calculation:</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(16384x0.65=10.4)</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customer refused the speed test troubleshooting or wasn't convinced with the speed test result, agent will follow the normal handling “trusted sites” to test the download rate by (16384x0.65/8).</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the result is 1331.2 KB/Sec, then it’s accepted.</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the result is less than 1331.2 KB/Sec, then it's not accepted.</a:t>
            </a:r>
            <a:endParaRPr lang="en-US" b="0" i="0" dirty="0">
              <a:solidFill>
                <a:srgbClr val="000000"/>
              </a:solidFill>
              <a:effectLst/>
              <a:latin typeface="Helvetica Neue"/>
            </a:endParaRP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 y="3594100"/>
            <a:ext cx="838200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Down Arrow 7"/>
          <p:cNvSpPr/>
          <p:nvPr/>
        </p:nvSpPr>
        <p:spPr>
          <a:xfrm>
            <a:off x="6526784" y="2813433"/>
            <a:ext cx="394716" cy="685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079841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own Arrow 2"/>
          <p:cNvSpPr/>
          <p:nvPr/>
        </p:nvSpPr>
        <p:spPr>
          <a:xfrm>
            <a:off x="5867400" y="685800"/>
            <a:ext cx="394716" cy="685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 y="2540496"/>
            <a:ext cx="9080500" cy="358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own Arrow 4"/>
          <p:cNvSpPr/>
          <p:nvPr/>
        </p:nvSpPr>
        <p:spPr>
          <a:xfrm>
            <a:off x="5867400" y="3199110"/>
            <a:ext cx="394716" cy="685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 name="Rectangle 1"/>
          <p:cNvSpPr/>
          <p:nvPr/>
        </p:nvSpPr>
        <p:spPr>
          <a:xfrm>
            <a:off x="0" y="224135"/>
            <a:ext cx="9715500" cy="307777"/>
          </a:xfrm>
          <a:prstGeom prst="rect">
            <a:avLst/>
          </a:prstGeom>
        </p:spPr>
        <p:txBody>
          <a:bodyPr wrap="square">
            <a:spAutoFit/>
          </a:bodyPr>
          <a:lstStyle/>
          <a:p>
            <a:pPr>
              <a:buFont typeface="Arial" panose="020B0604020202020204" pitchFamily="34" charset="0"/>
              <a:buChar char="•"/>
            </a:pPr>
            <a:r>
              <a:rPr lang="en-US" sz="1400" dirty="0">
                <a:solidFill>
                  <a:srgbClr val="000000"/>
                </a:solidFill>
                <a:latin typeface="Helvetica Neue"/>
              </a:rPr>
              <a:t> ​​​</a:t>
            </a:r>
            <a:endParaRPr lang="en-US" sz="1400" b="0" i="0" dirty="0">
              <a:solidFill>
                <a:srgbClr val="000000"/>
              </a:solidFill>
              <a:effectLst/>
              <a:latin typeface="Helvetica Neue"/>
            </a:endParaRPr>
          </a:p>
        </p:txBody>
      </p:sp>
      <p:pic>
        <p:nvPicPr>
          <p:cNvPr id="6" name="Picture 5"/>
          <p:cNvPicPr>
            <a:picLocks noChangeAspect="1"/>
          </p:cNvPicPr>
          <p:nvPr/>
        </p:nvPicPr>
        <p:blipFill>
          <a:blip r:embed="rId3"/>
          <a:stretch>
            <a:fillRect/>
          </a:stretch>
        </p:blipFill>
        <p:spPr>
          <a:xfrm>
            <a:off x="104775" y="197247"/>
            <a:ext cx="8401050" cy="1971675"/>
          </a:xfrm>
          <a:prstGeom prst="rect">
            <a:avLst/>
          </a:prstGeom>
        </p:spPr>
      </p:pic>
      <p:sp>
        <p:nvSpPr>
          <p:cNvPr id="7" name="Down Arrow 6"/>
          <p:cNvSpPr/>
          <p:nvPr/>
        </p:nvSpPr>
        <p:spPr>
          <a:xfrm>
            <a:off x="5845937" y="287635"/>
            <a:ext cx="437642" cy="488553"/>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92312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own Arrow 2"/>
          <p:cNvSpPr/>
          <p:nvPr/>
        </p:nvSpPr>
        <p:spPr>
          <a:xfrm>
            <a:off x="5479542" y="1590675"/>
            <a:ext cx="394716" cy="685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2" name="Picture 1"/>
          <p:cNvPicPr>
            <a:picLocks noChangeAspect="1"/>
          </p:cNvPicPr>
          <p:nvPr/>
        </p:nvPicPr>
        <p:blipFill>
          <a:blip r:embed="rId2"/>
          <a:stretch>
            <a:fillRect/>
          </a:stretch>
        </p:blipFill>
        <p:spPr>
          <a:xfrm>
            <a:off x="292100" y="509586"/>
            <a:ext cx="7991475" cy="3009900"/>
          </a:xfrm>
          <a:prstGeom prst="rect">
            <a:avLst/>
          </a:prstGeom>
        </p:spPr>
      </p:pic>
      <p:pic>
        <p:nvPicPr>
          <p:cNvPr id="6" name="Picture 5"/>
          <p:cNvPicPr>
            <a:picLocks noChangeAspect="1"/>
          </p:cNvPicPr>
          <p:nvPr/>
        </p:nvPicPr>
        <p:blipFill>
          <a:blip r:embed="rId3"/>
          <a:stretch>
            <a:fillRect/>
          </a:stretch>
        </p:blipFill>
        <p:spPr>
          <a:xfrm>
            <a:off x="190500" y="4262436"/>
            <a:ext cx="8753475" cy="1933575"/>
          </a:xfrm>
          <a:prstGeom prst="rect">
            <a:avLst/>
          </a:prstGeom>
        </p:spPr>
      </p:pic>
      <p:sp>
        <p:nvSpPr>
          <p:cNvPr id="7" name="Right Arrow 6"/>
          <p:cNvSpPr/>
          <p:nvPr/>
        </p:nvSpPr>
        <p:spPr>
          <a:xfrm rot="10800000">
            <a:off x="6451600" y="5005385"/>
            <a:ext cx="774700" cy="44767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9188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645" y="323334"/>
            <a:ext cx="2651110" cy="369332"/>
          </a:xfrm>
          <a:prstGeom prst="rect">
            <a:avLst/>
          </a:prstGeom>
        </p:spPr>
        <p:txBody>
          <a:bodyPr wrap="none">
            <a:spAutoFit/>
          </a:bodyPr>
          <a:lstStyle/>
          <a:p>
            <a:pPr lvl="0" fontAlgn="base">
              <a:spcBef>
                <a:spcPct val="0"/>
              </a:spcBef>
              <a:spcAft>
                <a:spcPct val="0"/>
              </a:spcAft>
            </a:pPr>
            <a:r>
              <a:rPr lang="en-US" altLang="en-US" b="1" dirty="0">
                <a:solidFill>
                  <a:srgbClr val="FF6600"/>
                </a:solidFill>
                <a:latin typeface="Helvetica Neue"/>
                <a:cs typeface="Arial" pitchFamily="34" charset="0"/>
              </a:rPr>
              <a:t>​​- Create SR (SLA 24 H)​</a:t>
            </a:r>
            <a:endParaRPr lang="en-US" altLang="en-US" sz="2800" dirty="0">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274645" y="898525"/>
            <a:ext cx="8267700" cy="2571750"/>
          </a:xfrm>
          <a:prstGeom prst="rect">
            <a:avLst/>
          </a:prstGeom>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3987800"/>
            <a:ext cx="476250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Left Arrow 4"/>
          <p:cNvSpPr/>
          <p:nvPr/>
        </p:nvSpPr>
        <p:spPr>
          <a:xfrm>
            <a:off x="3646495" y="4700587"/>
            <a:ext cx="762000" cy="40957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49202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64743"/>
            <a:ext cx="8991600" cy="3139321"/>
          </a:xfrm>
          <a:prstGeom prst="rect">
            <a:avLst/>
          </a:prstGeom>
        </p:spPr>
        <p:txBody>
          <a:bodyPr wrap="square">
            <a:spAutoFit/>
          </a:bodyPr>
          <a:lstStyle/>
          <a:p>
            <a:r>
              <a:rPr lang="en-US" dirty="0"/>
              <a:t>•​​In case customer is facing a slowness for any gaming consoles, agent should follow </a:t>
            </a:r>
            <a:r>
              <a:rPr lang="en-US" b="1" u="sng" dirty="0">
                <a:hlinkClick r:id="rId2"/>
              </a:rPr>
              <a:t>Online Gaming Handling</a:t>
            </a:r>
            <a:r>
              <a:rPr lang="en-US" dirty="0"/>
              <a:t>.</a:t>
            </a:r>
          </a:p>
          <a:p>
            <a:r>
              <a:rPr lang="en-US" dirty="0"/>
              <a:t>In case customer is facing a slowness related to (computers &amp; mobiles) devices, we will follow the below handling:​</a:t>
            </a:r>
          </a:p>
          <a:p>
            <a:r>
              <a:rPr lang="en-US" dirty="0"/>
              <a:t>Agent will </a:t>
            </a:r>
            <a:r>
              <a:rPr lang="en-US" dirty="0" err="1"/>
              <a:t>guid</a:t>
            </a:r>
            <a:r>
              <a:rPr lang="en-US" dirty="0"/>
              <a:t>​e the customer to open </a:t>
            </a:r>
            <a:r>
              <a:rPr lang="en-US" b="1" u="sng" dirty="0">
                <a:hlinkClick r:id="rId3"/>
              </a:rPr>
              <a:t>http://www.speedtest.net/</a:t>
            </a:r>
            <a:r>
              <a:rPr lang="en-US" dirty="0"/>
              <a:t>.</a:t>
            </a:r>
          </a:p>
          <a:p>
            <a:r>
              <a:rPr lang="en-US" dirty="0"/>
              <a:t>Ask customer to connect the device with LAN if available.</a:t>
            </a:r>
            <a:br>
              <a:rPr lang="en-US" dirty="0"/>
            </a:br>
            <a:endParaRPr lang="en-US" dirty="0"/>
          </a:p>
          <a:p>
            <a:r>
              <a:rPr lang="en-US" dirty="0"/>
              <a:t>If not, ask customer to connect through Wi-Fi with 1 device only and disconnect all the others .  ​</a:t>
            </a:r>
          </a:p>
          <a:p>
            <a:r>
              <a:rPr lang="en-US" dirty="0"/>
              <a:t>Check speed test result and compare it with customer’s speed with minimum accepted download speed.</a:t>
            </a:r>
          </a:p>
        </p:txBody>
      </p:sp>
      <p:pic>
        <p:nvPicPr>
          <p:cNvPr id="6" name="Picture 2" descr="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404" y="3124200"/>
            <a:ext cx="26670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1240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76225" y="138112"/>
            <a:ext cx="7981950" cy="5210175"/>
          </a:xfrm>
          <a:prstGeom prst="rect">
            <a:avLst/>
          </a:prstGeom>
        </p:spPr>
      </p:pic>
      <p:pic>
        <p:nvPicPr>
          <p:cNvPr id="7" name="Picture 6"/>
          <p:cNvPicPr>
            <a:picLocks noChangeAspect="1"/>
          </p:cNvPicPr>
          <p:nvPr/>
        </p:nvPicPr>
        <p:blipFill>
          <a:blip r:embed="rId3"/>
          <a:stretch>
            <a:fillRect/>
          </a:stretch>
        </p:blipFill>
        <p:spPr>
          <a:xfrm>
            <a:off x="485775" y="5348287"/>
            <a:ext cx="7772400" cy="733425"/>
          </a:xfrm>
          <a:prstGeom prst="rect">
            <a:avLst/>
          </a:prstGeom>
        </p:spPr>
      </p:pic>
    </p:spTree>
    <p:extLst>
      <p:ext uri="{BB962C8B-B14F-4D97-AF65-F5344CB8AC3E}">
        <p14:creationId xmlns:p14="http://schemas.microsoft.com/office/powerpoint/2010/main" val="15737221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00" y="0"/>
            <a:ext cx="9055100" cy="1277273"/>
          </a:xfrm>
          <a:prstGeom prst="rect">
            <a:avLst/>
          </a:prstGeom>
        </p:spPr>
        <p:txBody>
          <a:bodyPr wrap="square">
            <a:spAutoFit/>
          </a:bodyPr>
          <a:lstStyle/>
          <a:p>
            <a:pPr>
              <a:buFont typeface="Arial" panose="020B0604020202020204" pitchFamily="34" charset="0"/>
              <a:buChar char="•"/>
            </a:pPr>
            <a:r>
              <a:rPr lang="en-US" sz="1100" dirty="0">
                <a:solidFill>
                  <a:srgbClr val="000000"/>
                </a:solidFill>
                <a:latin typeface="Helvetica Neue"/>
              </a:rPr>
              <a:t>In case both minimum speed download rate and speed test results are matched:</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Agent will inform the customer that no problem found.</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In case speed download rate is not matched with speed test results:</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 complaint will be submitted.</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In case customer refused the Speed Test troubleshooting or wasn't convinced with the Speed Test result:</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​Agent will follow the normal handling “trusted sites" to test the download rate by informing the customer to download files from trusted sites therefore s/he can compare his/her download rate with the speed test rate.</a:t>
            </a:r>
            <a:endParaRPr lang="en-US" dirty="0">
              <a:solidFill>
                <a:srgbClr val="000000"/>
              </a:solidFill>
              <a:latin typeface="Helvetica Neue"/>
            </a:endParaRPr>
          </a:p>
        </p:txBody>
      </p:sp>
      <p:sp>
        <p:nvSpPr>
          <p:cNvPr id="6" name="Rectangle 5"/>
          <p:cNvSpPr/>
          <p:nvPr/>
        </p:nvSpPr>
        <p:spPr>
          <a:xfrm>
            <a:off x="0" y="1160671"/>
            <a:ext cx="8788400" cy="1446550"/>
          </a:xfrm>
          <a:prstGeom prst="rect">
            <a:avLst/>
          </a:prstGeom>
        </p:spPr>
        <p:txBody>
          <a:bodyPr wrap="square">
            <a:spAutoFit/>
          </a:bodyPr>
          <a:lstStyle/>
          <a:p>
            <a:pPr>
              <a:buFont typeface="Arial" panose="020B0604020202020204" pitchFamily="34" charset="0"/>
              <a:buChar char="•"/>
            </a:pPr>
            <a:r>
              <a:rPr lang="en-US" sz="1100" b="1" dirty="0">
                <a:solidFill>
                  <a:srgbClr val="FF6600"/>
                </a:solidFill>
                <a:latin typeface="Helvetica Neue"/>
              </a:rPr>
              <a:t>Example:</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the customer's line profile through TE Portal is 16 Mbps, make a speed test and get the accepted rate by applying the below calculation:</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(16384x0.65=10.4)</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customer refused the speed test troubleshooting or wasn't convinced with the speed test result, agent will follow the normal handling “trusted sites” to test the download rate by (16384x0.65/8).</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the result is 1331.2 KB/Sec, then it’s accepted.</a:t>
            </a:r>
            <a:endParaRPr lang="en-US" dirty="0">
              <a:solidFill>
                <a:srgbClr val="000000"/>
              </a:solidFill>
              <a:latin typeface="Helvetica Neue"/>
            </a:endParaRPr>
          </a:p>
          <a:p>
            <a:pPr marL="742950" lvl="1" indent="-285750">
              <a:buFont typeface="Arial" panose="020B0604020202020204" pitchFamily="34" charset="0"/>
              <a:buChar char="•"/>
            </a:pPr>
            <a:r>
              <a:rPr lang="en-US" sz="1100" dirty="0">
                <a:solidFill>
                  <a:srgbClr val="000000"/>
                </a:solidFill>
                <a:latin typeface="Helvetica Neue"/>
              </a:rPr>
              <a:t>If the result is less than 1331.2 KB/Sec, then it's not accepted.</a:t>
            </a:r>
            <a:endParaRPr lang="en-US" dirty="0">
              <a:solidFill>
                <a:srgbClr val="000000"/>
              </a:solidFill>
              <a:latin typeface="Helvetica Neue"/>
            </a:endParaRP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 y="3594100"/>
            <a:ext cx="838200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Down Arrow 6"/>
          <p:cNvSpPr/>
          <p:nvPr/>
        </p:nvSpPr>
        <p:spPr>
          <a:xfrm>
            <a:off x="6527800" y="2740571"/>
            <a:ext cx="469900" cy="720179"/>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332266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900" y="166686"/>
            <a:ext cx="7991475" cy="3009900"/>
          </a:xfrm>
          <a:prstGeom prst="rect">
            <a:avLst/>
          </a:prstGeom>
        </p:spPr>
      </p:pic>
      <p:pic>
        <p:nvPicPr>
          <p:cNvPr id="3" name="Picture 2"/>
          <p:cNvPicPr>
            <a:picLocks noChangeAspect="1"/>
          </p:cNvPicPr>
          <p:nvPr/>
        </p:nvPicPr>
        <p:blipFill>
          <a:blip r:embed="rId3"/>
          <a:stretch>
            <a:fillRect/>
          </a:stretch>
        </p:blipFill>
        <p:spPr>
          <a:xfrm>
            <a:off x="419100" y="4135436"/>
            <a:ext cx="8448675" cy="1933575"/>
          </a:xfrm>
          <a:prstGeom prst="rect">
            <a:avLst/>
          </a:prstGeom>
        </p:spPr>
      </p:pic>
      <p:sp>
        <p:nvSpPr>
          <p:cNvPr id="4" name="Right Arrow 3"/>
          <p:cNvSpPr/>
          <p:nvPr/>
        </p:nvSpPr>
        <p:spPr>
          <a:xfrm rot="10800000">
            <a:off x="6578600" y="4878385"/>
            <a:ext cx="774700" cy="44767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54742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2272" y="1720334"/>
            <a:ext cx="7523155" cy="369332"/>
          </a:xfrm>
          <a:prstGeom prst="rect">
            <a:avLst/>
          </a:prstGeom>
        </p:spPr>
        <p:txBody>
          <a:bodyPr wrap="square">
            <a:spAutoFit/>
          </a:bodyPr>
          <a:lstStyle/>
          <a:p>
            <a:pPr lvl="0" fontAlgn="base">
              <a:spcBef>
                <a:spcPct val="0"/>
              </a:spcBef>
              <a:spcAft>
                <a:spcPct val="0"/>
              </a:spcAft>
            </a:pPr>
            <a:r>
              <a:rPr lang="en-US" altLang="en-US" b="1" dirty="0">
                <a:solidFill>
                  <a:srgbClr val="FF6600"/>
                </a:solidFill>
                <a:latin typeface="Helvetica Neue"/>
                <a:cs typeface="Arial" pitchFamily="34" charset="0"/>
              </a:rPr>
              <a:t>​​- Create SR (SLA 24 H)​</a:t>
            </a:r>
            <a:endParaRPr lang="en-US" altLang="en-US" sz="2800" dirty="0">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438150" y="2333625"/>
            <a:ext cx="8267700" cy="2571750"/>
          </a:xfrm>
          <a:prstGeom prst="rect">
            <a:avLst/>
          </a:prstGeom>
        </p:spPr>
      </p:pic>
    </p:spTree>
    <p:extLst>
      <p:ext uri="{BB962C8B-B14F-4D97-AF65-F5344CB8AC3E}">
        <p14:creationId xmlns:p14="http://schemas.microsoft.com/office/powerpoint/2010/main" val="3208949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914400"/>
            <a:ext cx="6789807" cy="1569660"/>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9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Slow Upload</a:t>
            </a:r>
          </a:p>
        </p:txBody>
      </p:sp>
      <p:sp>
        <p:nvSpPr>
          <p:cNvPr id="3" name="Rectangle 2"/>
          <p:cNvSpPr/>
          <p:nvPr/>
        </p:nvSpPr>
        <p:spPr>
          <a:xfrm>
            <a:off x="228600" y="3105835"/>
            <a:ext cx="7924800" cy="369332"/>
          </a:xfrm>
          <a:prstGeom prst="rect">
            <a:avLst/>
          </a:prstGeom>
        </p:spPr>
        <p:txBody>
          <a:bodyPr wrap="square">
            <a:spAutoFit/>
          </a:bodyPr>
          <a:lstStyle/>
          <a:p>
            <a:pPr marL="285750" indent="-285750">
              <a:buFont typeface="Arial" panose="020B0604020202020204" pitchFamily="34" charset="0"/>
              <a:buChar char="•"/>
            </a:pPr>
            <a:r>
              <a:rPr lang="en-US" dirty="0"/>
              <a:t>Slow Upload could be considered as Physical or network issue.</a:t>
            </a:r>
          </a:p>
        </p:txBody>
      </p:sp>
    </p:spTree>
    <p:extLst>
      <p:ext uri="{BB962C8B-B14F-4D97-AF65-F5344CB8AC3E}">
        <p14:creationId xmlns:p14="http://schemas.microsoft.com/office/powerpoint/2010/main" val="355513108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1028" y="221159"/>
            <a:ext cx="7124194" cy="646331"/>
          </a:xfrm>
          <a:prstGeom prst="rect">
            <a:avLst/>
          </a:prstGeom>
          <a:noFill/>
        </p:spPr>
        <p:txBody>
          <a:bodyPr wrap="none" rtlCol="0">
            <a:spAutoFit/>
          </a:bodyPr>
          <a:lstStyle/>
          <a:p>
            <a:pPr algn="ct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ea typeface="+mj-ea"/>
                <a:cs typeface="+mj-cs"/>
              </a:rPr>
              <a:t>           How to Open Slow Upload WF</a:t>
            </a:r>
            <a:endParaRPr lang="en-US" sz="3600" b="1" dirty="0">
              <a:ln w="1905"/>
              <a:solidFill>
                <a:srgbClr val="92D050"/>
              </a:solidFill>
              <a:effectLst>
                <a:innerShdw blurRad="69850" dist="43180" dir="5400000">
                  <a:srgbClr val="000000">
                    <a:alpha val="65000"/>
                  </a:srgbClr>
                </a:innerShdw>
              </a:effectLst>
              <a:latin typeface="+mj-lt"/>
              <a:ea typeface="+mj-ea"/>
              <a:cs typeface="+mj-cs"/>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90126"/>
            <a:ext cx="8582519" cy="545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511278" y="2630312"/>
            <a:ext cx="55984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347560" y="2420522"/>
            <a:ext cx="7069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31005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1112"/>
            <a:ext cx="8991600" cy="5369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eft Arrow 2"/>
          <p:cNvSpPr/>
          <p:nvPr/>
        </p:nvSpPr>
        <p:spPr>
          <a:xfrm>
            <a:off x="1219200" y="3596182"/>
            <a:ext cx="533400" cy="322644"/>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4" name="TextBox 3"/>
          <p:cNvSpPr txBox="1"/>
          <p:nvPr/>
        </p:nvSpPr>
        <p:spPr>
          <a:xfrm>
            <a:off x="1582521" y="3134517"/>
            <a:ext cx="34015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400" b="1" dirty="0">
                <a:solidFill>
                  <a:srgbClr val="F5750B"/>
                </a:solidFill>
              </a:rPr>
              <a:t>1</a:t>
            </a:r>
          </a:p>
        </p:txBody>
      </p:sp>
      <p:sp>
        <p:nvSpPr>
          <p:cNvPr id="5" name="Left Arrow 4"/>
          <p:cNvSpPr/>
          <p:nvPr/>
        </p:nvSpPr>
        <p:spPr>
          <a:xfrm>
            <a:off x="3048000" y="3346500"/>
            <a:ext cx="609600" cy="322644"/>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 name="TextBox 5"/>
          <p:cNvSpPr txBox="1"/>
          <p:nvPr/>
        </p:nvSpPr>
        <p:spPr>
          <a:xfrm>
            <a:off x="3899065" y="3254291"/>
            <a:ext cx="34015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400" b="1" dirty="0">
                <a:solidFill>
                  <a:srgbClr val="F5750B"/>
                </a:solidFill>
              </a:rPr>
              <a:t>2</a:t>
            </a:r>
          </a:p>
        </p:txBody>
      </p:sp>
    </p:spTree>
    <p:extLst>
      <p:ext uri="{BB962C8B-B14F-4D97-AF65-F5344CB8AC3E}">
        <p14:creationId xmlns:p14="http://schemas.microsoft.com/office/powerpoint/2010/main" val="5462631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75" y="1094509"/>
            <a:ext cx="9201150" cy="4184073"/>
          </a:xfrm>
          <a:prstGeom prst="rect">
            <a:avLst/>
          </a:prstGeom>
        </p:spPr>
      </p:pic>
    </p:spTree>
    <p:extLst>
      <p:ext uri="{BB962C8B-B14F-4D97-AF65-F5344CB8AC3E}">
        <p14:creationId xmlns:p14="http://schemas.microsoft.com/office/powerpoint/2010/main" val="24194156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81000"/>
            <a:ext cx="7772400" cy="923330"/>
          </a:xfrm>
          <a:prstGeom prst="rect">
            <a:avLst/>
          </a:prstGeom>
        </p:spPr>
        <p:txBody>
          <a:bodyPr wrap="square">
            <a:spAutoFit/>
          </a:bodyPr>
          <a:lstStyle/>
          <a:p>
            <a:pPr marL="285750" indent="-285750">
              <a:buFont typeface="Arial" panose="020B0604020202020204" pitchFamily="34" charset="0"/>
              <a:buChar char="•"/>
            </a:pPr>
            <a:r>
              <a:rPr lang="en-US" dirty="0"/>
              <a:t>Check Physical Line parameters from OCTOPUS  for copper             ​​</a:t>
            </a:r>
          </a:p>
          <a:p>
            <a:br>
              <a:rPr lang="en-US" dirty="0"/>
            </a:br>
            <a:endParaRPr lang="en-US" dirty="0"/>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838200"/>
            <a:ext cx="8458200" cy="2752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733800"/>
            <a:ext cx="84582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85800" y="2057400"/>
            <a:ext cx="7772400" cy="300082"/>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685800" y="2857500"/>
            <a:ext cx="7772400" cy="1143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381000" y="4800600"/>
            <a:ext cx="8077200" cy="3048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457200" y="5410200"/>
            <a:ext cx="8001000" cy="3810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685800" y="2357482"/>
            <a:ext cx="7696200" cy="233318"/>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29411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7391400" cy="646331"/>
          </a:xfrm>
          <a:prstGeom prst="rect">
            <a:avLst/>
          </a:prstGeom>
        </p:spPr>
        <p:txBody>
          <a:bodyPr wrap="square">
            <a:spAutoFit/>
          </a:bodyPr>
          <a:lstStyle/>
          <a:p>
            <a:pPr marL="285750" indent="-285750">
              <a:buFont typeface="Arial" panose="020B0604020202020204" pitchFamily="34" charset="0"/>
              <a:buChar char="•"/>
            </a:pPr>
            <a:r>
              <a:rPr lang="en-US" dirty="0"/>
              <a:t>Check Physical Line parameters from FTTH Tool for MSAN     </a:t>
            </a:r>
          </a:p>
          <a:p>
            <a:pPr marL="285750" indent="-285750">
              <a:buFont typeface="Arial" panose="020B0604020202020204" pitchFamily="34" charset="0"/>
              <a:buChar char="•"/>
            </a:pPr>
            <a:r>
              <a:rPr lang="en-US" dirty="0"/>
              <a:t>We should check Maximum attainable Rate US          ​​</a:t>
            </a:r>
          </a:p>
        </p:txBody>
      </p:sp>
      <p:sp>
        <p:nvSpPr>
          <p:cNvPr id="3" name="Left Arrow 2"/>
          <p:cNvSpPr/>
          <p:nvPr/>
        </p:nvSpPr>
        <p:spPr>
          <a:xfrm>
            <a:off x="7632747" y="6086667"/>
            <a:ext cx="685800" cy="370856"/>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228600" y="1403914"/>
            <a:ext cx="8813800" cy="3781425"/>
          </a:xfrm>
          <a:prstGeom prst="rect">
            <a:avLst/>
          </a:prstGeom>
        </p:spPr>
      </p:pic>
      <p:sp>
        <p:nvSpPr>
          <p:cNvPr id="13" name="Rectangle 12"/>
          <p:cNvSpPr/>
          <p:nvPr/>
        </p:nvSpPr>
        <p:spPr>
          <a:xfrm>
            <a:off x="698500" y="4255699"/>
            <a:ext cx="5105400" cy="168402"/>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98500" y="3758788"/>
            <a:ext cx="5105400" cy="13662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228600" y="5205569"/>
            <a:ext cx="8382000" cy="1181100"/>
          </a:xfrm>
          <a:prstGeom prst="rect">
            <a:avLst/>
          </a:prstGeom>
        </p:spPr>
      </p:pic>
      <p:sp>
        <p:nvSpPr>
          <p:cNvPr id="17" name="Rectangle 16"/>
          <p:cNvSpPr/>
          <p:nvPr/>
        </p:nvSpPr>
        <p:spPr>
          <a:xfrm>
            <a:off x="590550" y="5702479"/>
            <a:ext cx="5105400" cy="187279"/>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p:nvSpPr>
        <p:spPr>
          <a:xfrm>
            <a:off x="698500" y="4444331"/>
            <a:ext cx="5105400" cy="168402"/>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007232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3146" y="795772"/>
            <a:ext cx="8639175" cy="1428750"/>
          </a:xfrm>
          <a:prstGeom prst="rect">
            <a:avLst/>
          </a:prstGeom>
        </p:spPr>
      </p:pic>
      <p:sp>
        <p:nvSpPr>
          <p:cNvPr id="3" name="Right Arrow 2"/>
          <p:cNvSpPr/>
          <p:nvPr/>
        </p:nvSpPr>
        <p:spPr>
          <a:xfrm rot="5400000">
            <a:off x="5755409" y="333088"/>
            <a:ext cx="673100" cy="2794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Rectangle 3"/>
          <p:cNvSpPr/>
          <p:nvPr/>
        </p:nvSpPr>
        <p:spPr>
          <a:xfrm>
            <a:off x="885537" y="2467842"/>
            <a:ext cx="4193918" cy="584775"/>
          </a:xfrm>
          <a:prstGeom prst="rect">
            <a:avLst/>
          </a:prstGeom>
        </p:spPr>
        <p:txBody>
          <a:bodyPr wrap="square">
            <a:spAutoFit/>
          </a:bodyPr>
          <a:lstStyle/>
          <a:p>
            <a:r>
              <a:rPr lang="en-US" sz="3200" b="1" dirty="0">
                <a:solidFill>
                  <a:srgbClr val="F4740A"/>
                </a:solidFill>
              </a:rPr>
              <a:t>For Copper :</a:t>
            </a:r>
          </a:p>
        </p:txBody>
      </p:sp>
      <p:pic>
        <p:nvPicPr>
          <p:cNvPr id="5" name="Picture 4"/>
          <p:cNvPicPr/>
          <p:nvPr/>
        </p:nvPicPr>
        <p:blipFill>
          <a:blip r:embed="rId3"/>
          <a:stretch>
            <a:fillRect/>
          </a:stretch>
        </p:blipFill>
        <p:spPr>
          <a:xfrm>
            <a:off x="1042987" y="3006965"/>
            <a:ext cx="7467600" cy="1371600"/>
          </a:xfrm>
          <a:prstGeom prst="rect">
            <a:avLst/>
          </a:prstGeom>
        </p:spPr>
      </p:pic>
      <p:pic>
        <p:nvPicPr>
          <p:cNvPr id="6" name="Picture 5"/>
          <p:cNvPicPr>
            <a:picLocks noChangeAspect="1"/>
          </p:cNvPicPr>
          <p:nvPr/>
        </p:nvPicPr>
        <p:blipFill>
          <a:blip r:embed="rId4"/>
          <a:stretch>
            <a:fillRect/>
          </a:stretch>
        </p:blipFill>
        <p:spPr>
          <a:xfrm>
            <a:off x="409574" y="5250426"/>
            <a:ext cx="8734425" cy="1123950"/>
          </a:xfrm>
          <a:prstGeom prst="rect">
            <a:avLst/>
          </a:prstGeom>
        </p:spPr>
      </p:pic>
      <p:sp>
        <p:nvSpPr>
          <p:cNvPr id="8" name="Rectangle 7"/>
          <p:cNvSpPr/>
          <p:nvPr/>
        </p:nvSpPr>
        <p:spPr>
          <a:xfrm>
            <a:off x="885537" y="4486453"/>
            <a:ext cx="4165285" cy="584775"/>
          </a:xfrm>
          <a:prstGeom prst="rect">
            <a:avLst/>
          </a:prstGeom>
        </p:spPr>
        <p:txBody>
          <a:bodyPr wrap="square">
            <a:spAutoFit/>
          </a:bodyPr>
          <a:lstStyle/>
          <a:p>
            <a:r>
              <a:rPr lang="en-US" sz="3200" b="1" dirty="0">
                <a:solidFill>
                  <a:srgbClr val="F4740A"/>
                </a:solidFill>
              </a:rPr>
              <a:t>For MSAN : </a:t>
            </a:r>
          </a:p>
        </p:txBody>
      </p:sp>
    </p:spTree>
    <p:extLst>
      <p:ext uri="{BB962C8B-B14F-4D97-AF65-F5344CB8AC3E}">
        <p14:creationId xmlns:p14="http://schemas.microsoft.com/office/powerpoint/2010/main" val="22040471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7977" y="0"/>
            <a:ext cx="7543800" cy="369332"/>
          </a:xfrm>
          <a:prstGeom prst="rect">
            <a:avLst/>
          </a:prstGeom>
          <a:noFill/>
        </p:spPr>
        <p:txBody>
          <a:bodyPr wrap="square" rtlCol="0">
            <a:spAutoFit/>
          </a:bodyPr>
          <a:lstStyle/>
          <a:p>
            <a:r>
              <a:rPr lang="en-US" dirty="0"/>
              <a:t>   </a:t>
            </a: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977" y="369332"/>
            <a:ext cx="8195805" cy="238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Left Arrow 8"/>
          <p:cNvSpPr/>
          <p:nvPr/>
        </p:nvSpPr>
        <p:spPr>
          <a:xfrm>
            <a:off x="7356997" y="1033937"/>
            <a:ext cx="969560" cy="56197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0" y="3679681"/>
            <a:ext cx="8915400" cy="2047875"/>
          </a:xfrm>
          <a:prstGeom prst="rect">
            <a:avLst/>
          </a:prstGeom>
        </p:spPr>
      </p:pic>
    </p:spTree>
    <p:extLst>
      <p:ext uri="{BB962C8B-B14F-4D97-AF65-F5344CB8AC3E}">
        <p14:creationId xmlns:p14="http://schemas.microsoft.com/office/powerpoint/2010/main" val="301823807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087" y="5486400"/>
            <a:ext cx="6219825"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646532" y="5943600"/>
            <a:ext cx="623138" cy="381287"/>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1" y="3415365"/>
            <a:ext cx="8762999" cy="2071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4"/>
          <a:stretch>
            <a:fillRect/>
          </a:stretch>
        </p:blipFill>
        <p:spPr>
          <a:xfrm>
            <a:off x="228600" y="340420"/>
            <a:ext cx="8813800" cy="2850907"/>
          </a:xfrm>
          <a:prstGeom prst="rect">
            <a:avLst/>
          </a:prstGeom>
        </p:spPr>
      </p:pic>
      <p:sp>
        <p:nvSpPr>
          <p:cNvPr id="8" name="Rectangle 7"/>
          <p:cNvSpPr/>
          <p:nvPr/>
        </p:nvSpPr>
        <p:spPr>
          <a:xfrm>
            <a:off x="723899" y="1950720"/>
            <a:ext cx="7772400" cy="1524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7548827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2E153E-5560-6320-11DD-CDF405F03004}"/>
              </a:ext>
            </a:extLst>
          </p:cNvPr>
          <p:cNvPicPr>
            <a:picLocks noChangeAspect="1"/>
          </p:cNvPicPr>
          <p:nvPr/>
        </p:nvPicPr>
        <p:blipFill>
          <a:blip r:embed="rId3"/>
          <a:stretch>
            <a:fillRect/>
          </a:stretch>
        </p:blipFill>
        <p:spPr>
          <a:xfrm>
            <a:off x="0" y="532263"/>
            <a:ext cx="9144000" cy="5117910"/>
          </a:xfrm>
          <a:prstGeom prst="rect">
            <a:avLst/>
          </a:prstGeom>
        </p:spPr>
      </p:pic>
    </p:spTree>
    <p:extLst>
      <p:ext uri="{BB962C8B-B14F-4D97-AF65-F5344CB8AC3E}">
        <p14:creationId xmlns:p14="http://schemas.microsoft.com/office/powerpoint/2010/main" val="24100310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8450" y="3886200"/>
            <a:ext cx="8534400" cy="1477328"/>
          </a:xfrm>
          <a:prstGeom prst="rect">
            <a:avLst/>
          </a:prstGeom>
          <a:noFill/>
        </p:spPr>
        <p:txBody>
          <a:bodyPr wrap="square" rtlCol="0">
            <a:spAutoFit/>
          </a:bodyPr>
          <a:lstStyle/>
          <a:p>
            <a:pPr marL="285750" indent="-285750">
              <a:buFont typeface="Arial" panose="020B0604020202020204" pitchFamily="34" charset="0"/>
              <a:buChar char="•"/>
            </a:pPr>
            <a:br>
              <a:rPr lang="en-US" dirty="0"/>
            </a:br>
            <a:endParaRPr lang="en-US" dirty="0"/>
          </a:p>
          <a:p>
            <a:br>
              <a:rPr lang="en-US" dirty="0"/>
            </a:br>
            <a:r>
              <a:rPr lang="en-US" dirty="0"/>
              <a:t>    Compare between Bit Rate and  Max Attainable rate , Bit Rate should be 65% of Max Attainable Rate ​</a:t>
            </a:r>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48" y="290669"/>
            <a:ext cx="829120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3400" y="914400"/>
            <a:ext cx="7924800" cy="3810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441960"/>
            <a:ext cx="7954400" cy="1378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ight Arrow 4"/>
          <p:cNvSpPr/>
          <p:nvPr/>
        </p:nvSpPr>
        <p:spPr>
          <a:xfrm>
            <a:off x="298450" y="5955670"/>
            <a:ext cx="673608" cy="35147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Rectangle 2"/>
          <p:cNvSpPr/>
          <p:nvPr/>
        </p:nvSpPr>
        <p:spPr>
          <a:xfrm>
            <a:off x="347829" y="3581400"/>
            <a:ext cx="3462171" cy="1524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6077F31-FC83-7BD9-526C-09911E6C3880}"/>
              </a:ext>
            </a:extLst>
          </p:cNvPr>
          <p:cNvPicPr>
            <a:picLocks noChangeAspect="1"/>
          </p:cNvPicPr>
          <p:nvPr/>
        </p:nvPicPr>
        <p:blipFill>
          <a:blip r:embed="rId4"/>
          <a:stretch>
            <a:fillRect/>
          </a:stretch>
        </p:blipFill>
        <p:spPr>
          <a:xfrm>
            <a:off x="165100" y="2155946"/>
            <a:ext cx="8813800" cy="2850907"/>
          </a:xfrm>
          <a:prstGeom prst="rect">
            <a:avLst/>
          </a:prstGeom>
        </p:spPr>
      </p:pic>
    </p:spTree>
    <p:extLst>
      <p:ext uri="{BB962C8B-B14F-4D97-AF65-F5344CB8AC3E}">
        <p14:creationId xmlns:p14="http://schemas.microsoft.com/office/powerpoint/2010/main" val="15111139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7977" y="0"/>
            <a:ext cx="7543800" cy="369332"/>
          </a:xfrm>
          <a:prstGeom prst="rect">
            <a:avLst/>
          </a:prstGeom>
          <a:noFill/>
        </p:spPr>
        <p:txBody>
          <a:bodyPr wrap="square" rtlCol="0">
            <a:spAutoFit/>
          </a:bodyPr>
          <a:lstStyle/>
          <a:p>
            <a:r>
              <a:rPr lang="en-US" dirty="0"/>
              <a:t>   </a:t>
            </a: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4476750"/>
            <a:ext cx="8195805" cy="238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Left Arrow 8"/>
          <p:cNvSpPr/>
          <p:nvPr/>
        </p:nvSpPr>
        <p:spPr>
          <a:xfrm>
            <a:off x="7232331" y="5270788"/>
            <a:ext cx="969560" cy="56197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3"/>
          <a:stretch>
            <a:fillRect/>
          </a:stretch>
        </p:blipFill>
        <p:spPr>
          <a:xfrm>
            <a:off x="297977" y="3187844"/>
            <a:ext cx="8734425" cy="1123950"/>
          </a:xfrm>
          <a:prstGeom prst="rect">
            <a:avLst/>
          </a:prstGeom>
        </p:spPr>
      </p:pic>
      <p:sp>
        <p:nvSpPr>
          <p:cNvPr id="2" name="Rectangle 1"/>
          <p:cNvSpPr/>
          <p:nvPr/>
        </p:nvSpPr>
        <p:spPr>
          <a:xfrm>
            <a:off x="682322" y="2412018"/>
            <a:ext cx="3982867" cy="523220"/>
          </a:xfrm>
          <a:prstGeom prst="rect">
            <a:avLst/>
          </a:prstGeom>
        </p:spPr>
        <p:txBody>
          <a:bodyPr wrap="square">
            <a:spAutoFit/>
          </a:bodyPr>
          <a:lstStyle/>
          <a:p>
            <a:r>
              <a:rPr lang="en-US" sz="2800" b="1" dirty="0">
                <a:solidFill>
                  <a:srgbClr val="F4740A"/>
                </a:solidFill>
              </a:rPr>
              <a:t>For MSAN : </a:t>
            </a:r>
          </a:p>
        </p:txBody>
      </p:sp>
      <p:pic>
        <p:nvPicPr>
          <p:cNvPr id="10" name="Picture 9"/>
          <p:cNvPicPr/>
          <p:nvPr/>
        </p:nvPicPr>
        <p:blipFill>
          <a:blip r:embed="rId4"/>
          <a:stretch>
            <a:fillRect/>
          </a:stretch>
        </p:blipFill>
        <p:spPr>
          <a:xfrm>
            <a:off x="880604" y="1092788"/>
            <a:ext cx="7467600" cy="1371600"/>
          </a:xfrm>
          <a:prstGeom prst="rect">
            <a:avLst/>
          </a:prstGeom>
        </p:spPr>
      </p:pic>
      <p:sp>
        <p:nvSpPr>
          <p:cNvPr id="3" name="Rectangle 2"/>
          <p:cNvSpPr/>
          <p:nvPr/>
        </p:nvSpPr>
        <p:spPr>
          <a:xfrm>
            <a:off x="682322" y="491592"/>
            <a:ext cx="6023874" cy="523220"/>
          </a:xfrm>
          <a:prstGeom prst="rect">
            <a:avLst/>
          </a:prstGeom>
        </p:spPr>
        <p:txBody>
          <a:bodyPr wrap="square">
            <a:spAutoFit/>
          </a:bodyPr>
          <a:lstStyle/>
          <a:p>
            <a:r>
              <a:rPr lang="en-US" sz="2800" b="1" dirty="0">
                <a:solidFill>
                  <a:srgbClr val="F4740A"/>
                </a:solidFill>
              </a:rPr>
              <a:t>For Copper :</a:t>
            </a:r>
          </a:p>
        </p:txBody>
      </p:sp>
    </p:spTree>
    <p:extLst>
      <p:ext uri="{BB962C8B-B14F-4D97-AF65-F5344CB8AC3E}">
        <p14:creationId xmlns:p14="http://schemas.microsoft.com/office/powerpoint/2010/main" val="2142727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05201" y="0"/>
            <a:ext cx="1668378" cy="523220"/>
          </a:xfrm>
          <a:prstGeom prst="rect">
            <a:avLst/>
          </a:prstGeom>
        </p:spPr>
        <p:txBody>
          <a:bodyPr wrap="square">
            <a:spAutoFit/>
          </a:bodyPr>
          <a:lstStyle/>
          <a:p>
            <a:pPr lvl="0"/>
            <a:r>
              <a:rPr lang="en-US" sz="2800" b="1" dirty="0">
                <a:solidFill>
                  <a:srgbClr val="000000"/>
                </a:solidFill>
              </a:rPr>
              <a:t>Open SR</a:t>
            </a:r>
          </a:p>
        </p:txBody>
      </p:sp>
      <p:sp>
        <p:nvSpPr>
          <p:cNvPr id="10" name="Rectangle 9"/>
          <p:cNvSpPr/>
          <p:nvPr/>
        </p:nvSpPr>
        <p:spPr>
          <a:xfrm>
            <a:off x="18805" y="717040"/>
            <a:ext cx="9143998" cy="923330"/>
          </a:xfrm>
          <a:prstGeom prst="rect">
            <a:avLst/>
          </a:prstGeom>
        </p:spPr>
        <p:txBody>
          <a:bodyPr wrap="square">
            <a:spAutoFit/>
          </a:bodyPr>
          <a:lstStyle/>
          <a:p>
            <a:pPr lvl="0"/>
            <a:r>
              <a:rPr lang="en-US" b="1" dirty="0">
                <a:solidFill>
                  <a:srgbClr val="000000"/>
                </a:solidFill>
              </a:rPr>
              <a:t>Script</a:t>
            </a:r>
          </a:p>
          <a:p>
            <a:pPr lvl="0" algn="r"/>
            <a:r>
              <a:rPr lang="ar-EG" dirty="0">
                <a:solidFill>
                  <a:srgbClr val="000000"/>
                </a:solidFill>
              </a:rPr>
              <a:t>تمام يااستاذ\ ة انا قدمت لحضرتك طلب والمشكلة هتكون اتحلت خلال ال 24 ساعه القادمة محتاج حضرتك تسيب الراوتر شغال ولو بعد 24 ساعه المشكلة لسه موجوده ممكن حضرتك تشرفنا بالاتصال مره </a:t>
            </a:r>
            <a:r>
              <a:rPr lang="ar-EG" dirty="0" err="1">
                <a:solidFill>
                  <a:srgbClr val="000000"/>
                </a:solidFill>
              </a:rPr>
              <a:t>تانيه</a:t>
            </a:r>
            <a:endParaRPr lang="en-US" dirty="0">
              <a:solidFill>
                <a:srgbClr val="000000"/>
              </a:solidFill>
            </a:endParaRPr>
          </a:p>
        </p:txBody>
      </p:sp>
      <p:sp>
        <p:nvSpPr>
          <p:cNvPr id="3" name="Rectangle 2"/>
          <p:cNvSpPr/>
          <p:nvPr/>
        </p:nvSpPr>
        <p:spPr>
          <a:xfrm>
            <a:off x="323604" y="1905000"/>
            <a:ext cx="8534400" cy="646331"/>
          </a:xfrm>
          <a:prstGeom prst="rect">
            <a:avLst/>
          </a:prstGeom>
        </p:spPr>
        <p:txBody>
          <a:bodyPr wrap="square">
            <a:spAutoFit/>
          </a:bodyPr>
          <a:lstStyle/>
          <a:p>
            <a:r>
              <a:rPr lang="en-US" dirty="0"/>
              <a:t> Create the below SR &amp; Clarify in SR Note that customer has bit rate mismatch regarding upload speed </a:t>
            </a:r>
          </a:p>
        </p:txBody>
      </p:sp>
      <p:pic>
        <p:nvPicPr>
          <p:cNvPr id="7" name="Picture 6"/>
          <p:cNvPicPr>
            <a:picLocks noChangeAspect="1"/>
          </p:cNvPicPr>
          <p:nvPr/>
        </p:nvPicPr>
        <p:blipFill>
          <a:blip r:embed="rId2"/>
          <a:stretch>
            <a:fillRect/>
          </a:stretch>
        </p:blipFill>
        <p:spPr>
          <a:xfrm>
            <a:off x="323604" y="3463637"/>
            <a:ext cx="8591796" cy="2798618"/>
          </a:xfrm>
          <a:prstGeom prst="rect">
            <a:avLst/>
          </a:prstGeom>
        </p:spPr>
      </p:pic>
    </p:spTree>
    <p:extLst>
      <p:ext uri="{BB962C8B-B14F-4D97-AF65-F5344CB8AC3E}">
        <p14:creationId xmlns:p14="http://schemas.microsoft.com/office/powerpoint/2010/main" val="169799687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 y="4858603"/>
            <a:ext cx="7038975" cy="189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Left Arrow 4"/>
          <p:cNvSpPr/>
          <p:nvPr/>
        </p:nvSpPr>
        <p:spPr>
          <a:xfrm>
            <a:off x="7245804" y="5064826"/>
            <a:ext cx="685800" cy="381000"/>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 name="Picture 3">
            <a:extLst>
              <a:ext uri="{FF2B5EF4-FFF2-40B4-BE49-F238E27FC236}">
                <a16:creationId xmlns:a16="http://schemas.microsoft.com/office/drawing/2014/main" id="{D8140B96-8B52-C123-17D9-59697CB3EC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048" y="290669"/>
            <a:ext cx="829120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F7F0A292-CF49-ECA4-E531-C859D2BE4ED2}"/>
              </a:ext>
            </a:extLst>
          </p:cNvPr>
          <p:cNvPicPr>
            <a:picLocks noChangeAspect="1"/>
          </p:cNvPicPr>
          <p:nvPr/>
        </p:nvPicPr>
        <p:blipFill>
          <a:blip r:embed="rId4"/>
          <a:stretch>
            <a:fillRect/>
          </a:stretch>
        </p:blipFill>
        <p:spPr>
          <a:xfrm>
            <a:off x="165100" y="2139783"/>
            <a:ext cx="8813800" cy="2850907"/>
          </a:xfrm>
          <a:prstGeom prst="rect">
            <a:avLst/>
          </a:prstGeom>
        </p:spPr>
      </p:pic>
    </p:spTree>
    <p:extLst>
      <p:ext uri="{BB962C8B-B14F-4D97-AF65-F5344CB8AC3E}">
        <p14:creationId xmlns:p14="http://schemas.microsoft.com/office/powerpoint/2010/main" val="7067349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3663023"/>
            <a:ext cx="8467725"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28599" y="1894566"/>
            <a:ext cx="8772525" cy="923330"/>
          </a:xfrm>
          <a:prstGeom prst="rect">
            <a:avLst/>
          </a:prstGeom>
        </p:spPr>
        <p:txBody>
          <a:bodyPr wrap="square">
            <a:spAutoFit/>
          </a:bodyPr>
          <a:lstStyle/>
          <a:p>
            <a:pPr>
              <a:buFont typeface="Arial" panose="020B0604020202020204" pitchFamily="34" charset="0"/>
              <a:buChar char="•"/>
            </a:pPr>
            <a:r>
              <a:rPr lang="en-US" dirty="0">
                <a:solidFill>
                  <a:srgbClr val="000000"/>
                </a:solidFill>
                <a:latin typeface="Helvetica Neue"/>
              </a:rPr>
              <a:t>Incase receiving customers subscribed on Up to 30 packages and complaining from his/her upload speed and the reason to be 1 Mbps and  instead of  3 Mbps , use the below Script.</a:t>
            </a:r>
            <a:endParaRPr lang="en-US" b="0" i="0" dirty="0">
              <a:solidFill>
                <a:srgbClr val="000000"/>
              </a:solidFill>
              <a:effectLst/>
              <a:latin typeface="Helvetica Neue"/>
            </a:endParaRPr>
          </a:p>
        </p:txBody>
      </p:sp>
      <p:sp>
        <p:nvSpPr>
          <p:cNvPr id="4" name="Rectangle 3"/>
          <p:cNvSpPr/>
          <p:nvPr/>
        </p:nvSpPr>
        <p:spPr>
          <a:xfrm>
            <a:off x="228599" y="825671"/>
            <a:ext cx="8783782" cy="646331"/>
          </a:xfrm>
          <a:prstGeom prst="rect">
            <a:avLst/>
          </a:prstGeom>
        </p:spPr>
        <p:txBody>
          <a:bodyPr wrap="square">
            <a:spAutoFit/>
          </a:bodyPr>
          <a:lstStyle/>
          <a:p>
            <a:pPr>
              <a:buFont typeface="Arial" panose="020B0604020202020204" pitchFamily="34" charset="0"/>
              <a:buChar char="•"/>
            </a:pPr>
            <a:r>
              <a:rPr lang="en-US" dirty="0">
                <a:solidFill>
                  <a:srgbClr val="000000"/>
                </a:solidFill>
                <a:latin typeface="Helvetica Neue"/>
              </a:rPr>
              <a:t>​Check customer's package and calculate the accepted upload rate which should be 65% of the current rate.</a:t>
            </a:r>
            <a:endParaRPr lang="en-US" i="0" dirty="0">
              <a:solidFill>
                <a:srgbClr val="000000"/>
              </a:solidFill>
              <a:effectLst/>
              <a:latin typeface="Helvetica Neue"/>
            </a:endParaRPr>
          </a:p>
        </p:txBody>
      </p:sp>
    </p:spTree>
    <p:extLst>
      <p:ext uri="{BB962C8B-B14F-4D97-AF65-F5344CB8AC3E}">
        <p14:creationId xmlns:p14="http://schemas.microsoft.com/office/powerpoint/2010/main" val="388942327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74473" y="2597223"/>
            <a:ext cx="1668378" cy="523220"/>
          </a:xfrm>
          <a:prstGeom prst="rect">
            <a:avLst/>
          </a:prstGeom>
        </p:spPr>
        <p:txBody>
          <a:bodyPr wrap="square">
            <a:spAutoFit/>
          </a:bodyPr>
          <a:lstStyle/>
          <a:p>
            <a:pPr lvl="0"/>
            <a:r>
              <a:rPr lang="en-US" sz="2800" b="1" dirty="0">
                <a:solidFill>
                  <a:srgbClr val="000000"/>
                </a:solidFill>
              </a:rPr>
              <a:t>Open SR</a:t>
            </a:r>
          </a:p>
        </p:txBody>
      </p:sp>
      <p:sp>
        <p:nvSpPr>
          <p:cNvPr id="10" name="Rectangle 9"/>
          <p:cNvSpPr/>
          <p:nvPr/>
        </p:nvSpPr>
        <p:spPr>
          <a:xfrm>
            <a:off x="27709" y="3531492"/>
            <a:ext cx="9143998" cy="923330"/>
          </a:xfrm>
          <a:prstGeom prst="rect">
            <a:avLst/>
          </a:prstGeom>
        </p:spPr>
        <p:txBody>
          <a:bodyPr wrap="square">
            <a:spAutoFit/>
          </a:bodyPr>
          <a:lstStyle/>
          <a:p>
            <a:pPr lvl="0"/>
            <a:r>
              <a:rPr lang="en-US" b="1" dirty="0">
                <a:solidFill>
                  <a:srgbClr val="000000"/>
                </a:solidFill>
              </a:rPr>
              <a:t>Script</a:t>
            </a:r>
          </a:p>
          <a:p>
            <a:pPr lvl="0" algn="r"/>
            <a:r>
              <a:rPr lang="ar-EG" dirty="0">
                <a:solidFill>
                  <a:srgbClr val="000000"/>
                </a:solidFill>
              </a:rPr>
              <a:t>تمام يااستاذ\ ة انا قدمت لحضرتك طلب والمشكلة هتكون اتحلت خلال ال 24 ساعه القادمة محتاج حضرتك تسيب الراوتر شغال ولو بعد 24 ساعه المشكلة لسه موجوده ممكن حضرتك تشرفنا بالاتصال مره </a:t>
            </a:r>
            <a:r>
              <a:rPr lang="ar-EG" dirty="0" err="1">
                <a:solidFill>
                  <a:srgbClr val="000000"/>
                </a:solidFill>
              </a:rPr>
              <a:t>تانيه</a:t>
            </a:r>
            <a:endParaRPr lang="en-US" dirty="0">
              <a:solidFill>
                <a:srgbClr val="000000"/>
              </a:solidFill>
            </a:endParaRPr>
          </a:p>
        </p:txBody>
      </p:sp>
      <p:pic>
        <p:nvPicPr>
          <p:cNvPr id="3" name="Picture 2"/>
          <p:cNvPicPr>
            <a:picLocks noChangeAspect="1"/>
          </p:cNvPicPr>
          <p:nvPr/>
        </p:nvPicPr>
        <p:blipFill>
          <a:blip r:embed="rId2"/>
          <a:stretch>
            <a:fillRect/>
          </a:stretch>
        </p:blipFill>
        <p:spPr>
          <a:xfrm>
            <a:off x="360216" y="5127481"/>
            <a:ext cx="8783782" cy="1285875"/>
          </a:xfrm>
          <a:prstGeom prst="rect">
            <a:avLst/>
          </a:prstGeom>
        </p:spPr>
      </p:pic>
      <p:pic>
        <p:nvPicPr>
          <p:cNvPr id="7" name="Picture 6"/>
          <p:cNvPicPr>
            <a:picLocks noChangeAspect="1"/>
          </p:cNvPicPr>
          <p:nvPr/>
        </p:nvPicPr>
        <p:blipFill>
          <a:blip r:embed="rId3"/>
          <a:stretch>
            <a:fillRect/>
          </a:stretch>
        </p:blipFill>
        <p:spPr>
          <a:xfrm>
            <a:off x="227733" y="1105777"/>
            <a:ext cx="8743950" cy="1600200"/>
          </a:xfrm>
          <a:prstGeom prst="rect">
            <a:avLst/>
          </a:prstGeom>
        </p:spPr>
      </p:pic>
      <p:sp>
        <p:nvSpPr>
          <p:cNvPr id="8" name="Right Arrow 7"/>
          <p:cNvSpPr/>
          <p:nvPr/>
        </p:nvSpPr>
        <p:spPr>
          <a:xfrm rot="5400000">
            <a:off x="5779078" y="631229"/>
            <a:ext cx="758536" cy="498764"/>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07839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533400"/>
            <a:ext cx="7918322" cy="1569660"/>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9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Slow Browsing</a:t>
            </a:r>
          </a:p>
        </p:txBody>
      </p:sp>
      <p:sp>
        <p:nvSpPr>
          <p:cNvPr id="3" name="Rectangle 2"/>
          <p:cNvSpPr/>
          <p:nvPr/>
        </p:nvSpPr>
        <p:spPr>
          <a:xfrm>
            <a:off x="152400" y="2690336"/>
            <a:ext cx="8382000" cy="2031325"/>
          </a:xfrm>
          <a:prstGeom prst="rect">
            <a:avLst/>
          </a:prstGeom>
        </p:spPr>
        <p:txBody>
          <a:bodyPr wrap="square">
            <a:spAutoFit/>
          </a:bodyPr>
          <a:lstStyle/>
          <a:p>
            <a:r>
              <a:rPr lang="en-US" dirty="0"/>
              <a:t>Please check customer quota consumption and make sure that he didn’t consume all his usage first before handle slow workflow</a:t>
            </a:r>
          </a:p>
          <a:p>
            <a:endParaRPr lang="en-US" dirty="0"/>
          </a:p>
          <a:p>
            <a:r>
              <a:rPr lang="en-US" dirty="0"/>
              <a:t>Slow browsing could be considered as Physical or network issue.</a:t>
            </a:r>
          </a:p>
          <a:p>
            <a:endParaRPr lang="en-US" dirty="0"/>
          </a:p>
          <a:p>
            <a:br>
              <a:rPr lang="en-US" dirty="0"/>
            </a:br>
            <a:endParaRPr lang="en-US" dirty="0"/>
          </a:p>
        </p:txBody>
      </p:sp>
    </p:spTree>
    <p:extLst>
      <p:ext uri="{BB962C8B-B14F-4D97-AF65-F5344CB8AC3E}">
        <p14:creationId xmlns:p14="http://schemas.microsoft.com/office/powerpoint/2010/main" val="27467650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2504" y="381000"/>
            <a:ext cx="6419001" cy="584775"/>
          </a:xfrm>
          <a:prstGeom prst="rect">
            <a:avLst/>
          </a:prstGeom>
          <a:noFill/>
        </p:spPr>
        <p:txBody>
          <a:bodyPr wrap="none" rtlCol="0">
            <a:spAutoFit/>
          </a:bodyPr>
          <a:lstStyle/>
          <a:p>
            <a:pPr algn="ct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How to Open Slow Browsing WF</a:t>
            </a:r>
            <a:endParaRPr lang="en-US" sz="3200" b="1" dirty="0">
              <a:ln w="1905"/>
              <a:solidFill>
                <a:srgbClr val="92D050"/>
              </a:solidFill>
              <a:effectLst>
                <a:innerShdw blurRad="69850" dist="43180" dir="5400000">
                  <a:srgbClr val="000000">
                    <a:alpha val="65000"/>
                  </a:srgbClr>
                </a:innerShdw>
              </a:effectLst>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25731"/>
            <a:ext cx="8686800" cy="545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495980"/>
            <a:ext cx="457200"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5486400" y="2849198"/>
            <a:ext cx="457200" cy="496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265609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95400"/>
            <a:ext cx="8915400" cy="5110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1295400" y="3388425"/>
            <a:ext cx="533400" cy="345281"/>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Left Arrow 2"/>
          <p:cNvSpPr/>
          <p:nvPr/>
        </p:nvSpPr>
        <p:spPr>
          <a:xfrm>
            <a:off x="6652161" y="3246192"/>
            <a:ext cx="609600" cy="28446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 name="TextBox 3"/>
          <p:cNvSpPr txBox="1"/>
          <p:nvPr/>
        </p:nvSpPr>
        <p:spPr>
          <a:xfrm>
            <a:off x="1629816" y="3002868"/>
            <a:ext cx="301686" cy="36933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b="1" dirty="0">
                <a:solidFill>
                  <a:srgbClr val="F4740A"/>
                </a:solidFill>
              </a:rPr>
              <a:t>1</a:t>
            </a:r>
            <a:endParaRPr lang="en-US" sz="2400" b="1" dirty="0">
              <a:solidFill>
                <a:srgbClr val="F4740A"/>
              </a:solidFill>
            </a:endParaRPr>
          </a:p>
        </p:txBody>
      </p:sp>
      <p:sp>
        <p:nvSpPr>
          <p:cNvPr id="5" name="TextBox 4"/>
          <p:cNvSpPr txBox="1"/>
          <p:nvPr/>
        </p:nvSpPr>
        <p:spPr>
          <a:xfrm>
            <a:off x="7446492" y="3002868"/>
            <a:ext cx="301686" cy="36933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b="1" dirty="0">
                <a:solidFill>
                  <a:srgbClr val="F4740A"/>
                </a:solidFill>
              </a:rPr>
              <a:t>2</a:t>
            </a:r>
          </a:p>
        </p:txBody>
      </p:sp>
    </p:spTree>
    <p:extLst>
      <p:ext uri="{BB962C8B-B14F-4D97-AF65-F5344CB8AC3E}">
        <p14:creationId xmlns:p14="http://schemas.microsoft.com/office/powerpoint/2010/main" val="87064414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029700" cy="3875314"/>
          </a:xfrm>
          <a:prstGeom prst="rect">
            <a:avLst/>
          </a:prstGeom>
        </p:spPr>
      </p:pic>
      <p:pic>
        <p:nvPicPr>
          <p:cNvPr id="4" name="Picture 3"/>
          <p:cNvPicPr>
            <a:picLocks noChangeAspect="1"/>
          </p:cNvPicPr>
          <p:nvPr/>
        </p:nvPicPr>
        <p:blipFill>
          <a:blip r:embed="rId3"/>
          <a:stretch>
            <a:fillRect/>
          </a:stretch>
        </p:blipFill>
        <p:spPr>
          <a:xfrm>
            <a:off x="161925" y="3821974"/>
            <a:ext cx="8867775" cy="3036026"/>
          </a:xfrm>
          <a:prstGeom prst="rect">
            <a:avLst/>
          </a:prstGeom>
        </p:spPr>
      </p:pic>
    </p:spTree>
    <p:extLst>
      <p:ext uri="{BB962C8B-B14F-4D97-AF65-F5344CB8AC3E}">
        <p14:creationId xmlns:p14="http://schemas.microsoft.com/office/powerpoint/2010/main" val="6651827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23" y="1131332"/>
            <a:ext cx="8763001"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33400" y="762000"/>
            <a:ext cx="7921849" cy="369332"/>
          </a:xfrm>
          <a:prstGeom prst="rect">
            <a:avLst/>
          </a:prstGeom>
          <a:noFill/>
        </p:spPr>
        <p:txBody>
          <a:bodyPr wrap="none" rtlCol="0">
            <a:spAutoFit/>
          </a:bodyPr>
          <a:lstStyle/>
          <a:p>
            <a:pPr marL="285750" indent="-285750">
              <a:buFont typeface="Arial" panose="020B0604020202020204" pitchFamily="34" charset="0"/>
              <a:buChar char="•"/>
            </a:pPr>
            <a:r>
              <a:rPr lang="en-US" dirty="0"/>
              <a:t>Before checking Slow browsing we should make sure download rate is accepted</a:t>
            </a:r>
          </a:p>
        </p:txBody>
      </p:sp>
      <p:sp>
        <p:nvSpPr>
          <p:cNvPr id="4" name="Down Arrow 3"/>
          <p:cNvSpPr/>
          <p:nvPr/>
        </p:nvSpPr>
        <p:spPr>
          <a:xfrm rot="5400000">
            <a:off x="7758545" y="2307669"/>
            <a:ext cx="381000" cy="6858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 name="Rectangle 1"/>
          <p:cNvSpPr/>
          <p:nvPr/>
        </p:nvSpPr>
        <p:spPr>
          <a:xfrm>
            <a:off x="112823" y="3429000"/>
            <a:ext cx="6745177" cy="646331"/>
          </a:xfrm>
          <a:prstGeom prst="rect">
            <a:avLst/>
          </a:prstGeom>
        </p:spPr>
        <p:txBody>
          <a:bodyPr wrap="square">
            <a:spAutoFit/>
          </a:bodyPr>
          <a:lstStyle/>
          <a:p>
            <a:br>
              <a:rPr lang="en-US" dirty="0"/>
            </a:br>
            <a:endParaRPr lang="en-US" dirty="0"/>
          </a:p>
        </p:txBody>
      </p:sp>
      <p:sp>
        <p:nvSpPr>
          <p:cNvPr id="5" name="Rectangle 4"/>
          <p:cNvSpPr/>
          <p:nvPr/>
        </p:nvSpPr>
        <p:spPr>
          <a:xfrm>
            <a:off x="0" y="4191000"/>
            <a:ext cx="8991600" cy="646331"/>
          </a:xfrm>
          <a:prstGeom prst="rect">
            <a:avLst/>
          </a:prstGeom>
        </p:spPr>
        <p:txBody>
          <a:bodyPr wrap="square">
            <a:spAutoFit/>
          </a:bodyPr>
          <a:lstStyle/>
          <a:p>
            <a:pPr lvl="0"/>
            <a:r>
              <a:rPr lang="en-US" dirty="0">
                <a:solidFill>
                  <a:prstClr val="black"/>
                </a:solidFill>
              </a:rPr>
              <a:t>- Use Slow Download Work Flow in case download rate is not accepted  ​.</a:t>
            </a:r>
            <a:br>
              <a:rPr lang="en-US" dirty="0">
                <a:solidFill>
                  <a:prstClr val="black"/>
                </a:solidFill>
              </a:rPr>
            </a:br>
            <a:endParaRPr lang="en-US" dirty="0">
              <a:solidFill>
                <a:prstClr val="black"/>
              </a:solidFill>
            </a:endParaRPr>
          </a:p>
        </p:txBody>
      </p:sp>
    </p:spTree>
    <p:extLst>
      <p:ext uri="{BB962C8B-B14F-4D97-AF65-F5344CB8AC3E}">
        <p14:creationId xmlns:p14="http://schemas.microsoft.com/office/powerpoint/2010/main" val="10210458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1"/>
            <a:ext cx="8943975" cy="2296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685800" y="2989265"/>
            <a:ext cx="978408" cy="484632"/>
          </a:xfrm>
          <a:prstGeom prst="rightArrow">
            <a:avLst/>
          </a:prstGeom>
          <a:solidFill>
            <a:srgbClr val="F5750B"/>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 y="3653313"/>
            <a:ext cx="9036495" cy="320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83121" y="228600"/>
            <a:ext cx="8860854" cy="1200329"/>
          </a:xfrm>
          <a:prstGeom prst="rect">
            <a:avLst/>
          </a:prstGeom>
        </p:spPr>
        <p:txBody>
          <a:bodyPr wrap="square">
            <a:spAutoFit/>
          </a:bodyPr>
          <a:lstStyle/>
          <a:p>
            <a:r>
              <a:rPr lang="en-US" dirty="0"/>
              <a:t>Please check customer quota consumption and make sure that he didn’t consume all his usage first before handle slow workflow.</a:t>
            </a:r>
          </a:p>
          <a:p>
            <a:endParaRPr lang="en-US" dirty="0"/>
          </a:p>
          <a:p>
            <a:r>
              <a:rPr lang="en-US" dirty="0"/>
              <a:t>  Check Physical Line parameters from Octopus ​for copper.</a:t>
            </a:r>
          </a:p>
        </p:txBody>
      </p:sp>
    </p:spTree>
    <p:extLst>
      <p:ext uri="{BB962C8B-B14F-4D97-AF65-F5344CB8AC3E}">
        <p14:creationId xmlns:p14="http://schemas.microsoft.com/office/powerpoint/2010/main" val="18672654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70" y="4648200"/>
            <a:ext cx="8621713"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533400" y="5141512"/>
            <a:ext cx="978408" cy="484632"/>
          </a:xfrm>
          <a:prstGeom prst="rightArrow">
            <a:avLst/>
          </a:prstGeom>
          <a:solidFill>
            <a:srgbClr val="F5750B"/>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249770" y="252056"/>
            <a:ext cx="8621713" cy="3895725"/>
          </a:xfrm>
          <a:prstGeom prst="rect">
            <a:avLst/>
          </a:prstGeom>
        </p:spPr>
      </p:pic>
      <p:sp>
        <p:nvSpPr>
          <p:cNvPr id="6" name="Rectangle 5"/>
          <p:cNvSpPr/>
          <p:nvPr/>
        </p:nvSpPr>
        <p:spPr>
          <a:xfrm>
            <a:off x="533400" y="2452255"/>
            <a:ext cx="7924800" cy="221673"/>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60758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91" y="2536854"/>
            <a:ext cx="9173818" cy="1077218"/>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3200" cap="none" spc="0" dirty="0">
                <a:ln w="11430"/>
              </a:rPr>
              <a:t>Reset the customer’s Browser and check the browsing again, </a:t>
            </a:r>
            <a:r>
              <a:rPr lang="en-US" sz="3200" dirty="0">
                <a:ln w="11430"/>
              </a:rPr>
              <a:t>steps will be according to browser type</a:t>
            </a:r>
            <a:endParaRPr lang="en-US" sz="3200" b="1" cap="none" spc="0" dirty="0">
              <a:ln w="11430"/>
              <a:solidFill>
                <a:srgbClr val="FFFF00"/>
              </a:solidFill>
            </a:endParaRPr>
          </a:p>
        </p:txBody>
      </p:sp>
      <p:pic>
        <p:nvPicPr>
          <p:cNvPr id="3" name="Picture 2"/>
          <p:cNvPicPr>
            <a:picLocks noChangeAspect="1"/>
          </p:cNvPicPr>
          <p:nvPr/>
        </p:nvPicPr>
        <p:blipFill>
          <a:blip r:embed="rId2"/>
          <a:stretch>
            <a:fillRect/>
          </a:stretch>
        </p:blipFill>
        <p:spPr>
          <a:xfrm>
            <a:off x="0" y="173182"/>
            <a:ext cx="8924436" cy="2438400"/>
          </a:xfrm>
          <a:prstGeom prst="rect">
            <a:avLst/>
          </a:prstGeom>
        </p:spPr>
      </p:pic>
      <p:sp>
        <p:nvSpPr>
          <p:cNvPr id="5" name="Rectangle 4"/>
          <p:cNvSpPr/>
          <p:nvPr/>
        </p:nvSpPr>
        <p:spPr>
          <a:xfrm>
            <a:off x="290946" y="4106514"/>
            <a:ext cx="8728363" cy="2585323"/>
          </a:xfrm>
          <a:prstGeom prst="rect">
            <a:avLst/>
          </a:prstGeom>
        </p:spPr>
        <p:txBody>
          <a:bodyPr wrap="square">
            <a:spAutoFit/>
          </a:bodyPr>
          <a:lstStyle/>
          <a:p>
            <a:pPr>
              <a:buFont typeface="Arial" panose="020B0604020202020204" pitchFamily="34" charset="0"/>
              <a:buChar char="•"/>
            </a:pPr>
            <a:r>
              <a:rPr lang="en-US" dirty="0">
                <a:solidFill>
                  <a:srgbClr val="000000"/>
                </a:solidFill>
                <a:latin typeface="Helvetica Neue"/>
              </a:rPr>
              <a:t>​Click the Tools "menu".</a:t>
            </a:r>
          </a:p>
          <a:p>
            <a:pPr>
              <a:buFont typeface="Arial" panose="020B0604020202020204" pitchFamily="34" charset="0"/>
              <a:buChar char="•"/>
            </a:pPr>
            <a:r>
              <a:rPr lang="en-US" dirty="0">
                <a:solidFill>
                  <a:srgbClr val="000000"/>
                </a:solidFill>
                <a:latin typeface="Helvetica Neue"/>
              </a:rPr>
              <a:t>Select Options.</a:t>
            </a:r>
          </a:p>
          <a:p>
            <a:pPr>
              <a:buFont typeface="Arial" panose="020B0604020202020204" pitchFamily="34" charset="0"/>
              <a:buChar char="•"/>
            </a:pPr>
            <a:r>
              <a:rPr lang="en-US" dirty="0">
                <a:solidFill>
                  <a:srgbClr val="000000"/>
                </a:solidFill>
                <a:latin typeface="Helvetica Neue"/>
              </a:rPr>
              <a:t>Click the Under the Hood tab then click on "Clear browsing data" button</a:t>
            </a:r>
          </a:p>
          <a:p>
            <a:pPr>
              <a:buFont typeface="Arial" panose="020B0604020202020204" pitchFamily="34" charset="0"/>
              <a:buChar char="•"/>
            </a:pPr>
            <a:r>
              <a:rPr lang="en-US" dirty="0">
                <a:solidFill>
                  <a:srgbClr val="000000"/>
                </a:solidFill>
                <a:latin typeface="Helvetica Neue"/>
              </a:rPr>
              <a:t>Select "the beginning of time" , Mark the needed checkboxes and click "Clear browsing data" button</a:t>
            </a:r>
          </a:p>
          <a:p>
            <a:pPr>
              <a:buFont typeface="Arial" panose="020B0604020202020204" pitchFamily="34" charset="0"/>
              <a:buChar char="•"/>
            </a:pPr>
            <a:r>
              <a:rPr lang="en-US" dirty="0">
                <a:solidFill>
                  <a:srgbClr val="000000"/>
                </a:solidFill>
                <a:latin typeface="Helvetica Neue"/>
              </a:rPr>
              <a:t>Click on "Under the Hood" again then click on "Change proxy settings" button</a:t>
            </a:r>
          </a:p>
          <a:p>
            <a:pPr>
              <a:buFont typeface="Arial" panose="020B0604020202020204" pitchFamily="34" charset="0"/>
              <a:buChar char="•"/>
            </a:pPr>
            <a:r>
              <a:rPr lang="en-US" dirty="0">
                <a:solidFill>
                  <a:srgbClr val="000000"/>
                </a:solidFill>
                <a:latin typeface="Helvetica Neue"/>
              </a:rPr>
              <a:t>Select Connections tab and make sure the Dial-up Box is Empty then click "LAN settings" button then click "OK" button</a:t>
            </a:r>
          </a:p>
          <a:p>
            <a:pPr>
              <a:buFont typeface="Arial" panose="020B0604020202020204" pitchFamily="34" charset="0"/>
              <a:buChar char="•"/>
            </a:pPr>
            <a:r>
              <a:rPr lang="en-US" dirty="0">
                <a:solidFill>
                  <a:srgbClr val="000000"/>
                </a:solidFill>
                <a:latin typeface="Helvetica Neue"/>
              </a:rPr>
              <a:t>Make sure to clear check boxes then click ok</a:t>
            </a:r>
            <a:endParaRPr lang="en-US" b="0" i="0" dirty="0">
              <a:solidFill>
                <a:srgbClr val="000000"/>
              </a:solidFill>
              <a:effectLst/>
              <a:latin typeface="Helvetica Neue"/>
            </a:endParaRPr>
          </a:p>
        </p:txBody>
      </p:sp>
    </p:spTree>
    <p:extLst>
      <p:ext uri="{BB962C8B-B14F-4D97-AF65-F5344CB8AC3E}">
        <p14:creationId xmlns:p14="http://schemas.microsoft.com/office/powerpoint/2010/main" val="72665719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285" y="288252"/>
            <a:ext cx="7642770" cy="141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ight Arrow 2"/>
          <p:cNvSpPr/>
          <p:nvPr/>
        </p:nvSpPr>
        <p:spPr>
          <a:xfrm rot="10800000">
            <a:off x="6968836" y="730847"/>
            <a:ext cx="1011382" cy="526473"/>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246513" y="2221887"/>
            <a:ext cx="8650974" cy="2414225"/>
          </a:xfrm>
          <a:prstGeom prst="rect">
            <a:avLst/>
          </a:prstGeom>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382" y="4636112"/>
            <a:ext cx="7439025"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own Arrow 5"/>
          <p:cNvSpPr/>
          <p:nvPr/>
        </p:nvSpPr>
        <p:spPr>
          <a:xfrm rot="5400000" flipH="1">
            <a:off x="7842524" y="5158082"/>
            <a:ext cx="497062" cy="7620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744028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1156855"/>
            <a:ext cx="695325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12619" y="231808"/>
            <a:ext cx="7536006" cy="600164"/>
          </a:xfrm>
          <a:prstGeom prst="rect">
            <a:avLst/>
          </a:prstGeom>
        </p:spPr>
        <p:txBody>
          <a:bodyPr wrap="square">
            <a:spAutoFit/>
          </a:bodyPr>
          <a:lstStyle/>
          <a:p>
            <a:pPr>
              <a:buFont typeface="Arial" panose="020B0604020202020204" pitchFamily="34" charset="0"/>
              <a:buChar char="•"/>
            </a:pPr>
            <a:r>
              <a:rPr lang="en-US" sz="1100" dirty="0">
                <a:solidFill>
                  <a:srgbClr val="000000"/>
                </a:solidFill>
                <a:latin typeface="Helvetica Neue"/>
              </a:rPr>
              <a:t>​​Change the MTU on the customer Modem to 1420 </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If not solved, agent can try 1300 or 1380 (As an extra mile and not a mandatory step).​</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Check Browsing Speed again. ​</a:t>
            </a:r>
            <a:endParaRPr lang="en-US" b="0" i="0" dirty="0">
              <a:solidFill>
                <a:srgbClr val="000000"/>
              </a:solidFill>
              <a:effectLst/>
              <a:latin typeface="Helvetica Neue"/>
            </a:endParaRPr>
          </a:p>
        </p:txBody>
      </p:sp>
      <p:sp>
        <p:nvSpPr>
          <p:cNvPr id="8" name="Left Arrow 7"/>
          <p:cNvSpPr/>
          <p:nvPr/>
        </p:nvSpPr>
        <p:spPr>
          <a:xfrm>
            <a:off x="7707798" y="1754667"/>
            <a:ext cx="681037" cy="381000"/>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512619" y="2645297"/>
            <a:ext cx="7218290" cy="682811"/>
          </a:xfrm>
          <a:prstGeom prst="rect">
            <a:avLst/>
          </a:prstGeom>
        </p:spPr>
      </p:pic>
      <p:pic>
        <p:nvPicPr>
          <p:cNvPr id="9" name="Picture 8"/>
          <p:cNvPicPr>
            <a:picLocks noChangeAspect="1"/>
          </p:cNvPicPr>
          <p:nvPr/>
        </p:nvPicPr>
        <p:blipFill>
          <a:blip r:embed="rId4"/>
          <a:stretch>
            <a:fillRect/>
          </a:stretch>
        </p:blipFill>
        <p:spPr>
          <a:xfrm>
            <a:off x="1135150" y="3153306"/>
            <a:ext cx="6907367" cy="1499746"/>
          </a:xfrm>
          <a:prstGeom prst="rect">
            <a:avLst/>
          </a:prstGeom>
        </p:spPr>
      </p:pic>
      <p:sp>
        <p:nvSpPr>
          <p:cNvPr id="11" name="Left Arrow 10"/>
          <p:cNvSpPr/>
          <p:nvPr/>
        </p:nvSpPr>
        <p:spPr>
          <a:xfrm>
            <a:off x="7696200" y="3791566"/>
            <a:ext cx="692635" cy="323234"/>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5"/>
          <a:stretch>
            <a:fillRect/>
          </a:stretch>
        </p:blipFill>
        <p:spPr>
          <a:xfrm>
            <a:off x="512619" y="4697484"/>
            <a:ext cx="4602879" cy="493819"/>
          </a:xfrm>
          <a:prstGeom prst="rect">
            <a:avLst/>
          </a:prstGeom>
        </p:spPr>
      </p:pic>
      <p:pic>
        <p:nvPicPr>
          <p:cNvPr id="1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1650" y="5086519"/>
            <a:ext cx="5924550" cy="160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Left Arrow 14"/>
          <p:cNvSpPr/>
          <p:nvPr/>
        </p:nvSpPr>
        <p:spPr>
          <a:xfrm>
            <a:off x="7647933" y="5485779"/>
            <a:ext cx="740902" cy="40560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707111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05201" y="0"/>
            <a:ext cx="1668378" cy="523220"/>
          </a:xfrm>
          <a:prstGeom prst="rect">
            <a:avLst/>
          </a:prstGeom>
        </p:spPr>
        <p:txBody>
          <a:bodyPr wrap="square">
            <a:spAutoFit/>
          </a:bodyPr>
          <a:lstStyle/>
          <a:p>
            <a:pPr lvl="0"/>
            <a:r>
              <a:rPr lang="en-US" sz="2800" b="1" dirty="0">
                <a:solidFill>
                  <a:srgbClr val="000000"/>
                </a:solidFill>
              </a:rPr>
              <a:t>Open SR</a:t>
            </a:r>
          </a:p>
        </p:txBody>
      </p:sp>
      <p:sp>
        <p:nvSpPr>
          <p:cNvPr id="8" name="Rectangle 7"/>
          <p:cNvSpPr/>
          <p:nvPr/>
        </p:nvSpPr>
        <p:spPr>
          <a:xfrm>
            <a:off x="0" y="525056"/>
            <a:ext cx="9143998" cy="369332"/>
          </a:xfrm>
          <a:prstGeom prst="rect">
            <a:avLst/>
          </a:prstGeom>
        </p:spPr>
        <p:txBody>
          <a:bodyPr wrap="square">
            <a:spAutoFit/>
          </a:bodyPr>
          <a:lstStyle/>
          <a:p>
            <a:pPr lvl="0"/>
            <a:endParaRPr lang="en-US" b="1" dirty="0">
              <a:solidFill>
                <a:srgbClr val="000000"/>
              </a:solidFill>
            </a:endParaRPr>
          </a:p>
        </p:txBody>
      </p:sp>
      <p:pic>
        <p:nvPicPr>
          <p:cNvPr id="3" name="Picture 2"/>
          <p:cNvPicPr>
            <a:picLocks noChangeAspect="1"/>
          </p:cNvPicPr>
          <p:nvPr/>
        </p:nvPicPr>
        <p:blipFill>
          <a:blip r:embed="rId2"/>
          <a:stretch>
            <a:fillRect/>
          </a:stretch>
        </p:blipFill>
        <p:spPr>
          <a:xfrm>
            <a:off x="185736" y="4622761"/>
            <a:ext cx="8772525" cy="1171575"/>
          </a:xfrm>
          <a:prstGeom prst="rect">
            <a:avLst/>
          </a:prstGeom>
        </p:spPr>
      </p:pic>
      <p:sp>
        <p:nvSpPr>
          <p:cNvPr id="4" name="Rectangle 3"/>
          <p:cNvSpPr/>
          <p:nvPr/>
        </p:nvSpPr>
        <p:spPr>
          <a:xfrm>
            <a:off x="185736" y="2713420"/>
            <a:ext cx="8958262" cy="1261884"/>
          </a:xfrm>
          <a:prstGeom prst="rect">
            <a:avLst/>
          </a:prstGeom>
        </p:spPr>
        <p:txBody>
          <a:bodyPr wrap="square">
            <a:spAutoFit/>
          </a:bodyPr>
          <a:lstStyle/>
          <a:p>
            <a:pPr algn="r" rtl="1">
              <a:buFont typeface="Arial" panose="020B0604020202020204" pitchFamily="34" charset="0"/>
              <a:buChar char="•"/>
            </a:pPr>
            <a:r>
              <a:rPr lang="ar-SA" sz="1100" dirty="0">
                <a:solidFill>
                  <a:srgbClr val="000000"/>
                </a:solidFill>
                <a:latin typeface="Helvetica Neue"/>
                <a:cs typeface="Helvetica Neue"/>
              </a:rPr>
              <a:t>​تمام يا أستاذ/ة....... أنا سجلت الطلب وبستأذن حضرتك نسيب الراوتر متوصل وفي خلال الـ 24 ساعه اللي جاية هتكون الخدمة شغالة بصورة طبيعية وفى حاله ان حضرتك واجهت نفس المشكله بعد 24 ساعه ممكن تعاود الاتصال بينا مرة تانية</a:t>
            </a:r>
            <a:r>
              <a:rPr lang="ar-SA" sz="1100" dirty="0">
                <a:solidFill>
                  <a:srgbClr val="000000"/>
                </a:solidFill>
                <a:latin typeface="Helvetica Neue"/>
              </a:rPr>
              <a:t> </a:t>
            </a:r>
            <a:endParaRPr lang="ar-SA" dirty="0">
              <a:solidFill>
                <a:srgbClr val="000000"/>
              </a:solidFill>
              <a:latin typeface="Helvetica Neue"/>
            </a:endParaRPr>
          </a:p>
          <a:p>
            <a:pPr>
              <a:buFont typeface="Arial" panose="020B0604020202020204" pitchFamily="34" charset="0"/>
              <a:buChar char="•"/>
            </a:pPr>
            <a:r>
              <a:rPr lang="ar-SA" dirty="0">
                <a:solidFill>
                  <a:srgbClr val="000000"/>
                </a:solidFill>
                <a:latin typeface="Helvetica Neue"/>
              </a:rPr>
              <a:t>​​</a:t>
            </a:r>
            <a:r>
              <a:rPr lang="en-US" dirty="0">
                <a:solidFill>
                  <a:srgbClr val="000000"/>
                </a:solidFill>
                <a:latin typeface="Helvetica Neue"/>
              </a:rPr>
              <a:t>In case of exceeding the SLA:​</a:t>
            </a:r>
          </a:p>
          <a:p>
            <a:pPr algn="r" rtl="1">
              <a:buFont typeface="Arial" panose="020B0604020202020204" pitchFamily="34" charset="0"/>
              <a:buChar char="•"/>
            </a:pPr>
            <a:r>
              <a:rPr lang="en-US" sz="1000" dirty="0">
                <a:solidFill>
                  <a:srgbClr val="000000"/>
                </a:solidFill>
                <a:latin typeface="Helvetica Neue"/>
                <a:cs typeface="tahoma" panose="020B0604030504040204" pitchFamily="34" charset="0"/>
              </a:rPr>
              <a:t>​​</a:t>
            </a:r>
            <a:r>
              <a:rPr lang="ar-SA" sz="1000" dirty="0">
                <a:solidFill>
                  <a:srgbClr val="000000"/>
                </a:solidFill>
                <a:latin typeface="Helvetica Neue"/>
                <a:cs typeface="tahoma" panose="020B0604030504040204" pitchFamily="34" charset="0"/>
              </a:rPr>
              <a:t>هقدم لحضرتك طلب استعجال وهيتم الرد في اسرع وقت ممكن.. شكرا لتفهمك </a:t>
            </a:r>
            <a:r>
              <a:rPr lang="ar-SA" dirty="0">
                <a:solidFill>
                  <a:srgbClr val="000000"/>
                </a:solidFill>
                <a:latin typeface="Helvetica Neue"/>
              </a:rPr>
              <a:t>​</a:t>
            </a:r>
          </a:p>
          <a:p>
            <a:r>
              <a:rPr lang="ar-SA" dirty="0">
                <a:solidFill>
                  <a:srgbClr val="000000"/>
                </a:solidFill>
                <a:latin typeface="Helvetica Neue"/>
              </a:rPr>
              <a:t>​</a:t>
            </a:r>
            <a:endParaRPr lang="ar-SA" b="0" i="0" dirty="0">
              <a:solidFill>
                <a:srgbClr val="000000"/>
              </a:solidFill>
              <a:effectLst/>
              <a:latin typeface="Helvetica Neue"/>
            </a:endParaRPr>
          </a:p>
        </p:txBody>
      </p:sp>
      <p:sp>
        <p:nvSpPr>
          <p:cNvPr id="5" name="Rectangle 4"/>
          <p:cNvSpPr/>
          <p:nvPr/>
        </p:nvSpPr>
        <p:spPr>
          <a:xfrm>
            <a:off x="185736" y="1241763"/>
            <a:ext cx="8772524" cy="600164"/>
          </a:xfrm>
          <a:prstGeom prst="rect">
            <a:avLst/>
          </a:prstGeom>
        </p:spPr>
        <p:txBody>
          <a:bodyPr wrap="square">
            <a:spAutoFit/>
          </a:bodyPr>
          <a:lstStyle/>
          <a:p>
            <a:pPr>
              <a:buFont typeface="Arial" panose="020B0604020202020204" pitchFamily="34" charset="0"/>
              <a:buChar char="•"/>
            </a:pPr>
            <a:r>
              <a:rPr lang="en-US" sz="1100" dirty="0">
                <a:solidFill>
                  <a:srgbClr val="000000"/>
                </a:solidFill>
                <a:latin typeface="Helvetica Neue"/>
              </a:rPr>
              <a:t>In case customer using smart phone, open case with the below details and inform him/her to prepare a device connected with cable or </a:t>
            </a:r>
            <a:r>
              <a:rPr lang="en-US" sz="1100" dirty="0" err="1">
                <a:solidFill>
                  <a:srgbClr val="000000"/>
                </a:solidFill>
                <a:latin typeface="Helvetica Neue"/>
              </a:rPr>
              <a:t>WiFi</a:t>
            </a:r>
            <a:r>
              <a:rPr lang="en-US" sz="1100" dirty="0">
                <a:solidFill>
                  <a:srgbClr val="000000"/>
                </a:solidFill>
                <a:latin typeface="Helvetica Neue"/>
              </a:rPr>
              <a:t> if possible for follow up call.</a:t>
            </a:r>
            <a:endParaRPr lang="en-US" dirty="0">
              <a:solidFill>
                <a:srgbClr val="000000"/>
              </a:solidFill>
              <a:latin typeface="Helvetica Neue"/>
            </a:endParaRPr>
          </a:p>
          <a:p>
            <a:pPr>
              <a:buFont typeface="Arial" panose="020B0604020202020204" pitchFamily="34" charset="0"/>
              <a:buChar char="•"/>
            </a:pPr>
            <a:r>
              <a:rPr lang="en-US" sz="1100" dirty="0">
                <a:solidFill>
                  <a:srgbClr val="000000"/>
                </a:solidFill>
                <a:latin typeface="Helvetica Neue"/>
              </a:rPr>
              <a:t>Inform the customer to keep the CPE connected during the next 24 Hrs.</a:t>
            </a:r>
            <a:endParaRPr lang="en-US" b="0" i="0" dirty="0">
              <a:solidFill>
                <a:srgbClr val="000000"/>
              </a:solidFill>
              <a:effectLst/>
              <a:latin typeface="Helvetica Neue"/>
            </a:endParaRPr>
          </a:p>
        </p:txBody>
      </p:sp>
      <p:sp>
        <p:nvSpPr>
          <p:cNvPr id="7" name="Rectangle 6"/>
          <p:cNvSpPr/>
          <p:nvPr/>
        </p:nvSpPr>
        <p:spPr>
          <a:xfrm>
            <a:off x="439636" y="2252006"/>
            <a:ext cx="807337" cy="369332"/>
          </a:xfrm>
          <a:prstGeom prst="rect">
            <a:avLst/>
          </a:prstGeom>
        </p:spPr>
        <p:txBody>
          <a:bodyPr wrap="none">
            <a:spAutoFit/>
          </a:bodyPr>
          <a:lstStyle/>
          <a:p>
            <a:r>
              <a:rPr lang="en-US" b="1" dirty="0" err="1">
                <a:solidFill>
                  <a:srgbClr val="FFFFFF"/>
                </a:solidFill>
                <a:latin typeface="Helvetica Neue"/>
              </a:rPr>
              <a:t>t</a:t>
            </a:r>
            <a:r>
              <a:rPr lang="en-US" b="1" dirty="0" err="1"/>
              <a:t>Script</a:t>
            </a:r>
            <a:endParaRPr lang="en-US" dirty="0"/>
          </a:p>
        </p:txBody>
      </p:sp>
    </p:spTree>
    <p:extLst>
      <p:ext uri="{BB962C8B-B14F-4D97-AF65-F5344CB8AC3E}">
        <p14:creationId xmlns:p14="http://schemas.microsoft.com/office/powerpoint/2010/main" val="359362686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2442" y="98714"/>
            <a:ext cx="8766032" cy="4000500"/>
          </a:xfrm>
          <a:prstGeom prst="rect">
            <a:avLst/>
          </a:prstGeom>
        </p:spPr>
      </p:pic>
      <p:sp>
        <p:nvSpPr>
          <p:cNvPr id="5" name="Rectangle 4"/>
          <p:cNvSpPr/>
          <p:nvPr/>
        </p:nvSpPr>
        <p:spPr>
          <a:xfrm>
            <a:off x="500229" y="2376055"/>
            <a:ext cx="3462171" cy="1524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142442" y="4544291"/>
            <a:ext cx="8728364" cy="1514475"/>
          </a:xfrm>
          <a:prstGeom prst="rect">
            <a:avLst/>
          </a:prstGeom>
        </p:spPr>
      </p:pic>
      <p:sp>
        <p:nvSpPr>
          <p:cNvPr id="7" name="Left Arrow 6"/>
          <p:cNvSpPr/>
          <p:nvPr/>
        </p:nvSpPr>
        <p:spPr>
          <a:xfrm>
            <a:off x="7543800" y="4978294"/>
            <a:ext cx="692635" cy="323234"/>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084464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304800" y="567154"/>
            <a:ext cx="8049904" cy="2176046"/>
          </a:xfrm>
          <a:prstGeom prst="rect">
            <a:avLst/>
          </a:prstGeom>
        </p:spPr>
      </p:pic>
      <p:sp>
        <p:nvSpPr>
          <p:cNvPr id="7" name="Rectangle 6"/>
          <p:cNvSpPr/>
          <p:nvPr/>
        </p:nvSpPr>
        <p:spPr>
          <a:xfrm>
            <a:off x="563411" y="586116"/>
            <a:ext cx="2086277" cy="523220"/>
          </a:xfrm>
          <a:prstGeom prst="rect">
            <a:avLst/>
          </a:prstGeom>
        </p:spPr>
        <p:txBody>
          <a:bodyPr wrap="none">
            <a:spAutoFit/>
          </a:bodyPr>
          <a:lstStyle/>
          <a:p>
            <a:pPr lvl="0"/>
            <a:r>
              <a:rPr lang="en-US" sz="2800" b="1" dirty="0">
                <a:solidFill>
                  <a:srgbClr val="F4740A"/>
                </a:solidFill>
              </a:rPr>
              <a:t>* For Copper</a:t>
            </a:r>
          </a:p>
        </p:txBody>
      </p:sp>
      <p:sp>
        <p:nvSpPr>
          <p:cNvPr id="8" name="Rectangle 7"/>
          <p:cNvSpPr/>
          <p:nvPr/>
        </p:nvSpPr>
        <p:spPr>
          <a:xfrm>
            <a:off x="3888575" y="3244334"/>
            <a:ext cx="184731" cy="369332"/>
          </a:xfrm>
          <a:prstGeom prst="rect">
            <a:avLst/>
          </a:prstGeom>
        </p:spPr>
        <p:txBody>
          <a:bodyPr wrap="none">
            <a:spAutoFit/>
          </a:bodyPr>
          <a:lstStyle/>
          <a:p>
            <a:endParaRPr lang="en-US" b="1" dirty="0">
              <a:solidFill>
                <a:srgbClr val="F4740A"/>
              </a:solidFill>
            </a:endParaRPr>
          </a:p>
        </p:txBody>
      </p:sp>
      <p:sp>
        <p:nvSpPr>
          <p:cNvPr id="16" name="Rectangle 15"/>
          <p:cNvSpPr/>
          <p:nvPr/>
        </p:nvSpPr>
        <p:spPr>
          <a:xfrm>
            <a:off x="563410" y="2587338"/>
            <a:ext cx="2776501" cy="584775"/>
          </a:xfrm>
          <a:prstGeom prst="rect">
            <a:avLst/>
          </a:prstGeom>
        </p:spPr>
        <p:txBody>
          <a:bodyPr wrap="square">
            <a:spAutoFit/>
          </a:bodyPr>
          <a:lstStyle/>
          <a:p>
            <a:pPr lvl="0"/>
            <a:r>
              <a:rPr lang="en-US" sz="3200" b="1" dirty="0">
                <a:solidFill>
                  <a:srgbClr val="F79646">
                    <a:lumMod val="75000"/>
                  </a:srgbClr>
                </a:solidFill>
              </a:rPr>
              <a:t>*For MSAN</a:t>
            </a:r>
          </a:p>
        </p:txBody>
      </p:sp>
      <p:pic>
        <p:nvPicPr>
          <p:cNvPr id="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983" y="4949810"/>
            <a:ext cx="6898944"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Left Arrow 17"/>
          <p:cNvSpPr/>
          <p:nvPr/>
        </p:nvSpPr>
        <p:spPr>
          <a:xfrm>
            <a:off x="7592704" y="5431394"/>
            <a:ext cx="762000" cy="48463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4"/>
          <a:stretch>
            <a:fillRect/>
          </a:stretch>
        </p:blipFill>
        <p:spPr>
          <a:xfrm>
            <a:off x="297978" y="3187844"/>
            <a:ext cx="8555078" cy="1123950"/>
          </a:xfrm>
          <a:prstGeom prst="rect">
            <a:avLst/>
          </a:prstGeom>
        </p:spPr>
      </p:pic>
    </p:spTree>
    <p:extLst>
      <p:ext uri="{BB962C8B-B14F-4D97-AF65-F5344CB8AC3E}">
        <p14:creationId xmlns:p14="http://schemas.microsoft.com/office/powerpoint/2010/main" val="12049154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1436" y="1771650"/>
            <a:ext cx="6448425" cy="508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81000" y="135381"/>
            <a:ext cx="8182240" cy="2031325"/>
          </a:xfrm>
          <a:prstGeom prst="rect">
            <a:avLst/>
          </a:prstGeom>
          <a:noFill/>
        </p:spPr>
        <p:txBody>
          <a:bodyPr wrap="none" rtlCol="0">
            <a:spAutoFit/>
          </a:bodyPr>
          <a:lstStyle/>
          <a:p>
            <a:r>
              <a:rPr lang="en-US" b="1" dirty="0">
                <a:solidFill>
                  <a:srgbClr val="F4740A"/>
                </a:solidFill>
              </a:rPr>
              <a:t>- If the customer is calling from DSL service number:</a:t>
            </a:r>
            <a:endParaRPr lang="en-US" dirty="0">
              <a:solidFill>
                <a:srgbClr val="F4740A"/>
              </a:solidFill>
            </a:endParaRPr>
          </a:p>
          <a:p>
            <a:r>
              <a:rPr lang="en-US" dirty="0"/>
              <a:t>• Ask the customer for his/her mobile number</a:t>
            </a:r>
          </a:p>
          <a:p>
            <a:r>
              <a:rPr lang="en-US" dirty="0"/>
              <a:t>• Ask customer to end call with you and ask him to answer the call on his/her mobile.</a:t>
            </a:r>
          </a:p>
          <a:p>
            <a:r>
              <a:rPr lang="en-US" dirty="0"/>
              <a:t>• Put Not Ready</a:t>
            </a:r>
          </a:p>
          <a:p>
            <a:r>
              <a:rPr lang="en-US" dirty="0"/>
              <a:t>• Call the customer</a:t>
            </a:r>
          </a:p>
          <a:p>
            <a:r>
              <a:rPr lang="en-US" dirty="0"/>
              <a:t>• Connect with him/her without splitter</a:t>
            </a:r>
          </a:p>
          <a:p>
            <a:endParaRPr lang="en-US" dirty="0"/>
          </a:p>
        </p:txBody>
      </p:sp>
      <p:sp>
        <p:nvSpPr>
          <p:cNvPr id="3" name="Left Arrow 2"/>
          <p:cNvSpPr/>
          <p:nvPr/>
        </p:nvSpPr>
        <p:spPr>
          <a:xfrm>
            <a:off x="7809861" y="5701284"/>
            <a:ext cx="876939" cy="48463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419684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16632"/>
            <a:ext cx="8424936" cy="2000548"/>
          </a:xfrm>
          <a:prstGeom prst="rect">
            <a:avLst/>
          </a:prstGeom>
          <a:noFill/>
        </p:spPr>
        <p:txBody>
          <a:bodyPr wrap="square" lIns="91440" tIns="45720" rIns="91440" bIns="45720">
            <a:spAutoFit/>
          </a:bodyPr>
          <a:lstStyle/>
          <a:p>
            <a:pPr algn="ctr"/>
            <a:r>
              <a:rPr lang="en-US" sz="2800" dirty="0"/>
              <a:t>Open SR</a:t>
            </a:r>
            <a:endParaRPr lang="en-US" sz="2400" dirty="0"/>
          </a:p>
          <a:p>
            <a:pPr algn="ctr"/>
            <a:r>
              <a:rPr lang="en-US" sz="2400" dirty="0"/>
              <a:t> </a:t>
            </a:r>
            <a:r>
              <a:rPr lang="ar-EG" sz="2400" dirty="0"/>
              <a:t>تمام يا أستاذ/ة....... أنا سجلت طلب حضرتك وفى حد من الدعم الفني هيتابع الشكوى، بستأذن حضرتك نسيب الراوتر متوصل، ولو مفيش أي تأخير من المصرية للاتصالات في خلال </a:t>
            </a:r>
            <a:r>
              <a:rPr lang="ar-EG" sz="2400" b="1" dirty="0">
                <a:solidFill>
                  <a:srgbClr val="FF6600"/>
                </a:solidFill>
              </a:rPr>
              <a:t>48</a:t>
            </a:r>
            <a:r>
              <a:rPr lang="ar-EG" sz="2400" b="1" dirty="0">
                <a:solidFill>
                  <a:srgbClr val="FF0000"/>
                </a:solidFill>
              </a:rPr>
              <a:t> </a:t>
            </a:r>
            <a:r>
              <a:rPr lang="ar-EG" sz="2400" dirty="0"/>
              <a:t>ساعة عمل هتكون الخدمة شغاله بصوره طبيعية عند حضرتك </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13" y="5049982"/>
            <a:ext cx="8833778" cy="1046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p:cNvPicPr>
          <p:nvPr/>
        </p:nvPicPr>
        <p:blipFill>
          <a:blip r:embed="rId3"/>
          <a:stretch>
            <a:fillRect/>
          </a:stretch>
        </p:blipFill>
        <p:spPr>
          <a:xfrm>
            <a:off x="130113" y="2664835"/>
            <a:ext cx="8667750" cy="1362075"/>
          </a:xfrm>
          <a:prstGeom prst="rect">
            <a:avLst/>
          </a:prstGeom>
        </p:spPr>
      </p:pic>
    </p:spTree>
    <p:extLst>
      <p:ext uri="{BB962C8B-B14F-4D97-AF65-F5344CB8AC3E}">
        <p14:creationId xmlns:p14="http://schemas.microsoft.com/office/powerpoint/2010/main" val="373394923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38480"/>
            <a:ext cx="9014793" cy="1323439"/>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80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Connectio</a:t>
            </a:r>
            <a:r>
              <a:rPr lang="en-US" sz="80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n Unstable </a:t>
            </a:r>
            <a:endParaRPr lang="en-US" sz="80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Rectangle 2"/>
          <p:cNvSpPr/>
          <p:nvPr/>
        </p:nvSpPr>
        <p:spPr>
          <a:xfrm>
            <a:off x="201304" y="2536209"/>
            <a:ext cx="7772400" cy="369332"/>
          </a:xfrm>
          <a:prstGeom prst="rect">
            <a:avLst/>
          </a:prstGeom>
          <a:solidFill>
            <a:srgbClr val="FFFF00"/>
          </a:solidFill>
        </p:spPr>
        <p:txBody>
          <a:bodyPr wrap="square">
            <a:spAutoFit/>
          </a:bodyPr>
          <a:lstStyle/>
          <a:p>
            <a:r>
              <a:rPr lang="en-US" b="1" dirty="0"/>
              <a:t>Not matched physical with logical up time on FTTH Tool &amp; IP Tool </a:t>
            </a:r>
          </a:p>
        </p:txBody>
      </p:sp>
    </p:spTree>
    <p:extLst>
      <p:ext uri="{BB962C8B-B14F-4D97-AF65-F5344CB8AC3E}">
        <p14:creationId xmlns:p14="http://schemas.microsoft.com/office/powerpoint/2010/main" val="416900530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424190"/>
            <a:ext cx="5954900" cy="523220"/>
          </a:xfrm>
          <a:prstGeom prst="rect">
            <a:avLst/>
          </a:prstGeom>
          <a:noFill/>
        </p:spPr>
        <p:txBody>
          <a:bodyPr wrap="none" rtlCol="0">
            <a:spAutoFit/>
          </a:bodyPr>
          <a:lstStyle/>
          <a:p>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How to Open  Connection unstable WF</a:t>
            </a:r>
            <a:endParaRPr lang="en-US" sz="2800" b="1" dirty="0">
              <a:ln w="1905"/>
              <a:solidFill>
                <a:srgbClr val="92D050"/>
              </a:solidFill>
              <a:effectLst>
                <a:innerShdw blurRad="69850" dist="43180" dir="5400000">
                  <a:srgbClr val="000000">
                    <a:alpha val="65000"/>
                  </a:srgbClr>
                </a:innerShdw>
              </a:effectLst>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9141823" cy="5715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438400"/>
            <a:ext cx="45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5334000" y="2667000"/>
            <a:ext cx="45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889796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9075" y="496598"/>
            <a:ext cx="8800235" cy="1819275"/>
          </a:xfrm>
          <a:prstGeom prst="rect">
            <a:avLst/>
          </a:prstGeom>
        </p:spPr>
      </p:pic>
      <p:sp>
        <p:nvSpPr>
          <p:cNvPr id="3" name="Right Arrow 2"/>
          <p:cNvSpPr/>
          <p:nvPr/>
        </p:nvSpPr>
        <p:spPr>
          <a:xfrm>
            <a:off x="841438" y="1006077"/>
            <a:ext cx="775855" cy="59574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219075" y="5078751"/>
            <a:ext cx="8657070" cy="1133954"/>
          </a:xfrm>
          <a:prstGeom prst="rect">
            <a:avLst/>
          </a:prstGeom>
        </p:spPr>
      </p:pic>
      <p:sp>
        <p:nvSpPr>
          <p:cNvPr id="6" name="Rectangle 5"/>
          <p:cNvSpPr/>
          <p:nvPr/>
        </p:nvSpPr>
        <p:spPr>
          <a:xfrm>
            <a:off x="549065" y="4467656"/>
            <a:ext cx="3944926" cy="369332"/>
          </a:xfrm>
          <a:prstGeom prst="rect">
            <a:avLst/>
          </a:prstGeom>
        </p:spPr>
        <p:txBody>
          <a:bodyPr wrap="none">
            <a:spAutoFit/>
          </a:bodyPr>
          <a:lstStyle/>
          <a:p>
            <a:r>
              <a:rPr lang="en-US" dirty="0"/>
              <a:t>2.Open IP Tool and check the login date.</a:t>
            </a:r>
          </a:p>
        </p:txBody>
      </p:sp>
      <p:pic>
        <p:nvPicPr>
          <p:cNvPr id="7" name="Picture 6"/>
          <p:cNvPicPr>
            <a:picLocks noChangeAspect="1"/>
          </p:cNvPicPr>
          <p:nvPr/>
        </p:nvPicPr>
        <p:blipFill>
          <a:blip r:embed="rId4"/>
          <a:stretch>
            <a:fillRect/>
          </a:stretch>
        </p:blipFill>
        <p:spPr>
          <a:xfrm>
            <a:off x="320675" y="2871895"/>
            <a:ext cx="8453870" cy="1390650"/>
          </a:xfrm>
          <a:prstGeom prst="rect">
            <a:avLst/>
          </a:prstGeom>
        </p:spPr>
      </p:pic>
      <p:sp>
        <p:nvSpPr>
          <p:cNvPr id="9" name="Rectangle 8"/>
          <p:cNvSpPr/>
          <p:nvPr/>
        </p:nvSpPr>
        <p:spPr>
          <a:xfrm>
            <a:off x="320675" y="2310921"/>
            <a:ext cx="4514826" cy="369332"/>
          </a:xfrm>
          <a:prstGeom prst="rect">
            <a:avLst/>
          </a:prstGeom>
        </p:spPr>
        <p:txBody>
          <a:bodyPr wrap="none">
            <a:spAutoFit/>
          </a:bodyPr>
          <a:lstStyle/>
          <a:p>
            <a:r>
              <a:rPr lang="en-US" dirty="0"/>
              <a:t>1.​​Open FTTH Tool and check the Port Up time.</a:t>
            </a:r>
          </a:p>
        </p:txBody>
      </p:sp>
    </p:spTree>
    <p:extLst>
      <p:ext uri="{BB962C8B-B14F-4D97-AF65-F5344CB8AC3E}">
        <p14:creationId xmlns:p14="http://schemas.microsoft.com/office/powerpoint/2010/main" val="115246144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570" y="719832"/>
            <a:ext cx="8349456"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own Arrow 1"/>
          <p:cNvSpPr/>
          <p:nvPr/>
        </p:nvSpPr>
        <p:spPr>
          <a:xfrm rot="5400000">
            <a:off x="7521460" y="1034157"/>
            <a:ext cx="516340" cy="685800"/>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5" name="Rectangle 4"/>
          <p:cNvSpPr/>
          <p:nvPr/>
        </p:nvSpPr>
        <p:spPr>
          <a:xfrm>
            <a:off x="172315" y="2782555"/>
            <a:ext cx="8844685" cy="430887"/>
          </a:xfrm>
          <a:prstGeom prst="rect">
            <a:avLst/>
          </a:prstGeom>
        </p:spPr>
        <p:txBody>
          <a:bodyPr wrap="square">
            <a:spAutoFit/>
          </a:bodyPr>
          <a:lstStyle/>
          <a:p>
            <a:r>
              <a:rPr lang="en-US" sz="1100" dirty="0">
                <a:solidFill>
                  <a:srgbClr val="000000"/>
                </a:solidFill>
                <a:latin typeface="Helvetica Neue"/>
              </a:rPr>
              <a:t>3. If both not matched (the time between port up time &amp; IP and found more than 5 minutes) will assign "40012" Siebel SR to L3 --&gt; Agent shouldn’t do port reset or restart the router​.</a:t>
            </a:r>
            <a:endParaRPr lang="en-US" dirty="0"/>
          </a:p>
        </p:txBody>
      </p:sp>
      <p:pic>
        <p:nvPicPr>
          <p:cNvPr id="8" name="Picture 7"/>
          <p:cNvPicPr>
            <a:picLocks noChangeAspect="1"/>
          </p:cNvPicPr>
          <p:nvPr/>
        </p:nvPicPr>
        <p:blipFill>
          <a:blip r:embed="rId4"/>
          <a:stretch>
            <a:fillRect/>
          </a:stretch>
        </p:blipFill>
        <p:spPr>
          <a:xfrm>
            <a:off x="338570" y="3961714"/>
            <a:ext cx="8513329" cy="1562785"/>
          </a:xfrm>
          <a:prstGeom prst="rect">
            <a:avLst/>
          </a:prstGeom>
        </p:spPr>
      </p:pic>
    </p:spTree>
    <p:extLst>
      <p:ext uri="{BB962C8B-B14F-4D97-AF65-F5344CB8AC3E}">
        <p14:creationId xmlns:p14="http://schemas.microsoft.com/office/powerpoint/2010/main" val="16038426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6200"/>
            <a:ext cx="3810000" cy="400110"/>
          </a:xfrm>
          <a:prstGeom prst="rect">
            <a:avLst/>
          </a:prstGeom>
          <a:noFill/>
        </p:spPr>
        <p:txBody>
          <a:bodyPr wrap="square" rtlCol="0">
            <a:spAutoFit/>
          </a:bodyPr>
          <a:lstStyle/>
          <a:p>
            <a:r>
              <a:rPr lang="en-US" sz="2000" b="1" dirty="0"/>
              <a:t>For Copper  </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114800"/>
            <a:ext cx="89154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Left Arrow 3"/>
          <p:cNvSpPr/>
          <p:nvPr/>
        </p:nvSpPr>
        <p:spPr>
          <a:xfrm>
            <a:off x="7416800" y="4635055"/>
            <a:ext cx="774700" cy="440563"/>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TextBox 6"/>
          <p:cNvSpPr txBox="1"/>
          <p:nvPr/>
        </p:nvSpPr>
        <p:spPr>
          <a:xfrm>
            <a:off x="331787" y="3656052"/>
            <a:ext cx="1028700" cy="369332"/>
          </a:xfrm>
          <a:prstGeom prst="rect">
            <a:avLst/>
          </a:prstGeom>
          <a:noFill/>
        </p:spPr>
        <p:txBody>
          <a:bodyPr wrap="square" rtlCol="0">
            <a:spAutoFit/>
          </a:bodyPr>
          <a:lstStyle/>
          <a:p>
            <a:r>
              <a:rPr lang="en-US" dirty="0"/>
              <a:t>IP Tool </a:t>
            </a:r>
          </a:p>
        </p:txBody>
      </p:sp>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5970033"/>
            <a:ext cx="7477125" cy="783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Down Arrow 7"/>
          <p:cNvSpPr/>
          <p:nvPr/>
        </p:nvSpPr>
        <p:spPr>
          <a:xfrm>
            <a:off x="5543550" y="5684817"/>
            <a:ext cx="381000" cy="570429"/>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912" y="1325254"/>
            <a:ext cx="8258175" cy="192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Left Arrow 10"/>
          <p:cNvSpPr/>
          <p:nvPr/>
        </p:nvSpPr>
        <p:spPr>
          <a:xfrm>
            <a:off x="7353300" y="2931287"/>
            <a:ext cx="838200" cy="407433"/>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905542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41700" y="1794107"/>
            <a:ext cx="1828800" cy="369332"/>
          </a:xfrm>
          <a:prstGeom prst="rect">
            <a:avLst/>
          </a:prstGeom>
          <a:noFill/>
        </p:spPr>
        <p:txBody>
          <a:bodyPr wrap="square" rtlCol="0">
            <a:spAutoFit/>
          </a:bodyPr>
          <a:lstStyle/>
          <a:p>
            <a:pPr algn="ctr"/>
            <a:r>
              <a:rPr lang="en-US" b="1" dirty="0"/>
              <a:t>Open SR </a:t>
            </a:r>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4318000"/>
            <a:ext cx="9105900"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stretch>
            <a:fillRect/>
          </a:stretch>
        </p:blipFill>
        <p:spPr>
          <a:xfrm>
            <a:off x="0" y="2342497"/>
            <a:ext cx="8978900" cy="1484597"/>
          </a:xfrm>
          <a:prstGeom prst="rect">
            <a:avLst/>
          </a:prstGeom>
        </p:spPr>
      </p:pic>
      <p:sp>
        <p:nvSpPr>
          <p:cNvPr id="6" name="Rectangle 5"/>
          <p:cNvSpPr/>
          <p:nvPr/>
        </p:nvSpPr>
        <p:spPr>
          <a:xfrm>
            <a:off x="431800" y="747605"/>
            <a:ext cx="8280400" cy="523220"/>
          </a:xfrm>
          <a:prstGeom prst="rect">
            <a:avLst/>
          </a:prstGeom>
        </p:spPr>
        <p:txBody>
          <a:bodyPr wrap="square">
            <a:spAutoFit/>
          </a:bodyPr>
          <a:lstStyle/>
          <a:p>
            <a:r>
              <a:rPr lang="en-US" sz="1400" dirty="0">
                <a:solidFill>
                  <a:srgbClr val="000000"/>
                </a:solidFill>
                <a:latin typeface="Helvetica Neue"/>
              </a:rPr>
              <a:t>3. If both not matched (the time between port up time &amp; IP and found more than 5 minutes) will assign "40012" Siebel SR to L3 --&gt; Agent shouldn’t do port reset or restart the router​.</a:t>
            </a:r>
            <a:endParaRPr lang="en-US" sz="2400" dirty="0"/>
          </a:p>
        </p:txBody>
      </p:sp>
    </p:spTree>
    <p:extLst>
      <p:ext uri="{BB962C8B-B14F-4D97-AF65-F5344CB8AC3E}">
        <p14:creationId xmlns:p14="http://schemas.microsoft.com/office/powerpoint/2010/main" val="234114771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76400"/>
            <a:ext cx="9144000" cy="1200329"/>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72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Browsing Sites Problem</a:t>
            </a:r>
          </a:p>
        </p:txBody>
      </p:sp>
      <p:sp>
        <p:nvSpPr>
          <p:cNvPr id="3" name="Rectangle 2"/>
          <p:cNvSpPr/>
          <p:nvPr/>
        </p:nvSpPr>
        <p:spPr>
          <a:xfrm>
            <a:off x="685800" y="3061811"/>
            <a:ext cx="7391400" cy="646331"/>
          </a:xfrm>
          <a:prstGeom prst="rect">
            <a:avLst/>
          </a:prstGeom>
        </p:spPr>
        <p:txBody>
          <a:bodyPr wrap="square">
            <a:spAutoFit/>
          </a:bodyPr>
          <a:lstStyle/>
          <a:p>
            <a:r>
              <a:rPr lang="en-US" b="1" dirty="0"/>
              <a:t>In case receiving customer complaining from sites problem.</a:t>
            </a:r>
            <a:br>
              <a:rPr lang="en-US" dirty="0"/>
            </a:br>
            <a:endParaRPr lang="en-US" dirty="0"/>
          </a:p>
        </p:txBody>
      </p:sp>
    </p:spTree>
    <p:extLst>
      <p:ext uri="{BB962C8B-B14F-4D97-AF65-F5344CB8AC3E}">
        <p14:creationId xmlns:p14="http://schemas.microsoft.com/office/powerpoint/2010/main" val="190821081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7800" y="140241"/>
            <a:ext cx="8369300" cy="769441"/>
          </a:xfrm>
          <a:prstGeom prst="rect">
            <a:avLst/>
          </a:prstGeom>
        </p:spPr>
        <p:txBody>
          <a:bodyPr wrap="square">
            <a:spAutoFit/>
          </a:bodyPr>
          <a:lstStyle/>
          <a:p>
            <a:pPr>
              <a:buFont typeface="Arial" panose="020B0604020202020204" pitchFamily="34" charset="0"/>
              <a:buChar char="•"/>
            </a:pPr>
            <a:r>
              <a:rPr lang="en-US" sz="1100" dirty="0">
                <a:solidFill>
                  <a:srgbClr val="444444"/>
                </a:solidFill>
                <a:latin typeface="Helvetica Neue"/>
              </a:rPr>
              <a:t>Customer should have a PC/Laptop in order to follow this handling.</a:t>
            </a:r>
            <a:endParaRPr lang="en-US" dirty="0">
              <a:solidFill>
                <a:srgbClr val="000000"/>
              </a:solidFill>
              <a:latin typeface="Helvetica Neue"/>
            </a:endParaRPr>
          </a:p>
          <a:p>
            <a:pPr>
              <a:buFont typeface="Arial" panose="020B0604020202020204" pitchFamily="34" charset="0"/>
              <a:buChar char="•"/>
            </a:pPr>
            <a:r>
              <a:rPr lang="en-US" sz="1100" dirty="0">
                <a:solidFill>
                  <a:srgbClr val="444444"/>
                </a:solidFill>
                <a:latin typeface="Helvetica Neue"/>
              </a:rPr>
              <a:t>If no and customer only has a mobile, accordingly agent should make sure that the customer is connected (Authenticated and has IP) and date &amp; time is updated.</a:t>
            </a:r>
            <a:endParaRPr lang="en-US" dirty="0">
              <a:solidFill>
                <a:srgbClr val="000000"/>
              </a:solidFill>
              <a:latin typeface="Helvetica Neue"/>
            </a:endParaRPr>
          </a:p>
          <a:p>
            <a:pPr>
              <a:buFont typeface="Arial" panose="020B0604020202020204" pitchFamily="34" charset="0"/>
              <a:buChar char="•"/>
            </a:pPr>
            <a:r>
              <a:rPr lang="en-US" sz="1100" dirty="0">
                <a:solidFill>
                  <a:srgbClr val="444444"/>
                </a:solidFill>
                <a:latin typeface="Helvetica Neue"/>
              </a:rPr>
              <a:t>Agent should create &amp; close the below SR:</a:t>
            </a:r>
            <a:endParaRPr lang="en-US" b="0" i="0" dirty="0">
              <a:solidFill>
                <a:srgbClr val="000000"/>
              </a:solidFill>
              <a:effectLst/>
              <a:latin typeface="Helvetica Neue"/>
            </a:endParaRPr>
          </a:p>
        </p:txBody>
      </p:sp>
      <p:pic>
        <p:nvPicPr>
          <p:cNvPr id="4" name="Picture 3"/>
          <p:cNvPicPr>
            <a:picLocks noChangeAspect="1"/>
          </p:cNvPicPr>
          <p:nvPr/>
        </p:nvPicPr>
        <p:blipFill>
          <a:blip r:embed="rId2"/>
          <a:stretch>
            <a:fillRect/>
          </a:stretch>
        </p:blipFill>
        <p:spPr>
          <a:xfrm>
            <a:off x="177800" y="1198562"/>
            <a:ext cx="8839200" cy="676275"/>
          </a:xfrm>
          <a:prstGeom prst="rect">
            <a:avLst/>
          </a:prstGeom>
        </p:spPr>
      </p:pic>
      <p:pic>
        <p:nvPicPr>
          <p:cNvPr id="7" name="Picture 6"/>
          <p:cNvPicPr>
            <a:picLocks noChangeAspect="1"/>
          </p:cNvPicPr>
          <p:nvPr/>
        </p:nvPicPr>
        <p:blipFill>
          <a:blip r:embed="rId3"/>
          <a:stretch>
            <a:fillRect/>
          </a:stretch>
        </p:blipFill>
        <p:spPr>
          <a:xfrm>
            <a:off x="177800" y="1874838"/>
            <a:ext cx="8724900" cy="2029506"/>
          </a:xfrm>
          <a:prstGeom prst="rect">
            <a:avLst/>
          </a:prstGeom>
        </p:spPr>
      </p:pic>
      <p:pic>
        <p:nvPicPr>
          <p:cNvPr id="8" name="Picture 7"/>
          <p:cNvPicPr>
            <a:picLocks noChangeAspect="1"/>
          </p:cNvPicPr>
          <p:nvPr/>
        </p:nvPicPr>
        <p:blipFill>
          <a:blip r:embed="rId4"/>
          <a:stretch>
            <a:fillRect/>
          </a:stretch>
        </p:blipFill>
        <p:spPr>
          <a:xfrm>
            <a:off x="972457" y="3657600"/>
            <a:ext cx="6995886" cy="2859314"/>
          </a:xfrm>
          <a:prstGeom prst="rect">
            <a:avLst/>
          </a:prstGeom>
        </p:spPr>
      </p:pic>
    </p:spTree>
    <p:extLst>
      <p:ext uri="{BB962C8B-B14F-4D97-AF65-F5344CB8AC3E}">
        <p14:creationId xmlns:p14="http://schemas.microsoft.com/office/powerpoint/2010/main" val="422320506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28171" y="316819"/>
            <a:ext cx="8229600" cy="2276475"/>
          </a:xfrm>
          <a:prstGeom prst="rect">
            <a:avLst/>
          </a:prstGeom>
        </p:spPr>
      </p:pic>
      <p:sp>
        <p:nvSpPr>
          <p:cNvPr id="5" name="Rectangle 4"/>
          <p:cNvSpPr/>
          <p:nvPr/>
        </p:nvSpPr>
        <p:spPr>
          <a:xfrm>
            <a:off x="174171" y="2892309"/>
            <a:ext cx="8483600" cy="1477328"/>
          </a:xfrm>
          <a:prstGeom prst="rect">
            <a:avLst/>
          </a:prstGeom>
        </p:spPr>
        <p:txBody>
          <a:bodyPr wrap="square">
            <a:spAutoFit/>
          </a:bodyPr>
          <a:lstStyle/>
          <a:p>
            <a:r>
              <a:rPr lang="en-US" b="1" dirty="0"/>
              <a:t>In case can browse other websites, agent should ask the customer If s/he installed a firewall/ ISA server.</a:t>
            </a:r>
          </a:p>
          <a:p>
            <a:r>
              <a:rPr lang="en-US" b="1" dirty="0"/>
              <a:t>If Yes, ask the customer to connect back to back and make sure the default GW for his/her PC/Laptop is router IP (not ISA server IP).</a:t>
            </a:r>
          </a:p>
          <a:p>
            <a:r>
              <a:rPr lang="en-US" b="1" dirty="0"/>
              <a:t>If No, follow the below:​</a:t>
            </a: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921" y="4668652"/>
            <a:ext cx="8420100" cy="177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Down Arrow 8"/>
          <p:cNvSpPr/>
          <p:nvPr/>
        </p:nvSpPr>
        <p:spPr>
          <a:xfrm rot="16200000">
            <a:off x="1315357" y="5440177"/>
            <a:ext cx="381000" cy="6096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35102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6580" y="1603602"/>
            <a:ext cx="8695191" cy="3476625"/>
          </a:xfrm>
          <a:prstGeom prst="rect">
            <a:avLst/>
          </a:prstGeom>
        </p:spPr>
      </p:pic>
      <p:sp>
        <p:nvSpPr>
          <p:cNvPr id="6" name="Down Arrow 5"/>
          <p:cNvSpPr/>
          <p:nvPr/>
        </p:nvSpPr>
        <p:spPr>
          <a:xfrm rot="5400000">
            <a:off x="7004958" y="3937454"/>
            <a:ext cx="381000" cy="6096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064791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457200"/>
            <a:ext cx="7772400" cy="923330"/>
          </a:xfrm>
          <a:prstGeom prst="rect">
            <a:avLst/>
          </a:prstGeom>
          <a:noFill/>
        </p:spPr>
        <p:txBody>
          <a:bodyPr wrap="square" rtlCol="0">
            <a:spAutoFit/>
          </a:bodyPr>
          <a:lstStyle/>
          <a:p>
            <a:endParaRPr lang="en-US" b="1" dirty="0"/>
          </a:p>
          <a:p>
            <a:r>
              <a:rPr lang="en-US" b="1" dirty="0"/>
              <a:t>- Reset browser settings to default </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76400"/>
            <a:ext cx="9067799" cy="126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09599" y="3352800"/>
            <a:ext cx="4028219" cy="369332"/>
          </a:xfrm>
          <a:prstGeom prst="rect">
            <a:avLst/>
          </a:prstGeom>
          <a:noFill/>
        </p:spPr>
        <p:txBody>
          <a:bodyPr wrap="none" rtlCol="0">
            <a:spAutoFit/>
          </a:bodyPr>
          <a:lstStyle/>
          <a:p>
            <a:pPr marL="285750" indent="-285750">
              <a:buFont typeface="Arial" panose="020B0604020202020204" pitchFamily="34" charset="0"/>
              <a:buChar char="•"/>
            </a:pPr>
            <a:r>
              <a:rPr lang="en-US" dirty="0"/>
              <a:t>Let Customer try to open the web site​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4" y="4419600"/>
            <a:ext cx="775335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rot="10800000">
            <a:off x="7612289" y="5092504"/>
            <a:ext cx="798285" cy="48299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352553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609600"/>
            <a:ext cx="7696200" cy="1200329"/>
          </a:xfrm>
          <a:prstGeom prst="rect">
            <a:avLst/>
          </a:prstGeom>
        </p:spPr>
        <p:txBody>
          <a:bodyPr wrap="square">
            <a:spAutoFit/>
          </a:bodyPr>
          <a:lstStyle/>
          <a:p>
            <a:r>
              <a:rPr lang="en-US" b="1" dirty="0">
                <a:solidFill>
                  <a:srgbClr val="F5750B"/>
                </a:solidFill>
              </a:rPr>
              <a:t>- Check DNS , on TCP/IP Setting​</a:t>
            </a:r>
          </a:p>
          <a:p>
            <a:br>
              <a:rPr lang="en-US" dirty="0"/>
            </a:br>
            <a:r>
              <a:rPr lang="en-US" dirty="0"/>
              <a:t>- Preferred DNS 41.128.225.225</a:t>
            </a:r>
          </a:p>
          <a:p>
            <a:r>
              <a:rPr lang="en-US" dirty="0"/>
              <a:t>- Alternate DNS 41.128.225.226</a:t>
            </a:r>
            <a:endParaRPr lang="en-US" dirty="0">
              <a:effectLst/>
            </a:endParaRPr>
          </a:p>
        </p:txBody>
      </p:sp>
      <p:pic>
        <p:nvPicPr>
          <p:cNvPr id="4098" name="Picture 2" descr="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3153" y="304800"/>
            <a:ext cx="4267200" cy="31242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2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863" y="1809929"/>
            <a:ext cx="4044537" cy="303340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2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4553" y="3539837"/>
            <a:ext cx="4495800" cy="32419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334000" y="2286000"/>
            <a:ext cx="5334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dirty="0">
                <a:solidFill>
                  <a:srgbClr val="F5750B"/>
                </a:solidFill>
              </a:rPr>
              <a:t>  1</a:t>
            </a:r>
          </a:p>
        </p:txBody>
      </p:sp>
      <p:sp>
        <p:nvSpPr>
          <p:cNvPr id="6" name="TextBox 5"/>
          <p:cNvSpPr txBox="1"/>
          <p:nvPr/>
        </p:nvSpPr>
        <p:spPr>
          <a:xfrm>
            <a:off x="3324349" y="3369391"/>
            <a:ext cx="571500"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a:t>  </a:t>
            </a:r>
            <a:r>
              <a:rPr lang="en-US" sz="2000" b="1" dirty="0">
                <a:solidFill>
                  <a:srgbClr val="F5750B"/>
                </a:solidFill>
              </a:rPr>
              <a:t>2</a:t>
            </a:r>
          </a:p>
        </p:txBody>
      </p:sp>
      <p:sp>
        <p:nvSpPr>
          <p:cNvPr id="7" name="TextBox 6"/>
          <p:cNvSpPr txBox="1"/>
          <p:nvPr/>
        </p:nvSpPr>
        <p:spPr>
          <a:xfrm>
            <a:off x="5029200" y="4774662"/>
            <a:ext cx="5715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   </a:t>
            </a:r>
            <a:r>
              <a:rPr lang="en-US" b="1" dirty="0">
                <a:solidFill>
                  <a:srgbClr val="F5750B"/>
                </a:solidFill>
              </a:rPr>
              <a:t>3</a:t>
            </a:r>
          </a:p>
        </p:txBody>
      </p:sp>
    </p:spTree>
    <p:extLst>
      <p:ext uri="{BB962C8B-B14F-4D97-AF65-F5344CB8AC3E}">
        <p14:creationId xmlns:p14="http://schemas.microsoft.com/office/powerpoint/2010/main" val="152609877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688"/>
            <a:ext cx="4419600" cy="492331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3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590801"/>
            <a:ext cx="4724400" cy="42375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895600" y="2491344"/>
            <a:ext cx="7620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    </a:t>
            </a:r>
            <a:r>
              <a:rPr lang="en-US" b="1" dirty="0">
                <a:solidFill>
                  <a:srgbClr val="F5750B"/>
                </a:solidFill>
              </a:rPr>
              <a:t>4</a:t>
            </a:r>
          </a:p>
        </p:txBody>
      </p:sp>
      <p:sp>
        <p:nvSpPr>
          <p:cNvPr id="4" name="TextBox 3"/>
          <p:cNvSpPr txBox="1"/>
          <p:nvPr/>
        </p:nvSpPr>
        <p:spPr>
          <a:xfrm>
            <a:off x="8077200" y="4709557"/>
            <a:ext cx="34015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400" b="1" dirty="0">
                <a:solidFill>
                  <a:srgbClr val="F5750B"/>
                </a:solidFill>
              </a:rPr>
              <a:t>5</a:t>
            </a:r>
          </a:p>
        </p:txBody>
      </p:sp>
    </p:spTree>
    <p:extLst>
      <p:ext uri="{BB962C8B-B14F-4D97-AF65-F5344CB8AC3E}">
        <p14:creationId xmlns:p14="http://schemas.microsoft.com/office/powerpoint/2010/main" val="136489308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3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228600"/>
            <a:ext cx="8839200" cy="4267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57200" y="4567259"/>
            <a:ext cx="3767955" cy="369332"/>
          </a:xfrm>
          <a:prstGeom prst="rect">
            <a:avLst/>
          </a:prstGeom>
        </p:spPr>
        <p:txBody>
          <a:bodyPr wrap="none">
            <a:spAutoFit/>
          </a:bodyPr>
          <a:lstStyle/>
          <a:p>
            <a:r>
              <a:rPr lang="en-US" b="1" dirty="0"/>
              <a:t>Let customer try to open the web site​</a:t>
            </a:r>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5424" y="5029200"/>
            <a:ext cx="6153150" cy="163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391400" y="2362200"/>
            <a:ext cx="34015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400" b="1" dirty="0">
                <a:solidFill>
                  <a:srgbClr val="F5750B"/>
                </a:solidFill>
              </a:rPr>
              <a:t>6</a:t>
            </a:r>
          </a:p>
        </p:txBody>
      </p:sp>
      <p:sp>
        <p:nvSpPr>
          <p:cNvPr id="4" name="Left Arrow 3"/>
          <p:cNvSpPr/>
          <p:nvPr/>
        </p:nvSpPr>
        <p:spPr>
          <a:xfrm>
            <a:off x="7549604" y="5512996"/>
            <a:ext cx="762000" cy="361950"/>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232444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2581275"/>
            <a:ext cx="8642959"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152400"/>
            <a:ext cx="857250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own Arrow 5"/>
          <p:cNvSpPr/>
          <p:nvPr/>
        </p:nvSpPr>
        <p:spPr>
          <a:xfrm>
            <a:off x="6172200" y="381000"/>
            <a:ext cx="190500" cy="4572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219200"/>
            <a:ext cx="7200900" cy="111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Down Arrow 7"/>
          <p:cNvSpPr/>
          <p:nvPr/>
        </p:nvSpPr>
        <p:spPr>
          <a:xfrm>
            <a:off x="7010400" y="1547812"/>
            <a:ext cx="190500" cy="4572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06133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44" y="4363811"/>
            <a:ext cx="9144000"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43544" y="65933"/>
            <a:ext cx="9143998" cy="1200329"/>
          </a:xfrm>
          <a:prstGeom prst="rect">
            <a:avLst/>
          </a:prstGeom>
        </p:spPr>
        <p:txBody>
          <a:bodyPr wrap="square">
            <a:spAutoFit/>
          </a:bodyPr>
          <a:lstStyle/>
          <a:p>
            <a:r>
              <a:rPr lang="en-US" b="1" dirty="0">
                <a:solidFill>
                  <a:srgbClr val="000000"/>
                </a:solidFill>
              </a:rPr>
              <a:t>Script</a:t>
            </a:r>
            <a:endParaRPr lang="en-US" u="sng" dirty="0"/>
          </a:p>
          <a:p>
            <a:pPr algn="r"/>
            <a:r>
              <a:rPr lang="en-US" b="1" dirty="0"/>
              <a:t>     </a:t>
            </a:r>
            <a:r>
              <a:rPr lang="ar-AE" b="1" dirty="0"/>
              <a:t>تمام يا أستاذ/ة....... أنا سجلت الطلب لحضرتك وفي خلال الـ24 ساعة اللي جاية فيه حد هيتواصل مع حضرتك من جانبنا لحل المشكلة ونستأذنك تسيب الراوتر شغال ​.</a:t>
            </a:r>
          </a:p>
          <a:p>
            <a:pPr algn="r" rtl="1" fontAlgn="ctr"/>
            <a:r>
              <a:rPr lang="en-US" dirty="0"/>
              <a:t> </a:t>
            </a:r>
            <a:endParaRPr lang="en-US" b="1" dirty="0">
              <a:solidFill>
                <a:srgbClr val="000000"/>
              </a:solidFill>
            </a:endParaRPr>
          </a:p>
        </p:txBody>
      </p:sp>
      <p:pic>
        <p:nvPicPr>
          <p:cNvPr id="4" name="Picture 3"/>
          <p:cNvPicPr>
            <a:picLocks noChangeAspect="1"/>
          </p:cNvPicPr>
          <p:nvPr/>
        </p:nvPicPr>
        <p:blipFill>
          <a:blip r:embed="rId3"/>
          <a:stretch>
            <a:fillRect/>
          </a:stretch>
        </p:blipFill>
        <p:spPr>
          <a:xfrm>
            <a:off x="166121" y="1816272"/>
            <a:ext cx="8833531" cy="1623614"/>
          </a:xfrm>
          <a:prstGeom prst="rect">
            <a:avLst/>
          </a:prstGeom>
        </p:spPr>
      </p:pic>
    </p:spTree>
    <p:extLst>
      <p:ext uri="{BB962C8B-B14F-4D97-AF65-F5344CB8AC3E}">
        <p14:creationId xmlns:p14="http://schemas.microsoft.com/office/powerpoint/2010/main" val="221140667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990600"/>
            <a:ext cx="8763000" cy="156966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9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WLAN</a:t>
            </a:r>
          </a:p>
        </p:txBody>
      </p:sp>
      <p:sp>
        <p:nvSpPr>
          <p:cNvPr id="3" name="TextBox 2"/>
          <p:cNvSpPr txBox="1"/>
          <p:nvPr/>
        </p:nvSpPr>
        <p:spPr>
          <a:xfrm>
            <a:off x="304800" y="2971799"/>
            <a:ext cx="7620000" cy="646331"/>
          </a:xfrm>
          <a:prstGeom prst="rect">
            <a:avLst/>
          </a:prstGeom>
          <a:noFill/>
        </p:spPr>
        <p:txBody>
          <a:bodyPr wrap="square" rtlCol="0">
            <a:spAutoFit/>
          </a:bodyPr>
          <a:lstStyle/>
          <a:p>
            <a:r>
              <a:rPr lang="en-US" dirty="0"/>
              <a:t>Wireless LAN that uses to link more devices using wireless communication from a local area network within limited area.</a:t>
            </a:r>
          </a:p>
        </p:txBody>
      </p:sp>
    </p:spTree>
    <p:extLst>
      <p:ext uri="{BB962C8B-B14F-4D97-AF65-F5344CB8AC3E}">
        <p14:creationId xmlns:p14="http://schemas.microsoft.com/office/powerpoint/2010/main" val="167870938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62200" y="609600"/>
            <a:ext cx="3824060" cy="523220"/>
          </a:xfrm>
          <a:prstGeom prst="rect">
            <a:avLst/>
          </a:prstGeom>
          <a:noFill/>
        </p:spPr>
        <p:txBody>
          <a:bodyPr wrap="none" rtlCol="0">
            <a:spAutoFit/>
          </a:bodyPr>
          <a:lstStyle/>
          <a:p>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How to Open WLAN WF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58649"/>
            <a:ext cx="8817429" cy="552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97631" y="2780755"/>
            <a:ext cx="7858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441156" y="2962478"/>
            <a:ext cx="7858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985712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067800" cy="5595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1183574" y="3298216"/>
            <a:ext cx="685800" cy="381000"/>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Right Arrow 2"/>
          <p:cNvSpPr/>
          <p:nvPr/>
        </p:nvSpPr>
        <p:spPr>
          <a:xfrm>
            <a:off x="4554187" y="3534577"/>
            <a:ext cx="685800" cy="359384"/>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 name="TextBox 3"/>
          <p:cNvSpPr txBox="1"/>
          <p:nvPr/>
        </p:nvSpPr>
        <p:spPr>
          <a:xfrm>
            <a:off x="1676400" y="2895600"/>
            <a:ext cx="314510" cy="400110"/>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000" b="1" dirty="0">
                <a:solidFill>
                  <a:srgbClr val="F4740A"/>
                </a:solidFill>
              </a:rPr>
              <a:t>1</a:t>
            </a:r>
          </a:p>
        </p:txBody>
      </p:sp>
      <p:sp>
        <p:nvSpPr>
          <p:cNvPr id="5" name="TextBox 4"/>
          <p:cNvSpPr txBox="1"/>
          <p:nvPr/>
        </p:nvSpPr>
        <p:spPr>
          <a:xfrm>
            <a:off x="4724400" y="3124545"/>
            <a:ext cx="314510" cy="400110"/>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000" b="1" dirty="0">
                <a:solidFill>
                  <a:srgbClr val="F4740A"/>
                </a:solidFill>
              </a:rPr>
              <a:t>2</a:t>
            </a:r>
          </a:p>
        </p:txBody>
      </p:sp>
    </p:spTree>
    <p:extLst>
      <p:ext uri="{BB962C8B-B14F-4D97-AF65-F5344CB8AC3E}">
        <p14:creationId xmlns:p14="http://schemas.microsoft.com/office/powerpoint/2010/main" val="148010287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 Arrow 1"/>
          <p:cNvSpPr/>
          <p:nvPr/>
        </p:nvSpPr>
        <p:spPr>
          <a:xfrm>
            <a:off x="7220857" y="1013278"/>
            <a:ext cx="685800" cy="342900"/>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Rectangle 2"/>
          <p:cNvSpPr/>
          <p:nvPr/>
        </p:nvSpPr>
        <p:spPr>
          <a:xfrm>
            <a:off x="135617" y="4071028"/>
            <a:ext cx="8596539" cy="2200602"/>
          </a:xfrm>
          <a:prstGeom prst="rect">
            <a:avLst/>
          </a:prstGeom>
        </p:spPr>
        <p:txBody>
          <a:bodyPr wrap="square">
            <a:spAutoFit/>
          </a:bodyPr>
          <a:lstStyle/>
          <a:p>
            <a:pPr lvl="1" eaLnBrk="0" fontAlgn="base" hangingPunct="0">
              <a:spcBef>
                <a:spcPct val="0"/>
              </a:spcBef>
              <a:spcAft>
                <a:spcPct val="0"/>
              </a:spcAft>
              <a:buFontTx/>
              <a:buChar char="•"/>
            </a:pPr>
            <a:r>
              <a:rPr lang="en-US" altLang="en-US" sz="1100" b="1" u="sng" dirty="0">
                <a:solidFill>
                  <a:srgbClr val="000000"/>
                </a:solidFill>
                <a:latin typeface="Helvetica Neue"/>
              </a:rPr>
              <a:t>How to check if Wireless Installed driver card is installed on windows 10:</a:t>
            </a:r>
            <a:endParaRPr lang="en-US" altLang="en-US" sz="1200" dirty="0">
              <a:solidFill>
                <a:srgbClr val="000000"/>
              </a:solidFill>
              <a:latin typeface="Helvetica Neue"/>
            </a:endParaRPr>
          </a:p>
          <a:p>
            <a:pPr lvl="2" eaLnBrk="0" fontAlgn="base" hangingPunct="0">
              <a:spcBef>
                <a:spcPct val="0"/>
              </a:spcBef>
              <a:spcAft>
                <a:spcPct val="0"/>
              </a:spcAft>
              <a:buFontTx/>
              <a:buChar char="•"/>
            </a:pPr>
            <a:r>
              <a:rPr lang="en-US" altLang="en-US" sz="1100" dirty="0">
                <a:solidFill>
                  <a:srgbClr val="000000"/>
                </a:solidFill>
                <a:latin typeface="Helvetica Neue"/>
              </a:rPr>
              <a:t>Start button</a:t>
            </a:r>
            <a:endParaRPr lang="en-US" altLang="en-US" sz="1200" dirty="0">
              <a:solidFill>
                <a:srgbClr val="000000"/>
              </a:solidFill>
              <a:latin typeface="Helvetica Neue"/>
            </a:endParaRPr>
          </a:p>
          <a:p>
            <a:pPr lvl="2" eaLnBrk="0" fontAlgn="base" hangingPunct="0">
              <a:spcBef>
                <a:spcPct val="0"/>
              </a:spcBef>
              <a:spcAft>
                <a:spcPct val="0"/>
              </a:spcAft>
              <a:buFontTx/>
              <a:buChar char="•"/>
            </a:pPr>
            <a:r>
              <a:rPr lang="en-US" altLang="en-US" sz="1100" dirty="0">
                <a:solidFill>
                  <a:srgbClr val="000000"/>
                </a:solidFill>
                <a:latin typeface="Helvetica Neue"/>
              </a:rPr>
              <a:t>Settings</a:t>
            </a:r>
            <a:endParaRPr lang="en-US" altLang="en-US" sz="1200" dirty="0">
              <a:solidFill>
                <a:srgbClr val="000000"/>
              </a:solidFill>
              <a:latin typeface="Helvetica Neue"/>
            </a:endParaRPr>
          </a:p>
          <a:p>
            <a:pPr lvl="2" eaLnBrk="0" fontAlgn="base" hangingPunct="0">
              <a:spcBef>
                <a:spcPct val="0"/>
              </a:spcBef>
              <a:spcAft>
                <a:spcPct val="0"/>
              </a:spcAft>
              <a:buFontTx/>
              <a:buChar char="•"/>
            </a:pPr>
            <a:r>
              <a:rPr lang="en-US" altLang="en-US" sz="1100" dirty="0">
                <a:solidFill>
                  <a:srgbClr val="000000"/>
                </a:solidFill>
                <a:latin typeface="Helvetica Neue"/>
              </a:rPr>
              <a:t>Network &amp; Internet </a:t>
            </a:r>
            <a:endParaRPr lang="en-US" altLang="en-US" sz="1200" dirty="0">
              <a:solidFill>
                <a:srgbClr val="000000"/>
              </a:solidFill>
              <a:latin typeface="Helvetica Neue"/>
            </a:endParaRPr>
          </a:p>
          <a:p>
            <a:pPr lvl="2" eaLnBrk="0" fontAlgn="base" hangingPunct="0">
              <a:spcBef>
                <a:spcPct val="0"/>
              </a:spcBef>
              <a:spcAft>
                <a:spcPct val="0"/>
              </a:spcAft>
              <a:buFontTx/>
              <a:buChar char="•"/>
            </a:pPr>
            <a:r>
              <a:rPr lang="en-US" altLang="en-US" sz="1100" dirty="0">
                <a:solidFill>
                  <a:srgbClr val="000000"/>
                </a:solidFill>
                <a:latin typeface="Helvetica Neue"/>
              </a:rPr>
              <a:t>Status </a:t>
            </a:r>
            <a:endParaRPr lang="en-US" altLang="en-US" sz="1200" dirty="0">
              <a:solidFill>
                <a:srgbClr val="000000"/>
              </a:solidFill>
              <a:latin typeface="Helvetica Neue"/>
            </a:endParaRPr>
          </a:p>
          <a:p>
            <a:pPr lvl="2" eaLnBrk="0" fontAlgn="base" hangingPunct="0">
              <a:spcBef>
                <a:spcPct val="0"/>
              </a:spcBef>
              <a:spcAft>
                <a:spcPct val="0"/>
              </a:spcAft>
              <a:buFontTx/>
              <a:buChar char="•"/>
            </a:pPr>
            <a:r>
              <a:rPr lang="en-US" altLang="en-US" sz="1100" dirty="0">
                <a:solidFill>
                  <a:srgbClr val="000000"/>
                </a:solidFill>
                <a:latin typeface="Helvetica Neue"/>
              </a:rPr>
              <a:t>Network and Sharing Center</a:t>
            </a:r>
            <a:endParaRPr lang="en-US" altLang="en-US" sz="1200" dirty="0">
              <a:solidFill>
                <a:srgbClr val="000000"/>
              </a:solidFill>
              <a:latin typeface="Helvetica Neue"/>
            </a:endParaRPr>
          </a:p>
          <a:p>
            <a:pPr lvl="2" eaLnBrk="0" fontAlgn="base" hangingPunct="0">
              <a:spcBef>
                <a:spcPct val="0"/>
              </a:spcBef>
              <a:spcAft>
                <a:spcPct val="0"/>
              </a:spcAft>
              <a:buFontTx/>
              <a:buChar char="•"/>
            </a:pPr>
            <a:r>
              <a:rPr lang="en-US" altLang="en-US" sz="1200" dirty="0">
                <a:solidFill>
                  <a:srgbClr val="000000"/>
                </a:solidFill>
                <a:latin typeface="Helvetica Neue"/>
              </a:rPr>
              <a:t>Click on change adapter settings it'll direct you to network connections.</a:t>
            </a:r>
          </a:p>
          <a:p>
            <a:pPr lvl="2" eaLnBrk="0" fontAlgn="base" hangingPunct="0">
              <a:spcBef>
                <a:spcPct val="0"/>
              </a:spcBef>
              <a:spcAft>
                <a:spcPct val="0"/>
              </a:spcAft>
              <a:buFontTx/>
              <a:buChar char="•"/>
            </a:pPr>
            <a:r>
              <a:rPr lang="en-US" altLang="en-US" sz="1200" dirty="0">
                <a:solidFill>
                  <a:srgbClr val="000000"/>
                </a:solidFill>
                <a:latin typeface="Helvetica Neue"/>
              </a:rPr>
              <a:t>You notice Wi-Fi icon, if not found that means Wireless network adapter is not installed.</a:t>
            </a:r>
            <a:br>
              <a:rPr lang="en-US" altLang="en-US" sz="1200" dirty="0">
                <a:solidFill>
                  <a:srgbClr val="000000"/>
                </a:solidFill>
                <a:latin typeface="Helvetica Neue"/>
              </a:rPr>
            </a:br>
            <a:endParaRPr lang="en-US" altLang="en-US" sz="1200" dirty="0">
              <a:solidFill>
                <a:srgbClr val="000000"/>
              </a:solidFill>
              <a:latin typeface="Helvetica Neue"/>
            </a:endParaRPr>
          </a:p>
          <a:p>
            <a:pPr lvl="0" indent="33338" eaLnBrk="0" fontAlgn="base" hangingPunct="0">
              <a:spcBef>
                <a:spcPct val="0"/>
              </a:spcBef>
              <a:spcAft>
                <a:spcPct val="0"/>
              </a:spcAft>
              <a:buFontTx/>
              <a:buChar char="•"/>
            </a:pPr>
            <a:r>
              <a:rPr lang="en-US" altLang="en-US" sz="1100" b="1" dirty="0">
                <a:solidFill>
                  <a:srgbClr val="000000"/>
                </a:solidFill>
                <a:latin typeface="Helvetica Neue"/>
              </a:rPr>
              <a:t>How to check if Wireless Installed driver card is installed on windows 8:</a:t>
            </a:r>
            <a:r>
              <a:rPr lang="en-US" altLang="en-US" sz="1200" dirty="0">
                <a:solidFill>
                  <a:srgbClr val="000000"/>
                </a:solidFill>
                <a:latin typeface="Helvetica Neue"/>
              </a:rPr>
              <a:t>​</a:t>
            </a:r>
            <a:br>
              <a:rPr lang="en-US" altLang="en-US" sz="1200" dirty="0">
                <a:solidFill>
                  <a:srgbClr val="000000"/>
                </a:solidFill>
                <a:latin typeface="Helvetica Neue"/>
              </a:rPr>
            </a:br>
            <a:endParaRPr lang="en-US" altLang="en-US" sz="1200" dirty="0">
              <a:solidFill>
                <a:srgbClr val="000000"/>
              </a:solidFill>
              <a:latin typeface="Helvetica Neue"/>
            </a:endParaRPr>
          </a:p>
          <a:p>
            <a:pPr lvl="1" eaLnBrk="0" fontAlgn="base" hangingPunct="0">
              <a:spcBef>
                <a:spcPct val="0"/>
              </a:spcBef>
              <a:spcAft>
                <a:spcPct val="0"/>
              </a:spcAft>
              <a:buFontTx/>
              <a:buChar char="•"/>
            </a:pPr>
            <a:r>
              <a:rPr lang="en-US" altLang="en-US" sz="1100" dirty="0">
                <a:solidFill>
                  <a:srgbClr val="000000"/>
                </a:solidFill>
                <a:latin typeface="Helvetica Neue"/>
              </a:rPr>
              <a:t>​​</a:t>
            </a:r>
            <a:r>
              <a:rPr lang="en-US" altLang="en-US" sz="1100" dirty="0">
                <a:solidFill>
                  <a:srgbClr val="333333"/>
                </a:solidFill>
                <a:latin typeface="Helvetica Neue"/>
              </a:rPr>
              <a:t>From the start menu click on "Desktop" icon</a:t>
            </a:r>
            <a:endParaRPr lang="en-US" altLang="en-US" sz="1200" dirty="0">
              <a:solidFill>
                <a:srgbClr val="000000"/>
              </a:solidFill>
              <a:latin typeface="Helvetica Neue"/>
            </a:endParaRPr>
          </a:p>
        </p:txBody>
      </p:sp>
      <p:pic>
        <p:nvPicPr>
          <p:cNvPr id="4" name="Picture 3"/>
          <p:cNvPicPr>
            <a:picLocks noChangeAspect="1"/>
          </p:cNvPicPr>
          <p:nvPr/>
        </p:nvPicPr>
        <p:blipFill>
          <a:blip r:embed="rId2"/>
          <a:stretch>
            <a:fillRect/>
          </a:stretch>
        </p:blipFill>
        <p:spPr>
          <a:xfrm>
            <a:off x="425676" y="93435"/>
            <a:ext cx="8410575" cy="2171700"/>
          </a:xfrm>
          <a:prstGeom prst="rect">
            <a:avLst/>
          </a:prstGeom>
        </p:spPr>
      </p:pic>
      <p:sp>
        <p:nvSpPr>
          <p:cNvPr id="5" name="Right Arrow 4"/>
          <p:cNvSpPr/>
          <p:nvPr/>
        </p:nvSpPr>
        <p:spPr>
          <a:xfrm rot="10800000">
            <a:off x="6879771" y="449943"/>
            <a:ext cx="537029" cy="4064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1592488" y="2958416"/>
            <a:ext cx="6076950" cy="628650"/>
          </a:xfrm>
          <a:prstGeom prst="rect">
            <a:avLst/>
          </a:prstGeom>
        </p:spPr>
      </p:pic>
      <p:sp>
        <p:nvSpPr>
          <p:cNvPr id="11" name="Down Arrow 10"/>
          <p:cNvSpPr/>
          <p:nvPr/>
        </p:nvSpPr>
        <p:spPr>
          <a:xfrm rot="16200000">
            <a:off x="1449328" y="2771087"/>
            <a:ext cx="286319" cy="656317"/>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163232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3" y="247650"/>
            <a:ext cx="8562975" cy="636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994378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85750"/>
            <a:ext cx="8686800" cy="6286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368981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395288"/>
            <a:ext cx="8572500" cy="606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056479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38400" y="6318782"/>
            <a:ext cx="3886200" cy="369332"/>
          </a:xfrm>
          <a:prstGeom prst="rect">
            <a:avLst/>
          </a:prstGeom>
          <a:noFill/>
        </p:spPr>
        <p:txBody>
          <a:bodyPr wrap="square" rtlCol="0">
            <a:spAutoFit/>
          </a:bodyPr>
          <a:lstStyle/>
          <a:p>
            <a:r>
              <a:rPr lang="en-US" dirty="0"/>
              <a:t>Wireless Network Card not installed</a:t>
            </a:r>
          </a:p>
        </p:txBody>
      </p:sp>
      <p:pic>
        <p:nvPicPr>
          <p:cNvPr id="5" name="Picture 4">
            <a:extLst>
              <a:ext uri="{FF2B5EF4-FFF2-40B4-BE49-F238E27FC236}">
                <a16:creationId xmlns:a16="http://schemas.microsoft.com/office/drawing/2014/main" id="{7EF1244B-2808-0705-2042-6E2A0AB6D09A}"/>
              </a:ext>
            </a:extLst>
          </p:cNvPr>
          <p:cNvPicPr>
            <a:picLocks noChangeAspect="1"/>
          </p:cNvPicPr>
          <p:nvPr/>
        </p:nvPicPr>
        <p:blipFill>
          <a:blip r:embed="rId2"/>
          <a:stretch>
            <a:fillRect/>
          </a:stretch>
        </p:blipFill>
        <p:spPr>
          <a:xfrm>
            <a:off x="392028" y="498057"/>
            <a:ext cx="7645065" cy="1932321"/>
          </a:xfrm>
          <a:prstGeom prst="rect">
            <a:avLst/>
          </a:prstGeom>
        </p:spPr>
      </p:pic>
      <p:pic>
        <p:nvPicPr>
          <p:cNvPr id="7" name="Picture 6">
            <a:extLst>
              <a:ext uri="{FF2B5EF4-FFF2-40B4-BE49-F238E27FC236}">
                <a16:creationId xmlns:a16="http://schemas.microsoft.com/office/drawing/2014/main" id="{B939879F-40A7-0C92-0D92-53830E403CEB}"/>
              </a:ext>
            </a:extLst>
          </p:cNvPr>
          <p:cNvPicPr>
            <a:picLocks noChangeAspect="1"/>
          </p:cNvPicPr>
          <p:nvPr/>
        </p:nvPicPr>
        <p:blipFill>
          <a:blip r:embed="rId3"/>
          <a:stretch>
            <a:fillRect/>
          </a:stretch>
        </p:blipFill>
        <p:spPr>
          <a:xfrm>
            <a:off x="928687" y="3429000"/>
            <a:ext cx="2409825" cy="1657350"/>
          </a:xfrm>
          <a:prstGeom prst="rect">
            <a:avLst/>
          </a:prstGeom>
        </p:spPr>
      </p:pic>
      <p:pic>
        <p:nvPicPr>
          <p:cNvPr id="9" name="Picture 8">
            <a:extLst>
              <a:ext uri="{FF2B5EF4-FFF2-40B4-BE49-F238E27FC236}">
                <a16:creationId xmlns:a16="http://schemas.microsoft.com/office/drawing/2014/main" id="{C9866CC9-299F-616C-9848-75A6F46EDCD2}"/>
              </a:ext>
            </a:extLst>
          </p:cNvPr>
          <p:cNvPicPr>
            <a:picLocks noChangeAspect="1"/>
          </p:cNvPicPr>
          <p:nvPr/>
        </p:nvPicPr>
        <p:blipFill>
          <a:blip r:embed="rId4"/>
          <a:stretch>
            <a:fillRect/>
          </a:stretch>
        </p:blipFill>
        <p:spPr>
          <a:xfrm>
            <a:off x="5603456" y="3573729"/>
            <a:ext cx="1971675" cy="1419225"/>
          </a:xfrm>
          <a:prstGeom prst="rect">
            <a:avLst/>
          </a:prstGeom>
        </p:spPr>
      </p:pic>
      <p:sp>
        <p:nvSpPr>
          <p:cNvPr id="10" name="TextBox 9">
            <a:extLst>
              <a:ext uri="{FF2B5EF4-FFF2-40B4-BE49-F238E27FC236}">
                <a16:creationId xmlns:a16="http://schemas.microsoft.com/office/drawing/2014/main" id="{15A4A129-88DE-D893-EDFD-53E9B5320AD5}"/>
              </a:ext>
            </a:extLst>
          </p:cNvPr>
          <p:cNvSpPr txBox="1"/>
          <p:nvPr/>
        </p:nvSpPr>
        <p:spPr>
          <a:xfrm>
            <a:off x="1439470" y="2995591"/>
            <a:ext cx="1279453" cy="461665"/>
          </a:xfrm>
          <a:prstGeom prst="rect">
            <a:avLst/>
          </a:prstGeom>
          <a:noFill/>
        </p:spPr>
        <p:txBody>
          <a:bodyPr wrap="none" rtlCol="0">
            <a:spAutoFit/>
          </a:bodyPr>
          <a:lstStyle/>
          <a:p>
            <a:r>
              <a:rPr lang="en-US" sz="2400" b="1" dirty="0">
                <a:solidFill>
                  <a:schemeClr val="accent6">
                    <a:lumMod val="75000"/>
                  </a:schemeClr>
                </a:solidFill>
              </a:rPr>
              <a:t>Installed</a:t>
            </a:r>
          </a:p>
        </p:txBody>
      </p:sp>
      <p:sp>
        <p:nvSpPr>
          <p:cNvPr id="11" name="TextBox 10">
            <a:extLst>
              <a:ext uri="{FF2B5EF4-FFF2-40B4-BE49-F238E27FC236}">
                <a16:creationId xmlns:a16="http://schemas.microsoft.com/office/drawing/2014/main" id="{A58A46A1-20C2-F980-3EBD-3F1B7AF121E3}"/>
              </a:ext>
            </a:extLst>
          </p:cNvPr>
          <p:cNvSpPr txBox="1"/>
          <p:nvPr/>
        </p:nvSpPr>
        <p:spPr>
          <a:xfrm>
            <a:off x="5930026" y="3008850"/>
            <a:ext cx="1971675" cy="400110"/>
          </a:xfrm>
          <a:prstGeom prst="rect">
            <a:avLst/>
          </a:prstGeom>
          <a:noFill/>
        </p:spPr>
        <p:txBody>
          <a:bodyPr wrap="square" rtlCol="0">
            <a:spAutoFit/>
          </a:bodyPr>
          <a:lstStyle/>
          <a:p>
            <a:r>
              <a:rPr lang="en-US" sz="2000" b="1" dirty="0">
                <a:solidFill>
                  <a:schemeClr val="accent6">
                    <a:lumMod val="75000"/>
                  </a:schemeClr>
                </a:solidFill>
              </a:rPr>
              <a:t>Not Installed</a:t>
            </a:r>
          </a:p>
        </p:txBody>
      </p:sp>
      <p:sp>
        <p:nvSpPr>
          <p:cNvPr id="12" name="Right Arrow 2">
            <a:extLst>
              <a:ext uri="{FF2B5EF4-FFF2-40B4-BE49-F238E27FC236}">
                <a16:creationId xmlns:a16="http://schemas.microsoft.com/office/drawing/2014/main" id="{69FB6C57-188E-F6FF-DD98-A2D2AE726450}"/>
              </a:ext>
            </a:extLst>
          </p:cNvPr>
          <p:cNvSpPr/>
          <p:nvPr/>
        </p:nvSpPr>
        <p:spPr>
          <a:xfrm>
            <a:off x="5017168" y="3136920"/>
            <a:ext cx="586288"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70CD947D-B992-A03D-CD31-B5E95C1ECF66}"/>
              </a:ext>
            </a:extLst>
          </p:cNvPr>
          <p:cNvPicPr>
            <a:picLocks noChangeAspect="1"/>
          </p:cNvPicPr>
          <p:nvPr/>
        </p:nvPicPr>
        <p:blipFill>
          <a:blip r:embed="rId5"/>
          <a:stretch>
            <a:fillRect/>
          </a:stretch>
        </p:blipFill>
        <p:spPr>
          <a:xfrm>
            <a:off x="285750" y="5322493"/>
            <a:ext cx="8858250" cy="666750"/>
          </a:xfrm>
          <a:prstGeom prst="rect">
            <a:avLst/>
          </a:prstGeom>
        </p:spPr>
      </p:pic>
    </p:spTree>
    <p:extLst>
      <p:ext uri="{BB962C8B-B14F-4D97-AF65-F5344CB8AC3E}">
        <p14:creationId xmlns:p14="http://schemas.microsoft.com/office/powerpoint/2010/main" val="276056479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43D958-BE3C-2E5B-8510-E5B498510A38}"/>
              </a:ext>
            </a:extLst>
          </p:cNvPr>
          <p:cNvPicPr>
            <a:picLocks noChangeAspect="1"/>
          </p:cNvPicPr>
          <p:nvPr/>
        </p:nvPicPr>
        <p:blipFill>
          <a:blip r:embed="rId2"/>
          <a:stretch>
            <a:fillRect/>
          </a:stretch>
        </p:blipFill>
        <p:spPr>
          <a:xfrm>
            <a:off x="736181" y="600872"/>
            <a:ext cx="2409825" cy="1657350"/>
          </a:xfrm>
          <a:prstGeom prst="rect">
            <a:avLst/>
          </a:prstGeom>
        </p:spPr>
      </p:pic>
      <p:pic>
        <p:nvPicPr>
          <p:cNvPr id="3" name="Picture 2">
            <a:extLst>
              <a:ext uri="{FF2B5EF4-FFF2-40B4-BE49-F238E27FC236}">
                <a16:creationId xmlns:a16="http://schemas.microsoft.com/office/drawing/2014/main" id="{395680DE-313B-1C3B-2F70-9658ABF8F995}"/>
              </a:ext>
            </a:extLst>
          </p:cNvPr>
          <p:cNvPicPr>
            <a:picLocks noChangeAspect="1"/>
          </p:cNvPicPr>
          <p:nvPr/>
        </p:nvPicPr>
        <p:blipFill>
          <a:blip r:embed="rId3"/>
          <a:stretch>
            <a:fillRect/>
          </a:stretch>
        </p:blipFill>
        <p:spPr>
          <a:xfrm>
            <a:off x="5319462" y="748436"/>
            <a:ext cx="1971675" cy="1419225"/>
          </a:xfrm>
          <a:prstGeom prst="rect">
            <a:avLst/>
          </a:prstGeom>
        </p:spPr>
      </p:pic>
      <p:sp>
        <p:nvSpPr>
          <p:cNvPr id="5" name="TextBox 4">
            <a:extLst>
              <a:ext uri="{FF2B5EF4-FFF2-40B4-BE49-F238E27FC236}">
                <a16:creationId xmlns:a16="http://schemas.microsoft.com/office/drawing/2014/main" id="{23979104-1F7B-0B73-5235-3F9ECED6516F}"/>
              </a:ext>
            </a:extLst>
          </p:cNvPr>
          <p:cNvSpPr txBox="1"/>
          <p:nvPr/>
        </p:nvSpPr>
        <p:spPr>
          <a:xfrm>
            <a:off x="1114679" y="157430"/>
            <a:ext cx="4572000" cy="400110"/>
          </a:xfrm>
          <a:prstGeom prst="rect">
            <a:avLst/>
          </a:prstGeom>
          <a:noFill/>
        </p:spPr>
        <p:txBody>
          <a:bodyPr wrap="square">
            <a:spAutoFit/>
          </a:bodyPr>
          <a:lstStyle/>
          <a:p>
            <a:r>
              <a:rPr lang="en-US" sz="2000" b="1" dirty="0">
                <a:solidFill>
                  <a:schemeClr val="accent6">
                    <a:lumMod val="75000"/>
                  </a:schemeClr>
                </a:solidFill>
              </a:rPr>
              <a:t>Installed</a:t>
            </a:r>
          </a:p>
        </p:txBody>
      </p:sp>
      <p:sp>
        <p:nvSpPr>
          <p:cNvPr id="7" name="TextBox 6">
            <a:extLst>
              <a:ext uri="{FF2B5EF4-FFF2-40B4-BE49-F238E27FC236}">
                <a16:creationId xmlns:a16="http://schemas.microsoft.com/office/drawing/2014/main" id="{A2C84893-F869-8A64-1DFF-6350BBBE9747}"/>
              </a:ext>
            </a:extLst>
          </p:cNvPr>
          <p:cNvSpPr txBox="1"/>
          <p:nvPr/>
        </p:nvSpPr>
        <p:spPr>
          <a:xfrm>
            <a:off x="5611230" y="244660"/>
            <a:ext cx="1603460" cy="400110"/>
          </a:xfrm>
          <a:prstGeom prst="rect">
            <a:avLst/>
          </a:prstGeom>
          <a:noFill/>
        </p:spPr>
        <p:txBody>
          <a:bodyPr wrap="square">
            <a:spAutoFit/>
          </a:bodyPr>
          <a:lstStyle/>
          <a:p>
            <a:r>
              <a:rPr lang="en-US" sz="2000" b="1" dirty="0">
                <a:solidFill>
                  <a:schemeClr val="accent6">
                    <a:lumMod val="75000"/>
                  </a:schemeClr>
                </a:solidFill>
              </a:rPr>
              <a:t>Not Installed</a:t>
            </a:r>
          </a:p>
        </p:txBody>
      </p:sp>
      <p:sp>
        <p:nvSpPr>
          <p:cNvPr id="8" name="Right Arrow 2">
            <a:extLst>
              <a:ext uri="{FF2B5EF4-FFF2-40B4-BE49-F238E27FC236}">
                <a16:creationId xmlns:a16="http://schemas.microsoft.com/office/drawing/2014/main" id="{D84B4FBF-F9D3-4910-C2C6-8DD3CE24163D}"/>
              </a:ext>
            </a:extLst>
          </p:cNvPr>
          <p:cNvSpPr/>
          <p:nvPr/>
        </p:nvSpPr>
        <p:spPr>
          <a:xfrm>
            <a:off x="443037" y="1075561"/>
            <a:ext cx="586288"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9" name="Picture 2">
            <a:extLst>
              <a:ext uri="{FF2B5EF4-FFF2-40B4-BE49-F238E27FC236}">
                <a16:creationId xmlns:a16="http://schemas.microsoft.com/office/drawing/2014/main" id="{68DB5B25-929F-854D-B42C-E80AD34D16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741" y="2358557"/>
            <a:ext cx="7239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extLst>
              <a:ext uri="{FF2B5EF4-FFF2-40B4-BE49-F238E27FC236}">
                <a16:creationId xmlns:a16="http://schemas.microsoft.com/office/drawing/2014/main" id="{F9629A6B-7572-A780-7C8C-61FF12621C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325" y="3585044"/>
            <a:ext cx="7077075"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ight Arrow 2">
            <a:extLst>
              <a:ext uri="{FF2B5EF4-FFF2-40B4-BE49-F238E27FC236}">
                <a16:creationId xmlns:a16="http://schemas.microsoft.com/office/drawing/2014/main" id="{2F5D4464-533F-9E11-4057-BE23F5ADF3DC}"/>
              </a:ext>
            </a:extLst>
          </p:cNvPr>
          <p:cNvSpPr/>
          <p:nvPr/>
        </p:nvSpPr>
        <p:spPr>
          <a:xfrm>
            <a:off x="5237496" y="4398329"/>
            <a:ext cx="586288"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1C30088-ECFF-79A9-A191-B6C4DA2B89CC}"/>
              </a:ext>
            </a:extLst>
          </p:cNvPr>
          <p:cNvPicPr>
            <a:picLocks noChangeAspect="1"/>
          </p:cNvPicPr>
          <p:nvPr/>
        </p:nvPicPr>
        <p:blipFill>
          <a:blip r:embed="rId6"/>
          <a:stretch>
            <a:fillRect/>
          </a:stretch>
        </p:blipFill>
        <p:spPr>
          <a:xfrm>
            <a:off x="583660" y="5631816"/>
            <a:ext cx="7522740" cy="981524"/>
          </a:xfrm>
          <a:prstGeom prst="rect">
            <a:avLst/>
          </a:prstGeom>
        </p:spPr>
      </p:pic>
    </p:spTree>
    <p:extLst>
      <p:ext uri="{BB962C8B-B14F-4D97-AF65-F5344CB8AC3E}">
        <p14:creationId xmlns:p14="http://schemas.microsoft.com/office/powerpoint/2010/main" val="77759926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6A5323-2C99-21DD-56C2-EF1D254878EE}"/>
              </a:ext>
            </a:extLst>
          </p:cNvPr>
          <p:cNvPicPr>
            <a:picLocks noChangeAspect="1"/>
          </p:cNvPicPr>
          <p:nvPr/>
        </p:nvPicPr>
        <p:blipFill>
          <a:blip r:embed="rId2"/>
          <a:stretch>
            <a:fillRect/>
          </a:stretch>
        </p:blipFill>
        <p:spPr>
          <a:xfrm>
            <a:off x="123825" y="1432761"/>
            <a:ext cx="8896350" cy="1562100"/>
          </a:xfrm>
          <a:prstGeom prst="rect">
            <a:avLst/>
          </a:prstGeom>
        </p:spPr>
      </p:pic>
      <p:pic>
        <p:nvPicPr>
          <p:cNvPr id="5" name="Picture 4">
            <a:extLst>
              <a:ext uri="{FF2B5EF4-FFF2-40B4-BE49-F238E27FC236}">
                <a16:creationId xmlns:a16="http://schemas.microsoft.com/office/drawing/2014/main" id="{A8141F38-96D6-F800-72E6-D483DEE76416}"/>
              </a:ext>
            </a:extLst>
          </p:cNvPr>
          <p:cNvPicPr>
            <a:picLocks noChangeAspect="1"/>
          </p:cNvPicPr>
          <p:nvPr/>
        </p:nvPicPr>
        <p:blipFill>
          <a:blip r:embed="rId3"/>
          <a:stretch>
            <a:fillRect/>
          </a:stretch>
        </p:blipFill>
        <p:spPr>
          <a:xfrm>
            <a:off x="0" y="2994861"/>
            <a:ext cx="9105900" cy="2124075"/>
          </a:xfrm>
          <a:prstGeom prst="rect">
            <a:avLst/>
          </a:prstGeom>
        </p:spPr>
      </p:pic>
      <p:sp>
        <p:nvSpPr>
          <p:cNvPr id="6" name="Right Arrow 2">
            <a:extLst>
              <a:ext uri="{FF2B5EF4-FFF2-40B4-BE49-F238E27FC236}">
                <a16:creationId xmlns:a16="http://schemas.microsoft.com/office/drawing/2014/main" id="{FC558292-54A6-AD76-2A05-398F04301863}"/>
              </a:ext>
            </a:extLst>
          </p:cNvPr>
          <p:cNvSpPr/>
          <p:nvPr/>
        </p:nvSpPr>
        <p:spPr>
          <a:xfrm>
            <a:off x="4972801" y="2036818"/>
            <a:ext cx="586288"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9858BB7-F978-F383-F360-F7FAC6AF54FE}"/>
              </a:ext>
            </a:extLst>
          </p:cNvPr>
          <p:cNvPicPr>
            <a:picLocks noChangeAspect="1"/>
          </p:cNvPicPr>
          <p:nvPr/>
        </p:nvPicPr>
        <p:blipFill>
          <a:blip r:embed="rId4"/>
          <a:stretch>
            <a:fillRect/>
          </a:stretch>
        </p:blipFill>
        <p:spPr>
          <a:xfrm>
            <a:off x="200025" y="5156507"/>
            <a:ext cx="8943975" cy="1581150"/>
          </a:xfrm>
          <a:prstGeom prst="rect">
            <a:avLst/>
          </a:prstGeom>
        </p:spPr>
      </p:pic>
      <p:sp>
        <p:nvSpPr>
          <p:cNvPr id="9" name="Right Arrow 2">
            <a:extLst>
              <a:ext uri="{FF2B5EF4-FFF2-40B4-BE49-F238E27FC236}">
                <a16:creationId xmlns:a16="http://schemas.microsoft.com/office/drawing/2014/main" id="{9EB4253E-1267-4CA1-F860-CFCBC06F1058}"/>
              </a:ext>
            </a:extLst>
          </p:cNvPr>
          <p:cNvSpPr/>
          <p:nvPr/>
        </p:nvSpPr>
        <p:spPr>
          <a:xfrm>
            <a:off x="5425991" y="5722993"/>
            <a:ext cx="586288"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77517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334DC9-4A0C-FBC0-EC04-4813FB8AD37C}"/>
              </a:ext>
            </a:extLst>
          </p:cNvPr>
          <p:cNvPicPr>
            <a:picLocks noChangeAspect="1"/>
          </p:cNvPicPr>
          <p:nvPr/>
        </p:nvPicPr>
        <p:blipFill>
          <a:blip r:embed="rId2"/>
          <a:stretch>
            <a:fillRect/>
          </a:stretch>
        </p:blipFill>
        <p:spPr>
          <a:xfrm>
            <a:off x="0" y="1335254"/>
            <a:ext cx="9067800" cy="2238375"/>
          </a:xfrm>
          <a:prstGeom prst="rect">
            <a:avLst/>
          </a:prstGeom>
        </p:spPr>
      </p:pic>
      <p:pic>
        <p:nvPicPr>
          <p:cNvPr id="4" name="Picture 3">
            <a:extLst>
              <a:ext uri="{FF2B5EF4-FFF2-40B4-BE49-F238E27FC236}">
                <a16:creationId xmlns:a16="http://schemas.microsoft.com/office/drawing/2014/main" id="{2F96A5BA-88D8-4BEC-16B1-C55FCDB35D85}"/>
              </a:ext>
            </a:extLst>
          </p:cNvPr>
          <p:cNvPicPr>
            <a:picLocks noChangeAspect="1"/>
          </p:cNvPicPr>
          <p:nvPr/>
        </p:nvPicPr>
        <p:blipFill>
          <a:blip r:embed="rId3"/>
          <a:stretch>
            <a:fillRect/>
          </a:stretch>
        </p:blipFill>
        <p:spPr>
          <a:xfrm>
            <a:off x="61912" y="4122207"/>
            <a:ext cx="8943975" cy="1581150"/>
          </a:xfrm>
          <a:prstGeom prst="rect">
            <a:avLst/>
          </a:prstGeom>
        </p:spPr>
      </p:pic>
      <p:sp>
        <p:nvSpPr>
          <p:cNvPr id="5" name="Right Arrow 2">
            <a:extLst>
              <a:ext uri="{FF2B5EF4-FFF2-40B4-BE49-F238E27FC236}">
                <a16:creationId xmlns:a16="http://schemas.microsoft.com/office/drawing/2014/main" id="{8DC5CDF0-6E79-A29C-B1DF-034D54ADA0F6}"/>
              </a:ext>
            </a:extLst>
          </p:cNvPr>
          <p:cNvSpPr/>
          <p:nvPr/>
        </p:nvSpPr>
        <p:spPr>
          <a:xfrm>
            <a:off x="793834" y="4735789"/>
            <a:ext cx="586288"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929819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A485AE-CC1A-6064-26BA-721B75FBC2A8}"/>
              </a:ext>
            </a:extLst>
          </p:cNvPr>
          <p:cNvPicPr>
            <a:picLocks noChangeAspect="1"/>
          </p:cNvPicPr>
          <p:nvPr/>
        </p:nvPicPr>
        <p:blipFill>
          <a:blip r:embed="rId2"/>
          <a:stretch>
            <a:fillRect/>
          </a:stretch>
        </p:blipFill>
        <p:spPr>
          <a:xfrm>
            <a:off x="0" y="1383631"/>
            <a:ext cx="9144000" cy="4415589"/>
          </a:xfrm>
          <a:prstGeom prst="rect">
            <a:avLst/>
          </a:prstGeom>
        </p:spPr>
      </p:pic>
    </p:spTree>
    <p:extLst>
      <p:ext uri="{BB962C8B-B14F-4D97-AF65-F5344CB8AC3E}">
        <p14:creationId xmlns:p14="http://schemas.microsoft.com/office/powerpoint/2010/main" val="208676437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7239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576" y="1219200"/>
            <a:ext cx="4196961" cy="2788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5254955"/>
            <a:ext cx="7077075"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ight Arrow 2"/>
          <p:cNvSpPr/>
          <p:nvPr/>
        </p:nvSpPr>
        <p:spPr>
          <a:xfrm>
            <a:off x="909576" y="5609607"/>
            <a:ext cx="762000" cy="35398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706787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10565" y="266629"/>
            <a:ext cx="7513320" cy="4088389"/>
          </a:xfrm>
          <a:prstGeom prst="rect">
            <a:avLst/>
          </a:prstGeom>
        </p:spPr>
      </p:pic>
      <p:pic>
        <p:nvPicPr>
          <p:cNvPr id="4" name="Picture 3"/>
          <p:cNvPicPr>
            <a:picLocks noChangeAspect="1"/>
          </p:cNvPicPr>
          <p:nvPr/>
        </p:nvPicPr>
        <p:blipFill>
          <a:blip r:embed="rId3"/>
          <a:stretch>
            <a:fillRect/>
          </a:stretch>
        </p:blipFill>
        <p:spPr>
          <a:xfrm>
            <a:off x="710565" y="4656221"/>
            <a:ext cx="7987663" cy="1425491"/>
          </a:xfrm>
          <a:prstGeom prst="rect">
            <a:avLst/>
          </a:prstGeom>
        </p:spPr>
      </p:pic>
      <p:sp>
        <p:nvSpPr>
          <p:cNvPr id="5" name="Right Arrow 4"/>
          <p:cNvSpPr/>
          <p:nvPr/>
        </p:nvSpPr>
        <p:spPr>
          <a:xfrm rot="16200000">
            <a:off x="2366939" y="6036570"/>
            <a:ext cx="514272" cy="38263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82410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923925"/>
            <a:ext cx="8410575" cy="501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7332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10628" y="1002289"/>
            <a:ext cx="4913313" cy="2105025"/>
          </a:xfrm>
          <a:prstGeom prst="rect">
            <a:avLst/>
          </a:prstGeom>
        </p:spPr>
      </p:pic>
      <p:pic>
        <p:nvPicPr>
          <p:cNvPr id="3" name="Picture 2"/>
          <p:cNvPicPr>
            <a:picLocks noChangeAspect="1"/>
          </p:cNvPicPr>
          <p:nvPr/>
        </p:nvPicPr>
        <p:blipFill>
          <a:blip r:embed="rId3"/>
          <a:stretch>
            <a:fillRect/>
          </a:stretch>
        </p:blipFill>
        <p:spPr>
          <a:xfrm>
            <a:off x="385762" y="4182773"/>
            <a:ext cx="8372475" cy="1457325"/>
          </a:xfrm>
          <a:prstGeom prst="rect">
            <a:avLst/>
          </a:prstGeom>
        </p:spPr>
      </p:pic>
      <p:sp>
        <p:nvSpPr>
          <p:cNvPr id="4" name="Right Arrow 3"/>
          <p:cNvSpPr/>
          <p:nvPr/>
        </p:nvSpPr>
        <p:spPr>
          <a:xfrm rot="10800000">
            <a:off x="6705602" y="4703617"/>
            <a:ext cx="678873" cy="41563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65337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176213"/>
            <a:ext cx="8553450" cy="6505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691392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500063"/>
            <a:ext cx="8248650" cy="5857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638493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63776" y="261258"/>
            <a:ext cx="7839075" cy="4019550"/>
          </a:xfrm>
          <a:prstGeom prst="rect">
            <a:avLst/>
          </a:prstGeom>
        </p:spPr>
      </p:pic>
      <p:pic>
        <p:nvPicPr>
          <p:cNvPr id="4" name="Picture 3"/>
          <p:cNvPicPr>
            <a:picLocks noChangeAspect="1"/>
          </p:cNvPicPr>
          <p:nvPr/>
        </p:nvPicPr>
        <p:blipFill>
          <a:blip r:embed="rId3"/>
          <a:stretch>
            <a:fillRect/>
          </a:stretch>
        </p:blipFill>
        <p:spPr>
          <a:xfrm>
            <a:off x="665162" y="4546826"/>
            <a:ext cx="8220075" cy="1857375"/>
          </a:xfrm>
          <a:prstGeom prst="rect">
            <a:avLst/>
          </a:prstGeom>
        </p:spPr>
      </p:pic>
      <p:sp>
        <p:nvSpPr>
          <p:cNvPr id="5" name="Right Arrow 4"/>
          <p:cNvSpPr/>
          <p:nvPr/>
        </p:nvSpPr>
        <p:spPr>
          <a:xfrm rot="16200000">
            <a:off x="5791201" y="6041570"/>
            <a:ext cx="624114" cy="3773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074278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275" y="533400"/>
            <a:ext cx="8848725" cy="3067050"/>
          </a:xfrm>
          <a:prstGeom prst="rect">
            <a:avLst/>
          </a:prstGeom>
        </p:spPr>
      </p:pic>
      <p:pic>
        <p:nvPicPr>
          <p:cNvPr id="3" name="Picture 2"/>
          <p:cNvPicPr>
            <a:picLocks noChangeAspect="1"/>
          </p:cNvPicPr>
          <p:nvPr/>
        </p:nvPicPr>
        <p:blipFill>
          <a:blip r:embed="rId3"/>
          <a:stretch>
            <a:fillRect/>
          </a:stretch>
        </p:blipFill>
        <p:spPr>
          <a:xfrm>
            <a:off x="174625" y="3433762"/>
            <a:ext cx="8499475" cy="3114675"/>
          </a:xfrm>
          <a:prstGeom prst="rect">
            <a:avLst/>
          </a:prstGeom>
        </p:spPr>
      </p:pic>
      <p:sp>
        <p:nvSpPr>
          <p:cNvPr id="4" name="Right Arrow 3"/>
          <p:cNvSpPr/>
          <p:nvPr/>
        </p:nvSpPr>
        <p:spPr>
          <a:xfrm>
            <a:off x="1524000" y="2495550"/>
            <a:ext cx="561975" cy="40005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139248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Arrow 2"/>
          <p:cNvSpPr/>
          <p:nvPr/>
        </p:nvSpPr>
        <p:spPr>
          <a:xfrm>
            <a:off x="1205345" y="937778"/>
            <a:ext cx="561975" cy="40005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810305" y="409140"/>
            <a:ext cx="8220075" cy="1857375"/>
          </a:xfrm>
          <a:prstGeom prst="rect">
            <a:avLst/>
          </a:prstGeom>
        </p:spPr>
      </p:pic>
      <p:sp>
        <p:nvSpPr>
          <p:cNvPr id="5" name="Right Arrow 4"/>
          <p:cNvSpPr/>
          <p:nvPr/>
        </p:nvSpPr>
        <p:spPr>
          <a:xfrm>
            <a:off x="1596303" y="1137803"/>
            <a:ext cx="566057" cy="31362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209800"/>
            <a:ext cx="9067800" cy="4408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ight Arrow 6"/>
          <p:cNvSpPr/>
          <p:nvPr/>
        </p:nvSpPr>
        <p:spPr>
          <a:xfrm rot="10800000">
            <a:off x="6723743" y="4876800"/>
            <a:ext cx="673100" cy="4953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332415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57943"/>
            <a:ext cx="8530880" cy="4119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844249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685800"/>
            <a:ext cx="6396037" cy="4853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446693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95400" y="138112"/>
            <a:ext cx="6324600" cy="3819525"/>
          </a:xfrm>
          <a:prstGeom prst="rect">
            <a:avLst/>
          </a:prstGeom>
        </p:spPr>
      </p:pic>
      <p:pic>
        <p:nvPicPr>
          <p:cNvPr id="5" name="Picture 4"/>
          <p:cNvPicPr>
            <a:picLocks noChangeAspect="1"/>
          </p:cNvPicPr>
          <p:nvPr/>
        </p:nvPicPr>
        <p:blipFill>
          <a:blip r:embed="rId3"/>
          <a:stretch>
            <a:fillRect/>
          </a:stretch>
        </p:blipFill>
        <p:spPr>
          <a:xfrm>
            <a:off x="1295400" y="4384675"/>
            <a:ext cx="7648575" cy="1695450"/>
          </a:xfrm>
          <a:prstGeom prst="rect">
            <a:avLst/>
          </a:prstGeom>
        </p:spPr>
      </p:pic>
      <p:sp>
        <p:nvSpPr>
          <p:cNvPr id="6" name="Right Arrow 5"/>
          <p:cNvSpPr/>
          <p:nvPr/>
        </p:nvSpPr>
        <p:spPr>
          <a:xfrm rot="10800000">
            <a:off x="7162800" y="4762500"/>
            <a:ext cx="596900" cy="3810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374643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312" y="66675"/>
            <a:ext cx="6705599" cy="481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7380512" y="3048000"/>
            <a:ext cx="1066800" cy="381000"/>
          </a:xfrm>
          <a:prstGeom prst="lef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983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089" y="4876800"/>
            <a:ext cx="4276046" cy="1505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eft Arrow 2"/>
          <p:cNvSpPr/>
          <p:nvPr/>
        </p:nvSpPr>
        <p:spPr>
          <a:xfrm>
            <a:off x="6307249" y="5308599"/>
            <a:ext cx="783771" cy="337457"/>
          </a:xfrm>
          <a:prstGeom prst="lef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028605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9284" y="400502"/>
            <a:ext cx="6705599" cy="4244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772884" y="2844801"/>
            <a:ext cx="812800" cy="4789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stretch>
            <a:fillRect/>
          </a:stretch>
        </p:blipFill>
        <p:spPr>
          <a:xfrm>
            <a:off x="312058" y="4195308"/>
            <a:ext cx="8686800" cy="2219325"/>
          </a:xfrm>
          <a:prstGeom prst="rect">
            <a:avLst/>
          </a:prstGeom>
        </p:spPr>
      </p:pic>
      <p:sp>
        <p:nvSpPr>
          <p:cNvPr id="6" name="Right Arrow 5"/>
          <p:cNvSpPr/>
          <p:nvPr/>
        </p:nvSpPr>
        <p:spPr>
          <a:xfrm rot="10800000">
            <a:off x="6342743" y="5322774"/>
            <a:ext cx="682172" cy="41365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254475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3604985"/>
            <a:ext cx="8499475" cy="3114675"/>
          </a:xfrm>
          <a:prstGeom prst="rect">
            <a:avLst/>
          </a:prstGeom>
        </p:spPr>
      </p:pic>
      <p:pic>
        <p:nvPicPr>
          <p:cNvPr id="5" name="Picture 4"/>
          <p:cNvPicPr>
            <a:picLocks noChangeAspect="1"/>
          </p:cNvPicPr>
          <p:nvPr/>
        </p:nvPicPr>
        <p:blipFill>
          <a:blip r:embed="rId3"/>
          <a:stretch>
            <a:fillRect/>
          </a:stretch>
        </p:blipFill>
        <p:spPr>
          <a:xfrm>
            <a:off x="295275" y="203200"/>
            <a:ext cx="8848725" cy="3067050"/>
          </a:xfrm>
          <a:prstGeom prst="rect">
            <a:avLst/>
          </a:prstGeom>
        </p:spPr>
      </p:pic>
      <p:sp>
        <p:nvSpPr>
          <p:cNvPr id="6" name="Right Arrow 5"/>
          <p:cNvSpPr/>
          <p:nvPr/>
        </p:nvSpPr>
        <p:spPr>
          <a:xfrm>
            <a:off x="1409700" y="2260600"/>
            <a:ext cx="533400" cy="3302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598296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137" y="269875"/>
            <a:ext cx="8696325" cy="1924050"/>
          </a:xfrm>
          <a:prstGeom prst="rect">
            <a:avLst/>
          </a:prstGeom>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399" y="2438401"/>
            <a:ext cx="7543799" cy="3862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ight Arrow 3"/>
          <p:cNvSpPr/>
          <p:nvPr/>
        </p:nvSpPr>
        <p:spPr>
          <a:xfrm rot="10800000">
            <a:off x="5384800" y="1231900"/>
            <a:ext cx="635000" cy="3556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214653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881062"/>
            <a:ext cx="5972175" cy="509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605487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0963"/>
            <a:ext cx="5943600" cy="669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5867400" y="5715000"/>
            <a:ext cx="838200" cy="381000"/>
          </a:xfrm>
          <a:prstGeom prst="lef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915943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312" y="66675"/>
            <a:ext cx="6705599" cy="481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088" y="4533900"/>
            <a:ext cx="4276046" cy="1505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rot="10800000">
            <a:off x="6699134" y="5089762"/>
            <a:ext cx="698500" cy="3683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ight Arrow 4"/>
          <p:cNvSpPr/>
          <p:nvPr/>
        </p:nvSpPr>
        <p:spPr>
          <a:xfrm rot="10800000">
            <a:off x="7685311" y="2959100"/>
            <a:ext cx="734789" cy="3429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604221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9284" y="400502"/>
            <a:ext cx="6705599" cy="4244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ight Arrow 2"/>
          <p:cNvSpPr/>
          <p:nvPr/>
        </p:nvSpPr>
        <p:spPr>
          <a:xfrm>
            <a:off x="772884" y="2844801"/>
            <a:ext cx="812800" cy="4789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312058" y="4195308"/>
            <a:ext cx="8686800" cy="2219325"/>
          </a:xfrm>
          <a:prstGeom prst="rect">
            <a:avLst/>
          </a:prstGeom>
        </p:spPr>
      </p:pic>
      <p:sp>
        <p:nvSpPr>
          <p:cNvPr id="5" name="Right Arrow 4"/>
          <p:cNvSpPr/>
          <p:nvPr/>
        </p:nvSpPr>
        <p:spPr>
          <a:xfrm rot="10800000">
            <a:off x="6342743" y="5322774"/>
            <a:ext cx="682172" cy="41365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20978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275" y="203200"/>
            <a:ext cx="8848725" cy="3067050"/>
          </a:xfrm>
          <a:prstGeom prst="rect">
            <a:avLst/>
          </a:prstGeom>
        </p:spPr>
      </p:pic>
      <p:sp>
        <p:nvSpPr>
          <p:cNvPr id="3" name="Right Arrow 2"/>
          <p:cNvSpPr/>
          <p:nvPr/>
        </p:nvSpPr>
        <p:spPr>
          <a:xfrm>
            <a:off x="1216230" y="2138219"/>
            <a:ext cx="812800" cy="4789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469899" y="3369458"/>
            <a:ext cx="8499475" cy="3114675"/>
          </a:xfrm>
          <a:prstGeom prst="rect">
            <a:avLst/>
          </a:prstGeom>
        </p:spPr>
      </p:pic>
    </p:spTree>
    <p:extLst>
      <p:ext uri="{BB962C8B-B14F-4D97-AF65-F5344CB8AC3E}">
        <p14:creationId xmlns:p14="http://schemas.microsoft.com/office/powerpoint/2010/main" val="107794656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9616" y="1066800"/>
            <a:ext cx="8372475" cy="1457325"/>
          </a:xfrm>
          <a:prstGeom prst="rect">
            <a:avLst/>
          </a:prstGeom>
        </p:spPr>
      </p:pic>
      <p:sp>
        <p:nvSpPr>
          <p:cNvPr id="3" name="Right Arrow 2"/>
          <p:cNvSpPr/>
          <p:nvPr/>
        </p:nvSpPr>
        <p:spPr>
          <a:xfrm>
            <a:off x="1302327" y="1596704"/>
            <a:ext cx="574303" cy="39751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523440" y="3469572"/>
            <a:ext cx="7820025" cy="2181225"/>
          </a:xfrm>
          <a:prstGeom prst="rect">
            <a:avLst/>
          </a:prstGeom>
        </p:spPr>
      </p:pic>
      <p:sp>
        <p:nvSpPr>
          <p:cNvPr id="7" name="Right Arrow 6"/>
          <p:cNvSpPr/>
          <p:nvPr/>
        </p:nvSpPr>
        <p:spPr>
          <a:xfrm rot="10800000">
            <a:off x="6012873" y="4604715"/>
            <a:ext cx="706581" cy="44334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341969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6321" y="1985096"/>
            <a:ext cx="8486775" cy="2638425"/>
          </a:xfrm>
          <a:prstGeom prst="rect">
            <a:avLst/>
          </a:prstGeom>
        </p:spPr>
      </p:pic>
    </p:spTree>
    <p:extLst>
      <p:ext uri="{BB962C8B-B14F-4D97-AF65-F5344CB8AC3E}">
        <p14:creationId xmlns:p14="http://schemas.microsoft.com/office/powerpoint/2010/main" val="133364347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881062"/>
            <a:ext cx="5972175" cy="509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286872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0963"/>
            <a:ext cx="5943600" cy="669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5867400" y="5715000"/>
            <a:ext cx="838200" cy="381000"/>
          </a:xfrm>
          <a:prstGeom prst="lef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980520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312" y="66675"/>
            <a:ext cx="6705599" cy="481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088" y="4533900"/>
            <a:ext cx="4276046" cy="1505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rot="10800000">
            <a:off x="6699134" y="5089762"/>
            <a:ext cx="698500" cy="3683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ight Arrow 4"/>
          <p:cNvSpPr/>
          <p:nvPr/>
        </p:nvSpPr>
        <p:spPr>
          <a:xfrm rot="10800000">
            <a:off x="7685311" y="2959100"/>
            <a:ext cx="734789" cy="3429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352313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01782" y="299605"/>
            <a:ext cx="8423563" cy="2324100"/>
          </a:xfrm>
          <a:prstGeom prst="rect">
            <a:avLst/>
          </a:prstGeom>
        </p:spPr>
      </p:pic>
      <p:sp>
        <p:nvSpPr>
          <p:cNvPr id="4" name="Right Arrow 3"/>
          <p:cNvSpPr/>
          <p:nvPr/>
        </p:nvSpPr>
        <p:spPr>
          <a:xfrm>
            <a:off x="1371600" y="1205346"/>
            <a:ext cx="734291" cy="512618"/>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270163" y="2623705"/>
            <a:ext cx="8686800" cy="2219325"/>
          </a:xfrm>
          <a:prstGeom prst="rect">
            <a:avLst/>
          </a:prstGeom>
        </p:spPr>
      </p:pic>
      <p:sp>
        <p:nvSpPr>
          <p:cNvPr id="7" name="Right Arrow 6"/>
          <p:cNvSpPr/>
          <p:nvPr/>
        </p:nvSpPr>
        <p:spPr>
          <a:xfrm rot="10800000">
            <a:off x="6287325" y="3840337"/>
            <a:ext cx="682172" cy="41365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809764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275" y="203200"/>
            <a:ext cx="8848725" cy="3067050"/>
          </a:xfrm>
          <a:prstGeom prst="rect">
            <a:avLst/>
          </a:prstGeom>
        </p:spPr>
      </p:pic>
      <p:sp>
        <p:nvSpPr>
          <p:cNvPr id="3" name="Right Arrow 2"/>
          <p:cNvSpPr/>
          <p:nvPr/>
        </p:nvSpPr>
        <p:spPr>
          <a:xfrm>
            <a:off x="1216230" y="2138219"/>
            <a:ext cx="812800" cy="4789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469899" y="3369458"/>
            <a:ext cx="8499475" cy="3114675"/>
          </a:xfrm>
          <a:prstGeom prst="rect">
            <a:avLst/>
          </a:prstGeom>
        </p:spPr>
      </p:pic>
    </p:spTree>
    <p:extLst>
      <p:ext uri="{BB962C8B-B14F-4D97-AF65-F5344CB8AC3E}">
        <p14:creationId xmlns:p14="http://schemas.microsoft.com/office/powerpoint/2010/main" val="312000070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275" y="332942"/>
            <a:ext cx="8000999" cy="1229158"/>
          </a:xfrm>
          <a:prstGeom prst="rect">
            <a:avLst/>
          </a:prstGeom>
        </p:spPr>
      </p:pic>
      <p:sp>
        <p:nvSpPr>
          <p:cNvPr id="3" name="Right Arrow 2"/>
          <p:cNvSpPr/>
          <p:nvPr/>
        </p:nvSpPr>
        <p:spPr>
          <a:xfrm rot="16200000">
            <a:off x="3800476" y="1495425"/>
            <a:ext cx="504825" cy="3048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1123950" y="2062162"/>
            <a:ext cx="5857875" cy="3019425"/>
          </a:xfrm>
          <a:prstGeom prst="rect">
            <a:avLst/>
          </a:prstGeom>
        </p:spPr>
      </p:pic>
    </p:spTree>
    <p:extLst>
      <p:ext uri="{BB962C8B-B14F-4D97-AF65-F5344CB8AC3E}">
        <p14:creationId xmlns:p14="http://schemas.microsoft.com/office/powerpoint/2010/main" val="356282552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 Arrow 1"/>
          <p:cNvSpPr/>
          <p:nvPr/>
        </p:nvSpPr>
        <p:spPr>
          <a:xfrm>
            <a:off x="7391400" y="4855029"/>
            <a:ext cx="8382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0" y="133350"/>
            <a:ext cx="9029700" cy="3543300"/>
          </a:xfrm>
          <a:prstGeom prst="rect">
            <a:avLst/>
          </a:prstGeom>
        </p:spPr>
      </p:pic>
      <p:pic>
        <p:nvPicPr>
          <p:cNvPr id="4" name="Picture 3"/>
          <p:cNvPicPr>
            <a:picLocks noChangeAspect="1"/>
          </p:cNvPicPr>
          <p:nvPr/>
        </p:nvPicPr>
        <p:blipFill>
          <a:blip r:embed="rId3"/>
          <a:stretch>
            <a:fillRect/>
          </a:stretch>
        </p:blipFill>
        <p:spPr>
          <a:xfrm>
            <a:off x="266700" y="3876675"/>
            <a:ext cx="8648700" cy="1638300"/>
          </a:xfrm>
          <a:prstGeom prst="rect">
            <a:avLst/>
          </a:prstGeom>
        </p:spPr>
      </p:pic>
      <p:sp>
        <p:nvSpPr>
          <p:cNvPr id="5" name="Right Arrow 4"/>
          <p:cNvSpPr/>
          <p:nvPr/>
        </p:nvSpPr>
        <p:spPr>
          <a:xfrm>
            <a:off x="1428750" y="4548187"/>
            <a:ext cx="409575" cy="29527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5-Point Star 5"/>
          <p:cNvSpPr/>
          <p:nvPr/>
        </p:nvSpPr>
        <p:spPr>
          <a:xfrm>
            <a:off x="7391400" y="4429125"/>
            <a:ext cx="285750" cy="266699"/>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96141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923925"/>
            <a:ext cx="8410575" cy="501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968990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97928" y="697489"/>
            <a:ext cx="4913313" cy="2105025"/>
          </a:xfrm>
          <a:prstGeom prst="rect">
            <a:avLst/>
          </a:prstGeom>
        </p:spPr>
      </p:pic>
      <p:sp>
        <p:nvSpPr>
          <p:cNvPr id="3" name="Rectangle 2"/>
          <p:cNvSpPr/>
          <p:nvPr/>
        </p:nvSpPr>
        <p:spPr>
          <a:xfrm>
            <a:off x="463236" y="3008166"/>
            <a:ext cx="8518999" cy="369332"/>
          </a:xfrm>
          <a:prstGeom prst="rect">
            <a:avLst/>
          </a:prstGeom>
          <a:solidFill>
            <a:srgbClr val="FFFF00"/>
          </a:solidFill>
        </p:spPr>
        <p:txBody>
          <a:bodyPr wrap="none">
            <a:spAutoFit/>
          </a:bodyPr>
          <a:lstStyle/>
          <a:p>
            <a:r>
              <a:rPr lang="en-US" dirty="0"/>
              <a:t>(Customer couldn’t find network The same steps Follow WF customer found his network </a:t>
            </a:r>
          </a:p>
        </p:txBody>
      </p:sp>
      <p:pic>
        <p:nvPicPr>
          <p:cNvPr id="4" name="Picture 3"/>
          <p:cNvPicPr>
            <a:picLocks noChangeAspect="1"/>
          </p:cNvPicPr>
          <p:nvPr/>
        </p:nvPicPr>
        <p:blipFill>
          <a:blip r:embed="rId3"/>
          <a:stretch>
            <a:fillRect/>
          </a:stretch>
        </p:blipFill>
        <p:spPr>
          <a:xfrm>
            <a:off x="354083" y="4260232"/>
            <a:ext cx="8000999" cy="1229158"/>
          </a:xfrm>
          <a:prstGeom prst="rect">
            <a:avLst/>
          </a:prstGeom>
        </p:spPr>
      </p:pic>
      <p:sp>
        <p:nvSpPr>
          <p:cNvPr id="5" name="Down Arrow 4"/>
          <p:cNvSpPr/>
          <p:nvPr/>
        </p:nvSpPr>
        <p:spPr>
          <a:xfrm>
            <a:off x="4050096" y="3818412"/>
            <a:ext cx="304487" cy="441820"/>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882854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1064" y="961679"/>
            <a:ext cx="8000999" cy="1229158"/>
          </a:xfrm>
          <a:prstGeom prst="rect">
            <a:avLst/>
          </a:prstGeom>
        </p:spPr>
      </p:pic>
      <p:sp>
        <p:nvSpPr>
          <p:cNvPr id="5" name="Right Arrow 4"/>
          <p:cNvSpPr/>
          <p:nvPr/>
        </p:nvSpPr>
        <p:spPr>
          <a:xfrm rot="16200000">
            <a:off x="6068294" y="2280891"/>
            <a:ext cx="512618" cy="332509"/>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2673928" y="3448483"/>
            <a:ext cx="5902035" cy="2676525"/>
          </a:xfrm>
          <a:prstGeom prst="rect">
            <a:avLst/>
          </a:prstGeom>
        </p:spPr>
      </p:pic>
    </p:spTree>
    <p:extLst>
      <p:ext uri="{BB962C8B-B14F-4D97-AF65-F5344CB8AC3E}">
        <p14:creationId xmlns:p14="http://schemas.microsoft.com/office/powerpoint/2010/main" val="51403789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09601"/>
            <a:ext cx="8632046" cy="5195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483037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762000"/>
            <a:ext cx="7853363" cy="4900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681013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96191"/>
            <a:ext cx="7493561" cy="498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147673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199"/>
            <a:ext cx="8302725" cy="5486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871423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38" y="762001"/>
            <a:ext cx="7629525" cy="4929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239748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801" y="244186"/>
            <a:ext cx="7934325" cy="5067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2628900" y="5637068"/>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3" name="TextBox 2"/>
          <p:cNvSpPr txBox="1"/>
          <p:nvPr/>
        </p:nvSpPr>
        <p:spPr>
          <a:xfrm>
            <a:off x="6019800" y="5637068"/>
            <a:ext cx="2971800" cy="338554"/>
          </a:xfrm>
          <a:prstGeom prst="rect">
            <a:avLst/>
          </a:prstGeom>
          <a:noFill/>
        </p:spPr>
        <p:txBody>
          <a:bodyPr wrap="square" rtlCol="0">
            <a:spAutoFit/>
          </a:bodyPr>
          <a:lstStyle/>
          <a:p>
            <a:r>
              <a:rPr lang="en-US" sz="1600" b="1" dirty="0"/>
              <a:t>That’s mean there is PC problem </a:t>
            </a:r>
          </a:p>
        </p:txBody>
      </p:sp>
      <p:pic>
        <p:nvPicPr>
          <p:cNvPr id="4" name="Picture 3"/>
          <p:cNvPicPr>
            <a:picLocks noChangeAspect="1"/>
          </p:cNvPicPr>
          <p:nvPr/>
        </p:nvPicPr>
        <p:blipFill>
          <a:blip r:embed="rId3"/>
          <a:stretch>
            <a:fillRect/>
          </a:stretch>
        </p:blipFill>
        <p:spPr>
          <a:xfrm>
            <a:off x="0" y="4863370"/>
            <a:ext cx="8991600" cy="1885950"/>
          </a:xfrm>
          <a:prstGeom prst="rect">
            <a:avLst/>
          </a:prstGeom>
        </p:spPr>
      </p:pic>
      <p:sp>
        <p:nvSpPr>
          <p:cNvPr id="5" name="Right Arrow 4"/>
          <p:cNvSpPr/>
          <p:nvPr/>
        </p:nvSpPr>
        <p:spPr>
          <a:xfrm>
            <a:off x="1385455" y="5463886"/>
            <a:ext cx="651163" cy="477982"/>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916022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05753" y="817418"/>
            <a:ext cx="8296275" cy="4581525"/>
          </a:xfrm>
          <a:prstGeom prst="rect">
            <a:avLst/>
          </a:prstGeom>
        </p:spPr>
      </p:pic>
    </p:spTree>
    <p:extLst>
      <p:ext uri="{BB962C8B-B14F-4D97-AF65-F5344CB8AC3E}">
        <p14:creationId xmlns:p14="http://schemas.microsoft.com/office/powerpoint/2010/main" val="80969367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4103543"/>
            <a:ext cx="8934450" cy="1504950"/>
          </a:xfrm>
          <a:prstGeom prst="rect">
            <a:avLst/>
          </a:prstGeom>
        </p:spPr>
      </p:pic>
      <p:sp>
        <p:nvSpPr>
          <p:cNvPr id="3" name="Left Arrow 2"/>
          <p:cNvSpPr/>
          <p:nvPr/>
        </p:nvSpPr>
        <p:spPr>
          <a:xfrm flipV="1">
            <a:off x="7038109" y="4648200"/>
            <a:ext cx="685800" cy="415636"/>
          </a:xfrm>
          <a:prstGeom prst="lef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914400" y="843395"/>
            <a:ext cx="8020050" cy="2190750"/>
          </a:xfrm>
          <a:prstGeom prst="rect">
            <a:avLst/>
          </a:prstGeom>
        </p:spPr>
      </p:pic>
    </p:spTree>
    <p:extLst>
      <p:ext uri="{BB962C8B-B14F-4D97-AF65-F5344CB8AC3E}">
        <p14:creationId xmlns:p14="http://schemas.microsoft.com/office/powerpoint/2010/main" val="97412071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04800"/>
            <a:ext cx="7848600" cy="5868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6028711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81000"/>
            <a:ext cx="7258050" cy="5695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936160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63776" y="261258"/>
            <a:ext cx="7839075" cy="4019550"/>
          </a:xfrm>
          <a:prstGeom prst="rect">
            <a:avLst/>
          </a:prstGeom>
        </p:spPr>
      </p:pic>
      <p:pic>
        <p:nvPicPr>
          <p:cNvPr id="4" name="Picture 3"/>
          <p:cNvPicPr>
            <a:picLocks noChangeAspect="1"/>
          </p:cNvPicPr>
          <p:nvPr/>
        </p:nvPicPr>
        <p:blipFill>
          <a:blip r:embed="rId3"/>
          <a:stretch>
            <a:fillRect/>
          </a:stretch>
        </p:blipFill>
        <p:spPr>
          <a:xfrm>
            <a:off x="665162" y="4546826"/>
            <a:ext cx="8220075" cy="1857375"/>
          </a:xfrm>
          <a:prstGeom prst="rect">
            <a:avLst/>
          </a:prstGeom>
        </p:spPr>
      </p:pic>
      <p:sp>
        <p:nvSpPr>
          <p:cNvPr id="5" name="Right Arrow 4"/>
          <p:cNvSpPr/>
          <p:nvPr/>
        </p:nvSpPr>
        <p:spPr>
          <a:xfrm rot="16200000">
            <a:off x="5791201" y="6041570"/>
            <a:ext cx="624114" cy="3773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311830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275" y="533400"/>
            <a:ext cx="8848725" cy="3067050"/>
          </a:xfrm>
          <a:prstGeom prst="rect">
            <a:avLst/>
          </a:prstGeom>
        </p:spPr>
      </p:pic>
      <p:pic>
        <p:nvPicPr>
          <p:cNvPr id="3" name="Picture 2"/>
          <p:cNvPicPr>
            <a:picLocks noChangeAspect="1"/>
          </p:cNvPicPr>
          <p:nvPr/>
        </p:nvPicPr>
        <p:blipFill>
          <a:blip r:embed="rId3"/>
          <a:stretch>
            <a:fillRect/>
          </a:stretch>
        </p:blipFill>
        <p:spPr>
          <a:xfrm>
            <a:off x="174625" y="3433762"/>
            <a:ext cx="8499475" cy="3114675"/>
          </a:xfrm>
          <a:prstGeom prst="rect">
            <a:avLst/>
          </a:prstGeom>
        </p:spPr>
      </p:pic>
      <p:sp>
        <p:nvSpPr>
          <p:cNvPr id="4" name="Right Arrow 3"/>
          <p:cNvSpPr/>
          <p:nvPr/>
        </p:nvSpPr>
        <p:spPr>
          <a:xfrm>
            <a:off x="1524000" y="2495550"/>
            <a:ext cx="561975" cy="40005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379036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Arrow 2"/>
          <p:cNvSpPr/>
          <p:nvPr/>
        </p:nvSpPr>
        <p:spPr>
          <a:xfrm>
            <a:off x="1205345" y="937778"/>
            <a:ext cx="561975" cy="40005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810305" y="409140"/>
            <a:ext cx="8220075" cy="1857375"/>
          </a:xfrm>
          <a:prstGeom prst="rect">
            <a:avLst/>
          </a:prstGeom>
        </p:spPr>
      </p:pic>
      <p:sp>
        <p:nvSpPr>
          <p:cNvPr id="5" name="Right Arrow 4"/>
          <p:cNvSpPr/>
          <p:nvPr/>
        </p:nvSpPr>
        <p:spPr>
          <a:xfrm>
            <a:off x="1596303" y="1137803"/>
            <a:ext cx="566057" cy="31362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209800"/>
            <a:ext cx="9067800" cy="4408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ight Arrow 6"/>
          <p:cNvSpPr/>
          <p:nvPr/>
        </p:nvSpPr>
        <p:spPr>
          <a:xfrm rot="10800000">
            <a:off x="6723743" y="4876800"/>
            <a:ext cx="673100" cy="495300"/>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350661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6321" y="1985096"/>
            <a:ext cx="8486775" cy="2638425"/>
          </a:xfrm>
          <a:prstGeom prst="rect">
            <a:avLst/>
          </a:prstGeom>
        </p:spPr>
      </p:pic>
    </p:spTree>
    <p:extLst>
      <p:ext uri="{BB962C8B-B14F-4D97-AF65-F5344CB8AC3E}">
        <p14:creationId xmlns:p14="http://schemas.microsoft.com/office/powerpoint/2010/main" val="50308815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881062"/>
            <a:ext cx="5972175" cy="509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896153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0963"/>
            <a:ext cx="5943600" cy="669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5867400" y="5715000"/>
            <a:ext cx="838200" cy="381000"/>
          </a:xfrm>
          <a:prstGeom prst="lef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294298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01782" y="299605"/>
            <a:ext cx="8423563" cy="2324100"/>
          </a:xfrm>
          <a:prstGeom prst="rect">
            <a:avLst/>
          </a:prstGeom>
        </p:spPr>
      </p:pic>
      <p:sp>
        <p:nvSpPr>
          <p:cNvPr id="4" name="Right Arrow 3"/>
          <p:cNvSpPr/>
          <p:nvPr/>
        </p:nvSpPr>
        <p:spPr>
          <a:xfrm>
            <a:off x="1371600" y="1205346"/>
            <a:ext cx="734291" cy="512618"/>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270163" y="2623705"/>
            <a:ext cx="8686800" cy="2219325"/>
          </a:xfrm>
          <a:prstGeom prst="rect">
            <a:avLst/>
          </a:prstGeom>
        </p:spPr>
      </p:pic>
      <p:sp>
        <p:nvSpPr>
          <p:cNvPr id="7" name="Right Arrow 6"/>
          <p:cNvSpPr/>
          <p:nvPr/>
        </p:nvSpPr>
        <p:spPr>
          <a:xfrm rot="10800000">
            <a:off x="6287325" y="3840337"/>
            <a:ext cx="682172" cy="413656"/>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014092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5275" y="203200"/>
            <a:ext cx="8848725" cy="3067050"/>
          </a:xfrm>
          <a:prstGeom prst="rect">
            <a:avLst/>
          </a:prstGeom>
        </p:spPr>
      </p:pic>
      <p:sp>
        <p:nvSpPr>
          <p:cNvPr id="3" name="Right Arrow 2"/>
          <p:cNvSpPr/>
          <p:nvPr/>
        </p:nvSpPr>
        <p:spPr>
          <a:xfrm>
            <a:off x="1216230" y="2138219"/>
            <a:ext cx="812800" cy="478971"/>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469899" y="3369458"/>
            <a:ext cx="8499475" cy="3114675"/>
          </a:xfrm>
          <a:prstGeom prst="rect">
            <a:avLst/>
          </a:prstGeom>
        </p:spPr>
      </p:pic>
    </p:spTree>
    <p:extLst>
      <p:ext uri="{BB962C8B-B14F-4D97-AF65-F5344CB8AC3E}">
        <p14:creationId xmlns:p14="http://schemas.microsoft.com/office/powerpoint/2010/main" val="399803550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450" y="1992690"/>
            <a:ext cx="8724697" cy="1569660"/>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9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Quota Problems</a:t>
            </a:r>
          </a:p>
        </p:txBody>
      </p:sp>
    </p:spTree>
    <p:extLst>
      <p:ext uri="{BB962C8B-B14F-4D97-AF65-F5344CB8AC3E}">
        <p14:creationId xmlns:p14="http://schemas.microsoft.com/office/powerpoint/2010/main" val="226044189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64359" y="0"/>
            <a:ext cx="7910944" cy="2673925"/>
          </a:xfrm>
          <a:prstGeom prst="rect">
            <a:avLst/>
          </a:prstGeom>
        </p:spPr>
      </p:pic>
      <p:pic>
        <p:nvPicPr>
          <p:cNvPr id="5" name="Picture 4"/>
          <p:cNvPicPr>
            <a:picLocks noChangeAspect="1"/>
          </p:cNvPicPr>
          <p:nvPr/>
        </p:nvPicPr>
        <p:blipFill>
          <a:blip r:embed="rId4"/>
          <a:stretch>
            <a:fillRect/>
          </a:stretch>
        </p:blipFill>
        <p:spPr>
          <a:xfrm>
            <a:off x="118369" y="2814452"/>
            <a:ext cx="5391150" cy="3934690"/>
          </a:xfrm>
          <a:prstGeom prst="rect">
            <a:avLst/>
          </a:prstGeom>
        </p:spPr>
      </p:pic>
      <p:pic>
        <p:nvPicPr>
          <p:cNvPr id="6" name="Picture 5"/>
          <p:cNvPicPr>
            <a:picLocks noChangeAspect="1"/>
          </p:cNvPicPr>
          <p:nvPr/>
        </p:nvPicPr>
        <p:blipFill>
          <a:blip r:embed="rId5"/>
          <a:stretch>
            <a:fillRect/>
          </a:stretch>
        </p:blipFill>
        <p:spPr>
          <a:xfrm>
            <a:off x="5509519" y="2814452"/>
            <a:ext cx="3390900" cy="3804062"/>
          </a:xfrm>
          <a:prstGeom prst="rect">
            <a:avLst/>
          </a:prstGeom>
        </p:spPr>
      </p:pic>
    </p:spTree>
    <p:extLst>
      <p:ext uri="{BB962C8B-B14F-4D97-AF65-F5344CB8AC3E}">
        <p14:creationId xmlns:p14="http://schemas.microsoft.com/office/powerpoint/2010/main" val="285810650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7997" y="655122"/>
            <a:ext cx="6986656" cy="523220"/>
          </a:xfrm>
          <a:prstGeom prst="rect">
            <a:avLst/>
          </a:prstGeom>
          <a:noFill/>
        </p:spPr>
        <p:txBody>
          <a:bodyPr wrap="none" rtlCol="0">
            <a:spAutoFit/>
          </a:bodyPr>
          <a:lstStyle/>
          <a:p>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How to Open Quota Consumption Issues WF</a:t>
            </a:r>
            <a:endParaRPr lang="en-US" sz="2800" b="1" dirty="0">
              <a:ln w="1905"/>
              <a:solidFill>
                <a:srgbClr val="92D050"/>
              </a:solidFill>
              <a:effectLst>
                <a:innerShdw blurRad="69850" dist="43180" dir="5400000">
                  <a:srgbClr val="000000">
                    <a:alpha val="65000"/>
                  </a:srgbClr>
                </a:innerShdw>
              </a:effectLst>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22387"/>
            <a:ext cx="8900474" cy="553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rot="16200000">
            <a:off x="235527" y="2748869"/>
            <a:ext cx="665018" cy="360218"/>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Down Arrow 2"/>
          <p:cNvSpPr/>
          <p:nvPr/>
        </p:nvSpPr>
        <p:spPr>
          <a:xfrm>
            <a:off x="5458692" y="2762724"/>
            <a:ext cx="401781" cy="665018"/>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602908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1" y="4066311"/>
            <a:ext cx="8915400" cy="2053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24586"/>
            <a:ext cx="8763000" cy="2904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rot="10800000">
            <a:off x="2578068" y="1775842"/>
            <a:ext cx="901732" cy="401901"/>
          </a:xfrm>
          <a:prstGeom prst="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rot="10800000">
            <a:off x="2835479" y="5098328"/>
            <a:ext cx="978408" cy="484632"/>
          </a:xfrm>
          <a:prstGeom prst="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165176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609600"/>
            <a:ext cx="8229600" cy="1477328"/>
          </a:xfrm>
          <a:prstGeom prst="rect">
            <a:avLst/>
          </a:prstGeom>
        </p:spPr>
        <p:txBody>
          <a:bodyPr wrap="square">
            <a:spAutoFit/>
          </a:bodyPr>
          <a:lstStyle/>
          <a:p>
            <a:pPr marL="285750" indent="-285750">
              <a:buFont typeface="Arial" panose="020B0604020202020204" pitchFamily="34" charset="0"/>
              <a:buChar char="•"/>
            </a:pPr>
            <a:r>
              <a:rPr lang="en-US" dirty="0"/>
              <a:t>No limitation for recharging quota, Our customer can recharge unlimited count of quota.  </a:t>
            </a:r>
          </a:p>
          <a:p>
            <a:pPr marL="285750" indent="-285750">
              <a:buFont typeface="Arial" panose="020B0604020202020204" pitchFamily="34" charset="0"/>
              <a:buChar char="•"/>
            </a:pPr>
            <a:r>
              <a:rPr lang="en-US" dirty="0"/>
              <a:t>Extra validity is 1 month.​                                  </a:t>
            </a:r>
          </a:p>
          <a:p>
            <a:pPr marL="285750" indent="-285750">
              <a:buFont typeface="Arial" panose="020B0604020202020204" pitchFamily="34" charset="0"/>
              <a:buChar char="•"/>
            </a:pPr>
            <a:r>
              <a:rPr lang="en-US" dirty="0"/>
              <a:t>Recharge options are (16333 &amp; shops &amp; portal ) available for all customer base including GOV customer.</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7" y="3040454"/>
            <a:ext cx="8620125" cy="299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ight Arrow 4"/>
          <p:cNvSpPr/>
          <p:nvPr/>
        </p:nvSpPr>
        <p:spPr>
          <a:xfrm>
            <a:off x="685800" y="3733800"/>
            <a:ext cx="749808" cy="384958"/>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77254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287958"/>
            <a:ext cx="8382000" cy="646331"/>
          </a:xfrm>
          <a:prstGeom prst="rect">
            <a:avLst/>
          </a:prstGeom>
        </p:spPr>
        <p:txBody>
          <a:bodyPr wrap="square">
            <a:spAutoFit/>
          </a:bodyPr>
          <a:lstStyle/>
          <a:p>
            <a:pPr marL="285750" indent="-285750">
              <a:buFont typeface="Arial" panose="020B0604020202020204" pitchFamily="34" charset="0"/>
              <a:buChar char="•"/>
            </a:pPr>
            <a:r>
              <a:rPr lang="en-US" dirty="0"/>
              <a:t>Check customer balance and his renewal date for his quota (Quota Renewal date = Due Date for invoices) </a:t>
            </a:r>
          </a:p>
        </p:txBody>
      </p:sp>
      <p:pic>
        <p:nvPicPr>
          <p:cNvPr id="8196" name="Picture 4" descr="updat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7514" y="4630584"/>
            <a:ext cx="219075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not updat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242" y="4627779"/>
            <a:ext cx="2190750" cy="1905000"/>
          </a:xfrm>
          <a:prstGeom prst="rect">
            <a:avLst/>
          </a:prstGeom>
          <a:noFill/>
          <a:extLst>
            <a:ext uri="{909E8E84-426E-40DD-AFC4-6F175D3DCCD1}">
              <a14:hiddenFill xmlns:a14="http://schemas.microsoft.com/office/drawing/2010/main">
                <a:solidFill>
                  <a:srgbClr val="FFFFFF"/>
                </a:solidFill>
              </a14:hiddenFill>
            </a:ext>
          </a:extLst>
        </p:spPr>
      </p:pic>
      <p:sp>
        <p:nvSpPr>
          <p:cNvPr id="4" name="Left Arrow 3"/>
          <p:cNvSpPr/>
          <p:nvPr/>
        </p:nvSpPr>
        <p:spPr>
          <a:xfrm>
            <a:off x="7796163" y="5580279"/>
            <a:ext cx="794004" cy="390896"/>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 name="Rectangle 1"/>
          <p:cNvSpPr/>
          <p:nvPr/>
        </p:nvSpPr>
        <p:spPr>
          <a:xfrm>
            <a:off x="457200" y="3256393"/>
            <a:ext cx="8382000" cy="2031325"/>
          </a:xfrm>
          <a:prstGeom prst="rect">
            <a:avLst/>
          </a:prstGeom>
        </p:spPr>
        <p:txBody>
          <a:bodyPr wrap="square">
            <a:spAutoFit/>
          </a:bodyPr>
          <a:lstStyle/>
          <a:p>
            <a:endParaRPr lang="en-US" dirty="0"/>
          </a:p>
          <a:p>
            <a:endParaRPr lang="en-US" dirty="0"/>
          </a:p>
          <a:p>
            <a:endParaRPr lang="en-US" dirty="0"/>
          </a:p>
          <a:p>
            <a:r>
              <a:rPr lang="en-US" dirty="0"/>
              <a:t> -Renewal takes place from 12:00 AM till 3:00AM , accordingly no need for escalation during this time.​ </a:t>
            </a:r>
            <a:endParaRPr lang="en-US" dirty="0">
              <a:solidFill>
                <a:srgbClr val="92D050"/>
              </a:solidFill>
            </a:endParaRPr>
          </a:p>
          <a:p>
            <a:br>
              <a:rPr lang="en-US" dirty="0"/>
            </a:br>
            <a:endParaRPr lang="en-US" dirty="0"/>
          </a:p>
        </p:txBody>
      </p:sp>
      <p:pic>
        <p:nvPicPr>
          <p:cNvPr id="6146" name="Picture 1" descr="image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532" y="611122"/>
            <a:ext cx="4210050" cy="32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68632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59581"/>
            <a:ext cx="9144000"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1"/>
          <p:cNvSpPr>
            <a:spLocks noChangeArrowheads="1"/>
          </p:cNvSpPr>
          <p:nvPr/>
        </p:nvSpPr>
        <p:spPr bwMode="auto">
          <a:xfrm>
            <a:off x="3249613" y="27543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FF6600"/>
                </a:solidFill>
                <a:effectLst/>
                <a:latin typeface="Helvetica Neue"/>
                <a:cs typeface="Arial" pitchFamily="34" charset="0"/>
              </a:rPr>
              <a:t>​</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pic>
        <p:nvPicPr>
          <p:cNvPr id="3" name="Picture 2"/>
          <p:cNvPicPr>
            <a:picLocks noChangeAspect="1"/>
          </p:cNvPicPr>
          <p:nvPr/>
        </p:nvPicPr>
        <p:blipFill>
          <a:blip r:embed="rId3"/>
          <a:stretch>
            <a:fillRect/>
          </a:stretch>
        </p:blipFill>
        <p:spPr>
          <a:xfrm>
            <a:off x="1" y="1662319"/>
            <a:ext cx="9144000" cy="3419475"/>
          </a:xfrm>
          <a:prstGeom prst="rect">
            <a:avLst/>
          </a:prstGeom>
        </p:spPr>
      </p:pic>
      <p:pic>
        <p:nvPicPr>
          <p:cNvPr id="6" name="Picture 5"/>
          <p:cNvPicPr>
            <a:picLocks noChangeAspect="1"/>
          </p:cNvPicPr>
          <p:nvPr/>
        </p:nvPicPr>
        <p:blipFill>
          <a:blip r:embed="rId4"/>
          <a:stretch>
            <a:fillRect/>
          </a:stretch>
        </p:blipFill>
        <p:spPr>
          <a:xfrm>
            <a:off x="271462" y="128001"/>
            <a:ext cx="8601075" cy="2080315"/>
          </a:xfrm>
          <a:prstGeom prst="rect">
            <a:avLst/>
          </a:prstGeom>
        </p:spPr>
      </p:pic>
    </p:spTree>
    <p:extLst>
      <p:ext uri="{BB962C8B-B14F-4D97-AF65-F5344CB8AC3E}">
        <p14:creationId xmlns:p14="http://schemas.microsoft.com/office/powerpoint/2010/main" val="203011856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252787"/>
            <a:ext cx="5743575" cy="2181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ight Arrow 2"/>
          <p:cNvSpPr/>
          <p:nvPr/>
        </p:nvSpPr>
        <p:spPr>
          <a:xfrm>
            <a:off x="1828800" y="4114800"/>
            <a:ext cx="914400" cy="4572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3"/>
          <a:stretch>
            <a:fillRect/>
          </a:stretch>
        </p:blipFill>
        <p:spPr>
          <a:xfrm>
            <a:off x="2743200" y="203994"/>
            <a:ext cx="3819525" cy="3314700"/>
          </a:xfrm>
          <a:prstGeom prst="rect">
            <a:avLst/>
          </a:prstGeom>
        </p:spPr>
      </p:pic>
    </p:spTree>
    <p:extLst>
      <p:ext uri="{BB962C8B-B14F-4D97-AF65-F5344CB8AC3E}">
        <p14:creationId xmlns:p14="http://schemas.microsoft.com/office/powerpoint/2010/main" val="201412814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74173"/>
            <a:ext cx="803910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Left Arrow 1"/>
          <p:cNvSpPr/>
          <p:nvPr/>
        </p:nvSpPr>
        <p:spPr>
          <a:xfrm>
            <a:off x="7924800" y="3810000"/>
            <a:ext cx="838200" cy="304800"/>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6107690" y="600075"/>
            <a:ext cx="2886075" cy="1876425"/>
          </a:xfrm>
          <a:prstGeom prst="rect">
            <a:avLst/>
          </a:prstGeom>
        </p:spPr>
      </p:pic>
    </p:spTree>
    <p:extLst>
      <p:ext uri="{BB962C8B-B14F-4D97-AF65-F5344CB8AC3E}">
        <p14:creationId xmlns:p14="http://schemas.microsoft.com/office/powerpoint/2010/main" val="234919112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954107"/>
          </a:xfrm>
          <a:prstGeom prst="rect">
            <a:avLst/>
          </a:prstGeom>
        </p:spPr>
        <p:txBody>
          <a:bodyPr wrap="square">
            <a:spAutoFit/>
          </a:bodyPr>
          <a:lstStyle/>
          <a:p>
            <a:pPr algn="ctr"/>
            <a:r>
              <a:rPr lang="en-US" sz="2000" b="1" dirty="0"/>
              <a:t>Open SR</a:t>
            </a:r>
          </a:p>
          <a:p>
            <a:pPr algn="r"/>
            <a:r>
              <a:rPr lang="ar-EG" dirty="0"/>
              <a:t>تمام يا أستاذ/ة....... أنا سجلت الطلب لحضرتك وفي خلال الـ48  ساعة اللي جاية هنقوم بحل مشكلة حضرتك، وفى حاله ان حضرتك واجهت نفس المشكلة بعد 48 ساعه ممكن تعاود الاتصال بينا مرة تانية</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022565686"/>
              </p:ext>
            </p:extLst>
          </p:nvPr>
        </p:nvGraphicFramePr>
        <p:xfrm>
          <a:off x="457200" y="1752600"/>
          <a:ext cx="5410200" cy="3276599"/>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374041">
                <a:tc>
                  <a:txBody>
                    <a:bodyPr/>
                    <a:lstStyle/>
                    <a:p>
                      <a:pPr algn="ctr">
                        <a:spcAft>
                          <a:spcPts val="0"/>
                        </a:spcAft>
                      </a:pPr>
                      <a:r>
                        <a:rPr lang="en-US" sz="1100" b="1" dirty="0">
                          <a:solidFill>
                            <a:srgbClr val="FFFFFF"/>
                          </a:solidFill>
                          <a:effectLst/>
                          <a:latin typeface="Helvetica Neue"/>
                        </a:rPr>
                        <a:t>Short Code </a:t>
                      </a:r>
                      <a:endParaRPr lang="en-US" dirty="0">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37014</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4041">
                <a:tc>
                  <a:txBody>
                    <a:bodyPr/>
                    <a:lstStyle/>
                    <a:p>
                      <a:pPr algn="ctr">
                        <a:spcAft>
                          <a:spcPts val="0"/>
                        </a:spcAft>
                      </a:pPr>
                      <a:r>
                        <a:rPr lang="en-US" sz="1100" b="1">
                          <a:solidFill>
                            <a:srgbClr val="FFFFFF"/>
                          </a:solidFill>
                          <a:effectLst/>
                          <a:latin typeface="Helvetica Neue"/>
                        </a:rPr>
                        <a:t>Type</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 Fault For VAS</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8312">
                <a:tc>
                  <a:txBody>
                    <a:bodyPr/>
                    <a:lstStyle/>
                    <a:p>
                      <a:pPr algn="ctr">
                        <a:spcAft>
                          <a:spcPts val="0"/>
                        </a:spcAft>
                      </a:pPr>
                      <a:r>
                        <a:rPr lang="en-US" sz="1100" b="1">
                          <a:solidFill>
                            <a:srgbClr val="FFFFFF"/>
                          </a:solidFill>
                          <a:effectLst/>
                          <a:latin typeface="Helvetica Neue"/>
                        </a:rPr>
                        <a:t>Area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Quota Renewal Problem</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4041">
                <a:tc>
                  <a:txBody>
                    <a:bodyPr/>
                    <a:lstStyle/>
                    <a:p>
                      <a:pPr algn="ctr">
                        <a:spcAft>
                          <a:spcPts val="0"/>
                        </a:spcAft>
                      </a:pPr>
                      <a:r>
                        <a:rPr lang="en-US" sz="1100" b="1">
                          <a:solidFill>
                            <a:srgbClr val="FFFFFF"/>
                          </a:solidFill>
                          <a:effectLst/>
                          <a:latin typeface="Helvetica Neue"/>
                        </a:rPr>
                        <a:t>Product </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ADSL</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4041">
                <a:tc>
                  <a:txBody>
                    <a:bodyPr/>
                    <a:lstStyle/>
                    <a:p>
                      <a:pPr algn="ctr">
                        <a:spcAft>
                          <a:spcPts val="0"/>
                        </a:spcAft>
                      </a:pPr>
                      <a:r>
                        <a:rPr lang="en-US" sz="1100" b="1">
                          <a:solidFill>
                            <a:srgbClr val="FFFFFF"/>
                          </a:solidFill>
                          <a:effectLst/>
                          <a:latin typeface="Helvetica Neue"/>
                        </a:rPr>
                        <a:t>Owner Group</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DSL CH VAS​</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4041">
                <a:tc>
                  <a:txBody>
                    <a:bodyPr/>
                    <a:lstStyle/>
                    <a:p>
                      <a:pPr algn="ctr">
                        <a:spcAft>
                          <a:spcPts val="0"/>
                        </a:spcAft>
                      </a:pPr>
                      <a:r>
                        <a:rPr lang="en-US" sz="1100" b="1">
                          <a:solidFill>
                            <a:srgbClr val="FFFFFF"/>
                          </a:solidFill>
                          <a:effectLst/>
                          <a:latin typeface="Helvetica Neue"/>
                        </a:rPr>
                        <a:t>Sub Area</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Empty</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4041">
                <a:tc>
                  <a:txBody>
                    <a:bodyPr/>
                    <a:lstStyle/>
                    <a:p>
                      <a:pPr algn="ctr">
                        <a:spcAft>
                          <a:spcPts val="0"/>
                        </a:spcAft>
                      </a:pPr>
                      <a:r>
                        <a:rPr lang="en-US" sz="1100" b="1">
                          <a:solidFill>
                            <a:srgbClr val="FFFFFF"/>
                          </a:solidFill>
                          <a:effectLst/>
                          <a:latin typeface="Helvetica Neue"/>
                        </a:rPr>
                        <a:t>Status</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a:effectLst/>
                          <a:latin typeface="Helvetica Neue"/>
                        </a:rPr>
                        <a:t>Open</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4041">
                <a:tc>
                  <a:txBody>
                    <a:bodyPr/>
                    <a:lstStyle/>
                    <a:p>
                      <a:pPr algn="ctr">
                        <a:spcAft>
                          <a:spcPts val="0"/>
                        </a:spcAft>
                      </a:pPr>
                      <a:r>
                        <a:rPr lang="en-US" sz="1100" b="1">
                          <a:solidFill>
                            <a:srgbClr val="FFFFFF"/>
                          </a:solidFill>
                          <a:effectLst/>
                          <a:latin typeface="Helvetica Neue"/>
                        </a:rPr>
                        <a:t>Smart Script</a:t>
                      </a:r>
                      <a:endParaRPr lang="en-US">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00"/>
                    </a:solidFill>
                  </a:tcPr>
                </a:tc>
                <a:tc>
                  <a:txBody>
                    <a:bodyPr/>
                    <a:lstStyle/>
                    <a:p>
                      <a:pPr algn="ctr">
                        <a:spcAft>
                          <a:spcPts val="0"/>
                        </a:spcAft>
                      </a:pPr>
                      <a:r>
                        <a:rPr lang="en-US" sz="1100" dirty="0">
                          <a:effectLst/>
                          <a:latin typeface="Helvetica Neue"/>
                        </a:rPr>
                        <a:t>Yes</a:t>
                      </a:r>
                      <a:endParaRPr lang="en-US" dirty="0">
                        <a:effectLst/>
                        <a:latin typeface="Helvetica Neue"/>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5714617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8" y="1933575"/>
            <a:ext cx="8620125" cy="299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ight Arrow 3"/>
          <p:cNvSpPr/>
          <p:nvPr/>
        </p:nvSpPr>
        <p:spPr>
          <a:xfrm>
            <a:off x="5562600" y="2362200"/>
            <a:ext cx="762000" cy="3810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224239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838200"/>
            <a:ext cx="8001000" cy="923330"/>
          </a:xfrm>
          <a:prstGeom prst="rect">
            <a:avLst/>
          </a:prstGeom>
          <a:ln>
            <a:noFill/>
          </a:ln>
        </p:spPr>
        <p:txBody>
          <a:bodyPr wrap="square">
            <a:spAutoFit/>
          </a:bodyPr>
          <a:lstStyle/>
          <a:p>
            <a:r>
              <a:rPr lang="en-US" dirty="0"/>
              <a:t>- Customer complains that he charged (Online or shop or 16333) but he didn’t get extra quota for charging Extra Quota problems through 16333 </a:t>
            </a:r>
            <a:r>
              <a:rPr lang="en-US" dirty="0">
                <a:solidFill>
                  <a:schemeClr val="bg2">
                    <a:lumMod val="25000"/>
                  </a:schemeClr>
                </a:solidFill>
              </a:rPr>
              <a:t>for charging Extra Quota problems through </a:t>
            </a:r>
            <a:r>
              <a:rPr lang="en-US" b="1" dirty="0">
                <a:solidFill>
                  <a:schemeClr val="accent6">
                    <a:lumMod val="75000"/>
                  </a:schemeClr>
                </a:solidFill>
              </a:rPr>
              <a:t> </a:t>
            </a:r>
            <a:r>
              <a:rPr lang="en-US" dirty="0">
                <a:solidFill>
                  <a:schemeClr val="bg2">
                    <a:lumMod val="25000"/>
                  </a:schemeClr>
                </a:solidFill>
              </a:rPr>
              <a:t>16333</a:t>
            </a:r>
            <a:r>
              <a:rPr lang="en-US" b="1" dirty="0">
                <a:solidFill>
                  <a:schemeClr val="accent6">
                    <a:lumMod val="75000"/>
                  </a:schemeClr>
                </a:solidFill>
              </a:rPr>
              <a:t> </a:t>
            </a:r>
            <a:r>
              <a:rPr lang="en-US" b="1" u="sng" dirty="0">
                <a:solidFill>
                  <a:schemeClr val="accent6">
                    <a:lumMod val="75000"/>
                  </a:schemeClr>
                </a:solidFill>
              </a:rPr>
              <a:t>Click here​</a:t>
            </a:r>
            <a:endParaRPr lang="en-US" u="sng" dirty="0">
              <a:solidFill>
                <a:schemeClr val="accent6">
                  <a:lumMod val="75000"/>
                </a:schemeClr>
              </a:solidFill>
            </a:endParaRPr>
          </a:p>
        </p:txBody>
      </p:sp>
      <p:sp>
        <p:nvSpPr>
          <p:cNvPr id="3" name="Rectangle 2"/>
          <p:cNvSpPr/>
          <p:nvPr/>
        </p:nvSpPr>
        <p:spPr>
          <a:xfrm>
            <a:off x="685800" y="1676400"/>
            <a:ext cx="7620000" cy="369332"/>
          </a:xfrm>
          <a:prstGeom prst="rect">
            <a:avLst/>
          </a:prstGeom>
        </p:spPr>
        <p:txBody>
          <a:bodyPr wrap="square">
            <a:spAutoFit/>
          </a:bodyPr>
          <a:lstStyle/>
          <a:p>
            <a:r>
              <a:rPr lang="en-US" dirty="0"/>
              <a:t> - Check on PGW (Payment Gateway) if transaction done successfully.</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2069999"/>
            <a:ext cx="8915400" cy="2273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843" y="4191000"/>
            <a:ext cx="8926513" cy="2566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ight Arrow 6"/>
          <p:cNvSpPr/>
          <p:nvPr/>
        </p:nvSpPr>
        <p:spPr>
          <a:xfrm rot="5400000">
            <a:off x="28262" y="1454345"/>
            <a:ext cx="782535" cy="380140"/>
          </a:xfrm>
          <a:prstGeom prst="rightArrow">
            <a:avLst/>
          </a:prstGeom>
          <a:solidFill>
            <a:schemeClr val="accent6">
              <a:lumMod val="75000"/>
            </a:schemeClr>
          </a:solidFill>
          <a:ln>
            <a:solidFill>
              <a:srgbClr val="F47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 name="Left Arrow 4"/>
          <p:cNvSpPr/>
          <p:nvPr/>
        </p:nvSpPr>
        <p:spPr>
          <a:xfrm>
            <a:off x="4953000" y="1376434"/>
            <a:ext cx="762000" cy="324751"/>
          </a:xfrm>
          <a:prstGeom prst="leftArrow">
            <a:avLst/>
          </a:prstGeom>
          <a:solidFill>
            <a:schemeClr val="accent6">
              <a:lumMod val="75000"/>
            </a:schemeClr>
          </a:solidFill>
          <a:ln>
            <a:solidFill>
              <a:srgbClr val="F47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123935104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37" y="3799444"/>
            <a:ext cx="8909463" cy="154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ight Arrow 3"/>
          <p:cNvSpPr/>
          <p:nvPr/>
        </p:nvSpPr>
        <p:spPr>
          <a:xfrm rot="10800000">
            <a:off x="7863384" y="4328653"/>
            <a:ext cx="978408" cy="484632"/>
          </a:xfrm>
          <a:prstGeom prst="rightArrow">
            <a:avLst/>
          </a:prstGeom>
          <a:solidFill>
            <a:schemeClr val="accent6">
              <a:lumMod val="75000"/>
            </a:schemeClr>
          </a:solidFill>
          <a:ln>
            <a:solidFill>
              <a:srgbClr val="F47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2137" y="152401"/>
            <a:ext cx="7781247" cy="1477328"/>
          </a:xfrm>
          <a:prstGeom prst="rect">
            <a:avLst/>
          </a:prstGeom>
        </p:spPr>
        <p:txBody>
          <a:bodyPr wrap="square">
            <a:spAutoFit/>
          </a:bodyPr>
          <a:lstStyle/>
          <a:p>
            <a:pPr marL="285750" indent="-285750">
              <a:buFontTx/>
              <a:buChar char="-"/>
            </a:pPr>
            <a:r>
              <a:rPr lang="en-US" dirty="0"/>
              <a:t>Customer complains that he charged (Online or shop or 16333) but he didn’t get extra quota</a:t>
            </a:r>
          </a:p>
          <a:p>
            <a:pPr marL="285750" indent="-285750">
              <a:buFontTx/>
              <a:buChar char="-"/>
            </a:pPr>
            <a:endParaRPr lang="en-US" dirty="0"/>
          </a:p>
          <a:p>
            <a:pPr marL="285750" indent="-285750">
              <a:buFontTx/>
              <a:buChar char="-"/>
            </a:pPr>
            <a:r>
              <a:rPr lang="en-US" dirty="0"/>
              <a:t> - Check on PGW (Payment Gateway) if transaction done successfully</a:t>
            </a:r>
          </a:p>
          <a:p>
            <a:endParaRPr lang="en-US" dirty="0"/>
          </a:p>
        </p:txBody>
      </p:sp>
      <p:pic>
        <p:nvPicPr>
          <p:cNvPr id="6" name="Picture 5"/>
          <p:cNvPicPr>
            <a:picLocks noChangeAspect="1"/>
          </p:cNvPicPr>
          <p:nvPr/>
        </p:nvPicPr>
        <p:blipFill>
          <a:blip r:embed="rId3"/>
          <a:stretch>
            <a:fillRect/>
          </a:stretch>
        </p:blipFill>
        <p:spPr>
          <a:xfrm>
            <a:off x="83376" y="2108186"/>
            <a:ext cx="8908224" cy="1162050"/>
          </a:xfrm>
          <a:prstGeom prst="rect">
            <a:avLst/>
          </a:prstGeom>
        </p:spPr>
      </p:pic>
    </p:spTree>
    <p:extLst>
      <p:ext uri="{BB962C8B-B14F-4D97-AF65-F5344CB8AC3E}">
        <p14:creationId xmlns:p14="http://schemas.microsoft.com/office/powerpoint/2010/main" val="241236968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
            <a:ext cx="8998857" cy="329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4"/>
          <p:cNvSpPr>
            <a:spLocks noChangeArrowheads="1"/>
          </p:cNvSpPr>
          <p:nvPr/>
        </p:nvSpPr>
        <p:spPr bwMode="auto">
          <a:xfrm>
            <a:off x="457200" y="2605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itchFamily="34" charset="0"/>
                <a:cs typeface="Arial" pitchFamily="34" charset="0"/>
              </a:rPr>
            </a:b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8" name="Right Arrow 7"/>
          <p:cNvSpPr/>
          <p:nvPr/>
        </p:nvSpPr>
        <p:spPr>
          <a:xfrm rot="10800000">
            <a:off x="7470232" y="1822631"/>
            <a:ext cx="978408" cy="484632"/>
          </a:xfrm>
          <a:prstGeom prst="rightArrow">
            <a:avLst/>
          </a:prstGeom>
          <a:solidFill>
            <a:schemeClr val="accent6">
              <a:lumMod val="75000"/>
            </a:schemeClr>
          </a:solidFill>
          <a:ln>
            <a:solidFill>
              <a:srgbClr val="F474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7764" y="2871246"/>
            <a:ext cx="8721436" cy="369332"/>
          </a:xfrm>
          <a:prstGeom prst="rect">
            <a:avLst/>
          </a:prstGeom>
        </p:spPr>
        <p:txBody>
          <a:bodyPr wrap="square">
            <a:spAutoFit/>
          </a:bodyPr>
          <a:lstStyle/>
          <a:p>
            <a:r>
              <a:rPr lang="en-US" dirty="0"/>
              <a:t> </a:t>
            </a:r>
          </a:p>
        </p:txBody>
      </p:sp>
      <p:sp>
        <p:nvSpPr>
          <p:cNvPr id="11" name="Rectangle 10"/>
          <p:cNvSpPr/>
          <p:nvPr/>
        </p:nvSpPr>
        <p:spPr>
          <a:xfrm>
            <a:off x="232229" y="2828836"/>
            <a:ext cx="8606971" cy="2031325"/>
          </a:xfrm>
          <a:prstGeom prst="rect">
            <a:avLst/>
          </a:prstGeom>
        </p:spPr>
        <p:txBody>
          <a:bodyPr wrap="square">
            <a:spAutoFit/>
          </a:bodyPr>
          <a:lstStyle/>
          <a:p>
            <a:pPr marL="285750" indent="-285750">
              <a:buFontTx/>
              <a:buChar char="-"/>
            </a:pPr>
            <a:r>
              <a:rPr lang="en-US" dirty="0">
                <a:solidFill>
                  <a:srgbClr val="000000"/>
                </a:solidFill>
                <a:latin typeface="Helvetica Neue"/>
              </a:rPr>
              <a:t>If Transaction done successfully on PGW (</a:t>
            </a:r>
            <a:r>
              <a:rPr lang="en-US" dirty="0">
                <a:solidFill>
                  <a:srgbClr val="FF6600"/>
                </a:solidFill>
                <a:latin typeface="Helvetica Neue"/>
              </a:rPr>
              <a:t>Payment Gateway ​and Pay Station</a:t>
            </a:r>
            <a:r>
              <a:rPr lang="en-US" dirty="0">
                <a:solidFill>
                  <a:srgbClr val="000000"/>
                </a:solidFill>
                <a:latin typeface="Helvetica Neue"/>
              </a:rPr>
              <a:t>), Check Quota on PCRF, if still not updated:</a:t>
            </a:r>
          </a:p>
          <a:p>
            <a:pPr marL="285750" indent="-285750">
              <a:buFont typeface="Arial" panose="020B0604020202020204" pitchFamily="34" charset="0"/>
              <a:buChar char="•"/>
            </a:pPr>
            <a:r>
              <a:rPr lang="en-US" dirty="0"/>
              <a:t>In case customer added extra quota through IVR/Portal/My Orange App but it's duplicated in PCRF Or:</a:t>
            </a:r>
          </a:p>
          <a:p>
            <a:pPr marL="285750" indent="-285750">
              <a:buFont typeface="Arial" panose="020B0604020202020204" pitchFamily="34" charset="0"/>
              <a:buChar char="•"/>
            </a:pPr>
            <a:r>
              <a:rPr lang="en-US" dirty="0"/>
              <a:t>In case customer added 1 or more extra quota by mistake and complained from non-usage due to the new validity or any other reason:</a:t>
            </a:r>
          </a:p>
          <a:p>
            <a:pPr marL="285750" indent="-285750">
              <a:buFont typeface="Arial" panose="020B0604020202020204" pitchFamily="34" charset="0"/>
              <a:buChar char="•"/>
            </a:pPr>
            <a:endParaRPr lang="en-US" dirty="0"/>
          </a:p>
        </p:txBody>
      </p:sp>
      <p:sp>
        <p:nvSpPr>
          <p:cNvPr id="12" name="Rectangle 11"/>
          <p:cNvSpPr/>
          <p:nvPr/>
        </p:nvSpPr>
        <p:spPr>
          <a:xfrm>
            <a:off x="232229" y="4562526"/>
            <a:ext cx="9144000" cy="1323439"/>
          </a:xfrm>
          <a:prstGeom prst="rect">
            <a:avLst/>
          </a:prstGeom>
        </p:spPr>
        <p:txBody>
          <a:bodyPr wrap="square">
            <a:spAutoFit/>
          </a:bodyPr>
          <a:lstStyle/>
          <a:p>
            <a:pPr marL="742950" lvl="1" indent="-285750">
              <a:buFont typeface="Courier New" panose="02070309020205020404" pitchFamily="49" charset="0"/>
              <a:buChar char="o"/>
            </a:pPr>
            <a:r>
              <a:rPr lang="en-US" sz="1600" dirty="0"/>
              <a:t>​Agent should validate and confirm customer 0 consumption of the claimed extra quota through PCRF.</a:t>
            </a:r>
          </a:p>
          <a:p>
            <a:pPr marL="742950" lvl="1" indent="-285750">
              <a:buFont typeface="Courier New" panose="02070309020205020404" pitchFamily="49" charset="0"/>
              <a:buChar char="o"/>
            </a:pPr>
            <a:r>
              <a:rPr lang="en-US" sz="1600" dirty="0"/>
              <a:t>​Agent should create "37021" SR to be assigned to CH Billing​ in order to assign the SR to IT DSL team to remove the extra added Quota from PCRF.</a:t>
            </a:r>
          </a:p>
          <a:p>
            <a:pPr marL="742950" lvl="1" indent="-285750">
              <a:buFont typeface="Courier New" panose="02070309020205020404" pitchFamily="49" charset="0"/>
              <a:buChar char="o"/>
            </a:pPr>
            <a:r>
              <a:rPr lang="en-US" sz="1600" dirty="0"/>
              <a:t>Then CH Billing agent should adjust the customer's balance accordingly including the VAT. </a:t>
            </a:r>
            <a:endParaRPr lang="en-US" sz="1600" b="0" i="0" dirty="0">
              <a:solidFill>
                <a:srgbClr val="000000"/>
              </a:solidFill>
              <a:effectLst/>
              <a:latin typeface="Helvetica Neue"/>
            </a:endParaRPr>
          </a:p>
        </p:txBody>
      </p:sp>
    </p:spTree>
    <p:extLst>
      <p:ext uri="{BB962C8B-B14F-4D97-AF65-F5344CB8AC3E}">
        <p14:creationId xmlns:p14="http://schemas.microsoft.com/office/powerpoint/2010/main" val="4009569334"/>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074057"/>
            <a:ext cx="9025845" cy="4686226"/>
          </a:xfrm>
          <a:prstGeom prst="rect">
            <a:avLst/>
          </a:prstGeom>
        </p:spPr>
      </p:pic>
    </p:spTree>
    <p:extLst>
      <p:ext uri="{BB962C8B-B14F-4D97-AF65-F5344CB8AC3E}">
        <p14:creationId xmlns:p14="http://schemas.microsoft.com/office/powerpoint/2010/main" val="228627572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212" y="0"/>
            <a:ext cx="8563429" cy="4247317"/>
          </a:xfrm>
          <a:prstGeom prst="rect">
            <a:avLst/>
          </a:prstGeom>
        </p:spPr>
        <p:txBody>
          <a:bodyPr wrap="square">
            <a:spAutoFit/>
          </a:bodyPr>
          <a:lstStyle/>
          <a:p>
            <a:br>
              <a:rPr lang="en-US" b="1" u="sng" dirty="0">
                <a:solidFill>
                  <a:srgbClr val="000000"/>
                </a:solidFill>
                <a:latin typeface="Helvetica Neue"/>
              </a:rPr>
            </a:br>
            <a:r>
              <a:rPr lang="en-US" b="1" u="sng" dirty="0">
                <a:solidFill>
                  <a:srgbClr val="000000"/>
                </a:solidFill>
                <a:latin typeface="Helvetica Neue"/>
              </a:rPr>
              <a:t>Make sure to fill the below data in the Smart Script:</a:t>
            </a:r>
            <a:endParaRPr lang="en-US" dirty="0">
              <a:solidFill>
                <a:srgbClr val="000000"/>
              </a:solidFill>
              <a:latin typeface="Helvetica Neue"/>
            </a:endParaRPr>
          </a:p>
          <a:p>
            <a:pPr>
              <a:buFont typeface="Arial" panose="020B0604020202020204" pitchFamily="34" charset="0"/>
              <a:buChar char="•"/>
            </a:pPr>
            <a:r>
              <a:rPr lang="en-US" dirty="0">
                <a:solidFill>
                  <a:srgbClr val="000000"/>
                </a:solidFill>
                <a:latin typeface="Helvetica Neue"/>
              </a:rPr>
              <a:t>Last 4 digits from credit card</a:t>
            </a:r>
          </a:p>
          <a:p>
            <a:pPr>
              <a:buFont typeface="Arial" panose="020B0604020202020204" pitchFamily="34" charset="0"/>
              <a:buChar char="•"/>
            </a:pPr>
            <a:r>
              <a:rPr lang="en-US" dirty="0">
                <a:solidFill>
                  <a:srgbClr val="000000"/>
                </a:solidFill>
                <a:latin typeface="Helvetica Neue"/>
              </a:rPr>
              <a:t>Amount</a:t>
            </a:r>
          </a:p>
          <a:p>
            <a:pPr>
              <a:buFont typeface="Arial" panose="020B0604020202020204" pitchFamily="34" charset="0"/>
              <a:buChar char="•"/>
            </a:pPr>
            <a:r>
              <a:rPr lang="en-US" dirty="0">
                <a:solidFill>
                  <a:srgbClr val="000000"/>
                </a:solidFill>
                <a:latin typeface="Helvetica Neue"/>
              </a:rPr>
              <a:t>Transaction date</a:t>
            </a:r>
          </a:p>
          <a:p>
            <a:pPr>
              <a:buFont typeface="Arial" panose="020B0604020202020204" pitchFamily="34" charset="0"/>
              <a:buChar char="•"/>
            </a:pPr>
            <a:r>
              <a:rPr lang="en-US" dirty="0">
                <a:solidFill>
                  <a:srgbClr val="000000"/>
                </a:solidFill>
                <a:latin typeface="Helvetica Neue"/>
              </a:rPr>
              <a:t>Channel ( my orange App or through portal)</a:t>
            </a:r>
          </a:p>
          <a:p>
            <a:pPr>
              <a:buFont typeface="Arial" panose="020B0604020202020204" pitchFamily="34" charset="0"/>
              <a:buChar char="•"/>
            </a:pPr>
            <a:r>
              <a:rPr lang="en-US" dirty="0">
                <a:solidFill>
                  <a:srgbClr val="000000"/>
                </a:solidFill>
                <a:latin typeface="Helvetica Neue"/>
              </a:rPr>
              <a:t>Add note: it is for bill payment or purchasing extra quota</a:t>
            </a:r>
          </a:p>
          <a:p>
            <a:pPr>
              <a:buFont typeface="Arial" panose="020B0604020202020204" pitchFamily="34" charset="0"/>
              <a:buChar char="•"/>
            </a:pPr>
            <a:r>
              <a:rPr lang="en-US" dirty="0">
                <a:solidFill>
                  <a:srgbClr val="000000"/>
                </a:solidFill>
                <a:latin typeface="Helvetica Neue"/>
              </a:rPr>
              <a:t>Number used for access the application</a:t>
            </a:r>
          </a:p>
          <a:p>
            <a:pPr>
              <a:buFont typeface="Arial" panose="020B0604020202020204" pitchFamily="34" charset="0"/>
              <a:buChar char="•"/>
            </a:pPr>
            <a:r>
              <a:rPr lang="en-US" dirty="0">
                <a:solidFill>
                  <a:srgbClr val="000000"/>
                </a:solidFill>
                <a:latin typeface="Helvetica Neue"/>
              </a:rPr>
              <a:t>Contact number​</a:t>
            </a:r>
            <a:br>
              <a:rPr lang="en-US" dirty="0">
                <a:solidFill>
                  <a:srgbClr val="000000"/>
                </a:solidFill>
                <a:latin typeface="Helvetica Neue"/>
              </a:rPr>
            </a:br>
            <a:endParaRPr lang="en-US" dirty="0">
              <a:solidFill>
                <a:srgbClr val="000000"/>
              </a:solidFill>
              <a:latin typeface="Helvetica Neue"/>
            </a:endParaRPr>
          </a:p>
          <a:p>
            <a:r>
              <a:rPr lang="en-US" dirty="0">
                <a:solidFill>
                  <a:srgbClr val="000000"/>
                </a:solidFill>
                <a:latin typeface="Helvetica Neue"/>
              </a:rPr>
              <a:t> Note : Don't forget to attach the reference from PGW in the SR  .</a:t>
            </a:r>
          </a:p>
          <a:p>
            <a:pPr>
              <a:buFont typeface="Arial" panose="020B0604020202020204" pitchFamily="34" charset="0"/>
              <a:buChar char="•"/>
            </a:pPr>
            <a:r>
              <a:rPr lang="en-US" dirty="0">
                <a:solidFill>
                  <a:srgbClr val="000000"/>
                </a:solidFill>
                <a:latin typeface="Helvetica Neue"/>
              </a:rPr>
              <a:t>Don't open the SR before passing 24 hours from extra quota purchasing date.</a:t>
            </a:r>
          </a:p>
          <a:p>
            <a:pPr>
              <a:buFont typeface="Arial" panose="020B0604020202020204" pitchFamily="34" charset="0"/>
              <a:buChar char="•"/>
            </a:pPr>
            <a:r>
              <a:rPr lang="en-US" dirty="0">
                <a:solidFill>
                  <a:srgbClr val="000000"/>
                </a:solidFill>
                <a:latin typeface="Helvetica Neue"/>
              </a:rPr>
              <a:t>Taking into consideration that in case customer purchased the extra quota from shop, the payment receipt should be attached.</a:t>
            </a:r>
          </a:p>
          <a:p>
            <a:pPr>
              <a:buFont typeface="Arial" panose="020B0604020202020204" pitchFamily="34" charset="0"/>
              <a:buChar char="•"/>
            </a:pPr>
            <a:r>
              <a:rPr lang="en-US" dirty="0">
                <a:solidFill>
                  <a:srgbClr val="000000"/>
                </a:solidFill>
                <a:latin typeface="Helvetica Neue"/>
              </a:rPr>
              <a:t>Make sure to mention all the payment details within the Smart script.</a:t>
            </a:r>
            <a:endParaRPr lang="en-US" b="0" i="0" dirty="0">
              <a:solidFill>
                <a:srgbClr val="000000"/>
              </a:solidFill>
              <a:effectLst/>
              <a:latin typeface="Helvetica Neue"/>
            </a:endParaRPr>
          </a:p>
        </p:txBody>
      </p:sp>
    </p:spTree>
    <p:extLst>
      <p:ext uri="{BB962C8B-B14F-4D97-AF65-F5344CB8AC3E}">
        <p14:creationId xmlns:p14="http://schemas.microsoft.com/office/powerpoint/2010/main" val="109479007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Arrow 2"/>
          <p:cNvSpPr/>
          <p:nvPr/>
        </p:nvSpPr>
        <p:spPr>
          <a:xfrm>
            <a:off x="0" y="3429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71663"/>
            <a:ext cx="9144000" cy="311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Left Arrow 3"/>
          <p:cNvSpPr/>
          <p:nvPr/>
        </p:nvSpPr>
        <p:spPr>
          <a:xfrm>
            <a:off x="4191001" y="3886200"/>
            <a:ext cx="762000" cy="48463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038872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094" y="1843314"/>
            <a:ext cx="8771906"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a:xfrm>
            <a:off x="983343" y="2465106"/>
            <a:ext cx="749808" cy="35661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635520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609600"/>
            <a:ext cx="83058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 -This Scenario occurs when quota consumption doesn't count (consumption not updated)</a:t>
            </a:r>
          </a:p>
          <a:p>
            <a:pPr marL="285750" indent="-285750">
              <a:buFont typeface="Arial" panose="020B0604020202020204" pitchFamily="34" charset="0"/>
              <a:buChar char="•"/>
            </a:pPr>
            <a:r>
              <a:rPr lang="en-US" b="1" dirty="0">
                <a:solidFill>
                  <a:srgbClr val="F4740A"/>
                </a:solidFill>
              </a:rPr>
              <a:t>- Check PCRF and verify</a:t>
            </a:r>
            <a:br>
              <a:rPr lang="en-US" dirty="0"/>
            </a:br>
            <a:r>
              <a:rPr lang="en-US" dirty="0"/>
              <a:t>we Will notice that there is normal usage appears in the daily usage on PCRF while remaining quota isn’t decreased</a:t>
            </a:r>
          </a:p>
          <a:p>
            <a:br>
              <a:rPr lang="en-US" dirty="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62400"/>
            <a:ext cx="9144000" cy="1838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own Arrow 2"/>
          <p:cNvSpPr/>
          <p:nvPr/>
        </p:nvSpPr>
        <p:spPr>
          <a:xfrm>
            <a:off x="2057400" y="3200400"/>
            <a:ext cx="381000" cy="7620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227023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954107"/>
          </a:xfrm>
          <a:prstGeom prst="rect">
            <a:avLst/>
          </a:prstGeom>
        </p:spPr>
        <p:txBody>
          <a:bodyPr wrap="square">
            <a:spAutoFit/>
          </a:bodyPr>
          <a:lstStyle/>
          <a:p>
            <a:pPr algn="ctr"/>
            <a:r>
              <a:rPr lang="en-US" sz="2000" b="1" dirty="0"/>
              <a:t>Open SR</a:t>
            </a:r>
          </a:p>
          <a:p>
            <a:pPr algn="r"/>
            <a:r>
              <a:rPr lang="ar-EG" dirty="0"/>
              <a:t>تمام يا أستاذ/ة....... أنا سجلت الطلب لحضرتك وفي خلال الـ48  ساعة اللي جاية هنقوم بحل مشكلة حضرتك، وفى حاله ان حضرتك واجهت نفس المشكلة بعد 48 ساعه ممكن تعاود الاتصال بينا مرة تانية</a:t>
            </a:r>
            <a:endParaRPr lang="en-US" dirty="0"/>
          </a:p>
        </p:txBody>
      </p:sp>
      <p:pic>
        <p:nvPicPr>
          <p:cNvPr id="140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410200"/>
            <a:ext cx="8991600" cy="1019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477035785"/>
              </p:ext>
            </p:extLst>
          </p:nvPr>
        </p:nvGraphicFramePr>
        <p:xfrm>
          <a:off x="685800" y="1862454"/>
          <a:ext cx="3505200" cy="3006069"/>
        </p:xfrm>
        <a:graphic>
          <a:graphicData uri="http://schemas.openxmlformats.org/drawingml/2006/table">
            <a:tbl>
              <a:tblPr/>
              <a:tblGrid>
                <a:gridCol w="1052893">
                  <a:extLst>
                    <a:ext uri="{9D8B030D-6E8A-4147-A177-3AD203B41FA5}">
                      <a16:colId xmlns:a16="http://schemas.microsoft.com/office/drawing/2014/main" val="20000"/>
                    </a:ext>
                  </a:extLst>
                </a:gridCol>
                <a:gridCol w="2452307">
                  <a:extLst>
                    <a:ext uri="{9D8B030D-6E8A-4147-A177-3AD203B41FA5}">
                      <a16:colId xmlns:a16="http://schemas.microsoft.com/office/drawing/2014/main" val="20001"/>
                    </a:ext>
                  </a:extLst>
                </a:gridCol>
              </a:tblGrid>
              <a:tr h="514658">
                <a:tc>
                  <a:txBody>
                    <a:bodyPr/>
                    <a:lstStyle/>
                    <a:p>
                      <a:pPr algn="ctr"/>
                      <a:r>
                        <a:rPr lang="en-US" sz="1100" b="0" dirty="0">
                          <a:effectLst/>
                          <a:latin typeface="Helvetica Neue"/>
                        </a:rPr>
                        <a:t>Short Code </a:t>
                      </a:r>
                      <a:endParaRPr lang="en-US" b="0" dirty="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37004</a:t>
                      </a:r>
                      <a:br>
                        <a:rPr lang="en-US" sz="1100" b="0" kern="1200" dirty="0">
                          <a:solidFill>
                            <a:schemeClr val="tx1"/>
                          </a:solidFill>
                          <a:effectLst/>
                          <a:latin typeface="Helvetica Neue"/>
                          <a:ea typeface="+mn-ea"/>
                          <a:cs typeface="+mn-cs"/>
                        </a:rPr>
                      </a:br>
                      <a:endParaRPr lang="en-US" sz="1100" b="0" kern="1200" dirty="0">
                        <a:solidFill>
                          <a:schemeClr val="tx1"/>
                        </a:solidFill>
                        <a:effectLst/>
                        <a:latin typeface="Helvetica Neue"/>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2419">
                <a:tc>
                  <a:txBody>
                    <a:bodyPr/>
                    <a:lstStyle/>
                    <a:p>
                      <a:pPr algn="ctr"/>
                      <a:r>
                        <a:rPr lang="en-US" sz="1100" b="0" dirty="0">
                          <a:effectLst/>
                          <a:latin typeface="Helvetica Neue"/>
                        </a:rPr>
                        <a:t>Type</a:t>
                      </a:r>
                      <a:endParaRPr lang="en-US" b="0" dirty="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 Fault For VAS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2419">
                <a:tc>
                  <a:txBody>
                    <a:bodyPr/>
                    <a:lstStyle/>
                    <a:p>
                      <a:pPr algn="ctr"/>
                      <a:r>
                        <a:rPr lang="en-US" sz="1100" b="0">
                          <a:effectLst/>
                          <a:latin typeface="Helvetica Neue"/>
                        </a:rPr>
                        <a:t>Area</a:t>
                      </a:r>
                      <a:endParaRPr lang="en-US" b="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Quota Dispute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14658">
                <a:tc>
                  <a:txBody>
                    <a:bodyPr/>
                    <a:lstStyle/>
                    <a:p>
                      <a:pPr algn="ctr"/>
                      <a:r>
                        <a:rPr lang="en-US" sz="1100" b="0">
                          <a:effectLst/>
                          <a:latin typeface="Helvetica Neue"/>
                        </a:rPr>
                        <a:t>Product </a:t>
                      </a:r>
                      <a:endParaRPr lang="en-US" b="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Choose Customer's package​</a:t>
                      </a:r>
                      <a:br>
                        <a:rPr lang="en-US" sz="1100" b="0" kern="1200" dirty="0">
                          <a:solidFill>
                            <a:schemeClr val="tx1"/>
                          </a:solidFill>
                          <a:effectLst/>
                          <a:latin typeface="Helvetica Neue"/>
                          <a:ea typeface="+mn-ea"/>
                          <a:cs typeface="+mn-cs"/>
                        </a:rPr>
                      </a:br>
                      <a:endParaRPr lang="en-US" sz="1100" b="0" kern="1200" dirty="0">
                        <a:solidFill>
                          <a:schemeClr val="tx1"/>
                        </a:solidFill>
                        <a:effectLst/>
                        <a:latin typeface="Helvetica Neue"/>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2419">
                <a:tc>
                  <a:txBody>
                    <a:bodyPr/>
                    <a:lstStyle/>
                    <a:p>
                      <a:pPr algn="ctr"/>
                      <a:r>
                        <a:rPr lang="en-US" sz="1100" b="0">
                          <a:effectLst/>
                          <a:latin typeface="Helvetica Neue"/>
                        </a:rPr>
                        <a:t>Owner Group</a:t>
                      </a:r>
                      <a:endParaRPr lang="en-US" b="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DSL CH VAS​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2419">
                <a:tc>
                  <a:txBody>
                    <a:bodyPr/>
                    <a:lstStyle/>
                    <a:p>
                      <a:pPr algn="ctr"/>
                      <a:r>
                        <a:rPr lang="en-US" sz="1100" b="0">
                          <a:effectLst/>
                          <a:latin typeface="Helvetica Neue"/>
                        </a:rPr>
                        <a:t>Sub Area</a:t>
                      </a:r>
                      <a:endParaRPr lang="en-US" b="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Empty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2419">
                <a:tc>
                  <a:txBody>
                    <a:bodyPr/>
                    <a:lstStyle/>
                    <a:p>
                      <a:pPr algn="ctr"/>
                      <a:r>
                        <a:rPr lang="en-US" sz="1100" b="0">
                          <a:effectLst/>
                          <a:latin typeface="Helvetica Neue"/>
                        </a:rPr>
                        <a:t>Status</a:t>
                      </a:r>
                      <a:endParaRPr lang="en-US" b="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Open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14658">
                <a:tc>
                  <a:txBody>
                    <a:bodyPr/>
                    <a:lstStyle/>
                    <a:p>
                      <a:pPr algn="ctr"/>
                      <a:r>
                        <a:rPr lang="en-US" sz="1100" b="0" dirty="0">
                          <a:effectLst/>
                          <a:latin typeface="Helvetica Neue"/>
                        </a:rPr>
                        <a:t>Smart Script</a:t>
                      </a:r>
                      <a:endParaRPr lang="en-US" b="0" dirty="0">
                        <a:effectLst/>
                        <a:latin typeface="Helvetica Neue"/>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6B0A"/>
                    </a:solidFill>
                  </a:tcPr>
                </a:tc>
                <a:tc>
                  <a:txBody>
                    <a:bodyPr/>
                    <a:lstStyle/>
                    <a:p>
                      <a:pPr algn="ctr"/>
                      <a:r>
                        <a:rPr lang="en-US" sz="1100" b="0" kern="1200" dirty="0">
                          <a:solidFill>
                            <a:schemeClr val="tx1"/>
                          </a:solidFill>
                          <a:effectLst/>
                          <a:latin typeface="Helvetica Neue"/>
                          <a:ea typeface="+mn-ea"/>
                          <a:cs typeface="+mn-cs"/>
                        </a:rPr>
                        <a:t>Yes</a:t>
                      </a:r>
                      <a:br>
                        <a:rPr lang="en-US" sz="1100" b="0" kern="1200" dirty="0">
                          <a:solidFill>
                            <a:schemeClr val="tx1"/>
                          </a:solidFill>
                          <a:effectLst/>
                          <a:latin typeface="Helvetica Neue"/>
                          <a:ea typeface="+mn-ea"/>
                          <a:cs typeface="+mn-cs"/>
                        </a:rPr>
                      </a:br>
                      <a:endParaRPr lang="en-US" sz="1100" b="0" kern="1200" dirty="0">
                        <a:solidFill>
                          <a:schemeClr val="tx1"/>
                        </a:solidFill>
                        <a:effectLst/>
                        <a:latin typeface="Helvetica Neue"/>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Rectangle 1"/>
          <p:cNvSpPr>
            <a:spLocks noChangeArrowheads="1"/>
          </p:cNvSpPr>
          <p:nvPr/>
        </p:nvSpPr>
        <p:spPr bwMode="auto">
          <a:xfrm>
            <a:off x="2901950" y="23844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Helvetica Neue"/>
                <a:cs typeface="Arial" pitchFamily="34" charset="0"/>
              </a:rPr>
            </a:b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Rectangle 5"/>
          <p:cNvSpPr/>
          <p:nvPr/>
        </p:nvSpPr>
        <p:spPr>
          <a:xfrm>
            <a:off x="4572000" y="2140754"/>
            <a:ext cx="4572000" cy="1323439"/>
          </a:xfrm>
          <a:prstGeom prst="rect">
            <a:avLst/>
          </a:prstGeom>
        </p:spPr>
        <p:txBody>
          <a:bodyPr>
            <a:spAutoFit/>
          </a:bodyPr>
          <a:lstStyle/>
          <a:p>
            <a:r>
              <a:rPr lang="en-US" sz="1300" dirty="0">
                <a:solidFill>
                  <a:srgbClr val="222222"/>
                </a:solidFill>
                <a:latin typeface="Helvetica Neue"/>
              </a:rPr>
              <a:t>-This Scenario occurs when quota consumption doesn't count (</a:t>
            </a:r>
            <a:r>
              <a:rPr lang="en-US" sz="1300" dirty="0">
                <a:solidFill>
                  <a:srgbClr val="FF6600"/>
                </a:solidFill>
                <a:latin typeface="Helvetica Neue"/>
              </a:rPr>
              <a:t>consumption not updated</a:t>
            </a:r>
            <a:r>
              <a:rPr lang="en-US" sz="1300" dirty="0">
                <a:solidFill>
                  <a:srgbClr val="222222"/>
                </a:solidFill>
                <a:latin typeface="Helvetica Neue"/>
              </a:rPr>
              <a:t>)</a:t>
            </a:r>
            <a:endParaRPr lang="en-US" dirty="0">
              <a:solidFill>
                <a:srgbClr val="000000"/>
              </a:solidFill>
              <a:latin typeface="times new roman" panose="02020603050405020304" pitchFamily="18" charset="0"/>
            </a:endParaRPr>
          </a:p>
          <a:p>
            <a:r>
              <a:rPr lang="en-US" sz="1300" dirty="0">
                <a:solidFill>
                  <a:srgbClr val="222222"/>
                </a:solidFill>
                <a:latin typeface="Helvetica Neue"/>
              </a:rPr>
              <a:t> - Check </a:t>
            </a:r>
            <a:r>
              <a:rPr lang="en-US" sz="1300" b="1" dirty="0">
                <a:solidFill>
                  <a:srgbClr val="FF6600"/>
                </a:solidFill>
                <a:latin typeface="Helvetica Neue"/>
              </a:rPr>
              <a:t>PCRF</a:t>
            </a:r>
            <a:r>
              <a:rPr lang="en-US" sz="1300" b="1" dirty="0">
                <a:solidFill>
                  <a:srgbClr val="222222"/>
                </a:solidFill>
                <a:latin typeface="Helvetica Neue"/>
              </a:rPr>
              <a:t> </a:t>
            </a:r>
            <a:r>
              <a:rPr lang="en-US" sz="1300" dirty="0">
                <a:solidFill>
                  <a:srgbClr val="222222"/>
                </a:solidFill>
                <a:latin typeface="Helvetica Neue"/>
              </a:rPr>
              <a:t>and verify​, if the </a:t>
            </a:r>
            <a:r>
              <a:rPr lang="en-US" sz="1300" dirty="0">
                <a:solidFill>
                  <a:srgbClr val="FF6600"/>
                </a:solidFill>
                <a:latin typeface="Helvetica Neue"/>
              </a:rPr>
              <a:t>error found:</a:t>
            </a:r>
            <a:r>
              <a:rPr lang="en-US" dirty="0">
                <a:solidFill>
                  <a:srgbClr val="000000"/>
                </a:solidFill>
                <a:latin typeface="Helvetica Neue"/>
              </a:rPr>
              <a:t> </a:t>
            </a:r>
          </a:p>
          <a:p>
            <a:br>
              <a:rPr lang="en-US" dirty="0">
                <a:latin typeface="Helvetica Neue"/>
              </a:rPr>
            </a:br>
            <a:endParaRPr lang="en-US" dirty="0"/>
          </a:p>
        </p:txBody>
      </p:sp>
    </p:spTree>
    <p:extLst>
      <p:ext uri="{BB962C8B-B14F-4D97-AF65-F5344CB8AC3E}">
        <p14:creationId xmlns:p14="http://schemas.microsoft.com/office/powerpoint/2010/main" val="80602878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915400" cy="189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eft Arrow 2"/>
          <p:cNvSpPr/>
          <p:nvPr/>
        </p:nvSpPr>
        <p:spPr>
          <a:xfrm>
            <a:off x="7315200" y="707009"/>
            <a:ext cx="762000" cy="484632"/>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 name="Rectangle 3"/>
          <p:cNvSpPr/>
          <p:nvPr/>
        </p:nvSpPr>
        <p:spPr>
          <a:xfrm>
            <a:off x="304800" y="1904216"/>
            <a:ext cx="8458200" cy="1477328"/>
          </a:xfrm>
          <a:prstGeom prst="rect">
            <a:avLst/>
          </a:prstGeom>
        </p:spPr>
        <p:txBody>
          <a:bodyPr wrap="square">
            <a:spAutoFit/>
          </a:bodyPr>
          <a:lstStyle/>
          <a:p>
            <a:r>
              <a:rPr lang="en-US" dirty="0"/>
              <a:t> -This Scenario occurs when quota consumption doesn't count (consumption not updated)</a:t>
            </a:r>
          </a:p>
          <a:p>
            <a:r>
              <a:rPr lang="en-US" dirty="0"/>
              <a:t> - Check </a:t>
            </a:r>
            <a:r>
              <a:rPr lang="en-US" b="1" dirty="0"/>
              <a:t>PCRF </a:t>
            </a:r>
            <a:r>
              <a:rPr lang="en-US" dirty="0"/>
              <a:t>and verify​, if there's no error close the below SR .</a:t>
            </a:r>
          </a:p>
          <a:p>
            <a:r>
              <a:rPr lang="en-US" dirty="0"/>
              <a:t>​</a:t>
            </a:r>
          </a:p>
          <a:p>
            <a:endParaRPr lang="en-US" dirty="0"/>
          </a:p>
        </p:txBody>
      </p:sp>
      <p:pic>
        <p:nvPicPr>
          <p:cNvPr id="2" name="Picture 1"/>
          <p:cNvPicPr>
            <a:picLocks noChangeAspect="1"/>
          </p:cNvPicPr>
          <p:nvPr/>
        </p:nvPicPr>
        <p:blipFill>
          <a:blip r:embed="rId3"/>
          <a:stretch>
            <a:fillRect/>
          </a:stretch>
        </p:blipFill>
        <p:spPr>
          <a:xfrm>
            <a:off x="446767" y="3527651"/>
            <a:ext cx="7303861" cy="3177949"/>
          </a:xfrm>
          <a:prstGeom prst="rect">
            <a:avLst/>
          </a:prstGeom>
        </p:spPr>
      </p:pic>
    </p:spTree>
    <p:extLst>
      <p:ext uri="{BB962C8B-B14F-4D97-AF65-F5344CB8AC3E}">
        <p14:creationId xmlns:p14="http://schemas.microsoft.com/office/powerpoint/2010/main" val="205626017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177" y="1358229"/>
            <a:ext cx="9089348" cy="1200329"/>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72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Online Gaming support</a:t>
            </a:r>
          </a:p>
        </p:txBody>
      </p:sp>
      <p:sp>
        <p:nvSpPr>
          <p:cNvPr id="3" name="Rectangle 2"/>
          <p:cNvSpPr/>
          <p:nvPr/>
        </p:nvSpPr>
        <p:spPr>
          <a:xfrm>
            <a:off x="609600" y="3429000"/>
            <a:ext cx="7467600" cy="369332"/>
          </a:xfrm>
          <a:prstGeom prst="rect">
            <a:avLst/>
          </a:prstGeom>
        </p:spPr>
        <p:txBody>
          <a:bodyPr wrap="square">
            <a:spAutoFit/>
          </a:bodyPr>
          <a:lstStyle/>
          <a:p>
            <a:r>
              <a:rPr lang="en-US" dirty="0"/>
              <a:t>Could be considered as Physical or network issue.</a:t>
            </a:r>
            <a:endParaRPr lang="en-US" b="1" dirty="0">
              <a:solidFill>
                <a:srgbClr val="F5750B"/>
              </a:solidFill>
            </a:endParaRPr>
          </a:p>
        </p:txBody>
      </p:sp>
    </p:spTree>
    <p:extLst>
      <p:ext uri="{BB962C8B-B14F-4D97-AF65-F5344CB8AC3E}">
        <p14:creationId xmlns:p14="http://schemas.microsoft.com/office/powerpoint/2010/main" val="422314368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7997" y="655122"/>
            <a:ext cx="6986656" cy="523220"/>
          </a:xfrm>
          <a:prstGeom prst="rect">
            <a:avLst/>
          </a:prstGeom>
          <a:noFill/>
        </p:spPr>
        <p:txBody>
          <a:bodyPr wrap="none" rtlCol="0">
            <a:spAutoFit/>
          </a:bodyPr>
          <a:lstStyle/>
          <a:p>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How to Open Quota Consumption Issues WF</a:t>
            </a:r>
            <a:endParaRPr lang="en-US" sz="2800" b="1" dirty="0">
              <a:ln w="1905"/>
              <a:solidFill>
                <a:srgbClr val="92D050"/>
              </a:solidFill>
              <a:effectLst>
                <a:innerShdw blurRad="69850" dist="43180" dir="5400000">
                  <a:srgbClr val="000000">
                    <a:alpha val="65000"/>
                  </a:srgbClr>
                </a:innerShdw>
              </a:effectLst>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22387"/>
            <a:ext cx="8900474" cy="553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rot="16200000">
            <a:off x="235527" y="2748869"/>
            <a:ext cx="665018" cy="360218"/>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Down Arrow 2"/>
          <p:cNvSpPr/>
          <p:nvPr/>
        </p:nvSpPr>
        <p:spPr>
          <a:xfrm>
            <a:off x="5458692" y="2762724"/>
            <a:ext cx="401781" cy="665018"/>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177338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6366" y="187099"/>
            <a:ext cx="8551864" cy="3789816"/>
          </a:xfrm>
          <a:prstGeom prst="rect">
            <a:avLst/>
          </a:prstGeom>
        </p:spPr>
      </p:pic>
      <p:sp>
        <p:nvSpPr>
          <p:cNvPr id="3" name="Right Arrow 2"/>
          <p:cNvSpPr/>
          <p:nvPr/>
        </p:nvSpPr>
        <p:spPr>
          <a:xfrm rot="10800000">
            <a:off x="1276350" y="2543175"/>
            <a:ext cx="542925" cy="257175"/>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Down Arrow 3"/>
          <p:cNvSpPr/>
          <p:nvPr/>
        </p:nvSpPr>
        <p:spPr>
          <a:xfrm rot="16200000">
            <a:off x="7633852" y="1624806"/>
            <a:ext cx="346365" cy="439521"/>
          </a:xfrm>
          <a:prstGeom prst="down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3"/>
          <a:stretch>
            <a:fillRect/>
          </a:stretch>
        </p:blipFill>
        <p:spPr>
          <a:xfrm>
            <a:off x="250629" y="4147705"/>
            <a:ext cx="8683337" cy="2400300"/>
          </a:xfrm>
          <a:prstGeom prst="rect">
            <a:avLst/>
          </a:prstGeom>
        </p:spPr>
      </p:pic>
      <p:sp>
        <p:nvSpPr>
          <p:cNvPr id="7" name="Rectangle 6"/>
          <p:cNvSpPr/>
          <p:nvPr/>
        </p:nvSpPr>
        <p:spPr>
          <a:xfrm>
            <a:off x="5527964" y="5156426"/>
            <a:ext cx="1579418" cy="26070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4245689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144000" cy="2638425"/>
          </a:xfrm>
          <a:prstGeom prst="rect">
            <a:avLst/>
          </a:prstGeom>
        </p:spPr>
      </p:pic>
      <p:pic>
        <p:nvPicPr>
          <p:cNvPr id="3" name="Picture 2"/>
          <p:cNvPicPr>
            <a:picLocks noChangeAspect="1"/>
          </p:cNvPicPr>
          <p:nvPr/>
        </p:nvPicPr>
        <p:blipFill>
          <a:blip r:embed="rId3"/>
          <a:stretch>
            <a:fillRect/>
          </a:stretch>
        </p:blipFill>
        <p:spPr>
          <a:xfrm>
            <a:off x="0" y="2657475"/>
            <a:ext cx="8972550" cy="4200525"/>
          </a:xfrm>
          <a:prstGeom prst="rect">
            <a:avLst/>
          </a:prstGeom>
        </p:spPr>
      </p:pic>
    </p:spTree>
    <p:extLst>
      <p:ext uri="{BB962C8B-B14F-4D97-AF65-F5344CB8AC3E}">
        <p14:creationId xmlns:p14="http://schemas.microsoft.com/office/powerpoint/2010/main" val="121433988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2440" y="526472"/>
            <a:ext cx="8476343" cy="2028825"/>
          </a:xfrm>
          <a:prstGeom prst="rect">
            <a:avLst/>
          </a:prstGeom>
        </p:spPr>
      </p:pic>
      <p:pic>
        <p:nvPicPr>
          <p:cNvPr id="3" name="Picture 2"/>
          <p:cNvPicPr>
            <a:picLocks noChangeAspect="1"/>
          </p:cNvPicPr>
          <p:nvPr/>
        </p:nvPicPr>
        <p:blipFill>
          <a:blip r:embed="rId3"/>
          <a:stretch>
            <a:fillRect/>
          </a:stretch>
        </p:blipFill>
        <p:spPr>
          <a:xfrm>
            <a:off x="192437" y="3264477"/>
            <a:ext cx="8896350" cy="2324100"/>
          </a:xfrm>
          <a:prstGeom prst="rect">
            <a:avLst/>
          </a:prstGeom>
        </p:spPr>
      </p:pic>
    </p:spTree>
    <p:extLst>
      <p:ext uri="{BB962C8B-B14F-4D97-AF65-F5344CB8AC3E}">
        <p14:creationId xmlns:p14="http://schemas.microsoft.com/office/powerpoint/2010/main" val="228080489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7"/>
          <p:cNvSpPr txBox="1">
            <a:spLocks noGrp="1"/>
          </p:cNvSpPr>
          <p:nvPr>
            <p:ph type="body" idx="1"/>
          </p:nvPr>
        </p:nvSpPr>
        <p:spPr>
          <a:xfrm>
            <a:off x="339726" y="452967"/>
            <a:ext cx="5832475" cy="4614333"/>
          </a:xfrm>
          <a:prstGeom prst="rect">
            <a:avLst/>
          </a:prstGeom>
          <a:noFill/>
          <a:ln>
            <a:noFill/>
          </a:ln>
        </p:spPr>
        <p:txBody>
          <a:bodyPr spcFirstLastPara="1" wrap="square" lIns="0" tIns="0" rIns="0" bIns="0" anchor="t" anchorCtr="0">
            <a:noAutofit/>
          </a:bodyPr>
          <a:lstStyle/>
          <a:p>
            <a:pPr marL="0" lvl="0" indent="0" algn="l" rtl="0">
              <a:lnSpc>
                <a:spcPct val="85000"/>
              </a:lnSpc>
              <a:spcBef>
                <a:spcPts val="0"/>
              </a:spcBef>
              <a:spcAft>
                <a:spcPts val="0"/>
              </a:spcAft>
              <a:buNone/>
            </a:pPr>
            <a:r>
              <a:rPr lang="en-US" dirty="0"/>
              <a:t>Thank you </a:t>
            </a:r>
            <a:endParaRPr dirty="0"/>
          </a:p>
        </p:txBody>
      </p:sp>
      <p:sp>
        <p:nvSpPr>
          <p:cNvPr id="3" name="Google Shape;298;p47"/>
          <p:cNvSpPr txBox="1">
            <a:spLocks noGrp="1"/>
          </p:cNvSpPr>
          <p:nvPr>
            <p:ph type="body" idx="1"/>
          </p:nvPr>
        </p:nvSpPr>
        <p:spPr>
          <a:xfrm>
            <a:off x="179512" y="188640"/>
            <a:ext cx="5832475" cy="3460750"/>
          </a:xfrm>
          <a:prstGeom prst="rect">
            <a:avLst/>
          </a:prstGeom>
          <a:noFill/>
          <a:ln>
            <a:noFill/>
          </a:ln>
        </p:spPr>
        <p:txBody>
          <a:bodyPr spcFirstLastPara="1" wrap="square" lIns="0" tIns="0" rIns="0" bIns="0" anchor="t" anchorCtr="0">
            <a:noAutofit/>
          </a:bodyPr>
          <a:lstStyle/>
          <a:p>
            <a:pPr marL="0" lvl="0" indent="0" algn="l" rtl="0">
              <a:lnSpc>
                <a:spcPct val="85000"/>
              </a:lnSpc>
              <a:spcBef>
                <a:spcPts val="0"/>
              </a:spcBef>
              <a:spcAft>
                <a:spcPts val="0"/>
              </a:spcAft>
              <a:buNone/>
            </a:pPr>
            <a:r>
              <a:rPr lang="en-US" dirty="0"/>
              <a:t>Thank you </a:t>
            </a:r>
            <a:endParaRPr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67" y="0"/>
            <a:ext cx="911573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miley Face 1"/>
          <p:cNvSpPr/>
          <p:nvPr/>
        </p:nvSpPr>
        <p:spPr>
          <a:xfrm>
            <a:off x="3061855" y="2507673"/>
            <a:ext cx="2576945" cy="2840182"/>
          </a:xfrm>
          <a:prstGeom prst="smileyFac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9094472"/>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4431</TotalTime>
  <Words>4902</Words>
  <Application>Microsoft Office PowerPoint</Application>
  <PresentationFormat>On-screen Show (4:3)</PresentationFormat>
  <Paragraphs>524</Paragraphs>
  <Slides>246</Slides>
  <Notes>21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246</vt:i4>
      </vt:variant>
    </vt:vector>
  </HeadingPairs>
  <TitlesOfParts>
    <vt:vector size="258" baseType="lpstr">
      <vt:lpstr>Arial</vt:lpstr>
      <vt:lpstr>Arial Rounded MT Bold</vt:lpstr>
      <vt:lpstr>Calibri</vt:lpstr>
      <vt:lpstr>Courier New</vt:lpstr>
      <vt:lpstr>Helvetica Neue</vt:lpstr>
      <vt:lpstr>helvetica75</vt:lpstr>
      <vt:lpstr>helvetica75</vt:lpstr>
      <vt:lpstr>tahoma</vt:lpstr>
      <vt:lpstr>times new roman</vt:lpstr>
      <vt:lpstr>Wingdings</vt:lpstr>
      <vt:lpstr>Office Theme</vt:lpstr>
      <vt:lpstr>Presentation</vt:lpstr>
      <vt:lpstr>WELCOME TO Catching Kowa DSL Training</vt:lpstr>
      <vt:lpstr>PowerPoint Presentation</vt:lpstr>
      <vt:lpstr>- To be able to use the internet , customer should configure the router to get IP (internet protocol) . - we have two kinds of configuration type: 1- PPPOE ( Username same as on Siebel )  2- IPOE ( 8 and 16 Static IP ) </vt:lpstr>
      <vt:lpstr>Configuration for dynamic or 1  static customer  ( PPPOE ) &amp; ( port forward ) Please refer to the Router devices Pp  </vt:lpstr>
      <vt:lpstr>Configuration for 8, 16 static Ips  ( Copper )  ( IPOE ) </vt:lpstr>
      <vt:lpstr>PowerPoint Presentation</vt:lpstr>
      <vt:lpstr> </vt:lpstr>
      <vt:lpstr>PowerPoint Presentation</vt:lpstr>
      <vt:lpstr>PowerPoint Presentation</vt:lpstr>
      <vt:lpstr>PowerPoint Presentation</vt:lpstr>
      <vt:lpstr>PowerPoint Presentation</vt:lpstr>
      <vt:lpstr>Authentication</vt:lpstr>
      <vt:lpstr>PowerPoint Presentation</vt:lpstr>
      <vt:lpstr> How to open Authentication WF</vt:lpstr>
      <vt:lpstr> Authentication WF</vt:lpstr>
      <vt:lpstr>Authentication WF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should match the username on session logs with username on  Siebel </vt:lpstr>
      <vt:lpstr>PowerPoint Presentation</vt:lpstr>
      <vt:lpstr>PowerPoint Presentation</vt:lpstr>
      <vt:lpstr>​​​​​​​​​​​​​​ In case customer has login failed with matched username, call assist hunt (08100) even if customer doesn't have Inner VLAN or Cabinet code mismatch to confirm that there is no mismatch on falcon as well. Compare between Octopus​ &amp; TE-Portal (Cabinet Code &amp; Inner VLAN)</vt:lpstr>
      <vt:lpstr>2- If Customer has Inner VLAN Mismatch</vt:lpstr>
      <vt:lpstr> 3- No Account on Falcon</vt:lpstr>
      <vt:lpstr>4- If customer hasn't problem in Cabinet Code or Inner VLAN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open no browsing WF</vt:lpstr>
      <vt:lpstr>No Browsing WF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Randa Ahmed Abdelmoamen</dc:creator>
  <cp:lastModifiedBy>Ibrahim Imam</cp:lastModifiedBy>
  <cp:revision>147</cp:revision>
  <dcterms:modified xsi:type="dcterms:W3CDTF">2025-11-16T09:00:22Z</dcterms:modified>
</cp:coreProperties>
</file>