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352" r:id="rId2"/>
    <p:sldId id="257" r:id="rId3"/>
    <p:sldId id="258" r:id="rId4"/>
    <p:sldId id="259" r:id="rId5"/>
    <p:sldId id="25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50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5" r:id="rId53"/>
    <p:sldId id="296" r:id="rId54"/>
    <p:sldId id="297" r:id="rId55"/>
    <p:sldId id="298" r:id="rId56"/>
    <p:sldId id="303" r:id="rId57"/>
    <p:sldId id="300" r:id="rId58"/>
    <p:sldId id="301" r:id="rId59"/>
    <p:sldId id="302" r:id="rId60"/>
    <p:sldId id="304" r:id="rId61"/>
    <p:sldId id="305" r:id="rId62"/>
    <p:sldId id="306" r:id="rId63"/>
    <p:sldId id="307" r:id="rId64"/>
    <p:sldId id="308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Imam" userId="32ecbe95da14ada2" providerId="LiveId" clId="{58B07BA8-3CEB-4080-A7A1-539CEBB63A4F}"/>
    <pc:docChg chg="addSld delSld modSld">
      <pc:chgData name="Ibrahim Imam" userId="32ecbe95da14ada2" providerId="LiveId" clId="{58B07BA8-3CEB-4080-A7A1-539CEBB63A4F}" dt="2025-11-10T08:55:48.828" v="34" actId="20577"/>
      <pc:docMkLst>
        <pc:docMk/>
      </pc:docMkLst>
      <pc:sldChg chg="new del">
        <pc:chgData name="Ibrahim Imam" userId="32ecbe95da14ada2" providerId="LiveId" clId="{58B07BA8-3CEB-4080-A7A1-539CEBB63A4F}" dt="2025-11-10T08:53:46.075" v="2" actId="2696"/>
        <pc:sldMkLst>
          <pc:docMk/>
          <pc:sldMk cId="3512087853" sldId="351"/>
        </pc:sldMkLst>
      </pc:sldChg>
      <pc:sldChg chg="modSp add mod">
        <pc:chgData name="Ibrahim Imam" userId="32ecbe95da14ada2" providerId="LiveId" clId="{58B07BA8-3CEB-4080-A7A1-539CEBB63A4F}" dt="2025-11-10T08:55:48.828" v="34" actId="20577"/>
        <pc:sldMkLst>
          <pc:docMk/>
          <pc:sldMk cId="2273019368" sldId="352"/>
        </pc:sldMkLst>
        <pc:spChg chg="mod">
          <ac:chgData name="Ibrahim Imam" userId="32ecbe95da14ada2" providerId="LiveId" clId="{58B07BA8-3CEB-4080-A7A1-539CEBB63A4F}" dt="2025-11-10T08:55:18.509" v="22" actId="20577"/>
          <ac:spMkLst>
            <pc:docMk/>
            <pc:sldMk cId="2273019368" sldId="352"/>
            <ac:spMk id="2" creationId="{334E3A46-AB78-27B4-4E42-88128A2F4168}"/>
          </ac:spMkLst>
        </pc:spChg>
        <pc:spChg chg="mod">
          <ac:chgData name="Ibrahim Imam" userId="32ecbe95da14ada2" providerId="LiveId" clId="{58B07BA8-3CEB-4080-A7A1-539CEBB63A4F}" dt="2025-11-10T08:55:48.828" v="34" actId="20577"/>
          <ac:spMkLst>
            <pc:docMk/>
            <pc:sldMk cId="2273019368" sldId="352"/>
            <ac:spMk id="3" creationId="{5ACC5DE3-E955-0BF5-057C-2CBD3BDC9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BC25B-8725-48F2-8BF5-D65C280302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82AC2-DDAA-4D4D-9C37-9D57DC2B6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3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العميل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بيوضح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ان عنده مشكلة في الانترنت يشتغل و يفصل.</a:t>
            </a:r>
          </a:p>
          <a:p>
            <a:pPr algn="r"/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البداية بنسال العميل ايه اللمبات الغير مستقرة في الراوتر, بتأكد العميل موصل كل الاسلاك صح في الراوتر</a:t>
            </a:r>
            <a:endParaRPr lang="en-US" sz="1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نتأكد من العميل ان عدم الاستقرار في لمبة ال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DSL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مش ال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.Power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هبدا أشوف اخر وقت حصل فيه تغيير في حاله الخط علي ال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(OTCCT Or TE Portal)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و اقارن باخر مره العميل عمل فيها اعادة تشغيل للراوتر.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حاله ان العميل مستقر 6 ساعات فاكثر بالتالي مش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هيكون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في عدم استقرار من جهة ال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.DSL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نتأكد ان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قرايات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خط العميل مضبوطة (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current rate = or less than 85% from the max rate)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اللي الخط شغال عليه مش اكتر من 85% من اعلي قرأيه يتحملها الخط.</a:t>
            </a:r>
            <a:endParaRPr lang="en-US" sz="1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لو العميل عنده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Bad Line Parameters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لازم نتابع علي حلها في البداية لأنها بتسبب عدم استقرار.</a:t>
            </a:r>
            <a:endParaRPr lang="en-US" sz="1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نتأكد ان ما فيش (مشكله عامه)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Global issue 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علي السنترال الخاص بالعميل.</a:t>
            </a:r>
            <a:endParaRPr lang="en-US" sz="1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1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95EFC-0FF1-4730-82CB-95EF7620128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4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EG" sz="1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حاله ان العميل يواجه اي مشكله</a:t>
            </a:r>
            <a:r>
              <a:rPr lang="en-US" sz="1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ar-EG" sz="1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فالأرضي احنا </a:t>
            </a:r>
            <a:r>
              <a:rPr lang="ar-EG" sz="1200" b="1" cap="none" spc="0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بنقدر</a:t>
            </a:r>
            <a:r>
              <a:rPr lang="ar-EG" sz="1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نتابع عليها مع العميل من غير الرجوع للسنترال. 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لو عميل اتصل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بيواجة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Line Down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بعد ما كان عنده مشكله ارضي و المصرية للاتصالات حلتها, مش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بنعمل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اي خطوات مع العميل و بعمله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SR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بالمشكلة و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بأكد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علي العميل انه لو واجه مشكله فالأرضي يقدر </a:t>
            </a:r>
            <a:r>
              <a:rPr lang="ar-EG" sz="1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يرجعلنا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واحنا نحلها عشان نتجنب حدوث اي مشكله فالإنترنت.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EG" sz="1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حاله ان العميل عنده مفيش حراره ولا انترنت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(line down)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الأولوية للأرضي بتابع خطوات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voice down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و نعمل </a:t>
            </a:r>
            <a:r>
              <a:rPr lang="en-US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SR</a:t>
            </a:r>
            <a:r>
              <a:rPr lang="ar-EG" sz="1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بالأرضي مش الانترنت.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95EFC-0FF1-4730-82CB-95EF76201286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5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95EFC-0FF1-4730-82CB-95EF76201286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6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4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7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4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5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5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8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22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F0585-75CF-4BD8-809C-94DF0DE752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DC1BA-3102-48D9-B7B4-B714166F9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9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orangepedia/Products/Complains/Pages/Bad%20Line/Right-Speed-Profile.aspx" TargetMode="External"/><Relationship Id="rId2" Type="http://schemas.openxmlformats.org/officeDocument/2006/relationships/hyperlink" Target="http://orangepedia/Products/Complains/Pages/Connection%20Unstable/basic-page-.aspx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3A46-AB78-27B4-4E42-88128A2F4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1716"/>
            <a:ext cx="12192000" cy="160337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WELCOME TO Catching Kowa DSL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5DE3-E955-0BF5-057C-2CBD3BDC9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116" y="2011681"/>
            <a:ext cx="9892145" cy="484631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ar-EG" sz="6000" dirty="0">
                <a:solidFill>
                  <a:schemeClr val="accent2"/>
                </a:solidFill>
              </a:rPr>
              <a:t> </a:t>
            </a:r>
            <a:r>
              <a:rPr lang="en-US" sz="6000" dirty="0">
                <a:solidFill>
                  <a:schemeClr val="accent2"/>
                </a:solidFill>
              </a:rPr>
              <a:t>Physical WF</a:t>
            </a:r>
            <a:endParaRPr lang="en-US" sz="6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4">
            <a:extLst>
              <a:ext uri="{FF2B5EF4-FFF2-40B4-BE49-F238E27FC236}">
                <a16:creationId xmlns:a16="http://schemas.microsoft.com/office/drawing/2014/main" id="{791F55CF-94C5-D811-3D49-C4E191DC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2211186" cy="180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C9F6056A-5DAA-056A-382E-BA13129EDA2F}"/>
              </a:ext>
            </a:extLst>
          </p:cNvPr>
          <p:cNvSpPr/>
          <p:nvPr/>
        </p:nvSpPr>
        <p:spPr>
          <a:xfrm>
            <a:off x="0" y="4638502"/>
            <a:ext cx="3042458" cy="2219498"/>
          </a:xfrm>
          <a:prstGeom prst="rt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1FF0735-DBA2-6197-C8F6-07B1DF849838}"/>
              </a:ext>
            </a:extLst>
          </p:cNvPr>
          <p:cNvSpPr/>
          <p:nvPr/>
        </p:nvSpPr>
        <p:spPr>
          <a:xfrm rot="10800000">
            <a:off x="9149542" y="0"/>
            <a:ext cx="3042458" cy="2219498"/>
          </a:xfrm>
          <a:prstGeom prst="rt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01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وان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How the service reach to the Home </a:t>
            </a:r>
            <a:endParaRPr lang="ar-EG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عنصر نائب للنص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Copper  </a:t>
            </a:r>
            <a:endParaRPr lang="ar-EG" sz="28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عنصر نائب للمحتوى 5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BRAS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ERX </a:t>
            </a:r>
          </a:p>
          <a:p>
            <a:pPr marL="0" indent="0">
              <a:buNone/>
            </a:pPr>
            <a:r>
              <a:rPr lang="en-US" dirty="0"/>
              <a:t>Into CO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DSLAM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Card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Port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Cabinet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Box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Splitter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Router </a:t>
            </a:r>
            <a:endParaRPr lang="ar-EG" dirty="0"/>
          </a:p>
        </p:txBody>
      </p:sp>
      <p:sp>
        <p:nvSpPr>
          <p:cNvPr id="7" name="عنصر نائب للنص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MSAN 	</a:t>
            </a:r>
            <a:endParaRPr lang="ar-EG" sz="28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عنصر نائب للمحتوى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BRAS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Cabinet  ( in CO 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Cabinet ( out of  CO 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Box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Splitter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Router </a:t>
            </a:r>
          </a:p>
        </p:txBody>
      </p:sp>
    </p:spTree>
    <p:extLst>
      <p:ext uri="{BB962C8B-B14F-4D97-AF65-F5344CB8AC3E}">
        <p14:creationId xmlns:p14="http://schemas.microsoft.com/office/powerpoint/2010/main" val="109015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عنوان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Subscription channel </a:t>
            </a:r>
            <a:endParaRPr lang="ar-EG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عنصر نائب للمحتوى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Customer can subscribe through a lot of channels 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Shops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16333 ( sales team 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Portal ( our website 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Click to chat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Social media ( face book , twitter and instagram 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Reseller 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243620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2348880"/>
            <a:ext cx="9144000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Line Down</a:t>
            </a:r>
          </a:p>
        </p:txBody>
      </p:sp>
    </p:spTree>
    <p:extLst>
      <p:ext uri="{BB962C8B-B14F-4D97-AF65-F5344CB8AC3E}">
        <p14:creationId xmlns:p14="http://schemas.microsoft.com/office/powerpoint/2010/main" val="2904330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97" y="749808"/>
            <a:ext cx="10460736" cy="506577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28601" y="813816"/>
            <a:ext cx="768096" cy="283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3282696" y="5312664"/>
            <a:ext cx="868680" cy="322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Line Down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84784"/>
            <a:ext cx="9036496" cy="5256584"/>
          </a:xfrm>
        </p:spPr>
      </p:pic>
    </p:spTree>
    <p:extLst>
      <p:ext uri="{BB962C8B-B14F-4D97-AF65-F5344CB8AC3E}">
        <p14:creationId xmlns:p14="http://schemas.microsoft.com/office/powerpoint/2010/main" val="338695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7600" y="-1167249"/>
            <a:ext cx="4788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Your text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3512" y="1"/>
            <a:ext cx="5035430" cy="646331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905"/>
                <a:solidFill>
                  <a:schemeClr val="accent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FTTH Tool </a:t>
            </a:r>
            <a:r>
              <a:rPr lang="en-US" sz="3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for MSAN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72" y="757310"/>
            <a:ext cx="8462739" cy="22619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451346"/>
            <a:ext cx="8604448" cy="2353918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6933804" y="980728"/>
            <a:ext cx="386332" cy="50405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3863885" y="4133787"/>
            <a:ext cx="288032" cy="472173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2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7529" y="260649"/>
            <a:ext cx="4561121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Octopus  for copper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" t="17777" r="2176" b="48661"/>
          <a:stretch/>
        </p:blipFill>
        <p:spPr bwMode="auto">
          <a:xfrm>
            <a:off x="1663184" y="1412776"/>
            <a:ext cx="9005455" cy="297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own Arrow 3"/>
          <p:cNvSpPr/>
          <p:nvPr/>
        </p:nvSpPr>
        <p:spPr>
          <a:xfrm>
            <a:off x="5663953" y="2204864"/>
            <a:ext cx="312649" cy="474352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7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9232"/>
            <a:ext cx="8926388" cy="3252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077072"/>
            <a:ext cx="8926388" cy="244827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495600" y="5085184"/>
            <a:ext cx="690376" cy="386332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6">
            <a:extLst>
              <a:ext uri="{FF2B5EF4-FFF2-40B4-BE49-F238E27FC236}">
                <a16:creationId xmlns:a16="http://schemas.microsoft.com/office/drawing/2014/main" id="{F7F7F5C3-1B91-ABC7-A52E-83C500DE297F}"/>
              </a:ext>
            </a:extLst>
          </p:cNvPr>
          <p:cNvSpPr/>
          <p:nvPr/>
        </p:nvSpPr>
        <p:spPr>
          <a:xfrm>
            <a:off x="2150412" y="1556792"/>
            <a:ext cx="690376" cy="386332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3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620689"/>
            <a:ext cx="8753475" cy="546216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3071664" y="4725144"/>
            <a:ext cx="546360" cy="288032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1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4704"/>
            <a:ext cx="8955360" cy="4392488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10800000">
            <a:off x="8796528" y="2960948"/>
            <a:ext cx="1371600" cy="557784"/>
          </a:xfrm>
          <a:prstGeom prst="rightArrow">
            <a:avLst>
              <a:gd name="adj1" fmla="val 50000"/>
              <a:gd name="adj2" fmla="val 42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07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32657"/>
            <a:ext cx="9144000" cy="6154439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7059168" y="5925312"/>
            <a:ext cx="557784" cy="301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0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24" y="260648"/>
            <a:ext cx="8964488" cy="6552728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7968208" y="4509120"/>
            <a:ext cx="360040" cy="546360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90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20" y="0"/>
            <a:ext cx="9007276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21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66" y="908721"/>
            <a:ext cx="8972550" cy="5639519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8400256" y="5013176"/>
            <a:ext cx="648072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19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645" y="332656"/>
            <a:ext cx="8924925" cy="5256584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8544272" y="3140968"/>
            <a:ext cx="648072" cy="360040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404664"/>
            <a:ext cx="8543925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6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9EB728-FFBB-C8CF-73A0-BC88FA86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88641"/>
            <a:ext cx="6768752" cy="34657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91ED2C-4734-0A05-72BA-48D7BCB8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103" y="3582401"/>
            <a:ext cx="6552729" cy="3222104"/>
          </a:xfrm>
          <a:prstGeom prst="rect">
            <a:avLst/>
          </a:prstGeom>
        </p:spPr>
      </p:pic>
      <p:sp>
        <p:nvSpPr>
          <p:cNvPr id="4" name="Down Arrow 5">
            <a:extLst>
              <a:ext uri="{FF2B5EF4-FFF2-40B4-BE49-F238E27FC236}">
                <a16:creationId xmlns:a16="http://schemas.microsoft.com/office/drawing/2014/main" id="{AA068FF6-153B-68A9-4157-498FF196DBDC}"/>
              </a:ext>
            </a:extLst>
          </p:cNvPr>
          <p:cNvSpPr/>
          <p:nvPr/>
        </p:nvSpPr>
        <p:spPr>
          <a:xfrm>
            <a:off x="7176120" y="4905421"/>
            <a:ext cx="360040" cy="57606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 rot="10800000">
            <a:off x="8366760" y="987552"/>
            <a:ext cx="1325880" cy="3566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30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E5D359-130D-D8CD-7537-DE7540F9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32" y="764704"/>
            <a:ext cx="9024168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17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9231"/>
            <a:ext cx="9571892" cy="4509099"/>
          </a:xfrm>
          <a:prstGeom prst="rect">
            <a:avLst/>
          </a:prstGeom>
        </p:spPr>
      </p:pic>
      <p:sp>
        <p:nvSpPr>
          <p:cNvPr id="2" name="Right Arrow 6">
            <a:extLst>
              <a:ext uri="{FF2B5EF4-FFF2-40B4-BE49-F238E27FC236}">
                <a16:creationId xmlns:a16="http://schemas.microsoft.com/office/drawing/2014/main" id="{F7F7F5C3-1B91-ABC7-A52E-83C500DE297F}"/>
              </a:ext>
            </a:extLst>
          </p:cNvPr>
          <p:cNvSpPr/>
          <p:nvPr/>
        </p:nvSpPr>
        <p:spPr>
          <a:xfrm>
            <a:off x="6608112" y="3359215"/>
            <a:ext cx="690376" cy="386332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90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Fiber Problem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1 -Cabinet Offline </a:t>
            </a:r>
          </a:p>
          <a:p>
            <a:r>
              <a:rPr lang="en-US" dirty="0"/>
              <a:t>2- Suspend Due TE bill </a:t>
            </a:r>
          </a:p>
          <a:p>
            <a:r>
              <a:rPr lang="en-US" dirty="0"/>
              <a:t>3 – MSAN Unlock </a:t>
            </a:r>
          </a:p>
        </p:txBody>
      </p:sp>
    </p:spTree>
    <p:extLst>
      <p:ext uri="{BB962C8B-B14F-4D97-AF65-F5344CB8AC3E}">
        <p14:creationId xmlns:p14="http://schemas.microsoft.com/office/powerpoint/2010/main" val="340296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97" y="749808"/>
            <a:ext cx="10460736" cy="506577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28601" y="813816"/>
            <a:ext cx="768096" cy="283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3282696" y="5312664"/>
            <a:ext cx="868680" cy="322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15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395287"/>
            <a:ext cx="11399520" cy="606742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10800000">
            <a:off x="1691640" y="4038600"/>
            <a:ext cx="96012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60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542925"/>
            <a:ext cx="11582400" cy="577215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9448800" y="4511040"/>
            <a:ext cx="1051560" cy="396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9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3" y="732472"/>
            <a:ext cx="11291888" cy="4905375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 rot="5400000">
            <a:off x="10081260" y="3390900"/>
            <a:ext cx="365760" cy="1021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35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00025"/>
            <a:ext cx="11384281" cy="645795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rot="10800000">
            <a:off x="9799320" y="4724400"/>
            <a:ext cx="103632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93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89560"/>
            <a:ext cx="11369040" cy="638556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3825240" y="4069080"/>
            <a:ext cx="487680" cy="701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6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"/>
            <a:ext cx="11414760" cy="643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66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89560"/>
            <a:ext cx="11369040" cy="638556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6461760" y="4130040"/>
            <a:ext cx="487680" cy="701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34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52401"/>
            <a:ext cx="1170432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39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89560"/>
            <a:ext cx="11369040" cy="638556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9347200" y="4231640"/>
            <a:ext cx="487680" cy="701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7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8121"/>
            <a:ext cx="1126236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40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2348880"/>
            <a:ext cx="9144000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Line Unstable </a:t>
            </a:r>
          </a:p>
        </p:txBody>
      </p:sp>
    </p:spTree>
    <p:extLst>
      <p:ext uri="{BB962C8B-B14F-4D97-AF65-F5344CB8AC3E}">
        <p14:creationId xmlns:p14="http://schemas.microsoft.com/office/powerpoint/2010/main" val="3395498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31704" y="441538"/>
            <a:ext cx="58326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How to Open Line Unstable WF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5" y="1481328"/>
            <a:ext cx="10698480" cy="502920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246889" y="1563624"/>
            <a:ext cx="585216" cy="438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 rot="10800000">
            <a:off x="3264408" y="5925312"/>
            <a:ext cx="886968" cy="384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32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n Arrow 1"/>
          <p:cNvSpPr/>
          <p:nvPr/>
        </p:nvSpPr>
        <p:spPr>
          <a:xfrm>
            <a:off x="3935760" y="2708920"/>
            <a:ext cx="576064" cy="576064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206" y="1011506"/>
            <a:ext cx="9144000" cy="5962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7568" y="334397"/>
            <a:ext cx="324050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1- Press on How to Complain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04112" y="334397"/>
            <a:ext cx="224516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2- Press on View all</a:t>
            </a:r>
          </a:p>
          <a:p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786384" y="3922776"/>
            <a:ext cx="722822" cy="3383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9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97" y="1196752"/>
            <a:ext cx="9144000" cy="5544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7569" y="476673"/>
            <a:ext cx="331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3- Choose Line Unstable </a:t>
            </a:r>
          </a:p>
        </p:txBody>
      </p:sp>
      <p:sp>
        <p:nvSpPr>
          <p:cNvPr id="4" name="Left Arrow 2">
            <a:extLst>
              <a:ext uri="{FF2B5EF4-FFF2-40B4-BE49-F238E27FC236}">
                <a16:creationId xmlns:a16="http://schemas.microsoft.com/office/drawing/2014/main" id="{B0A2697A-C9D9-A022-215D-91CBDD5CD0BB}"/>
              </a:ext>
            </a:extLst>
          </p:cNvPr>
          <p:cNvSpPr/>
          <p:nvPr/>
        </p:nvSpPr>
        <p:spPr>
          <a:xfrm>
            <a:off x="6130297" y="4437112"/>
            <a:ext cx="648072" cy="360040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07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03635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1" y="557679"/>
            <a:ext cx="9112349" cy="48193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Line Unstable Means: the customer has service instability because of physical issue  (wires, cabinet, box Or splitter problem).</a:t>
            </a:r>
            <a:r>
              <a:rPr lang="ar-EG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n-US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/>
            <a:endParaRPr lang="en-US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/>
            <a:r>
              <a:rPr lang="en-US" sz="2400" b="1" dirty="0"/>
              <a:t>In this situation customer complains that his line frequently unstable</a:t>
            </a:r>
            <a:endParaRPr lang="en-US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/>
            <a:endParaRPr lang="en-US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/>
            <a:endParaRPr lang="en-US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Agent should handle line unstable WF normally in case the customer has due invoice to TE and the voice is working in the grace period.</a:t>
            </a:r>
            <a:endParaRPr lang="en-US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It's not allowed to resolve any case assigned to consumer support team even if the customer problem is solved, except if the SR was created during global issues.​</a:t>
            </a:r>
            <a:endParaRPr lang="en-US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case customer is complaining that the service is not working or unstable:</a:t>
            </a:r>
            <a:endParaRPr lang="en-US" sz="32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Agent should ask the customer if s/he has any Junctions or welding or any cutting on his/her main wire</a:t>
            </a:r>
            <a:endParaRPr lang="en-US" sz="32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If yes, agent should advise the customer to change the main wire without submitting SR to physical team.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609764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5" y="1484785"/>
            <a:ext cx="8353425" cy="31647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15480" y="548681"/>
            <a:ext cx="9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If yes, agent should advise the customer to change the main wire without submitting SR to physical team.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901280" y="5085185"/>
            <a:ext cx="87667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In case No, Agent should check “Port up time" and it should be less than 6 hours.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Compare it with the last change date “ last IP" on IP tool.​</a:t>
            </a: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352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1544" y="1268760"/>
            <a:ext cx="79208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I</a:t>
            </a:r>
            <a:r>
              <a:rPr lang="en-US" dirty="0">
                <a:solidFill>
                  <a:srgbClr val="222222"/>
                </a:solidFill>
                <a:latin typeface="Helvetica Neue"/>
              </a:rPr>
              <a:t>f both of them were down for less than 6Hs, agent should confirm with the customer that s/he didn't restart the router and check lock and unlock history​ then follow line unstable TS.</a:t>
            </a:r>
            <a:endParaRPr lang="en-US" dirty="0">
              <a:solidFill>
                <a:srgbClr val="000000"/>
              </a:solidFill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If the difference between the port up time and the authentication IP is more than 5 minutes, agent should follow “</a:t>
            </a:r>
            <a:r>
              <a:rPr lang="en-US" b="1" u="sng" dirty="0">
                <a:solidFill>
                  <a:srgbClr val="0000FF"/>
                </a:solidFill>
                <a:latin typeface="Helvetica Neue"/>
              </a:rPr>
              <a:t>C</a:t>
            </a:r>
            <a:r>
              <a:rPr lang="en-US" b="1" u="sng" dirty="0">
                <a:solidFill>
                  <a:srgbClr val="0000FF"/>
                </a:solidFill>
                <a:latin typeface="Helvetica Neue"/>
                <a:hlinkClick r:id="rId2"/>
              </a:rPr>
              <a:t>onnection Unstable WF</a:t>
            </a:r>
            <a:r>
              <a:rPr lang="en-US" dirty="0">
                <a:solidFill>
                  <a:srgbClr val="000000"/>
                </a:solidFill>
                <a:latin typeface="Helvetica Neue"/>
                <a:hlinkClick r:id="rId2"/>
              </a:rPr>
              <a:t>”</a:t>
            </a:r>
            <a:r>
              <a:rPr lang="en-US" b="1" dirty="0">
                <a:solidFill>
                  <a:srgbClr val="0000FF"/>
                </a:solidFill>
                <a:latin typeface="Helvetica Neue"/>
                <a:hlinkClick r:id="rId2"/>
              </a:rPr>
              <a:t>​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.​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If the last IP login time is more than 6 Hours agent should handle the customer away from the instability scenario according to the customer's complaint.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44444"/>
                </a:solidFill>
                <a:latin typeface="Helvetica Neue"/>
              </a:rPr>
              <a:t>​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If the customer has a bad line issue &amp; line unstable is​sue ,agent should follow </a:t>
            </a:r>
            <a:r>
              <a:rPr lang="en-US" dirty="0">
                <a:solidFill>
                  <a:srgbClr val="0000FF"/>
                </a:solidFill>
                <a:latin typeface="Helvetica Neue"/>
              </a:rPr>
              <a:t>"</a:t>
            </a:r>
            <a:r>
              <a:rPr lang="en-US" b="1" u="sng" dirty="0">
                <a:solidFill>
                  <a:srgbClr val="0000FF"/>
                </a:solidFill>
                <a:latin typeface="Helvetica Neue"/>
                <a:hlinkClick r:id="rId3"/>
              </a:rPr>
              <a:t>Bad Line WF</a:t>
            </a:r>
            <a:r>
              <a:rPr lang="en-US" b="1" dirty="0">
                <a:solidFill>
                  <a:srgbClr val="0000FF"/>
                </a:solidFill>
                <a:latin typeface="Helvetica Neue"/>
                <a:hlinkClick r:id="rId3"/>
              </a:rPr>
              <a:t>"​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5342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4940" y="492984"/>
            <a:ext cx="8352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Agents should check SR history for physical problems during 1 week, in case the customer has a repetitive issue in order to know the last step or the reason of the issue.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Example: SR last feedback was (Change building cable, change router, etc..)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Example: SR last feedback long SLA related to (TE maintenance, etc..).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In case agent found “Customer is ​out of service location/not free” feedback from Data Tech Con Support-Physical team in previous SR: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Agent should check the line status and inform the customer with Data Tech Con Support-Physical team feedback and create the below SR: 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4940" y="116632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</a:rPr>
              <a:t>Repetitive Complaints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>
                <a:solidFill>
                  <a:schemeClr val="accent6"/>
                </a:solidFill>
                <a:latin typeface="Helvetica Neue"/>
              </a:rPr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267" y="3355306"/>
            <a:ext cx="8296275" cy="253365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2130592" y="4770120"/>
            <a:ext cx="79248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06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0778" y="315472"/>
            <a:ext cx="7254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We will choose line unstable in case customer’s complain is not related to make/ receive call on Landline 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524001" y="-315471"/>
            <a:ext cx="184731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000000"/>
              </a:solidFill>
              <a:latin typeface="Helvetica Neu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800" dirty="0"/>
            </a:b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60779" y="1240134"/>
            <a:ext cx="89592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Agent should advise the customer to keep the router connected and switched 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Agent shouldn't take the action to lock and Unlock, Instead agent should check “Lock/Unlock" history and match it with the “Last change" time on FTTH tool to be able to define the instability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​Agent should check line parameters and adjust the profile before assigning SR to the concerned team.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​​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Helvetica Neue"/>
              </a:rPr>
              <a:t>For MSAN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vetica Neue"/>
              </a:rPr>
              <a:t>: Verify (Port up time) from FTTH Tool as below:​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65" y="3717032"/>
            <a:ext cx="8766720" cy="2304256"/>
          </a:xfrm>
          <a:prstGeom prst="rect">
            <a:avLst/>
          </a:prstGeom>
        </p:spPr>
      </p:pic>
      <p:sp>
        <p:nvSpPr>
          <p:cNvPr id="6" name="Up Arrow 5"/>
          <p:cNvSpPr/>
          <p:nvPr/>
        </p:nvSpPr>
        <p:spPr>
          <a:xfrm>
            <a:off x="9048328" y="4365104"/>
            <a:ext cx="216024" cy="36004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616365" y="5471192"/>
            <a:ext cx="332892" cy="36004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047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3512" y="585780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vetica Neue"/>
              </a:rPr>
              <a:t>​​​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Helvetica Neue"/>
              </a:rPr>
              <a:t>For Copper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vetica Neue"/>
              </a:rPr>
              <a:t>: ​Verify the Date/Time (Last Change Time) from Octopus as below: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356835"/>
            <a:ext cx="8136904" cy="1512168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5159896" y="1451051"/>
            <a:ext cx="288032" cy="307531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45905" y="3501009"/>
            <a:ext cx="1131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/>
              <a:t>IP</a:t>
            </a:r>
            <a:r>
              <a:rPr lang="en-US" b="1" u="sng" dirty="0"/>
              <a:t> </a:t>
            </a:r>
            <a:r>
              <a:rPr lang="en-US" sz="2400" b="1" u="sng" dirty="0"/>
              <a:t>Tool</a:t>
            </a:r>
            <a:r>
              <a:rPr lang="en-US" b="1" u="sng" dirty="0"/>
              <a:t>: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904" y="4293097"/>
            <a:ext cx="7992888" cy="133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46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5042" y="404664"/>
            <a:ext cx="9052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Check with customer the internal wiring and splitter positions that should be as below:​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84" y="940631"/>
            <a:ext cx="3240360" cy="2088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3" y="3094212"/>
            <a:ext cx="7587327" cy="3359124"/>
          </a:xfrm>
          <a:prstGeom prst="rect">
            <a:avLst/>
          </a:prstGeom>
        </p:spPr>
      </p:pic>
      <p:sp>
        <p:nvSpPr>
          <p:cNvPr id="5" name="Down Arrow 3">
            <a:extLst>
              <a:ext uri="{FF2B5EF4-FFF2-40B4-BE49-F238E27FC236}">
                <a16:creationId xmlns:a16="http://schemas.microsoft.com/office/drawing/2014/main" id="{111002A9-DC15-C2E6-D9E6-4C32A5FA64A5}"/>
              </a:ext>
            </a:extLst>
          </p:cNvPr>
          <p:cNvSpPr/>
          <p:nvPr/>
        </p:nvSpPr>
        <p:spPr>
          <a:xfrm>
            <a:off x="8040216" y="4773775"/>
            <a:ext cx="288032" cy="307531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44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82" y="548680"/>
            <a:ext cx="8928992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003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48680"/>
            <a:ext cx="9093076" cy="5904656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7968208" y="4581128"/>
            <a:ext cx="720080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24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94252" y="315977"/>
            <a:ext cx="87737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   If the customer is calling from DSL service number: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   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 </a:t>
            </a:r>
            <a:r>
              <a:rPr lang="en-US" dirty="0"/>
              <a:t>• Ask the customer for his/her mobile number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     </a:t>
            </a:r>
            <a:r>
              <a:rPr lang="en-US" dirty="0"/>
              <a:t>• Ask customer to end call with you and ask him/her to answer the call on his/her mobile.</a:t>
            </a:r>
            <a:br>
              <a:rPr lang="en-US" dirty="0"/>
            </a:br>
            <a:r>
              <a:rPr lang="en-US" dirty="0"/>
              <a:t>     • Put Not Ready</a:t>
            </a:r>
            <a:br>
              <a:rPr lang="en-US" dirty="0"/>
            </a:br>
            <a:r>
              <a:rPr lang="en-US" dirty="0"/>
              <a:t>     • Call the customer</a:t>
            </a:r>
            <a:br>
              <a:rPr lang="en-US" dirty="0"/>
            </a:br>
            <a:r>
              <a:rPr lang="en-US" dirty="0"/>
              <a:t>     • Connect with him/her without splitter</a:t>
            </a:r>
            <a:br>
              <a:rPr lang="en-US" dirty="0"/>
            </a:br>
            <a:r>
              <a:rPr lang="en-US" dirty="0"/>
              <a:t>     • Make a call to his number from another line and check ADSL led in the router.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93" y="2492896"/>
            <a:ext cx="7776864" cy="4176464"/>
          </a:xfrm>
          <a:prstGeom prst="rect">
            <a:avLst/>
          </a:prstGeom>
        </p:spPr>
      </p:pic>
      <p:sp>
        <p:nvSpPr>
          <p:cNvPr id="7" name="Left Arrow 6"/>
          <p:cNvSpPr/>
          <p:nvPr/>
        </p:nvSpPr>
        <p:spPr>
          <a:xfrm>
            <a:off x="8832304" y="5517232"/>
            <a:ext cx="648072" cy="432048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24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48680"/>
            <a:ext cx="8820472" cy="56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38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0" y="2564905"/>
            <a:ext cx="9144000" cy="132343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Bad Line Parameters</a:t>
            </a:r>
          </a:p>
        </p:txBody>
      </p:sp>
    </p:spTree>
    <p:extLst>
      <p:ext uri="{BB962C8B-B14F-4D97-AF65-F5344CB8AC3E}">
        <p14:creationId xmlns:p14="http://schemas.microsoft.com/office/powerpoint/2010/main" val="3449999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How to open bad line parameters WF</a:t>
            </a:r>
            <a:endParaRPr lang="en-US" b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089" y="1617536"/>
            <a:ext cx="9506712" cy="4959417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905257" y="1544384"/>
            <a:ext cx="941832" cy="502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 rot="10627536">
            <a:off x="3811096" y="5972818"/>
            <a:ext cx="970568" cy="580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436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116632"/>
            <a:ext cx="8229600" cy="1028800"/>
          </a:xfrm>
        </p:spPr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Bad Line Parameters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052736"/>
            <a:ext cx="8856984" cy="5688632"/>
          </a:xfrm>
        </p:spPr>
      </p:pic>
      <p:sp>
        <p:nvSpPr>
          <p:cNvPr id="5" name="Left Arrow 4"/>
          <p:cNvSpPr/>
          <p:nvPr/>
        </p:nvSpPr>
        <p:spPr>
          <a:xfrm>
            <a:off x="2711624" y="4149080"/>
            <a:ext cx="792088" cy="504056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Left Arrow 5"/>
          <p:cNvSpPr/>
          <p:nvPr/>
        </p:nvSpPr>
        <p:spPr>
          <a:xfrm>
            <a:off x="8472264" y="5517232"/>
            <a:ext cx="792088" cy="504056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438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404664"/>
            <a:ext cx="8136904" cy="623731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2999656" y="5589240"/>
            <a:ext cx="546360" cy="432048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41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3512" y="260648"/>
            <a:ext cx="54858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Bad line parameters : For MSAN Customer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3512" y="764705"/>
            <a:ext cx="8856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case no line parameters found on FTTH Tool, agent should check the line parameters in TR069 tool.</a:t>
            </a:r>
          </a:p>
          <a:p>
            <a:r>
              <a:rPr lang="en-US" dirty="0"/>
              <a:t>In case no profile in TR069 tool, agent should handle according to customer and mentions that in the relevant SR.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3" y="2119312"/>
            <a:ext cx="8524875" cy="404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070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21206" y="260648"/>
            <a:ext cx="3170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Port type through FTTH Tool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836713"/>
            <a:ext cx="8712968" cy="56292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919536" y="3789040"/>
            <a:ext cx="1584176" cy="50405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98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53" y="620688"/>
            <a:ext cx="9047758" cy="5472608"/>
          </a:xfrm>
          <a:prstGeom prst="rect">
            <a:avLst/>
          </a:prstGeom>
        </p:spPr>
      </p:pic>
      <p:sp>
        <p:nvSpPr>
          <p:cNvPr id="3" name="Up Arrow 2"/>
          <p:cNvSpPr/>
          <p:nvPr/>
        </p:nvSpPr>
        <p:spPr>
          <a:xfrm>
            <a:off x="6744072" y="1916832"/>
            <a:ext cx="504056" cy="792088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351584" y="5301208"/>
            <a:ext cx="5040560" cy="14401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51584" y="5847016"/>
            <a:ext cx="5040560" cy="17427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0774" y="5013176"/>
            <a:ext cx="5031371" cy="16333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368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4933" y="692697"/>
            <a:ext cx="78488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In case agent found the line parameters in TR069 tool is different than the data found on the FTTH, s/he has to consider the line parameters on TR069 is the right one.​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In case customer asked about his/her line 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Agent should communicate to the customer his/her physical line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In case customer asked to send it via e-mail or SMS: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Agent should communicate to the customer that s/he can get this info from the router page using the below script:​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3140968"/>
            <a:ext cx="8801100" cy="3024336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8472264" y="4410820"/>
            <a:ext cx="97840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9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68" y="1100888"/>
            <a:ext cx="10058400" cy="4589754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10800000">
            <a:off x="5958840" y="2377440"/>
            <a:ext cx="1066800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848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20688"/>
            <a:ext cx="8772847" cy="56166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3284984"/>
            <a:ext cx="4320480" cy="1008112"/>
          </a:xfrm>
          <a:prstGeom prst="rect">
            <a:avLst/>
          </a:prstGeom>
        </p:spPr>
      </p:pic>
      <p:sp>
        <p:nvSpPr>
          <p:cNvPr id="4" name="Action Button: Custom 3">
            <a:hlinkClick r:id="" action="ppaction://noaction" highlightClick="1"/>
          </p:cNvPr>
          <p:cNvSpPr/>
          <p:nvPr/>
        </p:nvSpPr>
        <p:spPr>
          <a:xfrm>
            <a:off x="4511824" y="3501008"/>
            <a:ext cx="2520280" cy="576064"/>
          </a:xfrm>
          <a:prstGeom prst="actionButtonBlan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85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548680"/>
            <a:ext cx="855345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747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63" y="476672"/>
            <a:ext cx="8753475" cy="2190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99" y="2780928"/>
            <a:ext cx="8839200" cy="3600450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8976320" y="1284015"/>
            <a:ext cx="792088" cy="576064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263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48" y="1131368"/>
            <a:ext cx="10058400" cy="4589754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6842760" y="4076700"/>
            <a:ext cx="784860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 rot="10800000">
            <a:off x="7741920" y="2727960"/>
            <a:ext cx="815340" cy="28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0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" y="933233"/>
            <a:ext cx="10530840" cy="49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78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464986"/>
            <a:ext cx="10759440" cy="2655654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1943100" y="3459480"/>
            <a:ext cx="86868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299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26" y="2445935"/>
            <a:ext cx="10013548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85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18" y="2464986"/>
            <a:ext cx="9795922" cy="1928027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7307580" y="3208020"/>
            <a:ext cx="57912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041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20688"/>
            <a:ext cx="8772847" cy="56166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3284984"/>
            <a:ext cx="4320480" cy="1008112"/>
          </a:xfrm>
          <a:prstGeom prst="rect">
            <a:avLst/>
          </a:prstGeom>
        </p:spPr>
      </p:pic>
      <p:sp>
        <p:nvSpPr>
          <p:cNvPr id="4" name="Action Button: Custom 3">
            <a:hlinkClick r:id="" action="ppaction://noaction" highlightClick="1"/>
          </p:cNvPr>
          <p:cNvSpPr/>
          <p:nvPr/>
        </p:nvSpPr>
        <p:spPr>
          <a:xfrm>
            <a:off x="4511824" y="3501008"/>
            <a:ext cx="2520280" cy="576064"/>
          </a:xfrm>
          <a:prstGeom prst="actionButtonBlan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284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548680"/>
            <a:ext cx="855345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208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63" y="476672"/>
            <a:ext cx="8753475" cy="2190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99" y="2780928"/>
            <a:ext cx="8839200" cy="3600450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8976320" y="1284015"/>
            <a:ext cx="792088" cy="576064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0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1" y="2166050"/>
            <a:ext cx="9036495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Voice Problems</a:t>
            </a:r>
          </a:p>
        </p:txBody>
      </p:sp>
    </p:spTree>
    <p:extLst>
      <p:ext uri="{BB962C8B-B14F-4D97-AF65-F5344CB8AC3E}">
        <p14:creationId xmlns:p14="http://schemas.microsoft.com/office/powerpoint/2010/main" val="36048108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5521" y="260649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+mj-ea"/>
                <a:cs typeface="+mj-cs"/>
              </a:rPr>
              <a:t>How to open Voice problems WF</a:t>
            </a:r>
            <a:endParaRPr lang="en-US" sz="3600" b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1" y="1638168"/>
            <a:ext cx="9928860" cy="355486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59960" y="1539108"/>
            <a:ext cx="1181161" cy="449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3345180" y="4751070"/>
            <a:ext cx="830580" cy="4419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785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204" y="1916832"/>
            <a:ext cx="9144000" cy="4752528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2849118" y="4171938"/>
            <a:ext cx="510578" cy="24231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8832304" y="5157192"/>
            <a:ext cx="834392" cy="36004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51584" y="692696"/>
            <a:ext cx="3214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6600"/>
                </a:solidFill>
              </a:rPr>
              <a:t>1- Press on How to Complain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2105" y="692696"/>
            <a:ext cx="2302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6600"/>
                </a:solidFill>
              </a:rPr>
              <a:t>2- Press on View all </a:t>
            </a:r>
          </a:p>
        </p:txBody>
      </p:sp>
    </p:spTree>
    <p:extLst>
      <p:ext uri="{BB962C8B-B14F-4D97-AF65-F5344CB8AC3E}">
        <p14:creationId xmlns:p14="http://schemas.microsoft.com/office/powerpoint/2010/main" val="12799241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19030"/>
            <a:ext cx="9144000" cy="4490290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3438972" y="5877272"/>
            <a:ext cx="720080" cy="432048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07568" y="692696"/>
            <a:ext cx="2646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3- Choose Voice problems</a:t>
            </a:r>
          </a:p>
        </p:txBody>
      </p:sp>
    </p:spTree>
    <p:extLst>
      <p:ext uri="{BB962C8B-B14F-4D97-AF65-F5344CB8AC3E}">
        <p14:creationId xmlns:p14="http://schemas.microsoft.com/office/powerpoint/2010/main" val="32963062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332656"/>
            <a:ext cx="9020175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570" y="4221089"/>
            <a:ext cx="8721031" cy="2143125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8976320" y="4941168"/>
            <a:ext cx="97840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351584" y="1196752"/>
            <a:ext cx="504056" cy="69037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465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28" y="287164"/>
            <a:ext cx="8553450" cy="3124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16" y="3429000"/>
            <a:ext cx="84486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015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404664"/>
            <a:ext cx="8912671" cy="339090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4151784" y="1124744"/>
            <a:ext cx="484632" cy="69037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060" y="4221089"/>
            <a:ext cx="8458200" cy="1868041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8688288" y="4912792"/>
            <a:ext cx="79208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90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548680"/>
            <a:ext cx="8424936" cy="595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733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404664"/>
            <a:ext cx="8912671" cy="3390900"/>
          </a:xfrm>
          <a:prstGeom prst="rect">
            <a:avLst/>
          </a:prstGeom>
        </p:spPr>
      </p:pic>
      <p:sp>
        <p:nvSpPr>
          <p:cNvPr id="3" name="Up Arrow 2"/>
          <p:cNvSpPr/>
          <p:nvPr/>
        </p:nvSpPr>
        <p:spPr>
          <a:xfrm>
            <a:off x="5861843" y="3645024"/>
            <a:ext cx="484632" cy="648072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487" y="4302720"/>
            <a:ext cx="8827296" cy="2160240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8616280" y="5013176"/>
            <a:ext cx="79208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554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3" y="332656"/>
            <a:ext cx="8144197" cy="615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88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263686"/>
            <a:ext cx="8912671" cy="339090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7176120" y="836712"/>
            <a:ext cx="504056" cy="906400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524" y="3654587"/>
            <a:ext cx="8552631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935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764704"/>
            <a:ext cx="8534400" cy="48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324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468" y="404664"/>
            <a:ext cx="8892480" cy="2733278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8832304" y="620688"/>
            <a:ext cx="504056" cy="906400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20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332656"/>
            <a:ext cx="7434584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3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27" y="1412776"/>
            <a:ext cx="8867775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387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188640"/>
            <a:ext cx="7848872" cy="3653582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8184232" y="2996952"/>
            <a:ext cx="504056" cy="432048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3933057"/>
            <a:ext cx="7848872" cy="281538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423592" y="5661248"/>
            <a:ext cx="978408" cy="484632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030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8" y="514350"/>
            <a:ext cx="8658225" cy="5829300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9264352" y="5301208"/>
            <a:ext cx="720080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027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ft Arrow 2"/>
          <p:cNvSpPr/>
          <p:nvPr/>
        </p:nvSpPr>
        <p:spPr>
          <a:xfrm>
            <a:off x="8976320" y="5085184"/>
            <a:ext cx="79208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404665"/>
            <a:ext cx="8572500" cy="5898257"/>
          </a:xfrm>
          <a:prstGeom prst="rect">
            <a:avLst/>
          </a:prstGeom>
        </p:spPr>
      </p:pic>
      <p:sp>
        <p:nvSpPr>
          <p:cNvPr id="2" name="Left Arrow 2">
            <a:extLst>
              <a:ext uri="{FF2B5EF4-FFF2-40B4-BE49-F238E27FC236}">
                <a16:creationId xmlns:a16="http://schemas.microsoft.com/office/drawing/2014/main" id="{EF4857B1-16F5-6D19-DD89-46F586DB67B5}"/>
              </a:ext>
            </a:extLst>
          </p:cNvPr>
          <p:cNvSpPr/>
          <p:nvPr/>
        </p:nvSpPr>
        <p:spPr>
          <a:xfrm>
            <a:off x="9052012" y="5132505"/>
            <a:ext cx="720080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37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569" y="692697"/>
            <a:ext cx="8934450" cy="516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816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620689"/>
            <a:ext cx="8620125" cy="2162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3" y="3212977"/>
            <a:ext cx="8677275" cy="3114675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8904312" y="5157192"/>
            <a:ext cx="864096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933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340768"/>
            <a:ext cx="8877300" cy="3528392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8976320" y="3212976"/>
            <a:ext cx="648072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947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614363"/>
            <a:ext cx="8896350" cy="5629275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9048328" y="4941168"/>
            <a:ext cx="792088" cy="484632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537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39" y="188640"/>
            <a:ext cx="8705850" cy="4191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52" y="4581128"/>
            <a:ext cx="84296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1280</Words>
  <Application>Microsoft Office PowerPoint</Application>
  <PresentationFormat>Widescreen</PresentationFormat>
  <Paragraphs>122</Paragraphs>
  <Slides>90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7" baseType="lpstr">
      <vt:lpstr>Arial</vt:lpstr>
      <vt:lpstr>Calibri</vt:lpstr>
      <vt:lpstr>Calibri Light</vt:lpstr>
      <vt:lpstr>Courier New</vt:lpstr>
      <vt:lpstr>Helvetica Neue</vt:lpstr>
      <vt:lpstr>Wingdings</vt:lpstr>
      <vt:lpstr>Office Theme</vt:lpstr>
      <vt:lpstr>WELCOME TO Catching Kowa DSL Training</vt:lpstr>
      <vt:lpstr>How the service reach to the Home </vt:lpstr>
      <vt:lpstr>Subscription channel </vt:lpstr>
      <vt:lpstr>PowerPoint Presentation</vt:lpstr>
      <vt:lpstr>PowerPoint Presentation</vt:lpstr>
      <vt:lpstr>Line Down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Fiber Problem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open bad line parameters WF</vt:lpstr>
      <vt:lpstr>Bad Line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service reach to the Home</dc:title>
  <dc:creator>Mona Mohamed Mohamed</dc:creator>
  <cp:lastModifiedBy>Ibrahim Imam</cp:lastModifiedBy>
  <cp:revision>3</cp:revision>
  <dcterms:created xsi:type="dcterms:W3CDTF">2025-04-14T21:43:21Z</dcterms:created>
  <dcterms:modified xsi:type="dcterms:W3CDTF">2025-11-10T08:55:55Z</dcterms:modified>
</cp:coreProperties>
</file>