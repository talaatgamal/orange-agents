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1" r:id="rId4"/>
    <p:sldId id="262" r:id="rId5"/>
    <p:sldId id="263" r:id="rId6"/>
    <p:sldId id="259" r:id="rId7"/>
    <p:sldId id="260" r:id="rId8"/>
    <p:sldId id="275" r:id="rId9"/>
    <p:sldId id="274" r:id="rId10"/>
    <p:sldId id="264" r:id="rId11"/>
    <p:sldId id="265" r:id="rId12"/>
    <p:sldId id="266" r:id="rId13"/>
    <p:sldId id="267" r:id="rId14"/>
    <p:sldId id="271" r:id="rId15"/>
    <p:sldId id="272" r:id="rId16"/>
    <p:sldId id="276" r:id="rId17"/>
    <p:sldId id="268" r:id="rId18"/>
    <p:sldId id="269" r:id="rId19"/>
    <p:sldId id="277" r:id="rId20"/>
    <p:sldId id="278" r:id="rId21"/>
    <p:sldId id="270" r:id="rId22"/>
    <p:sldId id="279" r:id="rId23"/>
    <p:sldId id="273" r:id="rId24"/>
    <p:sldId id="280" r:id="rId25"/>
    <p:sldId id="281" r:id="rId26"/>
    <p:sldId id="282" r:id="rId27"/>
    <p:sldId id="283" r:id="rId28"/>
    <p:sldId id="284" r:id="rId29"/>
    <p:sldId id="285" r:id="rId30"/>
    <p:sldId id="286" r:id="rId31"/>
    <p:sldId id="287" r:id="rId32"/>
    <p:sldId id="288" r:id="rId33"/>
    <p:sldId id="290" r:id="rId34"/>
    <p:sldId id="291" r:id="rId35"/>
    <p:sldId id="292" r:id="rId36"/>
    <p:sldId id="293" r:id="rId37"/>
    <p:sldId id="295" r:id="rId38"/>
    <p:sldId id="296" r:id="rId39"/>
    <p:sldId id="298" r:id="rId40"/>
    <p:sldId id="297" r:id="rId41"/>
    <p:sldId id="300" r:id="rId42"/>
    <p:sldId id="301" r:id="rId43"/>
    <p:sldId id="302" r:id="rId44"/>
    <p:sldId id="303" r:id="rId45"/>
    <p:sldId id="304" r:id="rId46"/>
    <p:sldId id="305" r:id="rId47"/>
    <p:sldId id="307" r:id="rId48"/>
    <p:sldId id="308" r:id="rId49"/>
    <p:sldId id="309" r:id="rId50"/>
    <p:sldId id="310" r:id="rId51"/>
    <p:sldId id="320" r:id="rId52"/>
    <p:sldId id="316" r:id="rId53"/>
    <p:sldId id="311" r:id="rId54"/>
    <p:sldId id="317" r:id="rId55"/>
    <p:sldId id="318" r:id="rId56"/>
    <p:sldId id="319" r:id="rId57"/>
    <p:sldId id="312" r:id="rId58"/>
    <p:sldId id="313" r:id="rId59"/>
    <p:sldId id="289"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D3C5"/>
    <a:srgbClr val="E39A79"/>
    <a:srgbClr val="E6A4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455" autoAdjust="0"/>
    <p:restoredTop sz="94660"/>
  </p:normalViewPr>
  <p:slideViewPr>
    <p:cSldViewPr snapToGrid="0">
      <p:cViewPr>
        <p:scale>
          <a:sx n="66" d="100"/>
          <a:sy n="66" d="100"/>
        </p:scale>
        <p:origin x="636" y="17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rahim Imam" userId="32ecbe95da14ada2" providerId="LiveId" clId="{561C7418-99F2-4797-BC1A-A1BCA882170A}"/>
    <pc:docChg chg="modSld">
      <pc:chgData name="Ibrahim Imam" userId="32ecbe95da14ada2" providerId="LiveId" clId="{561C7418-99F2-4797-BC1A-A1BCA882170A}" dt="2026-02-21T14:52:04.773" v="3" actId="20577"/>
      <pc:docMkLst>
        <pc:docMk/>
      </pc:docMkLst>
      <pc:sldChg chg="modSp mod">
        <pc:chgData name="Ibrahim Imam" userId="32ecbe95da14ada2" providerId="LiveId" clId="{561C7418-99F2-4797-BC1A-A1BCA882170A}" dt="2026-02-21T14:52:04.773" v="3" actId="20577"/>
        <pc:sldMkLst>
          <pc:docMk/>
          <pc:sldMk cId="2886499109" sldId="297"/>
        </pc:sldMkLst>
        <pc:spChg chg="mod">
          <ac:chgData name="Ibrahim Imam" userId="32ecbe95da14ada2" providerId="LiveId" clId="{561C7418-99F2-4797-BC1A-A1BCA882170A}" dt="2026-02-21T14:52:04.773" v="3" actId="20577"/>
          <ac:spMkLst>
            <pc:docMk/>
            <pc:sldMk cId="2886499109" sldId="297"/>
            <ac:spMk id="3" creationId="{00000000-0000-0000-0000-000000000000}"/>
          </ac:spMkLst>
        </pc:spChg>
      </pc:sldChg>
    </pc:docChg>
  </pc:docChgLst>
  <pc:docChgLst>
    <pc:chgData name="Ibrahim Imam" userId="32ecbe95da14ada2" providerId="LiveId" clId="{CD7ED87B-1621-4EC4-A1F1-B60D208B290B}"/>
    <pc:docChg chg="undo custSel modSld">
      <pc:chgData name="Ibrahim Imam" userId="32ecbe95da14ada2" providerId="LiveId" clId="{CD7ED87B-1621-4EC4-A1F1-B60D208B290B}" dt="2025-12-14T08:01:33.633" v="6" actId="6549"/>
      <pc:docMkLst>
        <pc:docMk/>
      </pc:docMkLst>
      <pc:sldChg chg="addSp modSp">
        <pc:chgData name="Ibrahim Imam" userId="32ecbe95da14ada2" providerId="LiveId" clId="{CD7ED87B-1621-4EC4-A1F1-B60D208B290B}" dt="2025-12-14T07:56:28.324" v="2" actId="1076"/>
        <pc:sldMkLst>
          <pc:docMk/>
          <pc:sldMk cId="1844608189" sldId="256"/>
        </pc:sldMkLst>
        <pc:picChg chg="add mod">
          <ac:chgData name="Ibrahim Imam" userId="32ecbe95da14ada2" providerId="LiveId" clId="{CD7ED87B-1621-4EC4-A1F1-B60D208B290B}" dt="2025-12-14T07:56:28.324" v="2" actId="1076"/>
          <ac:picMkLst>
            <pc:docMk/>
            <pc:sldMk cId="1844608189" sldId="256"/>
            <ac:picMk id="3" creationId="{E0663861-3B08-4D55-B9E0-B908B2F6AE92}"/>
          </ac:picMkLst>
        </pc:picChg>
      </pc:sldChg>
      <pc:sldChg chg="modSp">
        <pc:chgData name="Ibrahim Imam" userId="32ecbe95da14ada2" providerId="LiveId" clId="{CD7ED87B-1621-4EC4-A1F1-B60D208B290B}" dt="2025-12-14T07:59:18.334" v="4"/>
        <pc:sldMkLst>
          <pc:docMk/>
          <pc:sldMk cId="1114178500" sldId="265"/>
        </pc:sldMkLst>
        <pc:spChg chg="mod">
          <ac:chgData name="Ibrahim Imam" userId="32ecbe95da14ada2" providerId="LiveId" clId="{CD7ED87B-1621-4EC4-A1F1-B60D208B290B}" dt="2025-12-14T07:59:18.334" v="4"/>
          <ac:spMkLst>
            <pc:docMk/>
            <pc:sldMk cId="1114178500" sldId="265"/>
            <ac:spMk id="3" creationId="{00000000-0000-0000-0000-000000000000}"/>
          </ac:spMkLst>
        </pc:spChg>
      </pc:sldChg>
      <pc:sldChg chg="modSp mod">
        <pc:chgData name="Ibrahim Imam" userId="32ecbe95da14ada2" providerId="LiveId" clId="{CD7ED87B-1621-4EC4-A1F1-B60D208B290B}" dt="2025-12-14T07:58:30.189" v="3" actId="1076"/>
        <pc:sldMkLst>
          <pc:docMk/>
          <pc:sldMk cId="989016845" sldId="275"/>
        </pc:sldMkLst>
        <pc:spChg chg="mod">
          <ac:chgData name="Ibrahim Imam" userId="32ecbe95da14ada2" providerId="LiveId" clId="{CD7ED87B-1621-4EC4-A1F1-B60D208B290B}" dt="2025-12-14T07:58:30.189" v="3" actId="1076"/>
          <ac:spMkLst>
            <pc:docMk/>
            <pc:sldMk cId="989016845" sldId="275"/>
            <ac:spMk id="20" creationId="{00000000-0000-0000-0000-000000000000}"/>
          </ac:spMkLst>
        </pc:spChg>
      </pc:sldChg>
      <pc:sldChg chg="modSp mod">
        <pc:chgData name="Ibrahim Imam" userId="32ecbe95da14ada2" providerId="LiveId" clId="{CD7ED87B-1621-4EC4-A1F1-B60D208B290B}" dt="2025-12-14T08:01:33.633" v="6" actId="6549"/>
        <pc:sldMkLst>
          <pc:docMk/>
          <pc:sldMk cId="2950229900" sldId="276"/>
        </pc:sldMkLst>
        <pc:graphicFrameChg chg="modGraphic">
          <ac:chgData name="Ibrahim Imam" userId="32ecbe95da14ada2" providerId="LiveId" clId="{CD7ED87B-1621-4EC4-A1F1-B60D208B290B}" dt="2025-12-14T08:01:33.633" v="6" actId="6549"/>
          <ac:graphicFrameMkLst>
            <pc:docMk/>
            <pc:sldMk cId="2950229900" sldId="276"/>
            <ac:graphicFrameMk id="8" creationId="{00000000-0000-0000-0000-00000000000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2876D3-E9E3-4529-91E2-B8FFE9C3A049}"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143778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2876D3-E9E3-4529-91E2-B8FFE9C3A049}"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328536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2876D3-E9E3-4529-91E2-B8FFE9C3A049}"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3682789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2876D3-E9E3-4529-91E2-B8FFE9C3A049}"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3179616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2876D3-E9E3-4529-91E2-B8FFE9C3A049}"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1816379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2876D3-E9E3-4529-91E2-B8FFE9C3A049}" type="datetimeFigureOut">
              <a:rPr lang="en-US" smtClean="0"/>
              <a:t>2/21/2026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403625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2876D3-E9E3-4529-91E2-B8FFE9C3A049}" type="datetimeFigureOut">
              <a:rPr lang="en-US" smtClean="0"/>
              <a:t>2/21/2026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3346619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92876D3-E9E3-4529-91E2-B8FFE9C3A049}"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37022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92876D3-E9E3-4529-91E2-B8FFE9C3A049}"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1645293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2876D3-E9E3-4529-91E2-B8FFE9C3A049}"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399804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2876D3-E9E3-4529-91E2-B8FFE9C3A049}"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F8FDC7-683D-4119-9AD8-99C067ACA261}"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61576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2876D3-E9E3-4529-91E2-B8FFE9C3A049}"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16323126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2876D3-E9E3-4529-91E2-B8FFE9C3A049}"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F8FDC7-683D-4119-9AD8-99C067ACA26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63136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2876D3-E9E3-4529-91E2-B8FFE9C3A049}"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2043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2876D3-E9E3-4529-91E2-B8FFE9C3A049}"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103903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2876D3-E9E3-4529-91E2-B8FFE9C3A049}"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F8FDC7-683D-4119-9AD8-99C067ACA261}" type="slidenum">
              <a:rPr lang="en-US" smtClean="0"/>
              <a:t>‹#›</a:t>
            </a:fld>
            <a:endParaRPr lang="en-US"/>
          </a:p>
        </p:txBody>
      </p:sp>
    </p:spTree>
    <p:extLst>
      <p:ext uri="{BB962C8B-B14F-4D97-AF65-F5344CB8AC3E}">
        <p14:creationId xmlns:p14="http://schemas.microsoft.com/office/powerpoint/2010/main" val="538671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2876D3-E9E3-4529-91E2-B8FFE9C3A049}" type="datetimeFigureOut">
              <a:rPr lang="en-US" smtClean="0"/>
              <a:t>2/21/2026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BF8FDC7-683D-4119-9AD8-99C067ACA261}" type="slidenum">
              <a:rPr lang="en-US" smtClean="0"/>
              <a:t>‹#›</a:t>
            </a:fld>
            <a:endParaRPr lang="en-US"/>
          </a:p>
        </p:txBody>
      </p:sp>
    </p:spTree>
    <p:extLst>
      <p:ext uri="{BB962C8B-B14F-4D97-AF65-F5344CB8AC3E}">
        <p14:creationId xmlns:p14="http://schemas.microsoft.com/office/powerpoint/2010/main" val="38188986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rangepedia/Products/Complains/Pages/Quota%20Consumption%20Issues/Basic-Quota.aspx"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0510" y="1764566"/>
            <a:ext cx="8583339" cy="2021551"/>
          </a:xfrm>
        </p:spPr>
        <p:txBody>
          <a:bodyPr/>
          <a:lstStyle/>
          <a:p>
            <a:pPr algn="ctr"/>
            <a:r>
              <a:rPr lang="en-US" sz="9600" dirty="0">
                <a:latin typeface="Arial Black" panose="020B0A04020102020204" pitchFamily="34" charset="0"/>
              </a:rPr>
              <a:t>Billing</a:t>
            </a:r>
            <a:r>
              <a:rPr lang="en-US" dirty="0">
                <a:latin typeface="Arial Black" panose="020B0A04020102020204" pitchFamily="34" charset="0"/>
              </a:rPr>
              <a:t> </a:t>
            </a:r>
          </a:p>
        </p:txBody>
      </p:sp>
      <p:pic>
        <p:nvPicPr>
          <p:cNvPr id="3" name="Picture 4">
            <a:extLst>
              <a:ext uri="{FF2B5EF4-FFF2-40B4-BE49-F238E27FC236}">
                <a16:creationId xmlns:a16="http://schemas.microsoft.com/office/drawing/2014/main" id="{E0663861-3B08-4D55-B9E0-B908B2F6A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043" y="0"/>
            <a:ext cx="1760128" cy="1438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4608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249" y="108438"/>
            <a:ext cx="5741051" cy="656492"/>
          </a:xfrm>
        </p:spPr>
        <p:txBody>
          <a:bodyPr>
            <a:normAutofit/>
          </a:bodyPr>
          <a:lstStyle/>
          <a:p>
            <a:r>
              <a:rPr lang="en-US" dirty="0">
                <a:latin typeface="Arial Black" panose="020B0A04020102020204" pitchFamily="34" charset="0"/>
              </a:rPr>
              <a:t>Billing Definition</a:t>
            </a:r>
          </a:p>
        </p:txBody>
      </p:sp>
      <p:sp>
        <p:nvSpPr>
          <p:cNvPr id="12" name="Rectangle 11"/>
          <p:cNvSpPr/>
          <p:nvPr/>
        </p:nvSpPr>
        <p:spPr>
          <a:xfrm>
            <a:off x="141003" y="1011113"/>
            <a:ext cx="9697915" cy="4305730"/>
          </a:xfrm>
          <a:prstGeom prst="rect">
            <a:avLst/>
          </a:prstGeom>
        </p:spPr>
        <p:txBody>
          <a:bodyPr wrap="square">
            <a:spAutoFit/>
          </a:bodyPr>
          <a:lstStyle/>
          <a:p>
            <a:pPr algn="r">
              <a:lnSpc>
                <a:spcPct val="200000"/>
              </a:lnSpc>
            </a:pPr>
            <a:r>
              <a:rPr lang="ar-EG" sz="2000" dirty="0">
                <a:latin typeface="Arial" panose="020B0604020202020204" pitchFamily="34" charset="0"/>
                <a:cs typeface="Arial" panose="020B0604020202020204" pitchFamily="34" charset="0"/>
              </a:rPr>
              <a:t>• نظام شركتنا نظام فاتوره بمعني الدفع مقدم </a:t>
            </a:r>
          </a:p>
          <a:p>
            <a:pPr algn="r">
              <a:lnSpc>
                <a:spcPct val="200000"/>
              </a:lnSpc>
            </a:pPr>
            <a:r>
              <a:rPr lang="ar-EG" sz="2000" dirty="0">
                <a:latin typeface="Arial" panose="020B0604020202020204" pitchFamily="34" charset="0"/>
                <a:cs typeface="Arial" panose="020B0604020202020204" pitchFamily="34" charset="0"/>
              </a:rPr>
              <a:t>• ميعاد فواتير العميل مش يتغير مهما حصل اال في حاله ان ميعاد فاتورته في ايام 29 30, </a:t>
            </a:r>
            <a:endParaRPr lang="en-US" sz="2000" dirty="0">
              <a:latin typeface="Arial" panose="020B0604020202020204" pitchFamily="34" charset="0"/>
              <a:cs typeface="Arial" panose="020B0604020202020204" pitchFamily="34" charset="0"/>
            </a:endParaRPr>
          </a:p>
          <a:p>
            <a:pPr algn="r">
              <a:lnSpc>
                <a:spcPct val="200000"/>
              </a:lnSpc>
            </a:pPr>
            <a:r>
              <a:rPr lang="ar-EG" sz="2000" dirty="0">
                <a:latin typeface="Arial" panose="020B0604020202020204" pitchFamily="34" charset="0"/>
                <a:cs typeface="Arial" panose="020B0604020202020204" pitchFamily="34" charset="0"/>
              </a:rPr>
              <a:t>او 31 من الشهر في الحالة دي يتغير بشكل تلقائي ليوم اخر. </a:t>
            </a:r>
            <a:endParaRPr lang="en-US" sz="2000" dirty="0">
              <a:latin typeface="Arial" panose="020B0604020202020204" pitchFamily="34" charset="0"/>
              <a:cs typeface="Arial" panose="020B0604020202020204" pitchFamily="34" charset="0"/>
            </a:endParaRPr>
          </a:p>
          <a:p>
            <a:pPr algn="r">
              <a:lnSpc>
                <a:spcPct val="200000"/>
              </a:lnSpc>
            </a:pPr>
            <a:r>
              <a:rPr lang="ar-EG" sz="2000" dirty="0">
                <a:latin typeface="Arial" panose="020B0604020202020204" pitchFamily="34" charset="0"/>
                <a:cs typeface="Arial" panose="020B0604020202020204" pitchFamily="34" charset="0"/>
              </a:rPr>
              <a:t>• ميعاد فاتورة العميل يحدد بناء علي ميعاد تشغيل الخدمة للمرة الاولي عند العميل </a:t>
            </a:r>
          </a:p>
          <a:p>
            <a:pPr algn="r">
              <a:lnSpc>
                <a:spcPct val="200000"/>
              </a:lnSpc>
            </a:pPr>
            <a:r>
              <a:rPr lang="ar-EG" sz="2000" dirty="0">
                <a:latin typeface="Arial" panose="020B0604020202020204" pitchFamily="34" charset="0"/>
                <a:cs typeface="Arial" panose="020B0604020202020204" pitchFamily="34" charset="0"/>
              </a:rPr>
              <a:t>• فتره السماح الخاصة بالعميل بتكون7 ايام مع بداية الفاتورة.</a:t>
            </a:r>
          </a:p>
          <a:p>
            <a:pPr algn="r">
              <a:lnSpc>
                <a:spcPct val="200000"/>
              </a:lnSpc>
            </a:pPr>
            <a:r>
              <a:rPr lang="ar-EG" sz="2000" dirty="0">
                <a:latin typeface="Arial" panose="020B0604020202020204" pitchFamily="34" charset="0"/>
                <a:cs typeface="Arial" panose="020B0604020202020204" pitchFamily="34" charset="0"/>
              </a:rPr>
              <a:t>•في حاله امتناع العميل عن دفع فاتوره شهر ما الخدمه ستتوقف لحين سداد الفاتوره حتي ان توقفت ل لشهرين الخط متوقف( لا يوجد اصدار فاتوره شهر  علي فاتوره شهر اخري)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1429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671" y="0"/>
            <a:ext cx="8596669" cy="659423"/>
          </a:xfrm>
        </p:spPr>
        <p:txBody>
          <a:bodyPr/>
          <a:lstStyle/>
          <a:p>
            <a:pPr algn="r"/>
            <a:r>
              <a:rPr lang="ar-EG" dirty="0">
                <a:latin typeface="Arial Black" panose="020B0A04020102020204" pitchFamily="34" charset="0"/>
              </a:rPr>
              <a:t>ما هي اسباب زياده الفاتوره </a:t>
            </a:r>
            <a:r>
              <a:rPr lang="ar-EG" dirty="0"/>
              <a:t>؟</a:t>
            </a:r>
            <a:endParaRPr lang="en-US" dirty="0"/>
          </a:p>
        </p:txBody>
      </p:sp>
      <p:sp>
        <p:nvSpPr>
          <p:cNvPr id="3" name="Content Placeholder 2"/>
          <p:cNvSpPr>
            <a:spLocks noGrp="1"/>
          </p:cNvSpPr>
          <p:nvPr>
            <p:ph idx="1"/>
          </p:nvPr>
        </p:nvSpPr>
        <p:spPr>
          <a:xfrm>
            <a:off x="571500" y="720969"/>
            <a:ext cx="8702502" cy="5320393"/>
          </a:xfrm>
        </p:spPr>
        <p:txBody>
          <a:bodyPr>
            <a:normAutofit/>
          </a:bodyPr>
          <a:lstStyle/>
          <a:p>
            <a:pPr>
              <a:buFont typeface="+mj-lt"/>
              <a:buAutoNum type="arabicPeriod"/>
            </a:pPr>
            <a:r>
              <a:rPr lang="en-US" sz="2400" dirty="0">
                <a:solidFill>
                  <a:schemeClr val="accent1"/>
                </a:solidFill>
                <a:latin typeface="Arial" panose="020B0604020202020204" pitchFamily="34" charset="0"/>
                <a:cs typeface="Arial" panose="020B0604020202020204" pitchFamily="34" charset="0"/>
              </a:rPr>
              <a:t> </a:t>
            </a:r>
            <a:r>
              <a:rPr lang="en-US" sz="2400" dirty="0">
                <a:solidFill>
                  <a:schemeClr val="tx1"/>
                </a:solidFill>
                <a:latin typeface="Arial" panose="020B0604020202020204" pitchFamily="34" charset="0"/>
                <a:cs typeface="Arial" panose="020B0604020202020204" pitchFamily="34" charset="0"/>
              </a:rPr>
              <a:t>Add Extra Quota.</a:t>
            </a:r>
          </a:p>
          <a:p>
            <a:pPr>
              <a:buFont typeface="+mj-lt"/>
              <a:buAutoNum type="arabicPeriod"/>
            </a:pPr>
            <a:r>
              <a:rPr lang="en-US" sz="2400" dirty="0">
                <a:solidFill>
                  <a:schemeClr val="tx1"/>
                </a:solidFill>
                <a:latin typeface="Arial" panose="020B0604020202020204" pitchFamily="34" charset="0"/>
                <a:cs typeface="Arial" panose="020B0604020202020204" pitchFamily="34" charset="0"/>
              </a:rPr>
              <a:t>Add Static </a:t>
            </a:r>
            <a:r>
              <a:rPr lang="en-US" sz="2400" dirty="0" err="1">
                <a:solidFill>
                  <a:schemeClr val="tx1"/>
                </a:solidFill>
                <a:latin typeface="Arial" panose="020B0604020202020204" pitchFamily="34" charset="0"/>
                <a:cs typeface="Arial" panose="020B0604020202020204" pitchFamily="34" charset="0"/>
              </a:rPr>
              <a:t>Ip</a:t>
            </a:r>
            <a:r>
              <a:rPr lang="en-US" sz="2400" dirty="0">
                <a:solidFill>
                  <a:schemeClr val="tx1"/>
                </a:solidFill>
                <a:latin typeface="Arial" panose="020B0604020202020204" pitchFamily="34" charset="0"/>
                <a:cs typeface="Arial" panose="020B0604020202020204" pitchFamily="34" charset="0"/>
              </a:rPr>
              <a:t>.</a:t>
            </a:r>
          </a:p>
          <a:p>
            <a:pPr>
              <a:buFont typeface="+mj-lt"/>
              <a:buAutoNum type="arabicPeriod"/>
            </a:pPr>
            <a:r>
              <a:rPr lang="en-US" sz="2400" dirty="0">
                <a:solidFill>
                  <a:schemeClr val="tx1"/>
                </a:solidFill>
                <a:latin typeface="Arial" panose="020B0604020202020204" pitchFamily="34" charset="0"/>
                <a:cs typeface="Arial" panose="020B0604020202020204" pitchFamily="34" charset="0"/>
              </a:rPr>
              <a:t>Visit Request.</a:t>
            </a:r>
          </a:p>
          <a:p>
            <a:pPr>
              <a:buFont typeface="+mj-lt"/>
              <a:buAutoNum type="arabicPeriod"/>
            </a:pPr>
            <a:r>
              <a:rPr lang="en-US" sz="2400" dirty="0">
                <a:solidFill>
                  <a:schemeClr val="tx1"/>
                </a:solidFill>
                <a:latin typeface="Arial" panose="020B0604020202020204" pitchFamily="34" charset="0"/>
                <a:cs typeface="Arial" panose="020B0604020202020204" pitchFamily="34" charset="0"/>
              </a:rPr>
              <a:t>Router Monthly Fees.</a:t>
            </a:r>
          </a:p>
          <a:p>
            <a:pPr>
              <a:buFont typeface="+mj-lt"/>
              <a:buAutoNum type="arabicPeriod"/>
            </a:pPr>
            <a:r>
              <a:rPr lang="en-US" sz="2400" dirty="0">
                <a:solidFill>
                  <a:schemeClr val="tx1"/>
                </a:solidFill>
                <a:latin typeface="Arial" panose="020B0604020202020204" pitchFamily="34" charset="0"/>
                <a:cs typeface="Arial" panose="020B0604020202020204" pitchFamily="34" charset="0"/>
              </a:rPr>
              <a:t>Add Items .</a:t>
            </a:r>
          </a:p>
          <a:p>
            <a:pPr marL="0" indent="0" algn="r" rtl="1">
              <a:buNone/>
            </a:pPr>
            <a:r>
              <a:rPr lang="ar-EG" sz="2000" b="1" dirty="0">
                <a:solidFill>
                  <a:schemeClr val="accent1"/>
                </a:solidFill>
                <a:latin typeface="Arial Black" panose="020B0A04020102020204" pitchFamily="34" charset="0"/>
              </a:rPr>
              <a:t>ما هو (</a:t>
            </a:r>
            <a:r>
              <a:rPr lang="en-US" sz="2000" b="1" dirty="0">
                <a:solidFill>
                  <a:schemeClr val="accent1"/>
                </a:solidFill>
                <a:latin typeface="Arial Black" panose="020B0A04020102020204" pitchFamily="34" charset="0"/>
              </a:rPr>
              <a:t>Add Items</a:t>
            </a:r>
            <a:r>
              <a:rPr lang="ar-EG" sz="2000" b="1" dirty="0">
                <a:solidFill>
                  <a:schemeClr val="accent1"/>
                </a:solidFill>
                <a:latin typeface="Arial Black" panose="020B0A04020102020204" pitchFamily="34" charset="0"/>
              </a:rPr>
              <a:t> </a:t>
            </a:r>
            <a:r>
              <a:rPr lang="en-US" sz="2000" b="1" dirty="0">
                <a:solidFill>
                  <a:schemeClr val="accent1"/>
                </a:solidFill>
                <a:latin typeface="Arial Black" panose="020B0A04020102020204" pitchFamily="34" charset="0"/>
              </a:rPr>
              <a:t>(</a:t>
            </a:r>
            <a:r>
              <a:rPr lang="ar-EG" sz="2000" b="1" dirty="0">
                <a:solidFill>
                  <a:schemeClr val="accent1"/>
                </a:solidFill>
                <a:latin typeface="Arial Black" panose="020B0A04020102020204" pitchFamily="34" charset="0"/>
              </a:rPr>
              <a:t>.......؟</a:t>
            </a:r>
            <a:endParaRPr lang="en-US" sz="2000" b="1" dirty="0">
              <a:solidFill>
                <a:schemeClr val="accent1"/>
              </a:solidFill>
              <a:latin typeface="Arial Black" panose="020B0A04020102020204" pitchFamily="34" charset="0"/>
            </a:endParaRPr>
          </a:p>
          <a:p>
            <a:pPr marL="0" indent="0" algn="r" rtl="1">
              <a:buNone/>
            </a:pPr>
            <a:endParaRPr lang="ar-EG" sz="2000" b="1" dirty="0">
              <a:solidFill>
                <a:schemeClr val="accent1"/>
              </a:solidFill>
              <a:latin typeface="Arial Black" panose="020B0A04020102020204" pitchFamily="34" charset="0"/>
            </a:endParaRPr>
          </a:p>
          <a:p>
            <a:pPr marL="0" indent="0" algn="r" rtl="1">
              <a:buNone/>
            </a:pPr>
            <a:r>
              <a:rPr lang="ar-EG" sz="2000" dirty="0">
                <a:solidFill>
                  <a:schemeClr val="tx1"/>
                </a:solidFill>
                <a:latin typeface="Arial Black" panose="020B0A04020102020204" pitchFamily="34" charset="0"/>
              </a:rPr>
              <a:t>بتنقسم الي حالتين تسبب زياده فاتوره العميل وهي </a:t>
            </a:r>
          </a:p>
          <a:p>
            <a:pPr algn="r"/>
            <a:endParaRPr lang="en-US" dirty="0">
              <a:solidFill>
                <a:schemeClr val="accent1"/>
              </a:solidFill>
            </a:endParaRPr>
          </a:p>
          <a:p>
            <a:r>
              <a:rPr lang="en-US" dirty="0">
                <a:solidFill>
                  <a:schemeClr val="tx1"/>
                </a:solidFill>
                <a:latin typeface="Arial" panose="020B0604020202020204" pitchFamily="34" charset="0"/>
                <a:cs typeface="Arial" panose="020B0604020202020204" pitchFamily="34" charset="0"/>
              </a:rPr>
              <a:t>Gab Month.</a:t>
            </a:r>
            <a:endParaRPr lang="ar-EG"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Package Upgrade</a:t>
            </a:r>
            <a:r>
              <a:rPr lang="ar-EG" dirty="0">
                <a:solidFill>
                  <a:schemeClr val="tx1"/>
                </a:solidFill>
                <a:latin typeface="Arial" panose="020B0604020202020204" pitchFamily="34" charset="0"/>
                <a:cs typeface="Arial" panose="020B0604020202020204" pitchFamily="34" charset="0"/>
              </a:rPr>
              <a:t>.</a:t>
            </a:r>
          </a:p>
          <a:p>
            <a:pPr marL="0" indent="0" algn="r">
              <a:buNone/>
            </a:pPr>
            <a:endParaRPr lang="ar-EG" dirty="0">
              <a:solidFill>
                <a:schemeClr val="accent1"/>
              </a:solidFill>
            </a:endParaRPr>
          </a:p>
          <a:p>
            <a:pPr marL="0" indent="0" algn="r">
              <a:buNone/>
            </a:pPr>
            <a:endParaRPr lang="ar-EG" dirty="0">
              <a:solidFill>
                <a:schemeClr val="accent1"/>
              </a:solidFill>
            </a:endParaRPr>
          </a:p>
          <a:p>
            <a:pPr marL="0" indent="0" algn="r">
              <a:buNone/>
            </a:pPr>
            <a:endParaRPr lang="ar-EG" dirty="0">
              <a:solidFill>
                <a:schemeClr val="accent1"/>
              </a:solidFill>
            </a:endParaRPr>
          </a:p>
          <a:p>
            <a:pPr marL="0" indent="0" algn="r">
              <a:buNone/>
            </a:pPr>
            <a:endParaRPr lang="ar-EG" dirty="0">
              <a:solidFill>
                <a:schemeClr val="accent1"/>
              </a:solidFill>
            </a:endParaRPr>
          </a:p>
          <a:p>
            <a:pPr marL="0" indent="0" algn="r">
              <a:buNone/>
            </a:pPr>
            <a:endParaRPr lang="en-US" dirty="0">
              <a:solidFill>
                <a:schemeClr val="accent1"/>
              </a:solidFill>
            </a:endParaRPr>
          </a:p>
        </p:txBody>
      </p:sp>
    </p:spTree>
    <p:extLst>
      <p:ext uri="{BB962C8B-B14F-4D97-AF65-F5344CB8AC3E}">
        <p14:creationId xmlns:p14="http://schemas.microsoft.com/office/powerpoint/2010/main" val="4044985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653954" cy="6858000"/>
          </a:xfrm>
        </p:spPr>
        <p:txBody>
          <a:bodyPr>
            <a:normAutofit/>
          </a:bodyPr>
          <a:lstStyle/>
          <a:p>
            <a:r>
              <a:rPr lang="en-US" sz="2800" dirty="0">
                <a:solidFill>
                  <a:schemeClr val="tx1"/>
                </a:solidFill>
                <a:latin typeface="Arial Black" panose="020B0A04020102020204" pitchFamily="34" charset="0"/>
                <a:cs typeface="Arial" panose="020B0604020202020204" pitchFamily="34" charset="0"/>
              </a:rPr>
              <a:t>Gab Month.</a:t>
            </a:r>
            <a:endParaRPr lang="ar-EG" sz="2800" dirty="0">
              <a:solidFill>
                <a:schemeClr val="tx1"/>
              </a:solidFill>
              <a:latin typeface="Arial Black" panose="020B0A04020102020204" pitchFamily="34" charset="0"/>
              <a:cs typeface="Arial" panose="020B0604020202020204" pitchFamily="34" charset="0"/>
            </a:endParaRPr>
          </a:p>
          <a:p>
            <a:pPr marL="0" indent="0" algn="r">
              <a:buNone/>
            </a:pPr>
            <a:r>
              <a:rPr lang="ar-EG" dirty="0">
                <a:latin typeface="Arial" panose="020B0604020202020204" pitchFamily="34" charset="0"/>
                <a:cs typeface="Arial" panose="020B0604020202020204" pitchFamily="34" charset="0"/>
              </a:rPr>
              <a:t>*ومعناها ان العميل امتنع عن سداد فاتوره شهره الحالي فالخدمه توقفت بعد7 ايام من فتره السماح بمجرد انقطاع يمكن للعميل تشغيل الخدمه يومين سماح اخرين من اصل 5 ايام من بعد ال 7 وعند تخطي العميل هذه المده سيتوقف الخط الي ان يسدد العميل فاتوره الخط حتي لو تخطي شهر او اثنين لا يمكن تشغيل الخط حتي الدفع ,وعندما يقرر العميل الدفع ف اي يوم خلال الشهر الاخر بيكون قد تم تسديد الشهر المتاخر ولكن الخدمه بيتم تفعليها من مده الدفع حتي معاد التجديد القادم (</a:t>
            </a:r>
            <a:r>
              <a:rPr lang="ar-EG" b="1" dirty="0">
                <a:solidFill>
                  <a:schemeClr val="accent1"/>
                </a:solidFill>
                <a:latin typeface="Arial" panose="020B0604020202020204" pitchFamily="34" charset="0"/>
                <a:cs typeface="Arial" panose="020B0604020202020204" pitchFamily="34" charset="0"/>
              </a:rPr>
              <a:t>العميل هنا بيتم محاسبته محاسبه جزئيه</a:t>
            </a:r>
            <a:r>
              <a:rPr lang="ar-EG" dirty="0">
                <a:latin typeface="Arial" panose="020B0604020202020204" pitchFamily="34" charset="0"/>
                <a:cs typeface="Arial" panose="020B0604020202020204" pitchFamily="34" charset="0"/>
              </a:rPr>
              <a:t>) علي وقت تشغيل الخدمه لحد معاد التجديد   </a:t>
            </a:r>
          </a:p>
          <a:p>
            <a:pPr marL="0" indent="0" algn="r">
              <a:buNone/>
            </a:pPr>
            <a:r>
              <a:rPr lang="ar-EG" b="1" dirty="0">
                <a:solidFill>
                  <a:schemeClr val="accent1"/>
                </a:solidFill>
                <a:latin typeface="Arial" panose="020B0604020202020204" pitchFamily="34" charset="0"/>
                <a:cs typeface="Arial" panose="020B0604020202020204" pitchFamily="34" charset="0"/>
              </a:rPr>
              <a:t>مثال:</a:t>
            </a:r>
          </a:p>
          <a:p>
            <a:pPr marL="0" indent="0" algn="r">
              <a:buNone/>
            </a:pPr>
            <a:r>
              <a:rPr lang="ar-EG" dirty="0">
                <a:latin typeface="Arial" panose="020B0604020202020204" pitchFamily="34" charset="0"/>
                <a:cs typeface="Arial" panose="020B0604020202020204" pitchFamily="34" charset="0"/>
              </a:rPr>
              <a:t>عميل عنده فاتورة نزلت علي الخط يوم 1 نوفمبر2025 تم سداد الفاتورة يوم 10 ديسمبر 2025 بالتالي الخدمة تشتغل بصوره طبيعية و لكن فاتورة 1 يناير 2025 مبلغها هيكون عباره عن فاتورة مقدمه + 22 يوم • بحسب اليوم اللي اشتغلت فيه الخدمة + الدورة المحاسبية كاملة.</a:t>
            </a:r>
            <a:endParaRPr lang="en-US" dirty="0">
              <a:latin typeface="Arial" panose="020B0604020202020204" pitchFamily="34" charset="0"/>
              <a:cs typeface="Arial" panose="020B0604020202020204" pitchFamily="34" charset="0"/>
            </a:endParaRPr>
          </a:p>
          <a:p>
            <a:pPr marL="0" indent="0" algn="r">
              <a:buNone/>
            </a:pPr>
            <a:r>
              <a:rPr lang="en-US" b="1" dirty="0">
                <a:solidFill>
                  <a:schemeClr val="accent1"/>
                </a:solidFill>
                <a:latin typeface="Arial" panose="020B0604020202020204" pitchFamily="34" charset="0"/>
                <a:cs typeface="Arial" panose="020B0604020202020204" pitchFamily="34" charset="0"/>
              </a:rPr>
              <a:t>gab month</a:t>
            </a:r>
            <a:r>
              <a:rPr lang="ar-EG" b="1" dirty="0">
                <a:solidFill>
                  <a:schemeClr val="accent1"/>
                </a:solidFill>
                <a:latin typeface="Arial" panose="020B0604020202020204" pitchFamily="34" charset="0"/>
                <a:cs typeface="Arial" panose="020B0604020202020204" pitchFamily="34" charset="0"/>
              </a:rPr>
              <a:t> قانون ال </a:t>
            </a:r>
            <a:r>
              <a:rPr lang="en-US" b="1" dirty="0">
                <a:solidFill>
                  <a:schemeClr val="accent1"/>
                </a:solidFill>
                <a:latin typeface="Arial" panose="020B0604020202020204" pitchFamily="34" charset="0"/>
                <a:cs typeface="Arial" panose="020B0604020202020204" pitchFamily="34" charset="0"/>
              </a:rPr>
              <a:t>  </a:t>
            </a:r>
            <a:endParaRPr lang="ar-EG" b="1" dirty="0">
              <a:solidFill>
                <a:schemeClr val="accent1"/>
              </a:solidFill>
              <a:latin typeface="Arial" panose="020B0604020202020204" pitchFamily="34" charset="0"/>
              <a:cs typeface="Arial" panose="020B0604020202020204" pitchFamily="34" charset="0"/>
            </a:endParaRPr>
          </a:p>
          <a:p>
            <a:pPr marL="0" indent="0" algn="r">
              <a:buNone/>
            </a:pPr>
            <a:r>
              <a:rPr lang="ar-EG" sz="2400" dirty="0">
                <a:solidFill>
                  <a:schemeClr val="accent1">
                    <a:lumMod val="50000"/>
                  </a:schemeClr>
                </a:solidFill>
                <a:latin typeface="Arial" panose="020B0604020202020204" pitchFamily="34" charset="0"/>
                <a:cs typeface="Arial" panose="020B0604020202020204" pitchFamily="34" charset="0"/>
              </a:rPr>
              <a:t>(</a:t>
            </a:r>
            <a:r>
              <a:rPr lang="ar-EG" b="1" dirty="0">
                <a:solidFill>
                  <a:schemeClr val="accent1">
                    <a:lumMod val="50000"/>
                  </a:schemeClr>
                </a:solidFill>
                <a:latin typeface="Arial" panose="020B0604020202020204" pitchFamily="34" charset="0"/>
                <a:cs typeface="Arial" panose="020B0604020202020204" pitchFamily="34" charset="0"/>
              </a:rPr>
              <a:t>سعر الباقه / عدد </a:t>
            </a:r>
            <a:r>
              <a:rPr lang="ar-EG" b="1" dirty="0">
                <a:solidFill>
                  <a:schemeClr val="accent2">
                    <a:lumMod val="50000"/>
                  </a:schemeClr>
                </a:solidFill>
                <a:latin typeface="Arial" panose="020B0604020202020204" pitchFamily="34" charset="0"/>
                <a:cs typeface="Arial" panose="020B0604020202020204" pitchFamily="34" charset="0"/>
              </a:rPr>
              <a:t>ايام الشهر * عدد الايام المستهلكه</a:t>
            </a:r>
            <a:r>
              <a:rPr lang="ar-EG" sz="2400" dirty="0">
                <a:solidFill>
                  <a:schemeClr val="accent1">
                    <a:lumMod val="50000"/>
                  </a:schemeClr>
                </a:solidFill>
                <a:latin typeface="Arial" panose="020B0604020202020204" pitchFamily="34" charset="0"/>
                <a:cs typeface="Arial" panose="020B0604020202020204" pitchFamily="34" charset="0"/>
              </a:rPr>
              <a:t>)</a:t>
            </a:r>
          </a:p>
          <a:p>
            <a:pPr marL="0" indent="0" algn="r">
              <a:buNone/>
            </a:pPr>
            <a:r>
              <a:rPr lang="ar-EG" dirty="0">
                <a:solidFill>
                  <a:schemeClr val="accent2">
                    <a:lumMod val="50000"/>
                  </a:schemeClr>
                </a:solidFill>
                <a:latin typeface="Arial" panose="020B0604020202020204" pitchFamily="34" charset="0"/>
                <a:cs typeface="Arial" panose="020B0604020202020204" pitchFamily="34" charset="0"/>
              </a:rPr>
              <a:t>سعر الباقه: 250 جنيه غير شامله الضريبه</a:t>
            </a:r>
          </a:p>
          <a:p>
            <a:pPr marL="0" indent="0" algn="r">
              <a:buNone/>
            </a:pPr>
            <a:r>
              <a:rPr lang="ar-EG" dirty="0">
                <a:solidFill>
                  <a:schemeClr val="accent2">
                    <a:lumMod val="50000"/>
                  </a:schemeClr>
                </a:solidFill>
                <a:latin typeface="Arial" panose="020B0604020202020204" pitchFamily="34" charset="0"/>
                <a:cs typeface="Arial" panose="020B0604020202020204" pitchFamily="34" charset="0"/>
              </a:rPr>
              <a:t>عدد ايام الشهر :30 يوم </a:t>
            </a:r>
          </a:p>
          <a:p>
            <a:pPr marL="0" indent="0" algn="r">
              <a:buNone/>
            </a:pPr>
            <a:r>
              <a:rPr lang="ar-EG" dirty="0">
                <a:solidFill>
                  <a:schemeClr val="accent2">
                    <a:lumMod val="50000"/>
                  </a:schemeClr>
                </a:solidFill>
                <a:latin typeface="Arial" panose="020B0604020202020204" pitchFamily="34" charset="0"/>
                <a:cs typeface="Arial" panose="020B0604020202020204" pitchFamily="34" charset="0"/>
              </a:rPr>
              <a:t>عدد الايام المستهلكه:22</a:t>
            </a:r>
          </a:p>
          <a:p>
            <a:pPr marL="0" indent="0" algn="r">
              <a:buNone/>
            </a:pPr>
            <a:r>
              <a:rPr lang="ar-EG" dirty="0">
                <a:solidFill>
                  <a:schemeClr val="accent2">
                    <a:lumMod val="50000"/>
                  </a:schemeClr>
                </a:solidFill>
                <a:latin typeface="Arial" panose="020B0604020202020204" pitchFamily="34" charset="0"/>
                <a:cs typeface="Arial" panose="020B0604020202020204" pitchFamily="34" charset="0"/>
              </a:rPr>
              <a:t>250/30=8.3*22=</a:t>
            </a:r>
            <a:r>
              <a:rPr lang="ar-EG" dirty="0">
                <a:solidFill>
                  <a:schemeClr val="accent1">
                    <a:lumMod val="50000"/>
                  </a:schemeClr>
                </a:solidFill>
                <a:latin typeface="Arial" panose="020B0604020202020204" pitchFamily="34" charset="0"/>
                <a:cs typeface="Arial" panose="020B0604020202020204" pitchFamily="34" charset="0"/>
              </a:rPr>
              <a:t>183</a:t>
            </a:r>
          </a:p>
          <a:p>
            <a:pPr marL="0" indent="0" algn="r">
              <a:buNone/>
            </a:pPr>
            <a:r>
              <a:rPr lang="ar-EG" dirty="0">
                <a:solidFill>
                  <a:schemeClr val="tx1"/>
                </a:solidFill>
                <a:latin typeface="Arial" panose="020B0604020202020204" pitchFamily="34" charset="0"/>
                <a:cs typeface="Arial" panose="020B0604020202020204" pitchFamily="34" charset="0"/>
              </a:rPr>
              <a:t>اصبح عدد الايام المستهلكه سعرها 183+ مقدم شهر يناير 250 ج</a:t>
            </a:r>
          </a:p>
          <a:p>
            <a:pPr marL="0" indent="0" algn="r">
              <a:buNone/>
            </a:pPr>
            <a:r>
              <a:rPr lang="ar-EG" dirty="0">
                <a:solidFill>
                  <a:schemeClr val="tx1"/>
                </a:solidFill>
                <a:latin typeface="Arial" panose="020B0604020202020204" pitchFamily="34" charset="0"/>
                <a:cs typeface="Arial" panose="020B0604020202020204" pitchFamily="34" charset="0"/>
              </a:rPr>
              <a:t>اصبح الناتج الفعلي للدفع 250+183=433</a:t>
            </a:r>
          </a:p>
        </p:txBody>
      </p:sp>
    </p:spTree>
    <p:extLst>
      <p:ext uri="{BB962C8B-B14F-4D97-AF65-F5344CB8AC3E}">
        <p14:creationId xmlns:p14="http://schemas.microsoft.com/office/powerpoint/2010/main" val="249934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274002" cy="6857999"/>
          </a:xfrm>
        </p:spPr>
        <p:txBody>
          <a:bodyPr/>
          <a:lstStyle/>
          <a:p>
            <a:r>
              <a:rPr lang="en-US" sz="2800" dirty="0">
                <a:solidFill>
                  <a:schemeClr val="tx1"/>
                </a:solidFill>
                <a:latin typeface="Arial Black" panose="020B0A04020102020204" pitchFamily="34" charset="0"/>
                <a:cs typeface="Arial" panose="020B0604020202020204" pitchFamily="34" charset="0"/>
              </a:rPr>
              <a:t>Package Upgrade</a:t>
            </a:r>
            <a:r>
              <a:rPr lang="ar-EG" sz="2800" dirty="0">
                <a:solidFill>
                  <a:schemeClr val="tx1"/>
                </a:solidFill>
                <a:latin typeface="Arial Black" panose="020B0A04020102020204" pitchFamily="34" charset="0"/>
                <a:cs typeface="Arial" panose="020B0604020202020204" pitchFamily="34" charset="0"/>
              </a:rPr>
              <a:t>.</a:t>
            </a:r>
          </a:p>
          <a:p>
            <a:pPr marL="0" indent="0" algn="r">
              <a:buNone/>
            </a:pPr>
            <a:r>
              <a:rPr lang="ar-EG" dirty="0">
                <a:latin typeface="Arial" panose="020B0604020202020204" pitchFamily="34" charset="0"/>
                <a:cs typeface="Arial" panose="020B0604020202020204" pitchFamily="34" charset="0"/>
              </a:rPr>
              <a:t>وهنا العميل قرر يعلي ( يطلع لباقه اعلي ) الباقه في منتصف الشهرلا معاد التجديد فا في حاله تعليه الباقه لباقه اعلي بيتم تغيرها في نفس الوقت ثم يضاف للعميل فرق جيجات ( معناها فرق بين الباقه الصغيره الي كان عليها والباقه الكبيره الي بقي موجود عليها ) </a:t>
            </a:r>
            <a:r>
              <a:rPr lang="ar-EG" b="1" dirty="0">
                <a:solidFill>
                  <a:schemeClr val="accent1"/>
                </a:solidFill>
                <a:latin typeface="Arial" panose="020B0604020202020204" pitchFamily="34" charset="0"/>
                <a:cs typeface="Arial" panose="020B0604020202020204" pitchFamily="34" charset="0"/>
              </a:rPr>
              <a:t>فا بيتحاسب محاسبه جزئيه علي الجيجات مع اول فاتوره</a:t>
            </a:r>
          </a:p>
          <a:p>
            <a:pPr marL="0" indent="0" algn="r">
              <a:buNone/>
            </a:pPr>
            <a:r>
              <a:rPr lang="ar-EG" b="1" dirty="0">
                <a:solidFill>
                  <a:schemeClr val="accent1"/>
                </a:solidFill>
                <a:latin typeface="Arial" panose="020B0604020202020204" pitchFamily="34" charset="0"/>
                <a:cs typeface="Arial" panose="020B0604020202020204" pitchFamily="34" charset="0"/>
              </a:rPr>
              <a:t>مثال:</a:t>
            </a:r>
          </a:p>
          <a:p>
            <a:pPr marL="0" indent="0" algn="r">
              <a:buNone/>
            </a:pPr>
            <a:r>
              <a:rPr lang="ar-EG" dirty="0">
                <a:solidFill>
                  <a:schemeClr val="tx1"/>
                </a:solidFill>
                <a:latin typeface="Arial" panose="020B0604020202020204" pitchFamily="34" charset="0"/>
                <a:cs typeface="Arial" panose="020B0604020202020204" pitchFamily="34" charset="0"/>
              </a:rPr>
              <a:t>عميل معاد تجديده بتاريخ 1 </a:t>
            </a:r>
            <a:r>
              <a:rPr lang="ar-EG" dirty="0">
                <a:latin typeface="Arial" panose="020B0604020202020204" pitchFamily="34" charset="0"/>
                <a:cs typeface="Arial" panose="020B0604020202020204" pitchFamily="34" charset="0"/>
              </a:rPr>
              <a:t>سبتمبر دفع باقته وقرر يكبر الباقه بتاريخ 10سبتمبر هنا العميل معاد تجديده القادم بتاريخ 1اكتوبر هيكون سعر الباقه الجديده+فرق الجيجات المضافه</a:t>
            </a:r>
            <a:endParaRPr lang="en-US" dirty="0">
              <a:latin typeface="Arial" panose="020B0604020202020204" pitchFamily="34" charset="0"/>
              <a:cs typeface="Arial" panose="020B0604020202020204" pitchFamily="34" charset="0"/>
            </a:endParaRPr>
          </a:p>
          <a:p>
            <a:pPr marL="0" indent="0" algn="r">
              <a:buNone/>
            </a:pPr>
            <a:r>
              <a:rPr lang="en-US" b="1" dirty="0">
                <a:solidFill>
                  <a:schemeClr val="accent1"/>
                </a:solidFill>
                <a:latin typeface="Arial" panose="020B0604020202020204" pitchFamily="34" charset="0"/>
                <a:cs typeface="Arial" panose="020B0604020202020204" pitchFamily="34" charset="0"/>
              </a:rPr>
              <a:t>upgrade</a:t>
            </a:r>
            <a:r>
              <a:rPr lang="ar-EG" b="1" dirty="0">
                <a:solidFill>
                  <a:schemeClr val="accent1"/>
                </a:solidFill>
                <a:latin typeface="Arial" panose="020B0604020202020204" pitchFamily="34" charset="0"/>
                <a:cs typeface="Arial" panose="020B0604020202020204" pitchFamily="34" charset="0"/>
              </a:rPr>
              <a:t> قانون ال </a:t>
            </a:r>
            <a:endParaRPr lang="en-US" b="1" dirty="0">
              <a:solidFill>
                <a:schemeClr val="accent1"/>
              </a:solidFill>
              <a:latin typeface="Arial" panose="020B0604020202020204" pitchFamily="34" charset="0"/>
              <a:cs typeface="Arial" panose="020B0604020202020204" pitchFamily="34" charset="0"/>
            </a:endParaRPr>
          </a:p>
          <a:p>
            <a:pPr marL="0" indent="0" algn="r">
              <a:buNone/>
            </a:pPr>
            <a:r>
              <a:rPr lang="ar-EG" b="1" dirty="0">
                <a:solidFill>
                  <a:schemeClr val="accent2">
                    <a:lumMod val="50000"/>
                  </a:schemeClr>
                </a:solidFill>
                <a:latin typeface="Arial" panose="020B0604020202020204" pitchFamily="34" charset="0"/>
                <a:cs typeface="Arial" panose="020B0604020202020204" pitchFamily="34" charset="0"/>
              </a:rPr>
              <a:t>الباقه الكبيره (جيجات او فلوس )  __ الباقه الصغيره ( جيجات او فلوس ) / عدد ايام الشهر * عدد الايام المستهلكه </a:t>
            </a:r>
          </a:p>
          <a:p>
            <a:pPr marL="0" indent="0" algn="r">
              <a:buNone/>
            </a:pPr>
            <a:r>
              <a:rPr lang="ar-EG" dirty="0">
                <a:solidFill>
                  <a:schemeClr val="accent2">
                    <a:lumMod val="50000"/>
                  </a:schemeClr>
                </a:solidFill>
                <a:latin typeface="Arial" panose="020B0604020202020204" pitchFamily="34" charset="0"/>
                <a:cs typeface="Arial" panose="020B0604020202020204" pitchFamily="34" charset="0"/>
              </a:rPr>
              <a:t>الباقه الصغيره : 290 فلوس بتوفر 200 جيجا</a:t>
            </a:r>
          </a:p>
          <a:p>
            <a:pPr marL="0" indent="0" algn="r">
              <a:buNone/>
            </a:pPr>
            <a:r>
              <a:rPr lang="ar-EG" dirty="0">
                <a:solidFill>
                  <a:schemeClr val="accent2">
                    <a:lumMod val="50000"/>
                  </a:schemeClr>
                </a:solidFill>
                <a:latin typeface="Arial" panose="020B0604020202020204" pitchFamily="34" charset="0"/>
                <a:cs typeface="Arial" panose="020B0604020202020204" pitchFamily="34" charset="0"/>
              </a:rPr>
              <a:t>الباقه الكبيره :360 فلوس بتوفر 250 جيجا </a:t>
            </a:r>
          </a:p>
          <a:p>
            <a:pPr marL="0" indent="0" algn="r">
              <a:buNone/>
            </a:pPr>
            <a:r>
              <a:rPr lang="ar-EG" dirty="0">
                <a:solidFill>
                  <a:schemeClr val="accent2">
                    <a:lumMod val="50000"/>
                  </a:schemeClr>
                </a:solidFill>
                <a:latin typeface="Arial" panose="020B0604020202020204" pitchFamily="34" charset="0"/>
                <a:cs typeface="Arial" panose="020B0604020202020204" pitchFamily="34" charset="0"/>
              </a:rPr>
              <a:t>عدد ايام الشهر :30</a:t>
            </a:r>
          </a:p>
          <a:p>
            <a:pPr marL="0" indent="0" algn="r">
              <a:buNone/>
            </a:pPr>
            <a:r>
              <a:rPr lang="ar-EG" dirty="0">
                <a:solidFill>
                  <a:schemeClr val="accent2">
                    <a:lumMod val="50000"/>
                  </a:schemeClr>
                </a:solidFill>
                <a:latin typeface="Arial" panose="020B0604020202020204" pitchFamily="34" charset="0"/>
                <a:cs typeface="Arial" panose="020B0604020202020204" pitchFamily="34" charset="0"/>
              </a:rPr>
              <a:t>عدد ايام المستهلكه :21</a:t>
            </a:r>
          </a:p>
          <a:p>
            <a:pPr marL="0" indent="0" algn="r">
              <a:buNone/>
            </a:pPr>
            <a:r>
              <a:rPr lang="ar-EG" dirty="0">
                <a:solidFill>
                  <a:schemeClr val="accent2">
                    <a:lumMod val="50000"/>
                  </a:schemeClr>
                </a:solidFill>
                <a:latin typeface="Arial" panose="020B0604020202020204" pitchFamily="34" charset="0"/>
                <a:cs typeface="Arial" panose="020B0604020202020204" pitchFamily="34" charset="0"/>
              </a:rPr>
              <a:t>السعر :360-290=70 / 30 =2.3 *21 =49 ج</a:t>
            </a:r>
          </a:p>
          <a:p>
            <a:pPr marL="0" indent="0" algn="r">
              <a:buNone/>
            </a:pPr>
            <a:r>
              <a:rPr lang="ar-EG" dirty="0">
                <a:solidFill>
                  <a:schemeClr val="accent2">
                    <a:lumMod val="50000"/>
                  </a:schemeClr>
                </a:solidFill>
                <a:latin typeface="Arial" panose="020B0604020202020204" pitchFamily="34" charset="0"/>
                <a:cs typeface="Arial" panose="020B0604020202020204" pitchFamily="34" charset="0"/>
              </a:rPr>
              <a:t>الجيجات: 250-200=50 / 30= 2 *21=42 جيجا </a:t>
            </a:r>
          </a:p>
          <a:p>
            <a:pPr marL="0" indent="0" algn="r">
              <a:buNone/>
            </a:pPr>
            <a:r>
              <a:rPr lang="ar-EG" dirty="0">
                <a:solidFill>
                  <a:schemeClr val="tx1"/>
                </a:solidFill>
                <a:latin typeface="Arial" panose="020B0604020202020204" pitchFamily="34" charset="0"/>
                <a:cs typeface="Arial" panose="020B0604020202020204" pitchFamily="34" charset="0"/>
              </a:rPr>
              <a:t>اصبح عدد الايام المستهلكه سعرها 49 + مقدم الشهر ( الباقه الجديده) 360 =409 ل اول شهر فقط بعد تكبير الباقه </a:t>
            </a:r>
          </a:p>
        </p:txBody>
      </p:sp>
    </p:spTree>
    <p:extLst>
      <p:ext uri="{BB962C8B-B14F-4D97-AF65-F5344CB8AC3E}">
        <p14:creationId xmlns:p14="http://schemas.microsoft.com/office/powerpoint/2010/main" val="722780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8412480" cy="508000"/>
          </a:xfrm>
        </p:spPr>
        <p:txBody>
          <a:bodyPr>
            <a:normAutofit fontScale="90000"/>
          </a:bodyPr>
          <a:lstStyle/>
          <a:p>
            <a:r>
              <a:rPr lang="en-US" dirty="0">
                <a:latin typeface="Arial Black" panose="020B0A04020102020204" pitchFamily="34" charset="0"/>
              </a:rPr>
              <a:t>Agenda</a:t>
            </a:r>
          </a:p>
        </p:txBody>
      </p:sp>
      <p:sp>
        <p:nvSpPr>
          <p:cNvPr id="3" name="Content Placeholder 2"/>
          <p:cNvSpPr>
            <a:spLocks noGrp="1"/>
          </p:cNvSpPr>
          <p:nvPr>
            <p:ph idx="1"/>
          </p:nvPr>
        </p:nvSpPr>
        <p:spPr>
          <a:xfrm>
            <a:off x="0" y="508000"/>
            <a:ext cx="9537772" cy="6349999"/>
          </a:xfrm>
        </p:spPr>
        <p:txBody>
          <a:bodyPr>
            <a:noAutofit/>
          </a:bodyPr>
          <a:lstStyle/>
          <a:p>
            <a:pPr>
              <a:lnSpc>
                <a:spcPct val="150000"/>
              </a:lnSpc>
            </a:pPr>
            <a:r>
              <a:rPr lang="en-US" b="1" dirty="0">
                <a:latin typeface="Arial" panose="020B0604020202020204" pitchFamily="34" charset="0"/>
                <a:cs typeface="Arial" panose="020B0604020202020204" pitchFamily="34" charset="0"/>
              </a:rPr>
              <a:t>ADSL Grace Period &amp;  Promise to Pay</a:t>
            </a:r>
            <a:r>
              <a:rPr lang="ar-EG" dirty="0">
                <a:latin typeface="Arial" panose="020B0604020202020204" pitchFamily="34" charset="0"/>
                <a:cs typeface="Arial" panose="020B0604020202020204" pitchFamily="34" charset="0"/>
              </a:rPr>
              <a:t> </a:t>
            </a:r>
          </a:p>
          <a:p>
            <a:pPr>
              <a:lnSpc>
                <a:spcPct val="150000"/>
              </a:lnSpc>
            </a:pPr>
            <a:r>
              <a:rPr lang="ar-EG"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Bill</a:t>
            </a:r>
            <a:r>
              <a:rPr lang="ar-EG" b="1"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Amount</a:t>
            </a:r>
            <a:endParaRPr lang="ar-EG"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Drop Amount</a:t>
            </a:r>
            <a:endParaRPr lang="ar-EG"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Bill Not Issued On Time</a:t>
            </a:r>
            <a:endParaRPr lang="ar-EG"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Wrong Bill Amount</a:t>
            </a:r>
          </a:p>
          <a:p>
            <a:pPr>
              <a:lnSpc>
                <a:spcPct val="150000"/>
              </a:lnSpc>
            </a:pPr>
            <a:r>
              <a:rPr lang="en-US" b="1" dirty="0">
                <a:latin typeface="Arial" panose="020B0604020202020204" pitchFamily="34" charset="0"/>
                <a:cs typeface="Arial" panose="020B0604020202020204" pitchFamily="34" charset="0"/>
              </a:rPr>
              <a:t>Money Transfer</a:t>
            </a:r>
            <a:endParaRPr lang="ar-EG"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B&amp;C Offer</a:t>
            </a:r>
          </a:p>
          <a:p>
            <a:pPr>
              <a:lnSpc>
                <a:spcPct val="150000"/>
              </a:lnSpc>
            </a:pPr>
            <a:r>
              <a:rPr lang="en-US" b="1" dirty="0">
                <a:latin typeface="Arial" panose="020B0604020202020204" pitchFamily="34" charset="0"/>
                <a:cs typeface="Arial" panose="020B0604020202020204" pitchFamily="34" charset="0"/>
              </a:rPr>
              <a:t>How to Pay</a:t>
            </a:r>
            <a:endParaRPr lang="ar-EG"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Active Payment Dispute</a:t>
            </a:r>
            <a:endParaRPr lang="ar-EG"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Candidate Payment Dispute</a:t>
            </a:r>
          </a:p>
          <a:p>
            <a:pPr>
              <a:lnSpc>
                <a:spcPct val="150000"/>
              </a:lnSpc>
            </a:pPr>
            <a:r>
              <a:rPr lang="en-US" b="1" dirty="0">
                <a:latin typeface="Arial" panose="020B0604020202020204" pitchFamily="34" charset="0"/>
                <a:cs typeface="Arial" panose="020B0604020202020204" pitchFamily="34" charset="0"/>
              </a:rPr>
              <a:t>Quota Consumption Issues</a:t>
            </a:r>
          </a:p>
          <a:p>
            <a:pPr>
              <a:lnSpc>
                <a:spcPct val="150000"/>
              </a:lnSpc>
            </a:pPr>
            <a:r>
              <a:rPr lang="en-US" b="1" dirty="0">
                <a:latin typeface="Arial" panose="020B0604020202020204" pitchFamily="34" charset="0"/>
                <a:cs typeface="Arial" panose="020B0604020202020204" pitchFamily="34" charset="0"/>
              </a:rPr>
              <a:t>DSL Compensation Matrix</a:t>
            </a:r>
            <a:br>
              <a:rPr lang="en-US" sz="1600" dirty="0"/>
            </a:br>
            <a:endParaRPr lang="en-US" sz="1600" b="1" dirty="0"/>
          </a:p>
          <a:p>
            <a:pPr marL="0" indent="0">
              <a:buNone/>
            </a:pPr>
            <a:br>
              <a:rPr lang="en-US" sz="1600" dirty="0"/>
            </a:br>
            <a:br>
              <a:rPr lang="en-US" sz="1600" dirty="0"/>
            </a:br>
            <a:endParaRPr lang="ar-EG" sz="1600" dirty="0"/>
          </a:p>
        </p:txBody>
      </p:sp>
    </p:spTree>
    <p:extLst>
      <p:ext uri="{BB962C8B-B14F-4D97-AF65-F5344CB8AC3E}">
        <p14:creationId xmlns:p14="http://schemas.microsoft.com/office/powerpoint/2010/main" val="4113124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684918" cy="641838"/>
          </a:xfrm>
        </p:spPr>
        <p:txBody>
          <a:bodyPr>
            <a:normAutofit fontScale="90000"/>
          </a:bodyPr>
          <a:lstStyle/>
          <a:p>
            <a:r>
              <a:rPr lang="en-US" b="1" dirty="0">
                <a:solidFill>
                  <a:schemeClr val="tx1"/>
                </a:solidFill>
                <a:latin typeface="Arial Black" panose="020B0A04020102020204" pitchFamily="34" charset="0"/>
              </a:rPr>
              <a:t>ADSL Grace Period &amp;  Promise to Pay</a:t>
            </a:r>
            <a:r>
              <a:rPr lang="ar-EG" dirty="0">
                <a:solidFill>
                  <a:schemeClr val="tx1"/>
                </a:solidFill>
                <a:latin typeface="Arial Black" panose="020B0A04020102020204" pitchFamily="34" charset="0"/>
              </a:rPr>
              <a:t> </a:t>
            </a:r>
            <a:br>
              <a:rPr lang="ar-EG" dirty="0">
                <a:solidFill>
                  <a:schemeClr val="tx1"/>
                </a:solidFill>
              </a:rPr>
            </a:br>
            <a:endParaRPr lang="en-US" dirty="0">
              <a:solidFill>
                <a:schemeClr val="tx1"/>
              </a:solidFill>
            </a:endParaRPr>
          </a:p>
        </p:txBody>
      </p:sp>
      <p:sp>
        <p:nvSpPr>
          <p:cNvPr id="3" name="Content Placeholder 2"/>
          <p:cNvSpPr>
            <a:spLocks noGrp="1"/>
          </p:cNvSpPr>
          <p:nvPr>
            <p:ph idx="1"/>
          </p:nvPr>
        </p:nvSpPr>
        <p:spPr>
          <a:xfrm>
            <a:off x="0" y="580293"/>
            <a:ext cx="9212456" cy="6277707"/>
          </a:xfrm>
        </p:spPr>
        <p:txBody>
          <a:bodyPr/>
          <a:lstStyle/>
          <a:p>
            <a:pPr marL="0" indent="0">
              <a:buNone/>
            </a:pPr>
            <a:r>
              <a:rPr lang="ar-EG" sz="2000" b="1" dirty="0">
                <a:solidFill>
                  <a:schemeClr val="accent1">
                    <a:lumMod val="60000"/>
                    <a:lumOff val="40000"/>
                  </a:schemeClr>
                </a:solidFill>
              </a:rPr>
              <a:t>-1</a:t>
            </a:r>
            <a:r>
              <a:rPr lang="en-US" sz="2000" b="1" dirty="0">
                <a:solidFill>
                  <a:schemeClr val="accent1">
                    <a:lumMod val="60000"/>
                    <a:lumOff val="40000"/>
                  </a:schemeClr>
                </a:solidFill>
              </a:rPr>
              <a:t>Grace Period</a:t>
            </a:r>
            <a:endParaRPr lang="en-US" sz="2000" dirty="0">
              <a:solidFill>
                <a:schemeClr val="accent1">
                  <a:lumMod val="60000"/>
                  <a:lumOff val="40000"/>
                </a:schemeClr>
              </a:solidFill>
            </a:endParaRPr>
          </a:p>
          <a:p>
            <a:pPr marL="0" indent="0">
              <a:buNone/>
            </a:pPr>
            <a:r>
              <a:rPr lang="ar-EG" sz="1600" dirty="0"/>
              <a:t>في حالة ان العميل انقطع عن سداد الفاتورة في المعاد المحدد الخط سيتوقف بعد 7 ايام </a:t>
            </a:r>
          </a:p>
          <a:p>
            <a:pPr marL="0" indent="0">
              <a:buNone/>
            </a:pPr>
            <a:r>
              <a:rPr lang="en-US" sz="1600" dirty="0">
                <a:solidFill>
                  <a:schemeClr val="accent1">
                    <a:lumMod val="60000"/>
                    <a:lumOff val="40000"/>
                  </a:schemeClr>
                </a:solidFill>
              </a:rPr>
              <a:t>Example</a:t>
            </a:r>
            <a:r>
              <a:rPr lang="en-US" sz="1600" dirty="0">
                <a:solidFill>
                  <a:schemeClr val="accent1"/>
                </a:solidFill>
              </a:rPr>
              <a:t>: </a:t>
            </a:r>
            <a:r>
              <a:rPr lang="en-US" sz="1600" dirty="0"/>
              <a:t>In case Bill Issuance date is 1/10, Account will be suspended in 8​/10 in </a:t>
            </a:r>
            <a:r>
              <a:rPr lang="en-US" sz="1600" dirty="0" err="1"/>
              <a:t>cas</a:t>
            </a:r>
            <a:r>
              <a:rPr lang="en-US" sz="1600" dirty="0"/>
              <a:t> of no payment.</a:t>
            </a:r>
            <a:endParaRPr lang="ar-EG" sz="1600" dirty="0"/>
          </a:p>
          <a:p>
            <a:pPr marL="0" indent="0">
              <a:buNone/>
            </a:pPr>
            <a:r>
              <a:rPr lang="ar-EG" sz="2000" b="1" dirty="0">
                <a:solidFill>
                  <a:schemeClr val="accent1">
                    <a:lumMod val="60000"/>
                    <a:lumOff val="40000"/>
                  </a:schemeClr>
                </a:solidFill>
              </a:rPr>
              <a:t>-2</a:t>
            </a:r>
            <a:r>
              <a:rPr lang="en-US" sz="2000" b="1" dirty="0">
                <a:solidFill>
                  <a:schemeClr val="accent1">
                    <a:lumMod val="60000"/>
                    <a:lumOff val="40000"/>
                  </a:schemeClr>
                </a:solidFill>
              </a:rPr>
              <a:t>Promise to Pay</a:t>
            </a:r>
            <a:r>
              <a:rPr lang="ar-EG" sz="2000" b="1" dirty="0">
                <a:solidFill>
                  <a:schemeClr val="accent1">
                    <a:lumMod val="60000"/>
                    <a:lumOff val="40000"/>
                  </a:schemeClr>
                </a:solidFill>
              </a:rPr>
              <a:t> </a:t>
            </a:r>
            <a:endParaRPr lang="en-US" sz="2000" b="1" dirty="0">
              <a:solidFill>
                <a:schemeClr val="accent1">
                  <a:lumMod val="60000"/>
                  <a:lumOff val="40000"/>
                </a:schemeClr>
              </a:solidFill>
            </a:endParaRPr>
          </a:p>
          <a:p>
            <a:pPr marL="0" indent="0">
              <a:buNone/>
            </a:pPr>
            <a:r>
              <a:rPr lang="en-US" sz="1600" dirty="0"/>
              <a:t>Promise to pay rules through Call Center, Click To Chat &amp; Digital Customer Care team&amp; </a:t>
            </a:r>
            <a:r>
              <a:rPr lang="en-US" sz="1600" dirty="0" err="1"/>
              <a:t>Ivr</a:t>
            </a:r>
            <a:r>
              <a:rPr lang="en-US" sz="1600" dirty="0"/>
              <a:t> .</a:t>
            </a:r>
            <a:endParaRPr lang="ar-EG" sz="1600" dirty="0"/>
          </a:p>
          <a:p>
            <a:pPr marL="0" indent="0">
              <a:buNone/>
            </a:pPr>
            <a:r>
              <a:rPr lang="en-US" sz="1600" dirty="0"/>
              <a:t>Activating the service will be for 2 days only.</a:t>
            </a:r>
            <a:endParaRPr lang="ar-EG" sz="1600" dirty="0"/>
          </a:p>
          <a:p>
            <a:pPr marL="0" indent="0">
              <a:buNone/>
            </a:pPr>
            <a:r>
              <a:rPr lang="en-US" sz="1600" dirty="0"/>
              <a:t>In case customer asking in the 5th day from disconnection day, service will be activated for the 5th and 6th days.</a:t>
            </a:r>
            <a:endParaRPr lang="ar-EG" sz="1600" b="1" dirty="0">
              <a:solidFill>
                <a:schemeClr val="accent1">
                  <a:lumMod val="60000"/>
                  <a:lumOff val="40000"/>
                </a:schemeClr>
              </a:solidFill>
            </a:endParaRPr>
          </a:p>
          <a:p>
            <a:pPr marL="0" indent="0">
              <a:buNone/>
            </a:pPr>
            <a:r>
              <a:rPr lang="en-US" sz="1600" dirty="0"/>
              <a:t>Customer should have one opened bill only, unless the old invoice is less than 60 EGP.</a:t>
            </a:r>
          </a:p>
          <a:p>
            <a:pPr marL="0" indent="0">
              <a:buNone/>
            </a:pPr>
            <a:r>
              <a:rPr lang="en-US" sz="1600" dirty="0"/>
              <a:t>Customer can have only one promise to pay per each bill cycle</a:t>
            </a:r>
            <a:endParaRPr lang="ar-EG" sz="1600" b="1" dirty="0">
              <a:solidFill>
                <a:schemeClr val="accent1">
                  <a:lumMod val="60000"/>
                  <a:lumOff val="40000"/>
                </a:schemeClr>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3379450447"/>
              </p:ext>
            </p:extLst>
          </p:nvPr>
        </p:nvGraphicFramePr>
        <p:xfrm>
          <a:off x="0" y="4693919"/>
          <a:ext cx="7792719" cy="2182511"/>
        </p:xfrm>
        <a:graphic>
          <a:graphicData uri="http://schemas.openxmlformats.org/drawingml/2006/table">
            <a:tbl>
              <a:tblPr>
                <a:tableStyleId>{5C22544A-7EE6-4342-B048-85BDC9FD1C3A}</a:tableStyleId>
              </a:tblPr>
              <a:tblGrid>
                <a:gridCol w="840042">
                  <a:extLst>
                    <a:ext uri="{9D8B030D-6E8A-4147-A177-3AD203B41FA5}">
                      <a16:colId xmlns:a16="http://schemas.microsoft.com/office/drawing/2014/main" val="2250992798"/>
                    </a:ext>
                  </a:extLst>
                </a:gridCol>
                <a:gridCol w="2055417">
                  <a:extLst>
                    <a:ext uri="{9D8B030D-6E8A-4147-A177-3AD203B41FA5}">
                      <a16:colId xmlns:a16="http://schemas.microsoft.com/office/drawing/2014/main" val="2582940672"/>
                    </a:ext>
                  </a:extLst>
                </a:gridCol>
                <a:gridCol w="786423">
                  <a:extLst>
                    <a:ext uri="{9D8B030D-6E8A-4147-A177-3AD203B41FA5}">
                      <a16:colId xmlns:a16="http://schemas.microsoft.com/office/drawing/2014/main" val="1454946152"/>
                    </a:ext>
                  </a:extLst>
                </a:gridCol>
                <a:gridCol w="822167">
                  <a:extLst>
                    <a:ext uri="{9D8B030D-6E8A-4147-A177-3AD203B41FA5}">
                      <a16:colId xmlns:a16="http://schemas.microsoft.com/office/drawing/2014/main" val="158971671"/>
                    </a:ext>
                  </a:extLst>
                </a:gridCol>
                <a:gridCol w="3288670">
                  <a:extLst>
                    <a:ext uri="{9D8B030D-6E8A-4147-A177-3AD203B41FA5}">
                      <a16:colId xmlns:a16="http://schemas.microsoft.com/office/drawing/2014/main" val="1255985015"/>
                    </a:ext>
                  </a:extLst>
                </a:gridCol>
              </a:tblGrid>
              <a:tr h="269594">
                <a:tc>
                  <a:txBody>
                    <a:bodyPr/>
                    <a:lstStyle/>
                    <a:p>
                      <a:pPr algn="ctr" fontAlgn="ctr"/>
                      <a:r>
                        <a:rPr lang="en-US" sz="1000" u="none" strike="noStrike" dirty="0">
                          <a:effectLst/>
                          <a:latin typeface="Arial Black" panose="020B0A04020102020204" pitchFamily="34" charset="0"/>
                          <a:cs typeface="Arial" panose="020B0604020202020204" pitchFamily="34" charset="0"/>
                        </a:rPr>
                        <a:t>Short Code</a:t>
                      </a:r>
                      <a:endParaRPr lang="en-US" sz="1000" b="1" i="0" u="none" strike="noStrike" dirty="0">
                        <a:solidFill>
                          <a:srgbClr val="FFFFFF"/>
                        </a:solidFill>
                        <a:effectLst/>
                        <a:latin typeface="Arial Black" panose="020B0A04020102020204" pitchFamily="34" charset="0"/>
                        <a:cs typeface="Arial" panose="020B0604020202020204" pitchFamily="34" charset="0"/>
                      </a:endParaRPr>
                    </a:p>
                  </a:txBody>
                  <a:tcPr marL="7323" marR="7323" marT="7323" marB="0" anchor="ctr">
                    <a:solidFill>
                      <a:schemeClr val="accent1"/>
                    </a:solidFill>
                  </a:tcPr>
                </a:tc>
                <a:tc>
                  <a:txBody>
                    <a:bodyPr/>
                    <a:lstStyle/>
                    <a:p>
                      <a:pPr algn="ctr" fontAlgn="ctr"/>
                      <a:r>
                        <a:rPr lang="en-US" sz="1000" u="none" strike="noStrike" dirty="0">
                          <a:effectLst/>
                          <a:latin typeface="Arial Black" panose="020B0A04020102020204" pitchFamily="34" charset="0"/>
                          <a:cs typeface="Arial" panose="020B0604020202020204" pitchFamily="34" charset="0"/>
                        </a:rPr>
                        <a:t>Type​</a:t>
                      </a:r>
                      <a:endParaRPr lang="en-US" sz="1000" b="1" i="0" u="none" strike="noStrike" dirty="0">
                        <a:solidFill>
                          <a:srgbClr val="FFFFFF"/>
                        </a:solidFill>
                        <a:effectLst/>
                        <a:latin typeface="Arial Black" panose="020B0A04020102020204" pitchFamily="34" charset="0"/>
                        <a:cs typeface="Arial" panose="020B0604020202020204" pitchFamily="34" charset="0"/>
                      </a:endParaRPr>
                    </a:p>
                  </a:txBody>
                  <a:tcPr marL="7323" marR="7323" marT="7323" marB="0" anchor="ctr">
                    <a:solidFill>
                      <a:schemeClr val="accent1"/>
                    </a:solidFill>
                  </a:tcPr>
                </a:tc>
                <a:tc>
                  <a:txBody>
                    <a:bodyPr/>
                    <a:lstStyle/>
                    <a:p>
                      <a:pPr algn="ctr" fontAlgn="ctr"/>
                      <a:r>
                        <a:rPr lang="en-US" sz="1000" u="none" strike="noStrike">
                          <a:effectLst/>
                          <a:latin typeface="Arial Black" panose="020B0A04020102020204" pitchFamily="34" charset="0"/>
                          <a:cs typeface="Arial" panose="020B0604020202020204" pitchFamily="34" charset="0"/>
                        </a:rPr>
                        <a:t>Area</a:t>
                      </a:r>
                      <a:endParaRPr lang="en-US" sz="1000" b="1" i="0" u="none" strike="noStrike">
                        <a:solidFill>
                          <a:srgbClr val="FFFFFF"/>
                        </a:solidFill>
                        <a:effectLst/>
                        <a:latin typeface="Arial Black" panose="020B0A04020102020204" pitchFamily="34" charset="0"/>
                        <a:cs typeface="Arial" panose="020B0604020202020204" pitchFamily="34" charset="0"/>
                      </a:endParaRPr>
                    </a:p>
                  </a:txBody>
                  <a:tcPr marL="7323" marR="7323" marT="7323" marB="0" anchor="ctr">
                    <a:solidFill>
                      <a:schemeClr val="accent1"/>
                    </a:solidFill>
                  </a:tcPr>
                </a:tc>
                <a:tc>
                  <a:txBody>
                    <a:bodyPr/>
                    <a:lstStyle/>
                    <a:p>
                      <a:pPr algn="ctr" fontAlgn="ctr"/>
                      <a:r>
                        <a:rPr lang="en-US" sz="1000" u="none" strike="noStrike">
                          <a:effectLst/>
                          <a:latin typeface="Arial Black" panose="020B0A04020102020204" pitchFamily="34" charset="0"/>
                          <a:cs typeface="Arial" panose="020B0604020202020204" pitchFamily="34" charset="0"/>
                        </a:rPr>
                        <a:t>Product</a:t>
                      </a:r>
                      <a:endParaRPr lang="en-US" sz="1000" b="1" i="0" u="none" strike="noStrike">
                        <a:solidFill>
                          <a:srgbClr val="FFFFFF"/>
                        </a:solidFill>
                        <a:effectLst/>
                        <a:latin typeface="Arial Black" panose="020B0A04020102020204" pitchFamily="34" charset="0"/>
                        <a:cs typeface="Arial" panose="020B0604020202020204" pitchFamily="34" charset="0"/>
                      </a:endParaRPr>
                    </a:p>
                  </a:txBody>
                  <a:tcPr marL="7323" marR="7323" marT="7323" marB="0" anchor="ctr">
                    <a:solidFill>
                      <a:schemeClr val="accent1"/>
                    </a:solidFill>
                  </a:tcPr>
                </a:tc>
                <a:tc>
                  <a:txBody>
                    <a:bodyPr/>
                    <a:lstStyle/>
                    <a:p>
                      <a:pPr algn="ctr" fontAlgn="ctr"/>
                      <a:r>
                        <a:rPr lang="en-US" sz="1000" u="none" strike="noStrike" dirty="0">
                          <a:effectLst/>
                          <a:latin typeface="Arial Black" panose="020B0A04020102020204" pitchFamily="34" charset="0"/>
                          <a:cs typeface="Arial" panose="020B0604020202020204" pitchFamily="34" charset="0"/>
                        </a:rPr>
                        <a:t>Sub Area</a:t>
                      </a:r>
                      <a:endParaRPr lang="en-US" sz="1000" b="1" i="0" u="none" strike="noStrike" dirty="0">
                        <a:solidFill>
                          <a:srgbClr val="FFFFFF"/>
                        </a:solidFill>
                        <a:effectLst/>
                        <a:latin typeface="Arial Black" panose="020B0A04020102020204" pitchFamily="34" charset="0"/>
                        <a:cs typeface="Arial" panose="020B0604020202020204" pitchFamily="34" charset="0"/>
                      </a:endParaRPr>
                    </a:p>
                  </a:txBody>
                  <a:tcPr marL="7323" marR="7323" marT="7323" marB="0" anchor="ctr">
                    <a:solidFill>
                      <a:schemeClr val="accent1"/>
                    </a:solidFill>
                  </a:tcPr>
                </a:tc>
                <a:extLst>
                  <a:ext uri="{0D108BD9-81ED-4DB2-BD59-A6C34878D82A}">
                    <a16:rowId xmlns:a16="http://schemas.microsoft.com/office/drawing/2014/main" val="1601612244"/>
                  </a:ext>
                </a:extLst>
              </a:tr>
              <a:tr h="269594">
                <a:tc rowSpan="4">
                  <a:txBody>
                    <a:bodyPr/>
                    <a:lstStyle/>
                    <a:p>
                      <a:pPr algn="ctr" fontAlgn="ctr"/>
                      <a:r>
                        <a:rPr lang="en-US" sz="1100" u="none" strike="noStrike" dirty="0">
                          <a:effectLst/>
                          <a:latin typeface="Arial" panose="020B0604020202020204" pitchFamily="34" charset="0"/>
                          <a:cs typeface="Arial" panose="020B0604020202020204" pitchFamily="34" charset="0"/>
                        </a:rPr>
                        <a:t>32503</a:t>
                      </a:r>
                      <a:endParaRPr lang="en-US" sz="1100" b="1"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tc rowSpan="4">
                  <a:txBody>
                    <a:bodyPr/>
                    <a:lstStyle/>
                    <a:p>
                      <a:pPr algn="ctr" fontAlgn="ctr"/>
                      <a:r>
                        <a:rPr lang="da-DK" sz="1100" u="none" strike="noStrike" dirty="0">
                          <a:effectLst/>
                          <a:latin typeface="Arial" panose="020B0604020202020204" pitchFamily="34" charset="0"/>
                          <a:cs typeface="Arial" panose="020B0604020202020204" pitchFamily="34" charset="0"/>
                        </a:rPr>
                        <a:t>DSL Acc Mod For Line Status</a:t>
                      </a:r>
                      <a:endParaRPr lang="da-DK" sz="1100" b="0"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tc rowSpan="4">
                  <a:txBody>
                    <a:bodyPr/>
                    <a:lstStyle/>
                    <a:p>
                      <a:pPr algn="ctr" fontAlgn="ctr"/>
                      <a:r>
                        <a:rPr lang="en-US" sz="1100" u="none" strike="noStrike" dirty="0">
                          <a:effectLst/>
                          <a:latin typeface="Arial" panose="020B0604020202020204" pitchFamily="34" charset="0"/>
                          <a:cs typeface="Arial" panose="020B0604020202020204" pitchFamily="34" charset="0"/>
                        </a:rPr>
                        <a:t>Promise To Pay</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tc rowSpan="4">
                  <a:txBody>
                    <a:bodyPr/>
                    <a:lstStyle/>
                    <a:p>
                      <a:pPr algn="ctr" fontAlgn="ctr"/>
                      <a:r>
                        <a:rPr lang="en-US" sz="1100" u="none" strike="noStrike" dirty="0">
                          <a:effectLst/>
                          <a:latin typeface="Arial" panose="020B0604020202020204" pitchFamily="34" charset="0"/>
                          <a:cs typeface="Arial" panose="020B0604020202020204" pitchFamily="34" charset="0"/>
                        </a:rPr>
                        <a:t>ADSL</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tc>
                  <a:txBody>
                    <a:bodyPr/>
                    <a:lstStyle/>
                    <a:p>
                      <a:pPr algn="ctr" fontAlgn="ctr"/>
                      <a:r>
                        <a:rPr lang="en-US" sz="1100" u="none" strike="noStrike">
                          <a:effectLst/>
                          <a:latin typeface="Arial" panose="020B0604020202020204" pitchFamily="34" charset="0"/>
                          <a:cs typeface="Arial" panose="020B0604020202020204" pitchFamily="34" charset="0"/>
                        </a:rPr>
                        <a:t>Done​</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7323" marR="7323" marT="7323" marB="0" anchor="ctr"/>
                </a:tc>
                <a:extLst>
                  <a:ext uri="{0D108BD9-81ED-4DB2-BD59-A6C34878D82A}">
                    <a16:rowId xmlns:a16="http://schemas.microsoft.com/office/drawing/2014/main" val="2208381309"/>
                  </a:ext>
                </a:extLst>
              </a:tr>
              <a:tr h="5334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100" u="none" strike="noStrike" dirty="0">
                          <a:effectLst/>
                          <a:latin typeface="Arial" panose="020B0604020202020204" pitchFamily="34" charset="0"/>
                          <a:cs typeface="Arial" panose="020B0604020202020204" pitchFamily="34" charset="0"/>
                        </a:rPr>
                        <a:t>Done through IVR</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extLst>
                  <a:ext uri="{0D108BD9-81ED-4DB2-BD59-A6C34878D82A}">
                    <a16:rowId xmlns:a16="http://schemas.microsoft.com/office/drawing/2014/main" val="3172098862"/>
                  </a:ext>
                </a:extLst>
              </a:tr>
              <a:tr h="14338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100" u="none" strike="noStrike" dirty="0">
                          <a:effectLst/>
                          <a:latin typeface="Arial" panose="020B0604020202020204" pitchFamily="34" charset="0"/>
                          <a:cs typeface="Arial" panose="020B0604020202020204" pitchFamily="34" charset="0"/>
                        </a:rPr>
                        <a:t>Not Done – Ineligible</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extLst>
                  <a:ext uri="{0D108BD9-81ED-4DB2-BD59-A6C34878D82A}">
                    <a16:rowId xmlns:a16="http://schemas.microsoft.com/office/drawing/2014/main" val="2622426734"/>
                  </a:ext>
                </a:extLst>
              </a:tr>
              <a:tr h="5334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100" u="none" strike="noStrike" dirty="0">
                          <a:effectLst/>
                          <a:latin typeface="Arial" panose="020B0604020202020204" pitchFamily="34" charset="0"/>
                          <a:cs typeface="Arial" panose="020B0604020202020204" pitchFamily="34" charset="0"/>
                        </a:rPr>
                        <a:t>--</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extLst>
                  <a:ext uri="{0D108BD9-81ED-4DB2-BD59-A6C34878D82A}">
                    <a16:rowId xmlns:a16="http://schemas.microsoft.com/office/drawing/2014/main" val="4051661341"/>
                  </a:ext>
                </a:extLst>
              </a:tr>
              <a:tr h="401510">
                <a:tc>
                  <a:txBody>
                    <a:bodyPr/>
                    <a:lstStyle/>
                    <a:p>
                      <a:pPr algn="ctr" fontAlgn="ctr"/>
                      <a:r>
                        <a:rPr lang="en-US" sz="1100" u="none" strike="noStrike">
                          <a:effectLst/>
                          <a:latin typeface="Arial" panose="020B0604020202020204" pitchFamily="34" charset="0"/>
                          <a:cs typeface="Arial" panose="020B0604020202020204" pitchFamily="34" charset="0"/>
                        </a:rPr>
                        <a:t>5040</a:t>
                      </a:r>
                      <a:endParaRPr lang="en-US" sz="1100" b="1" i="0" u="none" strike="noStrike">
                        <a:solidFill>
                          <a:srgbClr val="000000"/>
                        </a:solidFill>
                        <a:effectLst/>
                        <a:latin typeface="Arial" panose="020B0604020202020204" pitchFamily="34" charset="0"/>
                        <a:cs typeface="Arial" panose="020B0604020202020204" pitchFamily="34" charset="0"/>
                      </a:endParaRPr>
                    </a:p>
                  </a:txBody>
                  <a:tcPr marL="7323" marR="7323" marT="7323" marB="0" anchor="ctr"/>
                </a:tc>
                <a:tc>
                  <a:txBody>
                    <a:bodyPr/>
                    <a:lstStyle/>
                    <a:p>
                      <a:pPr algn="ctr" fontAlgn="ctr"/>
                      <a:r>
                        <a:rPr lang="en-US" sz="1100" u="none" strike="noStrike" dirty="0">
                          <a:effectLst/>
                          <a:latin typeface="Arial" panose="020B0604020202020204" pitchFamily="34" charset="0"/>
                          <a:cs typeface="Arial" panose="020B0604020202020204" pitchFamily="34" charset="0"/>
                        </a:rPr>
                        <a:t>DSL Service-</a:t>
                      </a:r>
                      <a:r>
                        <a:rPr lang="en-US" sz="1100" u="none" strike="noStrike" dirty="0" err="1">
                          <a:effectLst/>
                          <a:latin typeface="Arial" panose="020B0604020202020204" pitchFamily="34" charset="0"/>
                          <a:cs typeface="Arial" panose="020B0604020202020204" pitchFamily="34" charset="0"/>
                        </a:rPr>
                        <a:t>Acc</a:t>
                      </a:r>
                      <a:r>
                        <a:rPr lang="en-US" sz="1100" u="none" strike="noStrike" dirty="0">
                          <a:effectLst/>
                          <a:latin typeface="Arial" panose="020B0604020202020204" pitchFamily="34" charset="0"/>
                          <a:cs typeface="Arial" panose="020B0604020202020204" pitchFamily="34" charset="0"/>
                        </a:rPr>
                        <a:t>​Administration</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tc>
                  <a:txBody>
                    <a:bodyPr/>
                    <a:lstStyle/>
                    <a:p>
                      <a:pPr algn="ctr" fontAlgn="ctr"/>
                      <a:r>
                        <a:rPr lang="en-US" sz="1100" u="none" strike="noStrike" dirty="0">
                          <a:effectLst/>
                          <a:latin typeface="Arial" panose="020B0604020202020204" pitchFamily="34" charset="0"/>
                          <a:cs typeface="Arial" panose="020B0604020202020204" pitchFamily="34" charset="0"/>
                        </a:rPr>
                        <a:t>Promise To Pay Via IVR</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tc>
                  <a:txBody>
                    <a:bodyPr/>
                    <a:lstStyle/>
                    <a:p>
                      <a:pPr algn="ctr" fontAlgn="ctr"/>
                      <a:r>
                        <a:rPr lang="en-US" sz="1100" u="none" strike="noStrike" dirty="0">
                          <a:effectLst/>
                          <a:latin typeface="Arial" panose="020B0604020202020204" pitchFamily="34" charset="0"/>
                          <a:cs typeface="Arial" panose="020B0604020202020204" pitchFamily="34" charset="0"/>
                        </a:rPr>
                        <a:t>ADSL</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tc>
                  <a:txBody>
                    <a:bodyPr/>
                    <a:lstStyle/>
                    <a:p>
                      <a:pPr algn="ctr" fontAlgn="ctr"/>
                      <a:r>
                        <a:rPr lang="en-US" sz="1100" u="none" strike="noStrike" dirty="0">
                          <a:effectLst/>
                          <a:latin typeface="Arial" panose="020B0604020202020204" pitchFamily="34" charset="0"/>
                          <a:cs typeface="Arial" panose="020B0604020202020204" pitchFamily="34" charset="0"/>
                        </a:rPr>
                        <a:t>Done, Not Done</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323" marR="7323" marT="7323" marB="0" anchor="ctr"/>
                </a:tc>
                <a:extLst>
                  <a:ext uri="{0D108BD9-81ED-4DB2-BD59-A6C34878D82A}">
                    <a16:rowId xmlns:a16="http://schemas.microsoft.com/office/drawing/2014/main" val="3829347500"/>
                  </a:ext>
                </a:extLst>
              </a:tr>
            </a:tbl>
          </a:graphicData>
        </a:graphic>
      </p:graphicFrame>
    </p:spTree>
    <p:extLst>
      <p:ext uri="{BB962C8B-B14F-4D97-AF65-F5344CB8AC3E}">
        <p14:creationId xmlns:p14="http://schemas.microsoft.com/office/powerpoint/2010/main" val="2161870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153540626"/>
              </p:ext>
            </p:extLst>
          </p:nvPr>
        </p:nvGraphicFramePr>
        <p:xfrm>
          <a:off x="0" y="369332"/>
          <a:ext cx="9469315" cy="1828800"/>
        </p:xfrm>
        <a:graphic>
          <a:graphicData uri="http://schemas.openxmlformats.org/drawingml/2006/table">
            <a:tbl>
              <a:tblPr firstRow="1" bandRow="1">
                <a:tableStyleId>{5C22544A-7EE6-4342-B048-85BDC9FD1C3A}</a:tableStyleId>
              </a:tblPr>
              <a:tblGrid>
                <a:gridCol w="1893863">
                  <a:extLst>
                    <a:ext uri="{9D8B030D-6E8A-4147-A177-3AD203B41FA5}">
                      <a16:colId xmlns:a16="http://schemas.microsoft.com/office/drawing/2014/main" val="3974632439"/>
                    </a:ext>
                  </a:extLst>
                </a:gridCol>
                <a:gridCol w="1893863">
                  <a:extLst>
                    <a:ext uri="{9D8B030D-6E8A-4147-A177-3AD203B41FA5}">
                      <a16:colId xmlns:a16="http://schemas.microsoft.com/office/drawing/2014/main" val="1144783056"/>
                    </a:ext>
                  </a:extLst>
                </a:gridCol>
                <a:gridCol w="1893863">
                  <a:extLst>
                    <a:ext uri="{9D8B030D-6E8A-4147-A177-3AD203B41FA5}">
                      <a16:colId xmlns:a16="http://schemas.microsoft.com/office/drawing/2014/main" val="1768550407"/>
                    </a:ext>
                  </a:extLst>
                </a:gridCol>
                <a:gridCol w="1893863">
                  <a:extLst>
                    <a:ext uri="{9D8B030D-6E8A-4147-A177-3AD203B41FA5}">
                      <a16:colId xmlns:a16="http://schemas.microsoft.com/office/drawing/2014/main" val="917184142"/>
                    </a:ext>
                  </a:extLst>
                </a:gridCol>
                <a:gridCol w="1893863">
                  <a:extLst>
                    <a:ext uri="{9D8B030D-6E8A-4147-A177-3AD203B41FA5}">
                      <a16:colId xmlns:a16="http://schemas.microsoft.com/office/drawing/2014/main" val="1205001985"/>
                    </a:ext>
                  </a:extLst>
                </a:gridCol>
              </a:tblGrid>
              <a:tr h="360485">
                <a:tc>
                  <a:txBody>
                    <a:bodyPr/>
                    <a:lstStyle/>
                    <a:p>
                      <a:pPr algn="ctr"/>
                      <a:r>
                        <a:rPr lang="en-US" sz="1200" b="0" kern="1200" dirty="0">
                          <a:solidFill>
                            <a:schemeClr val="tx1"/>
                          </a:solidFill>
                          <a:effectLst/>
                          <a:latin typeface="Arial Black" panose="020B0A04020102020204" pitchFamily="34" charset="0"/>
                          <a:ea typeface="+mn-ea"/>
                          <a:cs typeface="+mn-cs"/>
                        </a:rPr>
                        <a:t>Short Code</a:t>
                      </a:r>
                    </a:p>
                    <a:p>
                      <a:endParaRPr lang="en-US" sz="1200" b="0" kern="1200" dirty="0">
                        <a:solidFill>
                          <a:schemeClr val="tx1"/>
                        </a:solidFill>
                        <a:effectLst/>
                        <a:latin typeface="Arial Black" panose="020B0A04020102020204" pitchFamily="34" charset="0"/>
                        <a:ea typeface="+mn-ea"/>
                        <a:cs typeface="+mn-cs"/>
                      </a:endParaRPr>
                    </a:p>
                  </a:txBody>
                  <a:tcPr/>
                </a:tc>
                <a:tc>
                  <a:txBody>
                    <a:bodyPr/>
                    <a:lstStyle/>
                    <a:p>
                      <a:pPr algn="ctr"/>
                      <a:r>
                        <a:rPr lang="en-US" sz="1200" b="0" kern="1200" dirty="0">
                          <a:solidFill>
                            <a:schemeClr val="tx1"/>
                          </a:solidFill>
                          <a:effectLst/>
                          <a:latin typeface="Arial Black" panose="020B0A04020102020204" pitchFamily="34" charset="0"/>
                          <a:ea typeface="+mn-ea"/>
                          <a:cs typeface="+mn-cs"/>
                        </a:rPr>
                        <a:t>Type</a:t>
                      </a:r>
                    </a:p>
                    <a:p>
                      <a:endParaRPr lang="en-US" sz="1200" b="0" kern="1200" dirty="0">
                        <a:solidFill>
                          <a:schemeClr val="tx1"/>
                        </a:solidFill>
                        <a:effectLst/>
                        <a:latin typeface="Arial Black" panose="020B0A04020102020204" pitchFamily="34" charset="0"/>
                        <a:ea typeface="+mn-ea"/>
                        <a:cs typeface="+mn-cs"/>
                      </a:endParaRPr>
                    </a:p>
                  </a:txBody>
                  <a:tcPr/>
                </a:tc>
                <a:tc>
                  <a:txBody>
                    <a:bodyPr/>
                    <a:lstStyle/>
                    <a:p>
                      <a:pPr marL="457200" marR="0" lvl="1"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Arial Black" panose="020B0A04020102020204" pitchFamily="34" charset="0"/>
                          <a:ea typeface="+mn-ea"/>
                          <a:cs typeface="+mn-cs"/>
                        </a:rPr>
                        <a:t>Area</a:t>
                      </a:r>
                    </a:p>
                  </a:txBody>
                  <a:tcPr/>
                </a:tc>
                <a:tc>
                  <a:txBody>
                    <a:bodyPr/>
                    <a:lstStyle/>
                    <a:p>
                      <a:pPr algn="ctr"/>
                      <a:r>
                        <a:rPr lang="en-US" sz="1200" b="0" kern="1200" dirty="0">
                          <a:solidFill>
                            <a:schemeClr val="tx1"/>
                          </a:solidFill>
                          <a:effectLst/>
                          <a:latin typeface="Arial Black" panose="020B0A04020102020204" pitchFamily="34" charset="0"/>
                          <a:ea typeface="+mn-ea"/>
                          <a:cs typeface="+mn-cs"/>
                        </a:rPr>
                        <a:t>Sub Area</a:t>
                      </a:r>
                    </a:p>
                    <a:p>
                      <a:pPr marL="0" marR="0" indent="0" algn="ctr" defTabSz="4572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Arial Black" panose="020B0A04020102020204" pitchFamily="34" charset="0"/>
                        <a:ea typeface="+mn-ea"/>
                        <a:cs typeface="+mn-cs"/>
                      </a:endParaRPr>
                    </a:p>
                    <a:p>
                      <a:pPr algn="ctr"/>
                      <a:endParaRPr lang="en-US" sz="1200" b="0" kern="1200" dirty="0">
                        <a:solidFill>
                          <a:schemeClr val="tx1"/>
                        </a:solidFill>
                        <a:effectLst/>
                        <a:latin typeface="Arial Black" panose="020B0A04020102020204" pitchFamily="34" charset="0"/>
                        <a:ea typeface="+mn-ea"/>
                        <a:cs typeface="+mn-cs"/>
                      </a:endParaRPr>
                    </a:p>
                  </a:txBody>
                  <a:tcPr marL="58064" marR="58064" marT="0" marB="0"/>
                </a:tc>
                <a:tc>
                  <a:txBody>
                    <a:bodyPr/>
                    <a:lstStyle/>
                    <a:p>
                      <a:pPr algn="ctr"/>
                      <a:r>
                        <a:rPr lang="en-US" sz="1200" b="0" kern="1200" dirty="0">
                          <a:solidFill>
                            <a:schemeClr val="tx1"/>
                          </a:solidFill>
                          <a:effectLst/>
                          <a:latin typeface="Arial Black" panose="020B0A04020102020204" pitchFamily="34" charset="0"/>
                          <a:ea typeface="+mn-ea"/>
                          <a:cs typeface="+mn-cs"/>
                        </a:rPr>
                        <a:t>Description</a:t>
                      </a:r>
                    </a:p>
                    <a:p>
                      <a:pPr marL="0" marR="0" indent="0" algn="ctr" defTabSz="4572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Arial Black" panose="020B0A04020102020204" pitchFamily="34" charset="0"/>
                        <a:ea typeface="+mn-ea"/>
                        <a:cs typeface="+mn-cs"/>
                      </a:endParaRPr>
                    </a:p>
                    <a:p>
                      <a:pPr algn="ctr"/>
                      <a:endParaRPr lang="en-US" sz="1200" b="0" kern="1200" dirty="0">
                        <a:solidFill>
                          <a:schemeClr val="tx1"/>
                        </a:solidFill>
                        <a:effectLst/>
                        <a:latin typeface="Arial Black" panose="020B0A04020102020204" pitchFamily="34" charset="0"/>
                        <a:ea typeface="+mn-ea"/>
                        <a:cs typeface="+mn-cs"/>
                      </a:endParaRPr>
                    </a:p>
                  </a:txBody>
                  <a:tcPr marL="58064" marR="58064" marT="0" marB="0"/>
                </a:tc>
                <a:extLst>
                  <a:ext uri="{0D108BD9-81ED-4DB2-BD59-A6C34878D82A}">
                    <a16:rowId xmlns:a16="http://schemas.microsoft.com/office/drawing/2014/main" val="3411496795"/>
                  </a:ext>
                </a:extLst>
              </a:tr>
              <a:tr h="126853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0" dirty="0">
                          <a:effectLst/>
                          <a:latin typeface="Helvetica Neue"/>
                        </a:rPr>
                        <a:t>400001</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effectLst/>
                          <a:latin typeface="Helvetica Neue"/>
                        </a:rPr>
                        <a:t> DSL G Info For Billing</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effectLst/>
                          <a:latin typeface="Helvetica Neue"/>
                        </a:rPr>
                        <a:t>         Bill Amount</a:t>
                      </a:r>
                    </a:p>
                  </a:txBody>
                  <a:tcPr anchor="ctr"/>
                </a:tc>
                <a:tc>
                  <a:txBody>
                    <a:bodyPr/>
                    <a:lstStyle/>
                    <a:p>
                      <a:pPr algn="ctr"/>
                      <a:r>
                        <a:rPr lang="en-US" sz="1200" b="0" dirty="0">
                          <a:effectLst/>
                          <a:latin typeface="Helvetica Neue"/>
                        </a:rPr>
                        <a:t>Informed</a:t>
                      </a:r>
                    </a:p>
                    <a:p>
                      <a:pPr marL="0" marR="0" indent="0" algn="ctr" defTabSz="457200" rtl="0" eaLnBrk="1" fontAlgn="auto" latinLnBrk="0" hangingPunct="1">
                        <a:lnSpc>
                          <a:spcPct val="100000"/>
                        </a:lnSpc>
                        <a:spcBef>
                          <a:spcPts val="0"/>
                        </a:spcBef>
                        <a:spcAft>
                          <a:spcPts val="0"/>
                        </a:spcAft>
                        <a:buClrTx/>
                        <a:buSzTx/>
                        <a:buFontTx/>
                        <a:buNone/>
                        <a:tabLst/>
                        <a:defRPr/>
                      </a:pPr>
                      <a:r>
                        <a:rPr lang="en-US" sz="1200" b="0" dirty="0">
                          <a:effectLst/>
                          <a:latin typeface="Helvetica Neue"/>
                        </a:rPr>
                        <a:t>Informed-Bill Not Issued</a:t>
                      </a:r>
                    </a:p>
                    <a:p>
                      <a:pPr marL="0" marR="0" indent="0" algn="ctr" defTabSz="457200" rtl="0" eaLnBrk="1" fontAlgn="auto" latinLnBrk="0" hangingPunct="1">
                        <a:lnSpc>
                          <a:spcPct val="100000"/>
                        </a:lnSpc>
                        <a:spcBef>
                          <a:spcPts val="0"/>
                        </a:spcBef>
                        <a:spcAft>
                          <a:spcPts val="0"/>
                        </a:spcAft>
                        <a:buClrTx/>
                        <a:buSzTx/>
                        <a:buFontTx/>
                        <a:buNone/>
                        <a:tabLst/>
                        <a:defRPr/>
                      </a:pPr>
                      <a:r>
                        <a:rPr lang="en-US" sz="1200" b="0" dirty="0">
                          <a:effectLst/>
                          <a:latin typeface="Helvetica Neue"/>
                        </a:rPr>
                        <a:t>Informed – Payment Amount/Date</a:t>
                      </a:r>
                    </a:p>
                    <a:p>
                      <a:pPr marL="0" marR="0" indent="0" algn="ctr" defTabSz="457200" rtl="0" eaLnBrk="1" fontAlgn="auto" latinLnBrk="0" hangingPunct="1">
                        <a:lnSpc>
                          <a:spcPct val="100000"/>
                        </a:lnSpc>
                        <a:spcBef>
                          <a:spcPts val="0"/>
                        </a:spcBef>
                        <a:spcAft>
                          <a:spcPts val="0"/>
                        </a:spcAft>
                        <a:buClrTx/>
                        <a:buSzTx/>
                        <a:buFontTx/>
                        <a:buNone/>
                        <a:tabLst/>
                        <a:defRPr/>
                      </a:pPr>
                      <a:endParaRPr lang="en-US" sz="1200" b="0" dirty="0">
                        <a:effectLst/>
                        <a:latin typeface="Helvetica Neue"/>
                      </a:endParaRPr>
                    </a:p>
                  </a:txBody>
                  <a:tcPr marL="58064" marR="58064" marT="0" marB="0" anchor="ctr"/>
                </a:tc>
                <a:tc>
                  <a:txBody>
                    <a:bodyPr/>
                    <a:lstStyle/>
                    <a:p>
                      <a:pPr algn="ctr"/>
                      <a:r>
                        <a:rPr lang="en-US" sz="1200" b="0" dirty="0">
                          <a:effectLst/>
                          <a:latin typeface="Helvetica Neue"/>
                        </a:rPr>
                        <a:t>Inquiries about bill amount with no Credit Balance</a:t>
                      </a:r>
                    </a:p>
                    <a:p>
                      <a:pPr marL="0" marR="0" indent="0" algn="ctr" defTabSz="457200" rtl="0" eaLnBrk="1" fontAlgn="auto" latinLnBrk="0" hangingPunct="1">
                        <a:lnSpc>
                          <a:spcPct val="100000"/>
                        </a:lnSpc>
                        <a:spcBef>
                          <a:spcPts val="0"/>
                        </a:spcBef>
                        <a:spcAft>
                          <a:spcPts val="0"/>
                        </a:spcAft>
                        <a:buClrTx/>
                        <a:buSzTx/>
                        <a:buFontTx/>
                        <a:buNone/>
                        <a:tabLst/>
                        <a:defRPr/>
                      </a:pPr>
                      <a:r>
                        <a:rPr lang="en-US" sz="1200" b="0" dirty="0">
                          <a:effectLst/>
                          <a:latin typeface="Helvetica Neue"/>
                        </a:rPr>
                        <a:t>Inquiries regarding the next bill amount</a:t>
                      </a:r>
                    </a:p>
                    <a:p>
                      <a:pPr marL="0" marR="0" indent="0" algn="ctr" defTabSz="457200" rtl="0" eaLnBrk="1" fontAlgn="auto" latinLnBrk="0" hangingPunct="1">
                        <a:lnSpc>
                          <a:spcPct val="100000"/>
                        </a:lnSpc>
                        <a:spcBef>
                          <a:spcPts val="0"/>
                        </a:spcBef>
                        <a:spcAft>
                          <a:spcPts val="0"/>
                        </a:spcAft>
                        <a:buClrTx/>
                        <a:buSzTx/>
                        <a:buFontTx/>
                        <a:buNone/>
                        <a:tabLst/>
                        <a:defRPr/>
                      </a:pPr>
                      <a:r>
                        <a:rPr lang="en-US" sz="1200" b="0" dirty="0">
                          <a:effectLst/>
                          <a:latin typeface="Helvetica Neue"/>
                        </a:rPr>
                        <a:t>Inquiries regarding the bill payment “Amount/Date</a:t>
                      </a:r>
                    </a:p>
                    <a:p>
                      <a:pPr marL="0" marR="0" indent="0" algn="ctr" defTabSz="457200" rtl="0" eaLnBrk="1" fontAlgn="auto" latinLnBrk="0" hangingPunct="1">
                        <a:lnSpc>
                          <a:spcPct val="100000"/>
                        </a:lnSpc>
                        <a:spcBef>
                          <a:spcPts val="0"/>
                        </a:spcBef>
                        <a:spcAft>
                          <a:spcPts val="0"/>
                        </a:spcAft>
                        <a:buClrTx/>
                        <a:buSzTx/>
                        <a:buFontTx/>
                        <a:buNone/>
                        <a:tabLst/>
                        <a:defRPr/>
                      </a:pPr>
                      <a:endParaRPr lang="en-US" sz="1200" b="0" dirty="0">
                        <a:effectLst/>
                        <a:latin typeface="Helvetica Neue"/>
                      </a:endParaRPr>
                    </a:p>
                  </a:txBody>
                  <a:tcPr marL="58064" marR="58064" marT="0" marB="0" anchor="ctr"/>
                </a:tc>
                <a:extLst>
                  <a:ext uri="{0D108BD9-81ED-4DB2-BD59-A6C34878D82A}">
                    <a16:rowId xmlns:a16="http://schemas.microsoft.com/office/drawing/2014/main" val="2660779588"/>
                  </a:ext>
                </a:extLst>
              </a:tr>
            </a:tbl>
          </a:graphicData>
        </a:graphic>
      </p:graphicFrame>
      <p:sp>
        <p:nvSpPr>
          <p:cNvPr id="11" name="Rectangle 10"/>
          <p:cNvSpPr/>
          <p:nvPr/>
        </p:nvSpPr>
        <p:spPr>
          <a:xfrm>
            <a:off x="-86384" y="0"/>
            <a:ext cx="9467776" cy="369332"/>
          </a:xfrm>
          <a:prstGeom prst="rect">
            <a:avLst/>
          </a:prstGeom>
        </p:spPr>
        <p:txBody>
          <a:bodyPr wrap="square">
            <a:spAutoFit/>
          </a:bodyPr>
          <a:lstStyle/>
          <a:p>
            <a:r>
              <a:rPr lang="ar-EG" b="1" dirty="0">
                <a:latin typeface="Arial" panose="020B0604020202020204" pitchFamily="34" charset="0"/>
                <a:cs typeface="Arial" panose="020B0604020202020204" pitchFamily="34" charset="0"/>
              </a:rPr>
              <a:t> في حاله لو العميل سأل علي الفاتوره سواء معاد تجديده او تاريخه او الفتاتوره استحقت ام لا                                      </a:t>
            </a:r>
            <a:endParaRPr lang="en-US" b="1" dirty="0">
              <a:latin typeface="Arial" panose="020B0604020202020204" pitchFamily="34" charset="0"/>
              <a:cs typeface="Arial" panose="020B0604020202020204" pitchFamily="34" charset="0"/>
            </a:endParaRPr>
          </a:p>
        </p:txBody>
      </p:sp>
      <p:sp>
        <p:nvSpPr>
          <p:cNvPr id="12" name="Rectangle 11"/>
          <p:cNvSpPr/>
          <p:nvPr/>
        </p:nvSpPr>
        <p:spPr>
          <a:xfrm>
            <a:off x="54294" y="17748"/>
            <a:ext cx="1679331" cy="369332"/>
          </a:xfrm>
          <a:prstGeom prst="rect">
            <a:avLst/>
          </a:prstGeom>
        </p:spPr>
        <p:txBody>
          <a:bodyPr wrap="square">
            <a:spAutoFit/>
          </a:bodyPr>
          <a:lstStyle/>
          <a:p>
            <a:pPr defTabSz="457200">
              <a:defRPr/>
            </a:pPr>
            <a:r>
              <a:rPr lang="en-US" dirty="0">
                <a:latin typeface="Helvetica Neue"/>
              </a:rPr>
              <a:t>Bill Amount</a:t>
            </a:r>
            <a:r>
              <a:rPr lang="ar-EG" dirty="0">
                <a:latin typeface="Helvetica Neue"/>
              </a:rPr>
              <a:t>:</a:t>
            </a:r>
            <a:endParaRPr lang="en-US" dirty="0">
              <a:latin typeface="Helvetica Neue"/>
            </a:endParaRPr>
          </a:p>
        </p:txBody>
      </p:sp>
      <p:graphicFrame>
        <p:nvGraphicFramePr>
          <p:cNvPr id="14" name="Table 13"/>
          <p:cNvGraphicFramePr>
            <a:graphicFrameLocks noGrp="1"/>
          </p:cNvGraphicFramePr>
          <p:nvPr>
            <p:extLst>
              <p:ext uri="{D42A27DB-BD31-4B8C-83A1-F6EECF244321}">
                <p14:modId xmlns:p14="http://schemas.microsoft.com/office/powerpoint/2010/main" val="1456833045"/>
              </p:ext>
            </p:extLst>
          </p:nvPr>
        </p:nvGraphicFramePr>
        <p:xfrm>
          <a:off x="0" y="2567464"/>
          <a:ext cx="9469315" cy="1916730"/>
        </p:xfrm>
        <a:graphic>
          <a:graphicData uri="http://schemas.openxmlformats.org/drawingml/2006/table">
            <a:tbl>
              <a:tblPr firstRow="1" bandRow="1">
                <a:tableStyleId>{5C22544A-7EE6-4342-B048-85BDC9FD1C3A}</a:tableStyleId>
              </a:tblPr>
              <a:tblGrid>
                <a:gridCol w="1912915">
                  <a:extLst>
                    <a:ext uri="{9D8B030D-6E8A-4147-A177-3AD203B41FA5}">
                      <a16:colId xmlns:a16="http://schemas.microsoft.com/office/drawing/2014/main" val="548008522"/>
                    </a:ext>
                  </a:extLst>
                </a:gridCol>
                <a:gridCol w="1912915">
                  <a:extLst>
                    <a:ext uri="{9D8B030D-6E8A-4147-A177-3AD203B41FA5}">
                      <a16:colId xmlns:a16="http://schemas.microsoft.com/office/drawing/2014/main" val="216594070"/>
                    </a:ext>
                  </a:extLst>
                </a:gridCol>
                <a:gridCol w="1912915">
                  <a:extLst>
                    <a:ext uri="{9D8B030D-6E8A-4147-A177-3AD203B41FA5}">
                      <a16:colId xmlns:a16="http://schemas.microsoft.com/office/drawing/2014/main" val="1930814016"/>
                    </a:ext>
                  </a:extLst>
                </a:gridCol>
                <a:gridCol w="1912915">
                  <a:extLst>
                    <a:ext uri="{9D8B030D-6E8A-4147-A177-3AD203B41FA5}">
                      <a16:colId xmlns:a16="http://schemas.microsoft.com/office/drawing/2014/main" val="1119424812"/>
                    </a:ext>
                  </a:extLst>
                </a:gridCol>
                <a:gridCol w="1817655">
                  <a:extLst>
                    <a:ext uri="{9D8B030D-6E8A-4147-A177-3AD203B41FA5}">
                      <a16:colId xmlns:a16="http://schemas.microsoft.com/office/drawing/2014/main" val="3454945813"/>
                    </a:ext>
                  </a:extLst>
                </a:gridCol>
              </a:tblGrid>
              <a:tr h="552150">
                <a:tc>
                  <a:txBody>
                    <a:bodyPr/>
                    <a:lstStyle/>
                    <a:p>
                      <a:pPr algn="ctr"/>
                      <a:r>
                        <a:rPr lang="en-US" sz="1400" b="0" kern="1200" dirty="0">
                          <a:solidFill>
                            <a:schemeClr val="tx1"/>
                          </a:solidFill>
                          <a:effectLst/>
                          <a:latin typeface="Arial Black" panose="020B0A04020102020204" pitchFamily="34" charset="0"/>
                          <a:ea typeface="+mn-ea"/>
                          <a:cs typeface="+mn-cs"/>
                        </a:rPr>
                        <a:t>Short Code</a:t>
                      </a:r>
                    </a:p>
                    <a:p>
                      <a:endParaRPr lang="en-US" sz="1400" b="0" kern="1200" dirty="0">
                        <a:solidFill>
                          <a:schemeClr val="tx1"/>
                        </a:solidFill>
                        <a:effectLst/>
                        <a:latin typeface="Arial Black" panose="020B0A04020102020204" pitchFamily="34" charset="0"/>
                        <a:ea typeface="+mn-ea"/>
                        <a:cs typeface="+mn-cs"/>
                      </a:endParaRPr>
                    </a:p>
                  </a:txBody>
                  <a:tcPr/>
                </a:tc>
                <a:tc>
                  <a:txBody>
                    <a:bodyPr/>
                    <a:lstStyle/>
                    <a:p>
                      <a:pPr algn="ctr"/>
                      <a:r>
                        <a:rPr lang="en-US" sz="1400" b="0" kern="1200" dirty="0">
                          <a:solidFill>
                            <a:schemeClr val="tx1"/>
                          </a:solidFill>
                          <a:effectLst/>
                          <a:latin typeface="Arial Black" panose="020B0A04020102020204" pitchFamily="34" charset="0"/>
                          <a:ea typeface="+mn-ea"/>
                          <a:cs typeface="+mn-cs"/>
                        </a:rPr>
                        <a:t>Type</a:t>
                      </a:r>
                    </a:p>
                    <a:p>
                      <a:endParaRPr lang="en-US" sz="1400" b="0" kern="1200" dirty="0">
                        <a:solidFill>
                          <a:schemeClr val="tx1"/>
                        </a:solidFill>
                        <a:effectLst/>
                        <a:latin typeface="Arial Black" panose="020B0A04020102020204" pitchFamily="34" charset="0"/>
                        <a:ea typeface="+mn-ea"/>
                        <a:cs typeface="+mn-cs"/>
                      </a:endParaRPr>
                    </a:p>
                  </a:txBody>
                  <a:tcPr/>
                </a:tc>
                <a:tc>
                  <a:txBody>
                    <a:bodyPr/>
                    <a:lstStyle/>
                    <a:p>
                      <a:pPr marL="457200" marR="0" lvl="1" indent="0" algn="l" defTabSz="457200" rtl="0" eaLnBrk="1" fontAlgn="auto" latinLnBrk="0" hangingPunct="1">
                        <a:lnSpc>
                          <a:spcPct val="100000"/>
                        </a:lnSpc>
                        <a:spcBef>
                          <a:spcPts val="0"/>
                        </a:spcBef>
                        <a:spcAft>
                          <a:spcPts val="0"/>
                        </a:spcAft>
                        <a:buClrTx/>
                        <a:buSzTx/>
                        <a:buFontTx/>
                        <a:buNone/>
                        <a:tabLst/>
                        <a:defRPr/>
                      </a:pPr>
                      <a:r>
                        <a:rPr lang="en-US" sz="1400" b="0" kern="1200" dirty="0">
                          <a:solidFill>
                            <a:schemeClr val="tx1"/>
                          </a:solidFill>
                          <a:effectLst/>
                          <a:latin typeface="Arial Black" panose="020B0A04020102020204" pitchFamily="34" charset="0"/>
                          <a:ea typeface="+mn-ea"/>
                          <a:cs typeface="+mn-cs"/>
                        </a:rPr>
                        <a:t>Area</a:t>
                      </a:r>
                    </a:p>
                  </a:txBody>
                  <a:tcPr/>
                </a:tc>
                <a:tc>
                  <a:txBody>
                    <a:bodyPr/>
                    <a:lstStyle/>
                    <a:p>
                      <a:pPr algn="ctr"/>
                      <a:r>
                        <a:rPr lang="en-US" sz="1400" b="0" kern="1200" dirty="0">
                          <a:solidFill>
                            <a:schemeClr val="tx1"/>
                          </a:solidFill>
                          <a:effectLst/>
                          <a:latin typeface="Arial Black" panose="020B0A04020102020204" pitchFamily="34" charset="0"/>
                          <a:ea typeface="+mn-ea"/>
                          <a:cs typeface="+mn-cs"/>
                        </a:rPr>
                        <a:t>Sub Area</a:t>
                      </a:r>
                    </a:p>
                    <a:p>
                      <a:pPr marL="0" marR="0" indent="0" algn="ctr" defTabSz="457200" rtl="0" eaLnBrk="1" fontAlgn="auto" latinLnBrk="0" hangingPunct="1">
                        <a:lnSpc>
                          <a:spcPct val="100000"/>
                        </a:lnSpc>
                        <a:spcBef>
                          <a:spcPts val="0"/>
                        </a:spcBef>
                        <a:spcAft>
                          <a:spcPts val="0"/>
                        </a:spcAft>
                        <a:buClrTx/>
                        <a:buSzTx/>
                        <a:buFontTx/>
                        <a:buNone/>
                        <a:tabLst/>
                        <a:defRPr/>
                      </a:pPr>
                      <a:endParaRPr lang="en-US" sz="1400" b="0" kern="1200" dirty="0">
                        <a:solidFill>
                          <a:schemeClr val="tx1"/>
                        </a:solidFill>
                        <a:effectLst/>
                        <a:latin typeface="Arial Black" panose="020B0A04020102020204" pitchFamily="34" charset="0"/>
                        <a:ea typeface="+mn-ea"/>
                        <a:cs typeface="+mn-cs"/>
                      </a:endParaRPr>
                    </a:p>
                    <a:p>
                      <a:pPr algn="ctr"/>
                      <a:endParaRPr lang="en-US" sz="1400" b="0" kern="1200" dirty="0">
                        <a:solidFill>
                          <a:schemeClr val="tx1"/>
                        </a:solidFill>
                        <a:effectLst/>
                        <a:latin typeface="Arial Black" panose="020B0A04020102020204" pitchFamily="34" charset="0"/>
                        <a:ea typeface="+mn-ea"/>
                        <a:cs typeface="+mn-cs"/>
                      </a:endParaRPr>
                    </a:p>
                  </a:txBody>
                  <a:tcPr marL="58064" marR="58064" marT="0" marB="0"/>
                </a:tc>
                <a:tc>
                  <a:txBody>
                    <a:bodyPr/>
                    <a:lstStyle/>
                    <a:p>
                      <a:pPr algn="ctr"/>
                      <a:r>
                        <a:rPr lang="en-US" sz="1400" b="0" kern="1200" dirty="0">
                          <a:solidFill>
                            <a:schemeClr val="tx1"/>
                          </a:solidFill>
                          <a:effectLst/>
                          <a:latin typeface="Arial Black" panose="020B0A04020102020204" pitchFamily="34" charset="0"/>
                          <a:ea typeface="+mn-ea"/>
                          <a:cs typeface="+mn-cs"/>
                        </a:rPr>
                        <a:t>Description</a:t>
                      </a:r>
                    </a:p>
                    <a:p>
                      <a:pPr marL="0" marR="0" indent="0" algn="ctr" defTabSz="457200" rtl="0" eaLnBrk="1" fontAlgn="auto" latinLnBrk="0" hangingPunct="1">
                        <a:lnSpc>
                          <a:spcPct val="100000"/>
                        </a:lnSpc>
                        <a:spcBef>
                          <a:spcPts val="0"/>
                        </a:spcBef>
                        <a:spcAft>
                          <a:spcPts val="0"/>
                        </a:spcAft>
                        <a:buClrTx/>
                        <a:buSzTx/>
                        <a:buFontTx/>
                        <a:buNone/>
                        <a:tabLst/>
                        <a:defRPr/>
                      </a:pPr>
                      <a:endParaRPr lang="en-US" sz="1400" b="0" kern="1200" dirty="0">
                        <a:solidFill>
                          <a:schemeClr val="tx1"/>
                        </a:solidFill>
                        <a:effectLst/>
                        <a:latin typeface="Arial Black" panose="020B0A04020102020204" pitchFamily="34" charset="0"/>
                        <a:ea typeface="+mn-ea"/>
                        <a:cs typeface="+mn-cs"/>
                      </a:endParaRPr>
                    </a:p>
                    <a:p>
                      <a:pPr algn="ctr"/>
                      <a:endParaRPr lang="en-US" sz="1400" b="0" kern="1200" dirty="0">
                        <a:solidFill>
                          <a:schemeClr val="tx1"/>
                        </a:solidFill>
                        <a:effectLst/>
                        <a:latin typeface="Arial Black" panose="020B0A04020102020204" pitchFamily="34" charset="0"/>
                        <a:ea typeface="+mn-ea"/>
                        <a:cs typeface="+mn-cs"/>
                      </a:endParaRPr>
                    </a:p>
                  </a:txBody>
                  <a:tcPr marL="58064" marR="58064" marT="0" marB="0"/>
                </a:tc>
                <a:extLst>
                  <a:ext uri="{0D108BD9-81ED-4DB2-BD59-A6C34878D82A}">
                    <a16:rowId xmlns:a16="http://schemas.microsoft.com/office/drawing/2014/main" val="4077101957"/>
                  </a:ext>
                </a:extLst>
              </a:tr>
              <a:tr h="1276650">
                <a:tc>
                  <a:txBody>
                    <a:bodyPr/>
                    <a:lstStyle/>
                    <a:p>
                      <a:pPr algn="ctr"/>
                      <a:r>
                        <a:rPr lang="en-US" sz="1200" b="0" dirty="0">
                          <a:effectLst/>
                          <a:latin typeface="Arial" panose="020B0604020202020204" pitchFamily="34" charset="0"/>
                          <a:cs typeface="Arial" panose="020B0604020202020204" pitchFamily="34" charset="0"/>
                        </a:rPr>
                        <a:t>400003</a:t>
                      </a:r>
                    </a:p>
                  </a:txBody>
                  <a:tcPr marL="0" marR="0" marT="0" marB="0" anchor="ctr"/>
                </a:tc>
                <a:tc>
                  <a:txBody>
                    <a:bodyPr/>
                    <a:lstStyle/>
                    <a:p>
                      <a:pPr algn="ctr"/>
                      <a:r>
                        <a:rPr lang="en-US" sz="1200" b="0" dirty="0">
                          <a:effectLst/>
                          <a:latin typeface="Arial" panose="020B0604020202020204" pitchFamily="34" charset="0"/>
                          <a:cs typeface="Arial" panose="020B0604020202020204" pitchFamily="34" charset="0"/>
                        </a:rPr>
                        <a:t>DSL G Info For Billing</a:t>
                      </a:r>
                    </a:p>
                  </a:txBody>
                  <a:tcPr marL="0" marR="0" marT="0" marB="0" anchor="ctr"/>
                </a:tc>
                <a:tc>
                  <a:txBody>
                    <a:bodyPr/>
                    <a:lstStyle/>
                    <a:p>
                      <a:pPr algn="ctr"/>
                      <a:r>
                        <a:rPr lang="en-US" sz="1200" b="0" dirty="0">
                          <a:effectLst/>
                          <a:latin typeface="Arial" panose="020B0604020202020204" pitchFamily="34" charset="0"/>
                          <a:cs typeface="Arial" panose="020B0604020202020204" pitchFamily="34" charset="0"/>
                        </a:rPr>
                        <a:t>Balance Amount</a:t>
                      </a:r>
                    </a:p>
                  </a:txBody>
                  <a:tcPr marL="0" marR="0" marT="0" marB="0"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0" dirty="0">
                          <a:effectLst/>
                          <a:latin typeface="Arial" panose="020B0604020202020204" pitchFamily="34" charset="0"/>
                          <a:cs typeface="Arial" panose="020B0604020202020204" pitchFamily="34" charset="0"/>
                        </a:rPr>
                        <a:t>Informed</a:t>
                      </a:r>
                    </a:p>
                    <a:p>
                      <a:pPr algn="ctr"/>
                      <a:endParaRPr lang="en-US" sz="1200" b="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1200" b="0" i="0" kern="1200" dirty="0">
                          <a:solidFill>
                            <a:schemeClr val="dk1"/>
                          </a:solidFill>
                          <a:effectLst/>
                          <a:latin typeface="Arial" panose="020B0604020202020204" pitchFamily="34" charset="0"/>
                          <a:ea typeface="+mn-ea"/>
                          <a:cs typeface="Arial" panose="020B0604020202020204" pitchFamily="34" charset="0"/>
                        </a:rPr>
                        <a:t>Inquiries about bill amount and customer has Credit Balance</a:t>
                      </a:r>
                      <a:endParaRPr lang="en-US" sz="1200" b="0" dirty="0">
                        <a:effectLst/>
                        <a:latin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22462266"/>
                  </a:ext>
                </a:extLst>
              </a:tr>
            </a:tbl>
          </a:graphicData>
        </a:graphic>
      </p:graphicFrame>
      <p:sp>
        <p:nvSpPr>
          <p:cNvPr id="15" name="Rectangle 14"/>
          <p:cNvSpPr/>
          <p:nvPr/>
        </p:nvSpPr>
        <p:spPr>
          <a:xfrm>
            <a:off x="0" y="2198133"/>
            <a:ext cx="1881555" cy="369332"/>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Balance Amount</a:t>
            </a:r>
          </a:p>
        </p:txBody>
      </p:sp>
      <p:sp>
        <p:nvSpPr>
          <p:cNvPr id="17" name="Rectangle 16"/>
          <p:cNvSpPr/>
          <p:nvPr/>
        </p:nvSpPr>
        <p:spPr>
          <a:xfrm>
            <a:off x="98256" y="2207006"/>
            <a:ext cx="9467776" cy="369332"/>
          </a:xfrm>
          <a:prstGeom prst="rect">
            <a:avLst/>
          </a:prstGeom>
        </p:spPr>
        <p:txBody>
          <a:bodyPr wrap="square">
            <a:spAutoFit/>
          </a:bodyPr>
          <a:lstStyle/>
          <a:p>
            <a:pPr algn="r"/>
            <a:r>
              <a:rPr lang="ar-EG" b="1" dirty="0">
                <a:latin typeface="Arial" panose="020B0604020202020204" pitchFamily="34" charset="0"/>
                <a:cs typeface="Arial" panose="020B0604020202020204" pitchFamily="34" charset="0"/>
              </a:rPr>
              <a:t> في حاله لو العميل سأل علي الرصيد المتبقي في حسابه.                                     </a:t>
            </a:r>
            <a:endParaRPr lang="en-US" b="1" dirty="0">
              <a:latin typeface="Arial" panose="020B0604020202020204" pitchFamily="34" charset="0"/>
              <a:cs typeface="Arial" panose="020B0604020202020204" pitchFamily="34" charset="0"/>
            </a:endParaRPr>
          </a:p>
        </p:txBody>
      </p:sp>
      <p:graphicFrame>
        <p:nvGraphicFramePr>
          <p:cNvPr id="18" name="Table 17"/>
          <p:cNvGraphicFramePr>
            <a:graphicFrameLocks noGrp="1"/>
          </p:cNvGraphicFramePr>
          <p:nvPr>
            <p:extLst>
              <p:ext uri="{D42A27DB-BD31-4B8C-83A1-F6EECF244321}">
                <p14:modId xmlns:p14="http://schemas.microsoft.com/office/powerpoint/2010/main" val="3024154645"/>
              </p:ext>
            </p:extLst>
          </p:nvPr>
        </p:nvGraphicFramePr>
        <p:xfrm>
          <a:off x="0" y="4950069"/>
          <a:ext cx="9469315" cy="1828800"/>
        </p:xfrm>
        <a:graphic>
          <a:graphicData uri="http://schemas.openxmlformats.org/drawingml/2006/table">
            <a:tbl>
              <a:tblPr firstRow="1" bandRow="1">
                <a:tableStyleId>{5C22544A-7EE6-4342-B048-85BDC9FD1C3A}</a:tableStyleId>
              </a:tblPr>
              <a:tblGrid>
                <a:gridCol w="1912915">
                  <a:extLst>
                    <a:ext uri="{9D8B030D-6E8A-4147-A177-3AD203B41FA5}">
                      <a16:colId xmlns:a16="http://schemas.microsoft.com/office/drawing/2014/main" val="548008522"/>
                    </a:ext>
                  </a:extLst>
                </a:gridCol>
                <a:gridCol w="1912915">
                  <a:extLst>
                    <a:ext uri="{9D8B030D-6E8A-4147-A177-3AD203B41FA5}">
                      <a16:colId xmlns:a16="http://schemas.microsoft.com/office/drawing/2014/main" val="216594070"/>
                    </a:ext>
                  </a:extLst>
                </a:gridCol>
                <a:gridCol w="1912915">
                  <a:extLst>
                    <a:ext uri="{9D8B030D-6E8A-4147-A177-3AD203B41FA5}">
                      <a16:colId xmlns:a16="http://schemas.microsoft.com/office/drawing/2014/main" val="1930814016"/>
                    </a:ext>
                  </a:extLst>
                </a:gridCol>
                <a:gridCol w="1912915">
                  <a:extLst>
                    <a:ext uri="{9D8B030D-6E8A-4147-A177-3AD203B41FA5}">
                      <a16:colId xmlns:a16="http://schemas.microsoft.com/office/drawing/2014/main" val="1119424812"/>
                    </a:ext>
                  </a:extLst>
                </a:gridCol>
                <a:gridCol w="1817655">
                  <a:extLst>
                    <a:ext uri="{9D8B030D-6E8A-4147-A177-3AD203B41FA5}">
                      <a16:colId xmlns:a16="http://schemas.microsoft.com/office/drawing/2014/main" val="3454945813"/>
                    </a:ext>
                  </a:extLst>
                </a:gridCol>
              </a:tblGrid>
              <a:tr h="552150">
                <a:tc>
                  <a:txBody>
                    <a:bodyPr/>
                    <a:lstStyle/>
                    <a:p>
                      <a:pPr algn="ctr"/>
                      <a:r>
                        <a:rPr lang="en-US" sz="1200" b="0" kern="1200" dirty="0">
                          <a:solidFill>
                            <a:schemeClr val="tx1"/>
                          </a:solidFill>
                          <a:effectLst/>
                          <a:latin typeface="Arial Black" panose="020B0A04020102020204" pitchFamily="34" charset="0"/>
                          <a:ea typeface="+mn-ea"/>
                          <a:cs typeface="+mn-cs"/>
                        </a:rPr>
                        <a:t>Short Code</a:t>
                      </a:r>
                    </a:p>
                    <a:p>
                      <a:endParaRPr lang="en-US" sz="1200" b="0" kern="1200" dirty="0">
                        <a:solidFill>
                          <a:schemeClr val="tx1"/>
                        </a:solidFill>
                        <a:effectLst/>
                        <a:latin typeface="Arial Black" panose="020B0A04020102020204" pitchFamily="34" charset="0"/>
                        <a:ea typeface="+mn-ea"/>
                        <a:cs typeface="+mn-cs"/>
                      </a:endParaRPr>
                    </a:p>
                  </a:txBody>
                  <a:tcPr/>
                </a:tc>
                <a:tc>
                  <a:txBody>
                    <a:bodyPr/>
                    <a:lstStyle/>
                    <a:p>
                      <a:pPr algn="ctr"/>
                      <a:r>
                        <a:rPr lang="en-US" sz="1200" b="0" kern="1200" dirty="0">
                          <a:solidFill>
                            <a:schemeClr val="tx1"/>
                          </a:solidFill>
                          <a:effectLst/>
                          <a:latin typeface="Arial Black" panose="020B0A04020102020204" pitchFamily="34" charset="0"/>
                          <a:ea typeface="+mn-ea"/>
                          <a:cs typeface="+mn-cs"/>
                        </a:rPr>
                        <a:t>Type</a:t>
                      </a:r>
                    </a:p>
                    <a:p>
                      <a:endParaRPr lang="en-US" sz="1200" b="0" kern="1200" dirty="0">
                        <a:solidFill>
                          <a:schemeClr val="tx1"/>
                        </a:solidFill>
                        <a:effectLst/>
                        <a:latin typeface="Arial Black" panose="020B0A04020102020204" pitchFamily="34" charset="0"/>
                        <a:ea typeface="+mn-ea"/>
                        <a:cs typeface="+mn-cs"/>
                      </a:endParaRPr>
                    </a:p>
                  </a:txBody>
                  <a:tcPr/>
                </a:tc>
                <a:tc>
                  <a:txBody>
                    <a:bodyPr/>
                    <a:lstStyle/>
                    <a:p>
                      <a:pPr marL="457200" marR="0" lvl="1"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Arial Black" panose="020B0A04020102020204" pitchFamily="34" charset="0"/>
                          <a:ea typeface="+mn-ea"/>
                          <a:cs typeface="+mn-cs"/>
                        </a:rPr>
                        <a:t>Area</a:t>
                      </a:r>
                    </a:p>
                  </a:txBody>
                  <a:tcPr/>
                </a:tc>
                <a:tc>
                  <a:txBody>
                    <a:bodyPr/>
                    <a:lstStyle/>
                    <a:p>
                      <a:pPr algn="ctr"/>
                      <a:r>
                        <a:rPr lang="en-US" sz="1200" b="0" kern="1200" dirty="0">
                          <a:solidFill>
                            <a:schemeClr val="tx1"/>
                          </a:solidFill>
                          <a:effectLst/>
                          <a:latin typeface="Arial Black" panose="020B0A04020102020204" pitchFamily="34" charset="0"/>
                          <a:ea typeface="+mn-ea"/>
                          <a:cs typeface="+mn-cs"/>
                        </a:rPr>
                        <a:t>Sub Area</a:t>
                      </a:r>
                    </a:p>
                    <a:p>
                      <a:pPr marL="0" marR="0" indent="0" algn="ctr" defTabSz="4572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Arial Black" panose="020B0A04020102020204" pitchFamily="34" charset="0"/>
                        <a:ea typeface="+mn-ea"/>
                        <a:cs typeface="+mn-cs"/>
                      </a:endParaRPr>
                    </a:p>
                    <a:p>
                      <a:pPr algn="ctr"/>
                      <a:endParaRPr lang="en-US" sz="1200" b="0" kern="1200" dirty="0">
                        <a:solidFill>
                          <a:schemeClr val="tx1"/>
                        </a:solidFill>
                        <a:effectLst/>
                        <a:latin typeface="Arial Black" panose="020B0A04020102020204" pitchFamily="34" charset="0"/>
                        <a:ea typeface="+mn-ea"/>
                        <a:cs typeface="+mn-cs"/>
                      </a:endParaRPr>
                    </a:p>
                  </a:txBody>
                  <a:tcPr marL="58064" marR="58064" marT="0" marB="0"/>
                </a:tc>
                <a:tc>
                  <a:txBody>
                    <a:bodyPr/>
                    <a:lstStyle/>
                    <a:p>
                      <a:pPr algn="ctr"/>
                      <a:r>
                        <a:rPr lang="en-US" sz="1200" b="0" kern="1200" dirty="0">
                          <a:solidFill>
                            <a:schemeClr val="tx1"/>
                          </a:solidFill>
                          <a:effectLst/>
                          <a:latin typeface="Arial Black" panose="020B0A04020102020204" pitchFamily="34" charset="0"/>
                          <a:ea typeface="+mn-ea"/>
                          <a:cs typeface="+mn-cs"/>
                        </a:rPr>
                        <a:t>Description</a:t>
                      </a:r>
                    </a:p>
                    <a:p>
                      <a:pPr marL="0" marR="0" indent="0" algn="ctr" defTabSz="4572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Arial Black" panose="020B0A04020102020204" pitchFamily="34" charset="0"/>
                        <a:ea typeface="+mn-ea"/>
                        <a:cs typeface="+mn-cs"/>
                      </a:endParaRPr>
                    </a:p>
                    <a:p>
                      <a:pPr algn="ctr"/>
                      <a:endParaRPr lang="en-US" sz="1200" b="0" kern="1200" dirty="0">
                        <a:solidFill>
                          <a:schemeClr val="tx1"/>
                        </a:solidFill>
                        <a:effectLst/>
                        <a:latin typeface="Arial Black" panose="020B0A04020102020204" pitchFamily="34" charset="0"/>
                        <a:ea typeface="+mn-ea"/>
                        <a:cs typeface="+mn-cs"/>
                      </a:endParaRPr>
                    </a:p>
                  </a:txBody>
                  <a:tcPr marL="58064" marR="58064" marT="0" marB="0"/>
                </a:tc>
                <a:extLst>
                  <a:ext uri="{0D108BD9-81ED-4DB2-BD59-A6C34878D82A}">
                    <a16:rowId xmlns:a16="http://schemas.microsoft.com/office/drawing/2014/main" val="4077101957"/>
                  </a:ext>
                </a:extLst>
              </a:tr>
              <a:tr h="1276650">
                <a:tc>
                  <a:txBody>
                    <a:bodyPr/>
                    <a:lstStyle/>
                    <a:p>
                      <a:pPr algn="ctr"/>
                      <a:r>
                        <a:rPr lang="en-US" sz="1200" b="0" i="0" kern="1200" dirty="0">
                          <a:solidFill>
                            <a:schemeClr val="dk1"/>
                          </a:solidFill>
                          <a:effectLst/>
                          <a:latin typeface="Arial" panose="020B0604020202020204" pitchFamily="34" charset="0"/>
                          <a:ea typeface="+mn-ea"/>
                          <a:cs typeface="Arial" panose="020B0604020202020204" pitchFamily="34" charset="0"/>
                        </a:rPr>
                        <a:t>412001</a:t>
                      </a:r>
                      <a:endParaRPr lang="en-US" sz="1200" b="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1200" b="0" dirty="0">
                          <a:effectLst/>
                          <a:latin typeface="Arial" panose="020B0604020202020204" pitchFamily="34" charset="0"/>
                          <a:cs typeface="Arial" panose="020B0604020202020204" pitchFamily="34" charset="0"/>
                        </a:rPr>
                        <a:t>DSL G Info For Line Status</a:t>
                      </a:r>
                    </a:p>
                  </a:txBody>
                  <a:tcPr marL="0" marR="0" marT="0" marB="0" anchor="ctr"/>
                </a:tc>
                <a:tc>
                  <a:txBody>
                    <a:bodyPr/>
                    <a:lstStyle/>
                    <a:p>
                      <a:pPr algn="ctr"/>
                      <a:r>
                        <a:rPr lang="en-US" sz="1200" b="0" dirty="0">
                          <a:effectLst/>
                          <a:latin typeface="Arial" panose="020B0604020202020204" pitchFamily="34" charset="0"/>
                          <a:cs typeface="Arial" panose="020B0604020202020204" pitchFamily="34" charset="0"/>
                        </a:rPr>
                        <a:t>Claims Paid</a:t>
                      </a:r>
                    </a:p>
                  </a:txBody>
                  <a:tcPr marL="0" marR="0" marT="0" marB="0"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0" dirty="0">
                          <a:effectLst/>
                          <a:latin typeface="Arial" panose="020B0604020202020204" pitchFamily="34" charset="0"/>
                          <a:cs typeface="Arial" panose="020B0604020202020204" pitchFamily="34" charset="0"/>
                        </a:rPr>
                        <a:t>Informed</a:t>
                      </a:r>
                    </a:p>
                    <a:p>
                      <a:pPr algn="ctr"/>
                      <a:endParaRPr lang="en-US" sz="1200" b="0" dirty="0">
                        <a:effectLst/>
                        <a:latin typeface="Arial" panose="020B0604020202020204" pitchFamily="34" charset="0"/>
                        <a:cs typeface="Arial" panose="020B0604020202020204" pitchFamily="34" charset="0"/>
                      </a:endParaRPr>
                    </a:p>
                  </a:txBody>
                  <a:tcPr marL="0" marR="0" marT="0" marB="0" anchor="ctr"/>
                </a:tc>
                <a:tc>
                  <a:txBody>
                    <a:bodyPr/>
                    <a:lstStyle/>
                    <a:p>
                      <a:pPr algn="ctr"/>
                      <a:r>
                        <a:rPr lang="en-US" sz="1200" b="0" i="0" kern="1200" dirty="0">
                          <a:solidFill>
                            <a:schemeClr val="dk1"/>
                          </a:solidFill>
                          <a:effectLst/>
                          <a:latin typeface="Arial" panose="020B0604020202020204" pitchFamily="34" charset="0"/>
                          <a:ea typeface="+mn-ea"/>
                          <a:cs typeface="Arial" panose="020B0604020202020204" pitchFamily="34" charset="0"/>
                        </a:rPr>
                        <a:t>Inquiries if the bill is </a:t>
                      </a:r>
                      <a:r>
                        <a:rPr lang="en-US" sz="1200" b="0" i="0" kern="1200" dirty="0" err="1">
                          <a:solidFill>
                            <a:schemeClr val="dk1"/>
                          </a:solidFill>
                          <a:effectLst/>
                          <a:latin typeface="Arial" panose="020B0604020202020204" pitchFamily="34" charset="0"/>
                          <a:ea typeface="+mn-ea"/>
                          <a:cs typeface="Arial" panose="020B0604020202020204" pitchFamily="34" charset="0"/>
                        </a:rPr>
                        <a:t>pai</a:t>
                      </a:r>
                      <a:r>
                        <a:rPr lang="en-US" sz="1200" b="0" i="0" kern="1200" dirty="0">
                          <a:solidFill>
                            <a:schemeClr val="dk1"/>
                          </a:solidFill>
                          <a:effectLst/>
                          <a:latin typeface="Arial" panose="020B0604020202020204" pitchFamily="34" charset="0"/>
                          <a:ea typeface="+mn-ea"/>
                          <a:cs typeface="Arial" panose="020B0604020202020204" pitchFamily="34" charset="0"/>
                        </a:rPr>
                        <a:t>​d or not or the payment is reflected or not</a:t>
                      </a:r>
                      <a:endParaRPr lang="en-US" sz="1200" b="0" dirty="0">
                        <a:effectLst/>
                        <a:latin typeface="Arial" panose="020B06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22462266"/>
                  </a:ext>
                </a:extLst>
              </a:tr>
            </a:tbl>
          </a:graphicData>
        </a:graphic>
      </p:graphicFrame>
      <p:sp>
        <p:nvSpPr>
          <p:cNvPr id="19" name="Rectangle 18"/>
          <p:cNvSpPr/>
          <p:nvPr/>
        </p:nvSpPr>
        <p:spPr>
          <a:xfrm>
            <a:off x="2136531" y="4488500"/>
            <a:ext cx="7332784" cy="369332"/>
          </a:xfrm>
          <a:prstGeom prst="rect">
            <a:avLst/>
          </a:prstGeom>
        </p:spPr>
        <p:txBody>
          <a:bodyPr wrap="square">
            <a:spAutoFit/>
          </a:bodyPr>
          <a:lstStyle/>
          <a:p>
            <a:pPr algn="r"/>
            <a:r>
              <a:rPr lang="ar-EG" b="1" dirty="0">
                <a:latin typeface="Arial" panose="020B0604020202020204" pitchFamily="34" charset="0"/>
                <a:cs typeface="Arial" panose="020B0604020202020204" pitchFamily="34" charset="0"/>
              </a:rPr>
              <a:t>في الاستفسارات حول ما إذا تم دفع الفاتورة أم لا</a:t>
            </a:r>
            <a:endParaRPr lang="en-US" b="1" dirty="0">
              <a:latin typeface="Arial" panose="020B0604020202020204" pitchFamily="34" charset="0"/>
              <a:cs typeface="Arial" panose="020B0604020202020204" pitchFamily="34" charset="0"/>
            </a:endParaRPr>
          </a:p>
        </p:txBody>
      </p:sp>
      <p:sp>
        <p:nvSpPr>
          <p:cNvPr id="20" name="Rectangle 19"/>
          <p:cNvSpPr/>
          <p:nvPr/>
        </p:nvSpPr>
        <p:spPr>
          <a:xfrm>
            <a:off x="98256" y="4475320"/>
            <a:ext cx="1541969" cy="369332"/>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Claims Paid</a:t>
            </a:r>
          </a:p>
        </p:txBody>
      </p:sp>
    </p:spTree>
    <p:extLst>
      <p:ext uri="{BB962C8B-B14F-4D97-AF65-F5344CB8AC3E}">
        <p14:creationId xmlns:p14="http://schemas.microsoft.com/office/powerpoint/2010/main" val="989016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615462"/>
          </a:xfrm>
        </p:spPr>
        <p:txBody>
          <a:bodyPr>
            <a:normAutofit fontScale="90000"/>
          </a:bodyPr>
          <a:lstStyle/>
          <a:p>
            <a:r>
              <a:rPr lang="en-US" b="1" dirty="0">
                <a:solidFill>
                  <a:schemeClr val="tx1"/>
                </a:solidFill>
                <a:latin typeface="Arial Black" panose="020B0A04020102020204" pitchFamily="34" charset="0"/>
                <a:cs typeface="Arial" panose="020B0604020202020204" pitchFamily="34" charset="0"/>
              </a:rPr>
              <a:t>Drop Amount</a:t>
            </a:r>
            <a:br>
              <a:rPr lang="ar-EG" b="1" dirty="0">
                <a:solidFill>
                  <a:schemeClr val="tx1"/>
                </a:solidFill>
                <a:latin typeface="Arial" panose="020B0604020202020204" pitchFamily="34" charset="0"/>
                <a:cs typeface="Arial" panose="020B0604020202020204" pitchFamily="34" charset="0"/>
              </a:rPr>
            </a:br>
            <a:endParaRPr lang="en-US" dirty="0">
              <a:solidFill>
                <a:schemeClr val="tx1"/>
              </a:solidFill>
            </a:endParaRPr>
          </a:p>
        </p:txBody>
      </p:sp>
      <p:sp>
        <p:nvSpPr>
          <p:cNvPr id="3" name="Content Placeholder 2"/>
          <p:cNvSpPr>
            <a:spLocks noGrp="1"/>
          </p:cNvSpPr>
          <p:nvPr>
            <p:ph idx="1"/>
          </p:nvPr>
        </p:nvSpPr>
        <p:spPr>
          <a:xfrm>
            <a:off x="0" y="615462"/>
            <a:ext cx="9274002" cy="6242537"/>
          </a:xfrm>
        </p:spPr>
        <p:txBody>
          <a:bodyPr/>
          <a:lstStyle/>
          <a:p>
            <a:r>
              <a:rPr lang="en-US" dirty="0"/>
              <a:t>Customer has due amount and at the same time and the customer wants the compensation to be deducted from the current due amount and don't want to wait till the following invoice</a:t>
            </a:r>
          </a:p>
          <a:p>
            <a:r>
              <a:rPr lang="en-US" dirty="0"/>
              <a:t>In case receiving customer's complaint from the Add Item Amount due to a dropping retention offer, agent should assign SR to CH Billing team in order to drop “the add item amount only" if customer will pay the due amount and continue in the service.​</a:t>
            </a:r>
          </a:p>
          <a:p>
            <a:r>
              <a:rPr lang="en-US" dirty="0"/>
              <a:t>Drop Amount SR can be created for both Active &amp; Suspended accounts.​</a:t>
            </a:r>
          </a:p>
          <a:p>
            <a:r>
              <a:rPr lang="en-US" dirty="0"/>
              <a:t>Dropping more than 15 days due to compensation in the current bill request SR should be assigned manually</a:t>
            </a:r>
          </a:p>
          <a:p>
            <a:pPr marL="0" indent="0">
              <a:buNone/>
            </a:pPr>
            <a:endParaRPr lang="en-US" dirty="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962308672"/>
              </p:ext>
            </p:extLst>
          </p:nvPr>
        </p:nvGraphicFramePr>
        <p:xfrm>
          <a:off x="0" y="3666392"/>
          <a:ext cx="6954715" cy="3191607"/>
        </p:xfrm>
        <a:graphic>
          <a:graphicData uri="http://schemas.openxmlformats.org/drawingml/2006/table">
            <a:tbl>
              <a:tblPr>
                <a:tableStyleId>{5C22544A-7EE6-4342-B048-85BDC9FD1C3A}</a:tableStyleId>
              </a:tblPr>
              <a:tblGrid>
                <a:gridCol w="1821473">
                  <a:extLst>
                    <a:ext uri="{9D8B030D-6E8A-4147-A177-3AD203B41FA5}">
                      <a16:colId xmlns:a16="http://schemas.microsoft.com/office/drawing/2014/main" val="2532411337"/>
                    </a:ext>
                  </a:extLst>
                </a:gridCol>
                <a:gridCol w="5133242">
                  <a:extLst>
                    <a:ext uri="{9D8B030D-6E8A-4147-A177-3AD203B41FA5}">
                      <a16:colId xmlns:a16="http://schemas.microsoft.com/office/drawing/2014/main" val="3021820880"/>
                    </a:ext>
                  </a:extLst>
                </a:gridCol>
              </a:tblGrid>
              <a:tr h="405563">
                <a:tc>
                  <a:txBody>
                    <a:bodyPr/>
                    <a:lstStyle/>
                    <a:p>
                      <a:pPr algn="ctr" fontAlgn="ctr"/>
                      <a:r>
                        <a:rPr lang="en-US" sz="1600" u="none" strike="noStrike" dirty="0">
                          <a:effectLst/>
                          <a:latin typeface="Arial Black" panose="020B0A04020102020204" pitchFamily="34" charset="0"/>
                        </a:rPr>
                        <a:t>Short Code </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16014</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85443530"/>
                  </a:ext>
                </a:extLst>
              </a:tr>
              <a:tr h="290948">
                <a:tc>
                  <a:txBody>
                    <a:bodyPr/>
                    <a:lstStyle/>
                    <a:p>
                      <a:pPr algn="ctr" fontAlgn="ctr"/>
                      <a:r>
                        <a:rPr lang="en-US" sz="1600" u="none" strike="noStrike" dirty="0">
                          <a:effectLst/>
                          <a:latin typeface="Arial Black" panose="020B0A04020102020204" pitchFamily="34" charset="0"/>
                        </a:rPr>
                        <a:t>Type </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da-DK" sz="1600" u="none" strike="noStrike" dirty="0">
                          <a:effectLst/>
                        </a:rPr>
                        <a:t>DSL Acc Mod For Billing</a:t>
                      </a:r>
                      <a:endParaRPr lang="da-DK"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401910862"/>
                  </a:ext>
                </a:extLst>
              </a:tr>
              <a:tr h="290948">
                <a:tc>
                  <a:txBody>
                    <a:bodyPr/>
                    <a:lstStyle/>
                    <a:p>
                      <a:pPr algn="ctr" fontAlgn="ctr"/>
                      <a:r>
                        <a:rPr lang="en-US" sz="1600" u="none" strike="noStrike" dirty="0">
                          <a:effectLst/>
                          <a:latin typeface="Arial Black" panose="020B0A04020102020204" pitchFamily="34" charset="0"/>
                        </a:rPr>
                        <a:t>Area</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Drop Amount​</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181261613"/>
                  </a:ext>
                </a:extLst>
              </a:tr>
              <a:tr h="405563">
                <a:tc>
                  <a:txBody>
                    <a:bodyPr/>
                    <a:lstStyle/>
                    <a:p>
                      <a:pPr algn="ctr" fontAlgn="ctr"/>
                      <a:r>
                        <a:rPr lang="en-US" sz="1600" u="none" strike="noStrike" dirty="0">
                          <a:effectLst/>
                          <a:latin typeface="Arial Black" panose="020B0A04020102020204" pitchFamily="34" charset="0"/>
                        </a:rPr>
                        <a:t>Invoice Flag</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Put Right Mark</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362575698"/>
                  </a:ext>
                </a:extLst>
              </a:tr>
              <a:tr h="405563">
                <a:tc>
                  <a:txBody>
                    <a:bodyPr/>
                    <a:lstStyle/>
                    <a:p>
                      <a:pPr algn="ctr" fontAlgn="ctr"/>
                      <a:r>
                        <a:rPr lang="en-US" sz="1600" u="none" strike="noStrike" dirty="0">
                          <a:effectLst/>
                          <a:latin typeface="Arial Black" panose="020B0A04020102020204" pitchFamily="34" charset="0"/>
                        </a:rPr>
                        <a:t>Owner Group</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DSL CH Billing</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163436722"/>
                  </a:ext>
                </a:extLst>
              </a:tr>
              <a:tr h="405563">
                <a:tc>
                  <a:txBody>
                    <a:bodyPr/>
                    <a:lstStyle/>
                    <a:p>
                      <a:pPr algn="ctr" fontAlgn="ctr"/>
                      <a:r>
                        <a:rPr lang="en-US" sz="1600" u="none" strike="noStrike" dirty="0">
                          <a:effectLst/>
                          <a:latin typeface="Arial Black" panose="020B0A04020102020204" pitchFamily="34" charset="0"/>
                        </a:rPr>
                        <a:t>Sub Area</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Empty</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564414725"/>
                  </a:ext>
                </a:extLst>
              </a:tr>
              <a:tr h="290948">
                <a:tc>
                  <a:txBody>
                    <a:bodyPr/>
                    <a:lstStyle/>
                    <a:p>
                      <a:pPr algn="ctr" fontAlgn="ctr"/>
                      <a:r>
                        <a:rPr lang="en-US" sz="1600" u="none" strike="noStrike" dirty="0">
                          <a:effectLst/>
                          <a:latin typeface="Arial Black" panose="020B0A04020102020204" pitchFamily="34" charset="0"/>
                        </a:rPr>
                        <a:t>Status</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Open</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626494603"/>
                  </a:ext>
                </a:extLst>
              </a:tr>
              <a:tr h="405563">
                <a:tc>
                  <a:txBody>
                    <a:bodyPr/>
                    <a:lstStyle/>
                    <a:p>
                      <a:pPr algn="ctr" fontAlgn="ctr"/>
                      <a:r>
                        <a:rPr lang="en-US" sz="1600" u="none" strike="noStrike" dirty="0">
                          <a:effectLst/>
                          <a:latin typeface="Arial Black" panose="020B0A04020102020204" pitchFamily="34" charset="0"/>
                        </a:rPr>
                        <a:t>Smart Script</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yes​</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624713690"/>
                  </a:ext>
                </a:extLst>
              </a:tr>
              <a:tr h="290948">
                <a:tc>
                  <a:txBody>
                    <a:bodyPr/>
                    <a:lstStyle/>
                    <a:p>
                      <a:pPr algn="ctr" fontAlgn="ctr"/>
                      <a:r>
                        <a:rPr lang="en-US" sz="1600" u="none" strike="noStrike" dirty="0">
                          <a:effectLst/>
                          <a:latin typeface="Arial Black" panose="020B0A04020102020204" pitchFamily="34" charset="0"/>
                        </a:rPr>
                        <a:t>SLA</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b"/>
                      <a:r>
                        <a:rPr lang="en-US" sz="1600" u="none" strike="noStrike" dirty="0">
                          <a:effectLst/>
                        </a:rPr>
                        <a:t>48WHRS</a:t>
                      </a:r>
                      <a:endParaRPr lang="en-US" sz="1600" b="0" i="0" u="none" strike="noStrike" dirty="0">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1171106584"/>
                  </a:ext>
                </a:extLst>
              </a:tr>
            </a:tbl>
          </a:graphicData>
        </a:graphic>
      </p:graphicFrame>
    </p:spTree>
    <p:extLst>
      <p:ext uri="{BB962C8B-B14F-4D97-AF65-F5344CB8AC3E}">
        <p14:creationId xmlns:p14="http://schemas.microsoft.com/office/powerpoint/2010/main" val="2518771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668215"/>
          </a:xfrm>
        </p:spPr>
        <p:txBody>
          <a:bodyPr>
            <a:normAutofit fontScale="90000"/>
          </a:bodyPr>
          <a:lstStyle/>
          <a:p>
            <a:r>
              <a:rPr lang="en-US" b="1" dirty="0">
                <a:solidFill>
                  <a:schemeClr val="tx1"/>
                </a:solidFill>
                <a:latin typeface="Arial Black" panose="020B0A04020102020204" pitchFamily="34" charset="0"/>
                <a:cs typeface="Arial" panose="020B0604020202020204" pitchFamily="34" charset="0"/>
              </a:rPr>
              <a:t>Bill Not Issued On Time</a:t>
            </a:r>
            <a:br>
              <a:rPr lang="ar-EG" b="1" dirty="0">
                <a:solidFill>
                  <a:schemeClr val="tx1"/>
                </a:solidFill>
                <a:latin typeface="Arial" panose="020B0604020202020204" pitchFamily="34" charset="0"/>
                <a:cs typeface="Arial" panose="020B0604020202020204" pitchFamily="34" charset="0"/>
              </a:rPr>
            </a:br>
            <a:endParaRPr lang="en-US" dirty="0">
              <a:solidFill>
                <a:schemeClr val="tx1"/>
              </a:solidFill>
            </a:endParaRPr>
          </a:p>
        </p:txBody>
      </p:sp>
      <p:sp>
        <p:nvSpPr>
          <p:cNvPr id="3" name="Content Placeholder 2"/>
          <p:cNvSpPr>
            <a:spLocks noGrp="1"/>
          </p:cNvSpPr>
          <p:nvPr>
            <p:ph idx="1"/>
          </p:nvPr>
        </p:nvSpPr>
        <p:spPr>
          <a:xfrm>
            <a:off x="0" y="553915"/>
            <a:ext cx="9274002" cy="6304085"/>
          </a:xfrm>
        </p:spPr>
        <p:txBody>
          <a:bodyPr/>
          <a:lstStyle/>
          <a:p>
            <a:pPr marL="0" indent="0">
              <a:buNone/>
            </a:pPr>
            <a:endParaRPr lang="en-US" dirty="0"/>
          </a:p>
          <a:p>
            <a:r>
              <a:rPr lang="en-US" dirty="0"/>
              <a:t>If the customer's invoice is not issued on time, agent should inform the customer to wait till the next day after the due date.</a:t>
            </a:r>
          </a:p>
          <a:p>
            <a:r>
              <a:rPr lang="en-US" dirty="0"/>
              <a:t>If still not issued on the next day after the due date, agent should open the below SR.</a:t>
            </a:r>
          </a:p>
          <a:p>
            <a:pPr marL="0" indent="0">
              <a:buNone/>
            </a:pP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183050044"/>
              </p:ext>
            </p:extLst>
          </p:nvPr>
        </p:nvGraphicFramePr>
        <p:xfrm>
          <a:off x="0" y="2300012"/>
          <a:ext cx="5723792" cy="4557988"/>
        </p:xfrm>
        <a:graphic>
          <a:graphicData uri="http://schemas.openxmlformats.org/drawingml/2006/table">
            <a:tbl>
              <a:tblPr>
                <a:tableStyleId>{5C22544A-7EE6-4342-B048-85BDC9FD1C3A}</a:tableStyleId>
              </a:tblPr>
              <a:tblGrid>
                <a:gridCol w="1499088">
                  <a:extLst>
                    <a:ext uri="{9D8B030D-6E8A-4147-A177-3AD203B41FA5}">
                      <a16:colId xmlns:a16="http://schemas.microsoft.com/office/drawing/2014/main" val="2558237920"/>
                    </a:ext>
                  </a:extLst>
                </a:gridCol>
                <a:gridCol w="4224704">
                  <a:extLst>
                    <a:ext uri="{9D8B030D-6E8A-4147-A177-3AD203B41FA5}">
                      <a16:colId xmlns:a16="http://schemas.microsoft.com/office/drawing/2014/main" val="934552282"/>
                    </a:ext>
                  </a:extLst>
                </a:gridCol>
              </a:tblGrid>
              <a:tr h="485614">
                <a:tc>
                  <a:txBody>
                    <a:bodyPr/>
                    <a:lstStyle/>
                    <a:p>
                      <a:pPr algn="ctr" fontAlgn="ctr"/>
                      <a:r>
                        <a:rPr lang="en-US" sz="1600" u="none" strike="noStrike" dirty="0">
                          <a:effectLst/>
                          <a:latin typeface="Arial Black" panose="020B0A04020102020204" pitchFamily="34" charset="0"/>
                        </a:rPr>
                        <a:t>Short Code </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33101</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218935416"/>
                  </a:ext>
                </a:extLst>
              </a:tr>
              <a:tr h="485614">
                <a:tc>
                  <a:txBody>
                    <a:bodyPr/>
                    <a:lstStyle/>
                    <a:p>
                      <a:pPr algn="ctr" fontAlgn="ctr"/>
                      <a:r>
                        <a:rPr lang="en-US" sz="1600" u="none" strike="noStrike" dirty="0">
                          <a:effectLst/>
                          <a:latin typeface="Arial Black" panose="020B0A04020102020204" pitchFamily="34" charset="0"/>
                        </a:rPr>
                        <a:t>Type </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DSL Fault For Billing</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2044453413"/>
                  </a:ext>
                </a:extLst>
              </a:tr>
              <a:tr h="485614">
                <a:tc>
                  <a:txBody>
                    <a:bodyPr/>
                    <a:lstStyle/>
                    <a:p>
                      <a:pPr algn="ctr" fontAlgn="ctr"/>
                      <a:r>
                        <a:rPr lang="en-US" sz="1600" u="none" strike="noStrike" dirty="0">
                          <a:effectLst/>
                          <a:latin typeface="Arial Black" panose="020B0A04020102020204" pitchFamily="34" charset="0"/>
                        </a:rPr>
                        <a:t>Area</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Invoice Not Issued</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984401439"/>
                  </a:ext>
                </a:extLst>
              </a:tr>
              <a:tr h="724684">
                <a:tc>
                  <a:txBody>
                    <a:bodyPr/>
                    <a:lstStyle/>
                    <a:p>
                      <a:pPr algn="ctr" fontAlgn="ctr"/>
                      <a:r>
                        <a:rPr lang="en-US" sz="1600" u="none" strike="noStrike" dirty="0">
                          <a:effectLst/>
                          <a:latin typeface="Arial Black" panose="020B0A04020102020204" pitchFamily="34" charset="0"/>
                        </a:rPr>
                        <a:t>Invoice Flag</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Put Right Mark</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149326104"/>
                  </a:ext>
                </a:extLst>
              </a:tr>
              <a:tr h="668160">
                <a:tc>
                  <a:txBody>
                    <a:bodyPr/>
                    <a:lstStyle/>
                    <a:p>
                      <a:pPr algn="ctr" fontAlgn="ctr"/>
                      <a:r>
                        <a:rPr lang="en-US" sz="1600" u="none" strike="noStrike" dirty="0">
                          <a:effectLst/>
                          <a:latin typeface="Arial Black" panose="020B0A04020102020204" pitchFamily="34" charset="0"/>
                        </a:rPr>
                        <a:t>Owner Group</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DSL CH Billing</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435880787"/>
                  </a:ext>
                </a:extLst>
              </a:tr>
              <a:tr h="485614">
                <a:tc>
                  <a:txBody>
                    <a:bodyPr/>
                    <a:lstStyle/>
                    <a:p>
                      <a:pPr algn="ctr" fontAlgn="ctr"/>
                      <a:r>
                        <a:rPr lang="en-US" sz="1600" u="none" strike="noStrike" dirty="0">
                          <a:effectLst/>
                          <a:latin typeface="Arial Black" panose="020B0A04020102020204" pitchFamily="34" charset="0"/>
                        </a:rPr>
                        <a:t>Sub Area</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Empty</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650206545"/>
                  </a:ext>
                </a:extLst>
              </a:tr>
              <a:tr h="485614">
                <a:tc>
                  <a:txBody>
                    <a:bodyPr/>
                    <a:lstStyle/>
                    <a:p>
                      <a:pPr algn="ctr" fontAlgn="ctr"/>
                      <a:r>
                        <a:rPr lang="en-US" sz="1600" u="none" strike="noStrike" dirty="0">
                          <a:effectLst/>
                          <a:latin typeface="Arial Black" panose="020B0A04020102020204" pitchFamily="34" charset="0"/>
                        </a:rPr>
                        <a:t>Status</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Open</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967634745"/>
                  </a:ext>
                </a:extLst>
              </a:tr>
              <a:tr h="485614">
                <a:tc>
                  <a:txBody>
                    <a:bodyPr/>
                    <a:lstStyle/>
                    <a:p>
                      <a:pPr algn="ctr" fontAlgn="ctr"/>
                      <a:r>
                        <a:rPr lang="en-US" sz="1600" u="none" strike="noStrike" dirty="0">
                          <a:effectLst/>
                          <a:latin typeface="Arial Black" panose="020B0A04020102020204" pitchFamily="34" charset="0"/>
                        </a:rPr>
                        <a:t>Smart Script</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yes​</a:t>
                      </a:r>
                      <a:endParaRPr lang="en-US" sz="1600" b="0" i="0" u="none" strike="noStrike" dirty="0">
                        <a:solidFill>
                          <a:srgbClr val="22222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261356530"/>
                  </a:ext>
                </a:extLst>
              </a:tr>
              <a:tr h="246542">
                <a:tc>
                  <a:txBody>
                    <a:bodyPr/>
                    <a:lstStyle/>
                    <a:p>
                      <a:pPr algn="ctr" fontAlgn="ctr"/>
                      <a:r>
                        <a:rPr lang="en-US" sz="1600" u="none" strike="noStrike" dirty="0">
                          <a:effectLst/>
                          <a:latin typeface="Arial Black" panose="020B0A04020102020204" pitchFamily="34" charset="0"/>
                        </a:rPr>
                        <a:t>SLA</a:t>
                      </a:r>
                      <a:endParaRPr lang="en-US" sz="16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b"/>
                      <a:r>
                        <a:rPr lang="en-US" sz="1600" u="none" strike="noStrike" dirty="0">
                          <a:effectLst/>
                        </a:rPr>
                        <a:t>48WHRS</a:t>
                      </a:r>
                      <a:endParaRPr lang="en-US" sz="1600" b="0" i="0" u="none" strike="noStrike" dirty="0">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485646196"/>
                  </a:ext>
                </a:extLst>
              </a:tr>
            </a:tbl>
          </a:graphicData>
        </a:graphic>
      </p:graphicFrame>
    </p:spTree>
    <p:extLst>
      <p:ext uri="{BB962C8B-B14F-4D97-AF65-F5344CB8AC3E}">
        <p14:creationId xmlns:p14="http://schemas.microsoft.com/office/powerpoint/2010/main" val="2271616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659423"/>
          </a:xfrm>
        </p:spPr>
        <p:txBody>
          <a:bodyPr>
            <a:normAutofit fontScale="90000"/>
          </a:bodyPr>
          <a:lstStyle/>
          <a:p>
            <a:r>
              <a:rPr lang="en-US" b="1" dirty="0">
                <a:solidFill>
                  <a:schemeClr val="tx1"/>
                </a:solidFill>
                <a:latin typeface="Arial Black" panose="020B0A04020102020204" pitchFamily="34" charset="0"/>
                <a:cs typeface="Arial" panose="020B0604020202020204" pitchFamily="34" charset="0"/>
              </a:rPr>
              <a:t>Wrong Bill Amount</a:t>
            </a:r>
            <a:br>
              <a:rPr lang="en-US" b="1" dirty="0">
                <a:solidFill>
                  <a:schemeClr val="tx1"/>
                </a:solidFill>
                <a:latin typeface="Arial" panose="020B0604020202020204" pitchFamily="34" charset="0"/>
                <a:cs typeface="Arial" panose="020B0604020202020204" pitchFamily="34" charset="0"/>
              </a:rPr>
            </a:br>
            <a:endParaRPr lang="en-US" dirty="0">
              <a:solidFill>
                <a:schemeClr val="tx1"/>
              </a:solidFill>
            </a:endParaRPr>
          </a:p>
        </p:txBody>
      </p:sp>
      <p:sp>
        <p:nvSpPr>
          <p:cNvPr id="3" name="Content Placeholder 2"/>
          <p:cNvSpPr>
            <a:spLocks noGrp="1"/>
          </p:cNvSpPr>
          <p:nvPr>
            <p:ph idx="1"/>
          </p:nvPr>
        </p:nvSpPr>
        <p:spPr>
          <a:xfrm>
            <a:off x="0" y="536331"/>
            <a:ext cx="9274002" cy="6321669"/>
          </a:xfrm>
        </p:spPr>
        <p:txBody>
          <a:bodyPr/>
          <a:lstStyle/>
          <a:p>
            <a:pPr marL="0" indent="0">
              <a:buNone/>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case of having a wrong bill amount (Less/More than the customer should pay), agent should create one of the below SRs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case customer’s complaint from the wrong bill amount due to the router monthly fees while s/he already purchased it in cash</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301838587"/>
              </p:ext>
            </p:extLst>
          </p:nvPr>
        </p:nvGraphicFramePr>
        <p:xfrm>
          <a:off x="0" y="1693592"/>
          <a:ext cx="9274002" cy="1125416"/>
        </p:xfrm>
        <a:graphic>
          <a:graphicData uri="http://schemas.openxmlformats.org/drawingml/2006/table">
            <a:tbl>
              <a:tblPr>
                <a:tableStyleId>{5C22544A-7EE6-4342-B048-85BDC9FD1C3A}</a:tableStyleId>
              </a:tblPr>
              <a:tblGrid>
                <a:gridCol w="825321">
                  <a:extLst>
                    <a:ext uri="{9D8B030D-6E8A-4147-A177-3AD203B41FA5}">
                      <a16:colId xmlns:a16="http://schemas.microsoft.com/office/drawing/2014/main" val="3143585724"/>
                    </a:ext>
                  </a:extLst>
                </a:gridCol>
                <a:gridCol w="2497682">
                  <a:extLst>
                    <a:ext uri="{9D8B030D-6E8A-4147-A177-3AD203B41FA5}">
                      <a16:colId xmlns:a16="http://schemas.microsoft.com/office/drawing/2014/main" val="3576951699"/>
                    </a:ext>
                  </a:extLst>
                </a:gridCol>
                <a:gridCol w="2237054">
                  <a:extLst>
                    <a:ext uri="{9D8B030D-6E8A-4147-A177-3AD203B41FA5}">
                      <a16:colId xmlns:a16="http://schemas.microsoft.com/office/drawing/2014/main" val="2875426625"/>
                    </a:ext>
                  </a:extLst>
                </a:gridCol>
                <a:gridCol w="999073">
                  <a:extLst>
                    <a:ext uri="{9D8B030D-6E8A-4147-A177-3AD203B41FA5}">
                      <a16:colId xmlns:a16="http://schemas.microsoft.com/office/drawing/2014/main" val="2125961124"/>
                    </a:ext>
                  </a:extLst>
                </a:gridCol>
                <a:gridCol w="1020792">
                  <a:extLst>
                    <a:ext uri="{9D8B030D-6E8A-4147-A177-3AD203B41FA5}">
                      <a16:colId xmlns:a16="http://schemas.microsoft.com/office/drawing/2014/main" val="1332019620"/>
                    </a:ext>
                  </a:extLst>
                </a:gridCol>
                <a:gridCol w="1694080">
                  <a:extLst>
                    <a:ext uri="{9D8B030D-6E8A-4147-A177-3AD203B41FA5}">
                      <a16:colId xmlns:a16="http://schemas.microsoft.com/office/drawing/2014/main" val="2932890"/>
                    </a:ext>
                  </a:extLst>
                </a:gridCol>
              </a:tblGrid>
              <a:tr h="562708">
                <a:tc>
                  <a:txBody>
                    <a:bodyPr/>
                    <a:lstStyle/>
                    <a:p>
                      <a:pPr algn="ctr" fontAlgn="ctr"/>
                      <a:r>
                        <a:rPr lang="en-US" sz="1400" u="none" strike="noStrike" dirty="0">
                          <a:effectLst/>
                          <a:latin typeface="Arial Black" panose="020B0A04020102020204" pitchFamily="34" charset="0"/>
                          <a:cs typeface="Arial" panose="020B0604020202020204" pitchFamily="34" charset="0"/>
                        </a:rPr>
                        <a:t>Short Code</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cs typeface="Arial" panose="020B0604020202020204" pitchFamily="34" charset="0"/>
                        </a:rPr>
                        <a:t>Type</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cs typeface="Arial" panose="020B0604020202020204" pitchFamily="34" charset="0"/>
                        </a:rPr>
                        <a:t>Area</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cs typeface="Arial" panose="020B0604020202020204" pitchFamily="34" charset="0"/>
                        </a:rPr>
                        <a:t>Invoice Flag</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cs typeface="Arial" panose="020B0604020202020204" pitchFamily="34" charset="0"/>
                        </a:rPr>
                        <a:t>Owner Group</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cs typeface="Arial" panose="020B0604020202020204" pitchFamily="34" charset="0"/>
                        </a:rPr>
                        <a:t>SLA</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2677186809"/>
                  </a:ext>
                </a:extLst>
              </a:tr>
              <a:tr h="562708">
                <a:tc>
                  <a:txBody>
                    <a:bodyPr/>
                    <a:lstStyle/>
                    <a:p>
                      <a:pPr algn="ctr" fontAlgn="ctr"/>
                      <a:r>
                        <a:rPr lang="en-US" sz="1400" u="none" strike="noStrike">
                          <a:effectLst/>
                          <a:latin typeface="Arial" panose="020B0604020202020204" pitchFamily="34" charset="0"/>
                          <a:cs typeface="Arial" panose="020B0604020202020204" pitchFamily="34" charset="0"/>
                        </a:rPr>
                        <a:t>33108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DSL Fault For Billing​</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Wrong Bill Amount</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Yes</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DSL CH Billing</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48 </a:t>
                      </a:r>
                      <a:r>
                        <a:rPr lang="en-US" sz="1400" u="none" strike="noStrike" dirty="0" err="1">
                          <a:effectLst/>
                          <a:latin typeface="Arial" panose="020B0604020202020204" pitchFamily="34" charset="0"/>
                          <a:cs typeface="Arial" panose="020B0604020202020204" pitchFamily="34" charset="0"/>
                        </a:rPr>
                        <a:t>Whrs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93634624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755448359"/>
              </p:ext>
            </p:extLst>
          </p:nvPr>
        </p:nvGraphicFramePr>
        <p:xfrm>
          <a:off x="0" y="4248688"/>
          <a:ext cx="9205546" cy="1653540"/>
        </p:xfrm>
        <a:graphic>
          <a:graphicData uri="http://schemas.openxmlformats.org/drawingml/2006/table">
            <a:tbl>
              <a:tblPr>
                <a:tableStyleId>{5C22544A-7EE6-4342-B048-85BDC9FD1C3A}</a:tableStyleId>
              </a:tblPr>
              <a:tblGrid>
                <a:gridCol w="926469">
                  <a:extLst>
                    <a:ext uri="{9D8B030D-6E8A-4147-A177-3AD203B41FA5}">
                      <a16:colId xmlns:a16="http://schemas.microsoft.com/office/drawing/2014/main" val="1400612413"/>
                    </a:ext>
                  </a:extLst>
                </a:gridCol>
                <a:gridCol w="2266891">
                  <a:extLst>
                    <a:ext uri="{9D8B030D-6E8A-4147-A177-3AD203B41FA5}">
                      <a16:colId xmlns:a16="http://schemas.microsoft.com/office/drawing/2014/main" val="1766061148"/>
                    </a:ext>
                  </a:extLst>
                </a:gridCol>
                <a:gridCol w="2030345">
                  <a:extLst>
                    <a:ext uri="{9D8B030D-6E8A-4147-A177-3AD203B41FA5}">
                      <a16:colId xmlns:a16="http://schemas.microsoft.com/office/drawing/2014/main" val="3322991521"/>
                    </a:ext>
                  </a:extLst>
                </a:gridCol>
                <a:gridCol w="906755">
                  <a:extLst>
                    <a:ext uri="{9D8B030D-6E8A-4147-A177-3AD203B41FA5}">
                      <a16:colId xmlns:a16="http://schemas.microsoft.com/office/drawing/2014/main" val="1150723115"/>
                    </a:ext>
                  </a:extLst>
                </a:gridCol>
                <a:gridCol w="1537543">
                  <a:extLst>
                    <a:ext uri="{9D8B030D-6E8A-4147-A177-3AD203B41FA5}">
                      <a16:colId xmlns:a16="http://schemas.microsoft.com/office/drawing/2014/main" val="775391675"/>
                    </a:ext>
                  </a:extLst>
                </a:gridCol>
                <a:gridCol w="1537543">
                  <a:extLst>
                    <a:ext uri="{9D8B030D-6E8A-4147-A177-3AD203B41FA5}">
                      <a16:colId xmlns:a16="http://schemas.microsoft.com/office/drawing/2014/main" val="881476338"/>
                    </a:ext>
                  </a:extLst>
                </a:gridCol>
              </a:tblGrid>
              <a:tr h="363952">
                <a:tc>
                  <a:txBody>
                    <a:bodyPr/>
                    <a:lstStyle/>
                    <a:p>
                      <a:pPr algn="ctr" fontAlgn="ctr"/>
                      <a:r>
                        <a:rPr lang="en-US" sz="1400" u="none" strike="noStrike" dirty="0">
                          <a:effectLst/>
                          <a:latin typeface="Arial Black" panose="020B0A04020102020204" pitchFamily="34" charset="0"/>
                        </a:rPr>
                        <a:t>Short Code</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Type</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Area</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Invoice Flag</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Owner Group</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SLA</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extLst>
                  <a:ext uri="{0D108BD9-81ED-4DB2-BD59-A6C34878D82A}">
                    <a16:rowId xmlns:a16="http://schemas.microsoft.com/office/drawing/2014/main" val="2757979776"/>
                  </a:ext>
                </a:extLst>
              </a:tr>
              <a:tr h="868680">
                <a:tc rowSpan="2">
                  <a:txBody>
                    <a:bodyPr/>
                    <a:lstStyle/>
                    <a:p>
                      <a:pPr algn="ctr" fontAlgn="ctr"/>
                      <a:r>
                        <a:rPr lang="en-US" sz="1400" u="none" strike="noStrike">
                          <a:effectLst/>
                        </a:rPr>
                        <a:t>16067</a:t>
                      </a:r>
                      <a:endParaRPr lang="en-US" sz="1400" b="0" i="0" u="none" strike="noStrike">
                        <a:solidFill>
                          <a:srgbClr val="000000"/>
                        </a:solidFill>
                        <a:effectLst/>
                        <a:latin typeface="Helvetica Neue"/>
                      </a:endParaRPr>
                    </a:p>
                  </a:txBody>
                  <a:tcPr marL="7620" marR="7620" marT="7620" marB="0" anchor="ctr"/>
                </a:tc>
                <a:tc rowSpan="2">
                  <a:txBody>
                    <a:bodyPr/>
                    <a:lstStyle/>
                    <a:p>
                      <a:pPr algn="ctr" fontAlgn="ctr"/>
                      <a:r>
                        <a:rPr lang="da-DK" sz="1400" u="none" strike="noStrike" dirty="0">
                          <a:effectLst/>
                        </a:rPr>
                        <a:t>DSL Acc Mod For Billing</a:t>
                      </a:r>
                      <a:endParaRPr lang="da-DK" sz="1400" b="0" i="0" u="none" strike="noStrike" dirty="0">
                        <a:solidFill>
                          <a:srgbClr val="000000"/>
                        </a:solidFill>
                        <a:effectLst/>
                        <a:latin typeface="Helvetica Neue"/>
                      </a:endParaRPr>
                    </a:p>
                  </a:txBody>
                  <a:tcPr marL="7620" marR="7620" marT="7620" marB="0" anchor="ctr"/>
                </a:tc>
                <a:tc rowSpan="2">
                  <a:txBody>
                    <a:bodyPr/>
                    <a:lstStyle/>
                    <a:p>
                      <a:pPr algn="ctr" fontAlgn="ctr"/>
                      <a:r>
                        <a:rPr lang="en-US" sz="1400" u="none" strike="noStrike" dirty="0">
                          <a:effectLst/>
                        </a:rPr>
                        <a:t>Router Settlement</a:t>
                      </a:r>
                      <a:endParaRPr lang="en-US" sz="1400" b="0" i="0" u="none" strike="noStrike" dirty="0">
                        <a:solidFill>
                          <a:srgbClr val="000000"/>
                        </a:solidFill>
                        <a:effectLst/>
                        <a:latin typeface="Helvetica Neue"/>
                      </a:endParaRPr>
                    </a:p>
                  </a:txBody>
                  <a:tcPr marL="7620" marR="7620" marT="7620" marB="0" anchor="ctr"/>
                </a:tc>
                <a:tc rowSpan="2">
                  <a:txBody>
                    <a:bodyPr/>
                    <a:lstStyle/>
                    <a:p>
                      <a:pPr algn="ctr" fontAlgn="ctr"/>
                      <a:r>
                        <a:rPr lang="en-US" sz="1400" u="none" strike="noStrike" dirty="0">
                          <a:effectLst/>
                        </a:rPr>
                        <a:t>Yes</a:t>
                      </a:r>
                      <a:endParaRPr lang="en-US" sz="1400" b="0" i="0" u="none" strike="noStrike" dirty="0">
                        <a:solidFill>
                          <a:srgbClr val="000000"/>
                        </a:solidFill>
                        <a:effectLst/>
                        <a:latin typeface="Helvetica Neue"/>
                      </a:endParaRPr>
                    </a:p>
                  </a:txBody>
                  <a:tcPr marL="7620" marR="7620" marT="7620" marB="0" anchor="ctr"/>
                </a:tc>
                <a:tc>
                  <a:txBody>
                    <a:bodyPr/>
                    <a:lstStyle/>
                    <a:p>
                      <a:pPr algn="ctr" fontAlgn="ctr"/>
                      <a:r>
                        <a:rPr lang="en-US" sz="1400" u="none" strike="noStrike" dirty="0">
                          <a:effectLst/>
                        </a:rPr>
                        <a:t>DSL Activation </a:t>
                      </a:r>
                      <a:r>
                        <a:rPr lang="en-US" sz="1400" u="none" strike="noStrike" dirty="0" err="1">
                          <a:effectLst/>
                        </a:rPr>
                        <a:t>Operati</a:t>
                      </a:r>
                      <a:r>
                        <a:rPr lang="en-US" sz="1400" u="none" strike="noStrike" dirty="0">
                          <a:effectLst/>
                        </a:rPr>
                        <a:t>​</a:t>
                      </a:r>
                      <a:r>
                        <a:rPr lang="en-US" sz="1400" u="none" strike="noStrike" dirty="0" err="1">
                          <a:effectLst/>
                        </a:rPr>
                        <a:t>ons</a:t>
                      </a:r>
                      <a:endParaRPr lang="en-US" sz="1400" b="0" i="0" u="none" strike="noStrike" dirty="0">
                        <a:solidFill>
                          <a:srgbClr val="000000"/>
                        </a:solidFill>
                        <a:effectLst/>
                        <a:latin typeface="Helvetica Neue"/>
                      </a:endParaRPr>
                    </a:p>
                  </a:txBody>
                  <a:tcPr marL="7620" marR="7620" marT="7620" marB="0" anchor="ctr"/>
                </a:tc>
                <a:tc>
                  <a:txBody>
                    <a:bodyPr/>
                    <a:lstStyle/>
                    <a:p>
                      <a:pPr algn="ctr" fontAlgn="ctr"/>
                      <a:r>
                        <a:rPr lang="en-US" sz="1400" u="none" strike="noStrike" dirty="0">
                          <a:effectLst/>
                        </a:rPr>
                        <a:t>24 </a:t>
                      </a:r>
                      <a:r>
                        <a:rPr lang="en-US" sz="1400" u="none" strike="noStrike" dirty="0" err="1">
                          <a:effectLst/>
                        </a:rPr>
                        <a:t>Whrs</a:t>
                      </a:r>
                      <a:endParaRPr lang="en-US" sz="14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2816258972"/>
                  </a:ext>
                </a:extLst>
              </a:tr>
              <a:tr h="3505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400" u="none" strike="noStrike">
                          <a:effectLst/>
                        </a:rPr>
                        <a:t>FBB CH Billing</a:t>
                      </a:r>
                      <a:endParaRPr lang="en-US" sz="1400" b="0" i="0" u="none" strike="noStrike">
                        <a:solidFill>
                          <a:srgbClr val="000000"/>
                        </a:solidFill>
                        <a:effectLst/>
                        <a:latin typeface="Helvetica Neue"/>
                      </a:endParaRPr>
                    </a:p>
                  </a:txBody>
                  <a:tcPr marL="7620" marR="7620" marT="7620" marB="0" anchor="ctr"/>
                </a:tc>
                <a:tc>
                  <a:txBody>
                    <a:bodyPr/>
                    <a:lstStyle/>
                    <a:p>
                      <a:pPr algn="ctr" fontAlgn="ctr"/>
                      <a:r>
                        <a:rPr lang="en-US" sz="1400" u="none" strike="noStrike" dirty="0">
                          <a:effectLst/>
                        </a:rPr>
                        <a:t>48 </a:t>
                      </a:r>
                      <a:r>
                        <a:rPr lang="en-US" sz="1400" u="none" strike="noStrike" dirty="0" err="1">
                          <a:effectLst/>
                        </a:rPr>
                        <a:t>Whrs</a:t>
                      </a:r>
                      <a:endParaRPr lang="en-US" sz="14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3982469620"/>
                  </a:ext>
                </a:extLst>
              </a:tr>
            </a:tbl>
          </a:graphicData>
        </a:graphic>
      </p:graphicFrame>
    </p:spTree>
    <p:extLst>
      <p:ext uri="{BB962C8B-B14F-4D97-AF65-F5344CB8AC3E}">
        <p14:creationId xmlns:p14="http://schemas.microsoft.com/office/powerpoint/2010/main" val="1114178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659423"/>
          </a:xfrm>
        </p:spPr>
        <p:txBody>
          <a:bodyPr>
            <a:normAutofit fontScale="90000"/>
          </a:bodyPr>
          <a:lstStyle/>
          <a:p>
            <a:r>
              <a:rPr lang="en-US" b="1" dirty="0">
                <a:solidFill>
                  <a:schemeClr val="tx1"/>
                </a:solidFill>
                <a:latin typeface="Arial Black" panose="020B0A04020102020204" pitchFamily="34" charset="0"/>
                <a:cs typeface="Arial" panose="020B0604020202020204" pitchFamily="34" charset="0"/>
              </a:rPr>
              <a:t>Money Transfer</a:t>
            </a:r>
            <a:br>
              <a:rPr lang="ar-EG" b="1" dirty="0">
                <a:solidFill>
                  <a:schemeClr val="tx1"/>
                </a:solidFill>
                <a:latin typeface="Arial" panose="020B0604020202020204" pitchFamily="34" charset="0"/>
                <a:cs typeface="Arial" panose="020B0604020202020204" pitchFamily="34" charset="0"/>
              </a:rPr>
            </a:br>
            <a:endParaRPr lang="en-US" dirty="0">
              <a:solidFill>
                <a:schemeClr val="tx1"/>
              </a:solidFill>
            </a:endParaRPr>
          </a:p>
        </p:txBody>
      </p:sp>
      <p:sp>
        <p:nvSpPr>
          <p:cNvPr id="3" name="Content Placeholder 2"/>
          <p:cNvSpPr>
            <a:spLocks noGrp="1"/>
          </p:cNvSpPr>
          <p:nvPr>
            <p:ph idx="1"/>
          </p:nvPr>
        </p:nvSpPr>
        <p:spPr>
          <a:xfrm>
            <a:off x="0" y="518746"/>
            <a:ext cx="9274002" cy="6247813"/>
          </a:xfrm>
        </p:spPr>
        <p:txBody>
          <a:bodyPr/>
          <a:lstStyle/>
          <a:p>
            <a:r>
              <a:rPr lang="en-US" b="1" dirty="0">
                <a:solidFill>
                  <a:schemeClr val="accent1">
                    <a:lumMod val="50000"/>
                  </a:schemeClr>
                </a:solidFill>
                <a:latin typeface="Arial Black" panose="020B0A04020102020204" pitchFamily="34" charset="0"/>
              </a:rPr>
              <a:t>From Cancelled or Deactivated Account to Active one</a:t>
            </a:r>
          </a:p>
          <a:p>
            <a:r>
              <a:rPr lang="en-US" sz="1400" dirty="0">
                <a:latin typeface="Arial" panose="020B0604020202020204" pitchFamily="34" charset="0"/>
                <a:cs typeface="Arial" panose="020B0604020202020204" pitchFamily="34" charset="0"/>
              </a:rPr>
              <a:t>in case customer is requesting to transfer​ an amount from a cancelled or deactivated account to an active account.</a:t>
            </a:r>
          </a:p>
          <a:p>
            <a:r>
              <a:rPr lang="en-US" sz="1400" dirty="0">
                <a:latin typeface="Arial" panose="020B0604020202020204" pitchFamily="34" charset="0"/>
                <a:cs typeface="Arial" panose="020B0604020202020204" pitchFamily="34" charset="0"/>
              </a:rPr>
              <a:t>Money Transfer is not available for Cancelled or Deactivated accounts under resellers, agent should advise the customer to refer to his/her reseller </a:t>
            </a:r>
          </a:p>
          <a:p>
            <a:r>
              <a:rPr lang="en-US" sz="1400" dirty="0">
                <a:latin typeface="Arial" panose="020B0604020202020204" pitchFamily="34" charset="0"/>
                <a:cs typeface="Arial" panose="020B0604020202020204" pitchFamily="34" charset="0"/>
              </a:rPr>
              <a:t>In case both accounts (Cancelled/Deactivated &amp; Active) are under the same reseller.</a:t>
            </a:r>
          </a:p>
          <a:p>
            <a:r>
              <a:rPr lang="en-US" sz="1400" dirty="0">
                <a:latin typeface="Arial" panose="020B0604020202020204" pitchFamily="34" charset="0"/>
                <a:cs typeface="Arial" panose="020B0604020202020204" pitchFamily="34" charset="0"/>
              </a:rPr>
              <a:t>The 2 accounts should be with same customer’s data.</a:t>
            </a:r>
          </a:p>
          <a:p>
            <a:endParaRPr lang="en-US" sz="14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pPr marL="0" indent="0">
              <a:buNone/>
            </a:pPr>
            <a:endParaRPr lang="en-US" sz="1400" dirty="0">
              <a:latin typeface="Arial" panose="020B0604020202020204" pitchFamily="34" charset="0"/>
              <a:cs typeface="Arial" panose="020B0604020202020204" pitchFamily="34" charset="0"/>
            </a:endParaRPr>
          </a:p>
          <a:p>
            <a:r>
              <a:rPr lang="en-US" b="1" dirty="0">
                <a:solidFill>
                  <a:schemeClr val="accent1">
                    <a:lumMod val="50000"/>
                  </a:schemeClr>
                </a:solidFill>
                <a:latin typeface="Arial" panose="020B0604020202020204" pitchFamily="34" charset="0"/>
                <a:cs typeface="Arial" panose="020B0604020202020204" pitchFamily="34" charset="0"/>
              </a:rPr>
              <a:t>From Active account to another Active account</a:t>
            </a:r>
          </a:p>
          <a:p>
            <a:r>
              <a:rPr lang="en-US" sz="1400" dirty="0">
                <a:latin typeface="Arial" panose="020B0604020202020204" pitchFamily="34" charset="0"/>
                <a:cs typeface="Arial" panose="020B0604020202020204" pitchFamily="34" charset="0"/>
              </a:rPr>
              <a:t>Customer should have balance to cover 1 year of subscription after the amount transfer. ​</a:t>
            </a:r>
          </a:p>
          <a:p>
            <a:endParaRPr lang="en-US" sz="1400" dirty="0"/>
          </a:p>
        </p:txBody>
      </p:sp>
      <p:graphicFrame>
        <p:nvGraphicFramePr>
          <p:cNvPr id="4" name="Table 3"/>
          <p:cNvGraphicFramePr>
            <a:graphicFrameLocks noGrp="1"/>
          </p:cNvGraphicFramePr>
          <p:nvPr>
            <p:extLst>
              <p:ext uri="{D42A27DB-BD31-4B8C-83A1-F6EECF244321}">
                <p14:modId xmlns:p14="http://schemas.microsoft.com/office/powerpoint/2010/main" val="2293223379"/>
              </p:ext>
            </p:extLst>
          </p:nvPr>
        </p:nvGraphicFramePr>
        <p:xfrm>
          <a:off x="34521" y="2919437"/>
          <a:ext cx="9204959" cy="1700886"/>
        </p:xfrm>
        <a:graphic>
          <a:graphicData uri="http://schemas.openxmlformats.org/drawingml/2006/table">
            <a:tbl>
              <a:tblPr>
                <a:tableStyleId>{5C22544A-7EE6-4342-B048-85BDC9FD1C3A}</a:tableStyleId>
              </a:tblPr>
              <a:tblGrid>
                <a:gridCol w="1537445">
                  <a:extLst>
                    <a:ext uri="{9D8B030D-6E8A-4147-A177-3AD203B41FA5}">
                      <a16:colId xmlns:a16="http://schemas.microsoft.com/office/drawing/2014/main" val="700463019"/>
                    </a:ext>
                  </a:extLst>
                </a:gridCol>
                <a:gridCol w="2266746">
                  <a:extLst>
                    <a:ext uri="{9D8B030D-6E8A-4147-A177-3AD203B41FA5}">
                      <a16:colId xmlns:a16="http://schemas.microsoft.com/office/drawing/2014/main" val="2210663464"/>
                    </a:ext>
                  </a:extLst>
                </a:gridCol>
                <a:gridCol w="2030216">
                  <a:extLst>
                    <a:ext uri="{9D8B030D-6E8A-4147-A177-3AD203B41FA5}">
                      <a16:colId xmlns:a16="http://schemas.microsoft.com/office/drawing/2014/main" val="2223873962"/>
                    </a:ext>
                  </a:extLst>
                </a:gridCol>
                <a:gridCol w="906698">
                  <a:extLst>
                    <a:ext uri="{9D8B030D-6E8A-4147-A177-3AD203B41FA5}">
                      <a16:colId xmlns:a16="http://schemas.microsoft.com/office/drawing/2014/main" val="3048872612"/>
                    </a:ext>
                  </a:extLst>
                </a:gridCol>
                <a:gridCol w="926409">
                  <a:extLst>
                    <a:ext uri="{9D8B030D-6E8A-4147-A177-3AD203B41FA5}">
                      <a16:colId xmlns:a16="http://schemas.microsoft.com/office/drawing/2014/main" val="1466269353"/>
                    </a:ext>
                  </a:extLst>
                </a:gridCol>
                <a:gridCol w="1537445">
                  <a:extLst>
                    <a:ext uri="{9D8B030D-6E8A-4147-A177-3AD203B41FA5}">
                      <a16:colId xmlns:a16="http://schemas.microsoft.com/office/drawing/2014/main" val="369237691"/>
                    </a:ext>
                  </a:extLst>
                </a:gridCol>
              </a:tblGrid>
              <a:tr h="195123">
                <a:tc>
                  <a:txBody>
                    <a:bodyPr/>
                    <a:lstStyle/>
                    <a:p>
                      <a:pPr algn="ctr" fontAlgn="ctr"/>
                      <a:r>
                        <a:rPr lang="en-US" sz="1200" u="none" strike="noStrike" dirty="0" err="1">
                          <a:effectLst/>
                          <a:latin typeface="Arial Black" panose="020B0A04020102020204" pitchFamily="34" charset="0"/>
                        </a:rPr>
                        <a:t>hort</a:t>
                      </a:r>
                      <a:r>
                        <a:rPr lang="en-US" sz="1200" u="none" strike="noStrike" dirty="0">
                          <a:effectLst/>
                          <a:latin typeface="Arial Black" panose="020B0A04020102020204" pitchFamily="34" charset="0"/>
                        </a:rPr>
                        <a:t> Code</a:t>
                      </a:r>
                      <a:endParaRPr lang="en-US" sz="12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200" u="none" strike="noStrike" dirty="0">
                          <a:effectLst/>
                          <a:latin typeface="Arial Black" panose="020B0A04020102020204" pitchFamily="34" charset="0"/>
                        </a:rPr>
                        <a:t>Type</a:t>
                      </a:r>
                      <a:endParaRPr lang="en-US" sz="12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200" u="none" strike="noStrike" dirty="0">
                          <a:effectLst/>
                          <a:latin typeface="Arial Black" panose="020B0A04020102020204" pitchFamily="34" charset="0"/>
                        </a:rPr>
                        <a:t>Area</a:t>
                      </a:r>
                      <a:endParaRPr lang="en-US" sz="12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200" u="none" strike="noStrike" dirty="0">
                          <a:effectLst/>
                          <a:latin typeface="Arial Black" panose="020B0A04020102020204" pitchFamily="34" charset="0"/>
                        </a:rPr>
                        <a:t>Owner Group</a:t>
                      </a:r>
                      <a:endParaRPr lang="en-US" sz="12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200" u="none" strike="noStrike" dirty="0">
                          <a:effectLst/>
                          <a:latin typeface="Arial Black" panose="020B0A04020102020204" pitchFamily="34" charset="0"/>
                        </a:rPr>
                        <a:t>SLA</a:t>
                      </a:r>
                      <a:endParaRPr lang="en-US" sz="12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200" u="none" strike="noStrike" dirty="0">
                          <a:effectLst/>
                          <a:latin typeface="Arial Black" panose="020B0A04020102020204" pitchFamily="34" charset="0"/>
                        </a:rPr>
                        <a:t>Smart Script</a:t>
                      </a:r>
                      <a:endParaRPr lang="en-US" sz="12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extLst>
                  <a:ext uri="{0D108BD9-81ED-4DB2-BD59-A6C34878D82A}">
                    <a16:rowId xmlns:a16="http://schemas.microsoft.com/office/drawing/2014/main" val="1790646228"/>
                  </a:ext>
                </a:extLst>
              </a:tr>
              <a:tr h="101803">
                <a:tc rowSpan="5">
                  <a:txBody>
                    <a:bodyPr/>
                    <a:lstStyle/>
                    <a:p>
                      <a:pPr algn="ctr" fontAlgn="ctr"/>
                      <a:r>
                        <a:rPr lang="en-US" sz="1200" u="none" strike="noStrike" dirty="0">
                          <a:effectLst/>
                        </a:rPr>
                        <a:t>16008</a:t>
                      </a:r>
                      <a:endParaRPr lang="en-US" sz="1200" b="0" i="0" u="none" strike="noStrike" dirty="0">
                        <a:solidFill>
                          <a:srgbClr val="000000"/>
                        </a:solidFill>
                        <a:effectLst/>
                        <a:latin typeface="Helvetica Neue"/>
                      </a:endParaRPr>
                    </a:p>
                  </a:txBody>
                  <a:tcPr marL="7620" marR="7620" marT="7620" marB="0" anchor="ctr"/>
                </a:tc>
                <a:tc rowSpan="5">
                  <a:txBody>
                    <a:bodyPr/>
                    <a:lstStyle/>
                    <a:p>
                      <a:pPr algn="ctr" fontAlgn="ctr"/>
                      <a:r>
                        <a:rPr lang="da-DK" sz="1200" u="none" strike="noStrike" dirty="0">
                          <a:effectLst/>
                        </a:rPr>
                        <a:t>DSL Acc Mod For Billing</a:t>
                      </a:r>
                      <a:endParaRPr lang="da-DK" sz="1200" b="0" i="0" u="none" strike="noStrike" dirty="0">
                        <a:solidFill>
                          <a:srgbClr val="000000"/>
                        </a:solidFill>
                        <a:effectLst/>
                        <a:latin typeface="Helvetica Neue"/>
                      </a:endParaRPr>
                    </a:p>
                  </a:txBody>
                  <a:tcPr marL="7620" marR="7620" marT="7620" marB="0" anchor="ctr"/>
                </a:tc>
                <a:tc rowSpan="5">
                  <a:txBody>
                    <a:bodyPr/>
                    <a:lstStyle/>
                    <a:p>
                      <a:pPr algn="ctr" fontAlgn="ctr"/>
                      <a:r>
                        <a:rPr lang="en-US" sz="1200" u="none" strike="noStrike" dirty="0">
                          <a:effectLst/>
                        </a:rPr>
                        <a:t>Money Transfer​</a:t>
                      </a:r>
                      <a:endParaRPr lang="en-US" sz="1200" b="0" i="0" u="none" strike="noStrike" dirty="0">
                        <a:solidFill>
                          <a:srgbClr val="000000"/>
                        </a:solidFill>
                        <a:effectLst/>
                        <a:latin typeface="Helvetica Neue"/>
                      </a:endParaRPr>
                    </a:p>
                  </a:txBody>
                  <a:tcPr marL="7620" marR="7620" marT="7620" marB="0" anchor="ctr"/>
                </a:tc>
                <a:tc rowSpan="5">
                  <a:txBody>
                    <a:bodyPr/>
                    <a:lstStyle/>
                    <a:p>
                      <a:pPr algn="ctr" fontAlgn="ctr"/>
                      <a:r>
                        <a:rPr lang="en-US" sz="1200" u="none" strike="noStrike" dirty="0">
                          <a:effectLst/>
                        </a:rPr>
                        <a:t>DSL CH Billing</a:t>
                      </a:r>
                      <a:endParaRPr lang="en-US" sz="1200" b="0" i="0" u="none" strike="noStrike" dirty="0">
                        <a:solidFill>
                          <a:srgbClr val="000000"/>
                        </a:solidFill>
                        <a:effectLst/>
                        <a:latin typeface="Helvetica Neue"/>
                      </a:endParaRPr>
                    </a:p>
                  </a:txBody>
                  <a:tcPr marL="7620" marR="7620" marT="7620" marB="0" anchor="ctr"/>
                </a:tc>
                <a:tc rowSpan="5">
                  <a:txBody>
                    <a:bodyPr/>
                    <a:lstStyle/>
                    <a:p>
                      <a:pPr algn="ctr" fontAlgn="ctr"/>
                      <a:r>
                        <a:rPr lang="en-US" sz="1200" u="none" strike="noStrike" dirty="0">
                          <a:effectLst/>
                        </a:rPr>
                        <a:t>48 </a:t>
                      </a:r>
                      <a:r>
                        <a:rPr lang="en-US" sz="1200" u="none" strike="noStrike" dirty="0" err="1">
                          <a:effectLst/>
                        </a:rPr>
                        <a:t>Whrs</a:t>
                      </a:r>
                      <a:endParaRPr lang="en-US" sz="1200" b="0" i="0" u="none" strike="noStrike" dirty="0">
                        <a:solidFill>
                          <a:srgbClr val="000000"/>
                        </a:solidFill>
                        <a:effectLst/>
                        <a:latin typeface="Helvetica Neue"/>
                      </a:endParaRPr>
                    </a:p>
                  </a:txBody>
                  <a:tcPr marL="7620" marR="7620" marT="7620" marB="0" anchor="ctr"/>
                </a:tc>
                <a:tc>
                  <a:txBody>
                    <a:bodyPr/>
                    <a:lstStyle/>
                    <a:p>
                      <a:pPr algn="l" fontAlgn="ctr"/>
                      <a:r>
                        <a:rPr lang="en-US" sz="1200" u="none" strike="noStrike" dirty="0">
                          <a:effectLst/>
                        </a:rPr>
                        <a:t>Same Owner</a:t>
                      </a:r>
                      <a:endParaRPr lang="en-US" sz="1200" b="0" i="0" u="none" strike="noStrike" dirty="0">
                        <a:solidFill>
                          <a:srgbClr val="000000"/>
                        </a:solidFill>
                        <a:effectLst/>
                        <a:latin typeface="Helvetica Neue"/>
                      </a:endParaRPr>
                    </a:p>
                  </a:txBody>
                  <a:tcPr marR="7620" marT="7620" marB="0" anchor="ctr"/>
                </a:tc>
                <a:extLst>
                  <a:ext uri="{0D108BD9-81ED-4DB2-BD59-A6C34878D82A}">
                    <a16:rowId xmlns:a16="http://schemas.microsoft.com/office/drawing/2014/main" val="4133452258"/>
                  </a:ext>
                </a:extLst>
              </a:tr>
              <a:tr h="29268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rPr>
                        <a:t>From Land Line (Cancelled)</a:t>
                      </a:r>
                      <a:endParaRPr lang="en-US" sz="1200" b="0" i="0" u="none" strike="noStrike" dirty="0">
                        <a:solidFill>
                          <a:srgbClr val="000000"/>
                        </a:solidFill>
                        <a:effectLst/>
                        <a:latin typeface="Helvetica Neue"/>
                      </a:endParaRPr>
                    </a:p>
                  </a:txBody>
                  <a:tcPr marR="7620" marT="7620" marB="0" anchor="ctr"/>
                </a:tc>
                <a:extLst>
                  <a:ext uri="{0D108BD9-81ED-4DB2-BD59-A6C34878D82A}">
                    <a16:rowId xmlns:a16="http://schemas.microsoft.com/office/drawing/2014/main" val="1963131181"/>
                  </a:ext>
                </a:extLst>
              </a:tr>
              <a:tr h="29268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rPr>
                        <a:t>To Land Line (Active Or Pending)</a:t>
                      </a:r>
                      <a:endParaRPr lang="en-US" sz="1200" b="0" i="0" u="none" strike="noStrike" dirty="0">
                        <a:solidFill>
                          <a:srgbClr val="000000"/>
                        </a:solidFill>
                        <a:effectLst/>
                        <a:latin typeface="Helvetica Neue"/>
                      </a:endParaRPr>
                    </a:p>
                  </a:txBody>
                  <a:tcPr marR="7620" marT="7620" marB="0" anchor="ctr"/>
                </a:tc>
                <a:extLst>
                  <a:ext uri="{0D108BD9-81ED-4DB2-BD59-A6C34878D82A}">
                    <a16:rowId xmlns:a16="http://schemas.microsoft.com/office/drawing/2014/main" val="3043783637"/>
                  </a:ext>
                </a:extLst>
              </a:tr>
              <a:tr h="19512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rPr>
                        <a:t>Money Amount</a:t>
                      </a:r>
                      <a:endParaRPr lang="en-US" sz="1200" b="0" i="0" u="none" strike="noStrike" dirty="0">
                        <a:solidFill>
                          <a:srgbClr val="000000"/>
                        </a:solidFill>
                        <a:effectLst/>
                        <a:latin typeface="Helvetica Neue"/>
                      </a:endParaRPr>
                    </a:p>
                  </a:txBody>
                  <a:tcPr marR="7620" marT="7620" marB="0" anchor="ctr"/>
                </a:tc>
                <a:extLst>
                  <a:ext uri="{0D108BD9-81ED-4DB2-BD59-A6C34878D82A}">
                    <a16:rowId xmlns:a16="http://schemas.microsoft.com/office/drawing/2014/main" val="733325318"/>
                  </a:ext>
                </a:extLst>
              </a:tr>
              <a:tr h="19512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rPr>
                        <a:t>Mobile Number </a:t>
                      </a:r>
                      <a:endParaRPr lang="en-US" sz="1200" b="0" i="0" u="none" strike="noStrike" dirty="0">
                        <a:solidFill>
                          <a:srgbClr val="000000"/>
                        </a:solidFill>
                        <a:effectLst/>
                        <a:latin typeface="Helvetica Neue"/>
                      </a:endParaRPr>
                    </a:p>
                  </a:txBody>
                  <a:tcPr marR="7620" marT="7620" marB="0" anchor="ctr"/>
                </a:tc>
                <a:extLst>
                  <a:ext uri="{0D108BD9-81ED-4DB2-BD59-A6C34878D82A}">
                    <a16:rowId xmlns:a16="http://schemas.microsoft.com/office/drawing/2014/main" val="94286461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615006595"/>
              </p:ext>
            </p:extLst>
          </p:nvPr>
        </p:nvGraphicFramePr>
        <p:xfrm>
          <a:off x="0" y="5496560"/>
          <a:ext cx="9308523" cy="1162459"/>
        </p:xfrm>
        <a:graphic>
          <a:graphicData uri="http://schemas.openxmlformats.org/drawingml/2006/table">
            <a:tbl>
              <a:tblPr>
                <a:tableStyleId>{5C22544A-7EE6-4342-B048-85BDC9FD1C3A}</a:tableStyleId>
              </a:tblPr>
              <a:tblGrid>
                <a:gridCol w="794885">
                  <a:extLst>
                    <a:ext uri="{9D8B030D-6E8A-4147-A177-3AD203B41FA5}">
                      <a16:colId xmlns:a16="http://schemas.microsoft.com/office/drawing/2014/main" val="1903307226"/>
                    </a:ext>
                  </a:extLst>
                </a:gridCol>
                <a:gridCol w="2405573">
                  <a:extLst>
                    <a:ext uri="{9D8B030D-6E8A-4147-A177-3AD203B41FA5}">
                      <a16:colId xmlns:a16="http://schemas.microsoft.com/office/drawing/2014/main" val="46068320"/>
                    </a:ext>
                  </a:extLst>
                </a:gridCol>
                <a:gridCol w="2154557">
                  <a:extLst>
                    <a:ext uri="{9D8B030D-6E8A-4147-A177-3AD203B41FA5}">
                      <a16:colId xmlns:a16="http://schemas.microsoft.com/office/drawing/2014/main" val="1844619078"/>
                    </a:ext>
                  </a:extLst>
                </a:gridCol>
                <a:gridCol w="962229">
                  <a:extLst>
                    <a:ext uri="{9D8B030D-6E8A-4147-A177-3AD203B41FA5}">
                      <a16:colId xmlns:a16="http://schemas.microsoft.com/office/drawing/2014/main" val="4192861244"/>
                    </a:ext>
                  </a:extLst>
                </a:gridCol>
                <a:gridCol w="983147">
                  <a:extLst>
                    <a:ext uri="{9D8B030D-6E8A-4147-A177-3AD203B41FA5}">
                      <a16:colId xmlns:a16="http://schemas.microsoft.com/office/drawing/2014/main" val="2796804053"/>
                    </a:ext>
                  </a:extLst>
                </a:gridCol>
                <a:gridCol w="1004066">
                  <a:extLst>
                    <a:ext uri="{9D8B030D-6E8A-4147-A177-3AD203B41FA5}">
                      <a16:colId xmlns:a16="http://schemas.microsoft.com/office/drawing/2014/main" val="1675175349"/>
                    </a:ext>
                  </a:extLst>
                </a:gridCol>
                <a:gridCol w="1004066">
                  <a:extLst>
                    <a:ext uri="{9D8B030D-6E8A-4147-A177-3AD203B41FA5}">
                      <a16:colId xmlns:a16="http://schemas.microsoft.com/office/drawing/2014/main" val="87836594"/>
                    </a:ext>
                  </a:extLst>
                </a:gridCol>
              </a:tblGrid>
              <a:tr h="308201">
                <a:tc>
                  <a:txBody>
                    <a:bodyPr/>
                    <a:lstStyle/>
                    <a:p>
                      <a:pPr algn="ctr" fontAlgn="ctr"/>
                      <a:r>
                        <a:rPr lang="en-US" sz="1400" u="none" strike="noStrike" dirty="0">
                          <a:effectLst/>
                          <a:latin typeface="Arial Black" panose="020B0A04020102020204" pitchFamily="34" charset="0"/>
                        </a:rPr>
                        <a:t>Short Code</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Type</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Area</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Invoice Flag</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Owner Group</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Smart Script</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rPr>
                        <a:t>SLA</a:t>
                      </a:r>
                      <a:endParaRPr lang="en-US" sz="14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extLst>
                  <a:ext uri="{0D108BD9-81ED-4DB2-BD59-A6C34878D82A}">
                    <a16:rowId xmlns:a16="http://schemas.microsoft.com/office/drawing/2014/main" val="500431077"/>
                  </a:ext>
                </a:extLst>
              </a:tr>
              <a:tr h="728119">
                <a:tc>
                  <a:txBody>
                    <a:bodyPr/>
                    <a:lstStyle/>
                    <a:p>
                      <a:pPr algn="ctr" fontAlgn="ctr"/>
                      <a:r>
                        <a:rPr lang="en-US" sz="1100" u="none" strike="noStrike" dirty="0">
                          <a:effectLst/>
                        </a:rPr>
                        <a:t>16008</a:t>
                      </a:r>
                      <a:endParaRPr lang="en-US" sz="1100" b="0" i="0" u="none" strike="noStrike" dirty="0">
                        <a:solidFill>
                          <a:srgbClr val="000000"/>
                        </a:solidFill>
                        <a:effectLst/>
                        <a:latin typeface="Helvetica Neue"/>
                      </a:endParaRPr>
                    </a:p>
                  </a:txBody>
                  <a:tcPr marL="7620" marR="7620" marT="7620" marB="0" anchor="ctr"/>
                </a:tc>
                <a:tc>
                  <a:txBody>
                    <a:bodyPr/>
                    <a:lstStyle/>
                    <a:p>
                      <a:pPr algn="ctr" fontAlgn="ctr"/>
                      <a:r>
                        <a:rPr lang="da-DK" sz="1100" u="none" strike="noStrike" dirty="0">
                          <a:effectLst/>
                        </a:rPr>
                        <a:t>DSL Acc Mod For Billing</a:t>
                      </a:r>
                      <a:endParaRPr lang="da-DK" sz="1100" b="0" i="0" u="none" strike="noStrike" dirty="0">
                        <a:solidFill>
                          <a:srgbClr val="000000"/>
                        </a:solidFill>
                        <a:effectLst/>
                        <a:latin typeface="Helvetica Neue"/>
                      </a:endParaRPr>
                    </a:p>
                  </a:txBody>
                  <a:tcPr marL="7620" marR="7620" marT="7620" marB="0" anchor="ctr"/>
                </a:tc>
                <a:tc>
                  <a:txBody>
                    <a:bodyPr/>
                    <a:lstStyle/>
                    <a:p>
                      <a:pPr algn="ctr" fontAlgn="ctr"/>
                      <a:r>
                        <a:rPr lang="en-US" sz="1100" u="none" strike="noStrike" dirty="0">
                          <a:effectLst/>
                        </a:rPr>
                        <a:t>Money Transfer​​</a:t>
                      </a:r>
                      <a:endParaRPr lang="en-US" sz="1100" b="0" i="0" u="none" strike="noStrike" dirty="0">
                        <a:solidFill>
                          <a:srgbClr val="000000"/>
                        </a:solidFill>
                        <a:effectLst/>
                        <a:latin typeface="Helvetica Neue"/>
                      </a:endParaRPr>
                    </a:p>
                  </a:txBody>
                  <a:tcPr marL="7620" marR="7620" marT="7620" marB="0" anchor="ctr"/>
                </a:tc>
                <a:tc>
                  <a:txBody>
                    <a:bodyPr/>
                    <a:lstStyle/>
                    <a:p>
                      <a:pPr algn="ctr" fontAlgn="ctr"/>
                      <a:r>
                        <a:rPr lang="en-US" sz="1100" u="none" strike="noStrike" dirty="0">
                          <a:effectLst/>
                        </a:rPr>
                        <a:t>Put Right Mark</a:t>
                      </a:r>
                      <a:endParaRPr lang="en-US" sz="1100" b="0" i="0" u="none" strike="noStrike" dirty="0">
                        <a:solidFill>
                          <a:srgbClr val="000000"/>
                        </a:solidFill>
                        <a:effectLst/>
                        <a:latin typeface="Helvetica Neue"/>
                      </a:endParaRPr>
                    </a:p>
                  </a:txBody>
                  <a:tcPr marL="7620" marR="7620" marT="7620" marB="0" anchor="ctr"/>
                </a:tc>
                <a:tc>
                  <a:txBody>
                    <a:bodyPr/>
                    <a:lstStyle/>
                    <a:p>
                      <a:pPr algn="ctr" fontAlgn="ctr"/>
                      <a:r>
                        <a:rPr lang="en-US" sz="1100" u="none" strike="noStrike">
                          <a:effectLst/>
                        </a:rPr>
                        <a:t>DSL CH Billing</a:t>
                      </a:r>
                      <a:endParaRPr lang="en-US" sz="1100" b="0" i="0" u="none" strike="noStrike">
                        <a:solidFill>
                          <a:srgbClr val="000000"/>
                        </a:solidFill>
                        <a:effectLst/>
                        <a:latin typeface="Helvetica Neue"/>
                      </a:endParaRPr>
                    </a:p>
                  </a:txBody>
                  <a:tcPr marL="7620" marR="7620" marT="7620" marB="0" anchor="ctr"/>
                </a:tc>
                <a:tc>
                  <a:txBody>
                    <a:bodyPr/>
                    <a:lstStyle/>
                    <a:p>
                      <a:pPr algn="ctr" fontAlgn="ctr"/>
                      <a:r>
                        <a:rPr lang="en-US" sz="1100" u="none" strike="noStrike">
                          <a:effectLst/>
                        </a:rPr>
                        <a:t>Yes</a:t>
                      </a:r>
                      <a:endParaRPr lang="en-US" sz="1100" b="0" i="0" u="none" strike="noStrike">
                        <a:solidFill>
                          <a:srgbClr val="000000"/>
                        </a:solidFill>
                        <a:effectLst/>
                        <a:latin typeface="Helvetica Neue"/>
                      </a:endParaRPr>
                    </a:p>
                  </a:txBody>
                  <a:tcPr marL="7620" marR="7620" marT="7620" marB="0" anchor="ctr"/>
                </a:tc>
                <a:tc>
                  <a:txBody>
                    <a:bodyPr/>
                    <a:lstStyle/>
                    <a:p>
                      <a:pPr algn="ctr" fontAlgn="ctr"/>
                      <a:r>
                        <a:rPr lang="en-US" sz="1100" u="none" strike="noStrike" dirty="0">
                          <a:effectLst/>
                        </a:rPr>
                        <a:t>48 </a:t>
                      </a:r>
                      <a:r>
                        <a:rPr lang="en-US" sz="1100" u="none" strike="noStrike" dirty="0" err="1">
                          <a:effectLst/>
                        </a:rPr>
                        <a:t>Whrs</a:t>
                      </a:r>
                      <a:endParaRPr lang="en-US" sz="11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3734414178"/>
                  </a:ext>
                </a:extLst>
              </a:tr>
            </a:tbl>
          </a:graphicData>
        </a:graphic>
      </p:graphicFrame>
    </p:spTree>
    <p:extLst>
      <p:ext uri="{BB962C8B-B14F-4D97-AF65-F5344CB8AC3E}">
        <p14:creationId xmlns:p14="http://schemas.microsoft.com/office/powerpoint/2010/main" val="374520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678180"/>
          </a:xfrm>
        </p:spPr>
        <p:txBody>
          <a:bodyPr>
            <a:normAutofit fontScale="90000"/>
          </a:bodyPr>
          <a:lstStyle/>
          <a:p>
            <a:r>
              <a:rPr lang="en-US" b="1" dirty="0">
                <a:solidFill>
                  <a:schemeClr val="tx1"/>
                </a:solidFill>
                <a:latin typeface="Arial Black" panose="020B0A04020102020204" pitchFamily="34" charset="0"/>
                <a:cs typeface="Arial" panose="020B0604020202020204" pitchFamily="34" charset="0"/>
              </a:rPr>
              <a:t>B&amp;C Offer</a:t>
            </a:r>
            <a:br>
              <a:rPr lang="ar-EG" b="1" dirty="0">
                <a:solidFill>
                  <a:schemeClr val="tx1"/>
                </a:solidFill>
                <a:latin typeface="Arial" panose="020B0604020202020204" pitchFamily="34" charset="0"/>
                <a:cs typeface="Arial" panose="020B0604020202020204" pitchFamily="34" charset="0"/>
              </a:rPr>
            </a:br>
            <a:endParaRPr lang="en-US" dirty="0">
              <a:solidFill>
                <a:schemeClr val="tx1"/>
              </a:solidFill>
            </a:endParaRPr>
          </a:p>
        </p:txBody>
      </p:sp>
      <p:sp>
        <p:nvSpPr>
          <p:cNvPr id="3" name="Content Placeholder 2"/>
          <p:cNvSpPr>
            <a:spLocks noGrp="1"/>
          </p:cNvSpPr>
          <p:nvPr>
            <p:ph idx="1"/>
          </p:nvPr>
        </p:nvSpPr>
        <p:spPr>
          <a:xfrm>
            <a:off x="0" y="586740"/>
            <a:ext cx="9274002" cy="6271259"/>
          </a:xfrm>
        </p:spPr>
        <p:txBody>
          <a:bodyPr/>
          <a:lstStyle/>
          <a:p>
            <a:r>
              <a:rPr lang="en-US" sz="1400" dirty="0">
                <a:latin typeface="Arial" panose="020B0604020202020204" pitchFamily="34" charset="0"/>
                <a:cs typeface="Arial" panose="020B0604020202020204" pitchFamily="34" charset="0"/>
              </a:rPr>
              <a:t>In case customer was contacted by Retention team and accepted an offer while the offer wasn't added after the agreed SLA.</a:t>
            </a:r>
          </a:p>
          <a:p>
            <a:r>
              <a:rPr lang="en-US" sz="1400" dirty="0">
                <a:latin typeface="Arial" panose="020B0604020202020204" pitchFamily="34" charset="0"/>
                <a:cs typeface="Arial" panose="020B0604020202020204" pitchFamily="34" charset="0"/>
              </a:rPr>
              <a:t>Or in case customer was already enjoying a Retention offer then downgraded his/her package and lost the offer and asked to re-add it.</a:t>
            </a: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In case customer is already subscribed​ on one of our existing offers and agent added it successfully but it wasn't reflected on Siebel yet</a:t>
            </a: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In case customer is complaining from wrong offer duration.</a:t>
            </a:r>
          </a:p>
          <a:p>
            <a:endParaRPr lang="en-US" sz="1400" dirty="0">
              <a:latin typeface="Arial" panose="020B0604020202020204" pitchFamily="34" charset="0"/>
              <a:cs typeface="Arial" panose="020B0604020202020204" pitchFamily="34" charset="0"/>
            </a:endParaRPr>
          </a:p>
          <a:p>
            <a:endParaRPr lang="en-US" sz="1400" dirty="0"/>
          </a:p>
          <a:p>
            <a:endParaRPr lang="en-US" sz="1400" dirty="0"/>
          </a:p>
          <a:p>
            <a:endParaRPr lang="en-US" sz="1400" dirty="0"/>
          </a:p>
          <a:p>
            <a:pPr marL="0" indent="0">
              <a:buNone/>
            </a:pP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920226597"/>
              </p:ext>
            </p:extLst>
          </p:nvPr>
        </p:nvGraphicFramePr>
        <p:xfrm>
          <a:off x="43961" y="1583789"/>
          <a:ext cx="5996354" cy="1197994"/>
        </p:xfrm>
        <a:graphic>
          <a:graphicData uri="http://schemas.openxmlformats.org/drawingml/2006/table">
            <a:tbl>
              <a:tblPr>
                <a:tableStyleId>{5C22544A-7EE6-4342-B048-85BDC9FD1C3A}</a:tableStyleId>
              </a:tblPr>
              <a:tblGrid>
                <a:gridCol w="1678979">
                  <a:extLst>
                    <a:ext uri="{9D8B030D-6E8A-4147-A177-3AD203B41FA5}">
                      <a16:colId xmlns:a16="http://schemas.microsoft.com/office/drawing/2014/main" val="2865313145"/>
                    </a:ext>
                  </a:extLst>
                </a:gridCol>
                <a:gridCol w="4317375">
                  <a:extLst>
                    <a:ext uri="{9D8B030D-6E8A-4147-A177-3AD203B41FA5}">
                      <a16:colId xmlns:a16="http://schemas.microsoft.com/office/drawing/2014/main" val="4059620450"/>
                    </a:ext>
                  </a:extLst>
                </a:gridCol>
              </a:tblGrid>
              <a:tr h="257060">
                <a:tc>
                  <a:txBody>
                    <a:bodyPr/>
                    <a:lstStyle/>
                    <a:p>
                      <a:pPr algn="l" fontAlgn="ctr"/>
                      <a:r>
                        <a:rPr lang="en-US" sz="1400" u="none" strike="noStrike" dirty="0">
                          <a:effectLst/>
                          <a:latin typeface="Arial Black" panose="020B0A04020102020204" pitchFamily="34" charset="0"/>
                          <a:cs typeface="Arial" panose="020B0604020202020204" pitchFamily="34" charset="0"/>
                        </a:rPr>
                        <a:t>Short Code</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cs typeface="Arial" panose="020B0604020202020204" pitchFamily="34" charset="0"/>
                        </a:rPr>
                        <a:t>33204</a:t>
                      </a:r>
                      <a:endParaRPr lang="en-US" sz="1400" b="1" i="0" u="none" strike="noStrike" dirty="0">
                        <a:solidFill>
                          <a:srgbClr val="000000"/>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1886655592"/>
                  </a:ext>
                </a:extLst>
              </a:tr>
              <a:tr h="257060">
                <a:tc>
                  <a:txBody>
                    <a:bodyPr/>
                    <a:lstStyle/>
                    <a:p>
                      <a:pPr algn="l" fontAlgn="ctr"/>
                      <a:r>
                        <a:rPr lang="en-US" sz="1400" u="none" strike="noStrike">
                          <a:effectLst/>
                          <a:latin typeface="Arial" panose="020B0604020202020204" pitchFamily="34" charset="0"/>
                          <a:cs typeface="Arial" panose="020B0604020202020204" pitchFamily="34" charset="0"/>
                        </a:rPr>
                        <a:t>Type</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DSL Fault For Offers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141232458"/>
                  </a:ext>
                </a:extLst>
              </a:tr>
              <a:tr h="182822">
                <a:tc>
                  <a:txBody>
                    <a:bodyPr/>
                    <a:lstStyle/>
                    <a:p>
                      <a:pPr algn="l" fontAlgn="ctr"/>
                      <a:r>
                        <a:rPr lang="en-US" sz="1400" u="none" strike="noStrike">
                          <a:effectLst/>
                          <a:latin typeface="Arial" panose="020B0604020202020204" pitchFamily="34" charset="0"/>
                          <a:cs typeface="Arial" panose="020B0604020202020204" pitchFamily="34" charset="0"/>
                        </a:rPr>
                        <a:t>Area</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Offer Not Added-Involuntary</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358623815"/>
                  </a:ext>
                </a:extLst>
              </a:tr>
              <a:tr h="241914">
                <a:tc>
                  <a:txBody>
                    <a:bodyPr/>
                    <a:lstStyle/>
                    <a:p>
                      <a:pPr algn="l" fontAlgn="ctr"/>
                      <a:r>
                        <a:rPr lang="en-US" sz="1400" u="none" strike="noStrike">
                          <a:effectLst/>
                          <a:latin typeface="Arial" panose="020B0604020202020204" pitchFamily="34" charset="0"/>
                          <a:cs typeface="Arial" panose="020B0604020202020204" pitchFamily="34" charset="0"/>
                        </a:rPr>
                        <a:t>Owner Group</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DSL Save &amp; Retention</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982782274"/>
                  </a:ext>
                </a:extLst>
              </a:tr>
              <a:tr h="190075">
                <a:tc>
                  <a:txBody>
                    <a:bodyPr/>
                    <a:lstStyle/>
                    <a:p>
                      <a:pPr algn="l" fontAlgn="ctr"/>
                      <a:r>
                        <a:rPr lang="en-US" sz="1400" u="none" strike="noStrike" dirty="0">
                          <a:effectLst/>
                          <a:latin typeface="Arial" panose="020B0604020202020204" pitchFamily="34" charset="0"/>
                          <a:cs typeface="Arial" panose="020B0604020202020204" pitchFamily="34" charset="0"/>
                        </a:rPr>
                        <a:t>SLA</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48 </a:t>
                      </a:r>
                      <a:r>
                        <a:rPr lang="en-US" sz="1400" u="none" strike="noStrike" dirty="0" err="1">
                          <a:effectLst/>
                          <a:latin typeface="Arial" panose="020B0604020202020204" pitchFamily="34" charset="0"/>
                          <a:cs typeface="Arial" panose="020B0604020202020204" pitchFamily="34" charset="0"/>
                        </a:rPr>
                        <a:t>WHrs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266246348"/>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546980313"/>
              </p:ext>
            </p:extLst>
          </p:nvPr>
        </p:nvGraphicFramePr>
        <p:xfrm>
          <a:off x="-40445" y="3251202"/>
          <a:ext cx="6084277" cy="1770926"/>
        </p:xfrm>
        <a:graphic>
          <a:graphicData uri="http://schemas.openxmlformats.org/drawingml/2006/table">
            <a:tbl>
              <a:tblPr>
                <a:tableStyleId>{5C22544A-7EE6-4342-B048-85BDC9FD1C3A}</a:tableStyleId>
              </a:tblPr>
              <a:tblGrid>
                <a:gridCol w="2192810">
                  <a:extLst>
                    <a:ext uri="{9D8B030D-6E8A-4147-A177-3AD203B41FA5}">
                      <a16:colId xmlns:a16="http://schemas.microsoft.com/office/drawing/2014/main" val="1980062670"/>
                    </a:ext>
                  </a:extLst>
                </a:gridCol>
                <a:gridCol w="3891467">
                  <a:extLst>
                    <a:ext uri="{9D8B030D-6E8A-4147-A177-3AD203B41FA5}">
                      <a16:colId xmlns:a16="http://schemas.microsoft.com/office/drawing/2014/main" val="3734983216"/>
                    </a:ext>
                  </a:extLst>
                </a:gridCol>
              </a:tblGrid>
              <a:tr h="236658">
                <a:tc>
                  <a:txBody>
                    <a:bodyPr/>
                    <a:lstStyle/>
                    <a:p>
                      <a:pPr algn="ctr" fontAlgn="ctr"/>
                      <a:r>
                        <a:rPr lang="en-US" sz="1400" u="none" strike="noStrike" dirty="0">
                          <a:effectLst/>
                          <a:latin typeface="Arial Black" panose="020B0A04020102020204" pitchFamily="34" charset="0"/>
                          <a:cs typeface="Arial" panose="020B0604020202020204" pitchFamily="34" charset="0"/>
                        </a:rPr>
                        <a:t>Short Code </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cs typeface="Arial" panose="020B0604020202020204" pitchFamily="34" charset="0"/>
                        </a:rPr>
                        <a:t>33203</a:t>
                      </a:r>
                      <a:endParaRPr lang="en-US" sz="1400" b="0" i="0" u="none" strike="noStrike" dirty="0">
                        <a:solidFill>
                          <a:srgbClr val="000000"/>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2248625398"/>
                  </a:ext>
                </a:extLst>
              </a:tr>
              <a:tr h="236658">
                <a:tc>
                  <a:txBody>
                    <a:bodyPr/>
                    <a:lstStyle/>
                    <a:p>
                      <a:pPr algn="ctr" fontAlgn="ctr"/>
                      <a:r>
                        <a:rPr lang="en-US" sz="1400" u="none" strike="noStrike" dirty="0">
                          <a:effectLst/>
                          <a:latin typeface="Arial" panose="020B0604020202020204" pitchFamily="34" charset="0"/>
                          <a:cs typeface="Arial" panose="020B0604020202020204" pitchFamily="34" charset="0"/>
                        </a:rPr>
                        <a:t>Type </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DSL Fau​lt For Offers</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31882336"/>
                  </a:ext>
                </a:extLst>
              </a:tr>
              <a:tr h="236658">
                <a:tc>
                  <a:txBody>
                    <a:bodyPr/>
                    <a:lstStyle/>
                    <a:p>
                      <a:pPr algn="ctr" fontAlgn="ctr"/>
                      <a:r>
                        <a:rPr lang="en-US" sz="1400" u="none" strike="noStrike" dirty="0">
                          <a:effectLst/>
                          <a:latin typeface="Arial" panose="020B0604020202020204" pitchFamily="34" charset="0"/>
                          <a:cs typeface="Arial" panose="020B0604020202020204" pitchFamily="34" charset="0"/>
                        </a:rPr>
                        <a:t>Area</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Offer Not Added</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061511536"/>
                  </a:ext>
                </a:extLst>
              </a:tr>
              <a:tr h="236658">
                <a:tc>
                  <a:txBody>
                    <a:bodyPr/>
                    <a:lstStyle/>
                    <a:p>
                      <a:pPr algn="ctr" fontAlgn="ctr"/>
                      <a:r>
                        <a:rPr lang="en-US" sz="1400" u="none" strike="noStrike" dirty="0">
                          <a:effectLst/>
                          <a:latin typeface="Arial" panose="020B0604020202020204" pitchFamily="34" charset="0"/>
                          <a:cs typeface="Arial" panose="020B0604020202020204" pitchFamily="34" charset="0"/>
                        </a:rPr>
                        <a:t>Offer</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DSL / DSL Offers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151000419"/>
                  </a:ext>
                </a:extLst>
              </a:tr>
              <a:tr h="293818">
                <a:tc>
                  <a:txBody>
                    <a:bodyPr/>
                    <a:lstStyle/>
                    <a:p>
                      <a:pPr algn="ctr" fontAlgn="ctr"/>
                      <a:r>
                        <a:rPr lang="en-US" sz="1400" u="none" strike="noStrike">
                          <a:effectLst/>
                          <a:latin typeface="Arial" panose="020B0604020202020204" pitchFamily="34" charset="0"/>
                          <a:cs typeface="Arial" panose="020B0604020202020204" pitchFamily="34" charset="0"/>
                        </a:rPr>
                        <a:t>Owner Group</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DSL Tariff Migration</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425289078"/>
                  </a:ext>
                </a:extLst>
              </a:tr>
              <a:tr h="293818">
                <a:tc>
                  <a:txBody>
                    <a:bodyPr/>
                    <a:lstStyle/>
                    <a:p>
                      <a:pPr algn="ctr" fontAlgn="ctr"/>
                      <a:r>
                        <a:rPr lang="en-US" sz="1400" u="none" strike="noStrike">
                          <a:effectLst/>
                          <a:latin typeface="Arial" panose="020B0604020202020204" pitchFamily="34" charset="0"/>
                          <a:cs typeface="Arial" panose="020B0604020202020204" pitchFamily="34" charset="0"/>
                        </a:rPr>
                        <a:t>Sub offer</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choose the needed offer</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896406870"/>
                  </a:ext>
                </a:extLst>
              </a:tr>
              <a:tr h="236658">
                <a:tc>
                  <a:txBody>
                    <a:bodyPr/>
                    <a:lstStyle/>
                    <a:p>
                      <a:pPr algn="ctr" fontAlgn="ctr"/>
                      <a:r>
                        <a:rPr lang="en-US" sz="1400" u="none" strike="noStrike" dirty="0">
                          <a:effectLst/>
                          <a:latin typeface="Arial" panose="020B0604020202020204" pitchFamily="34" charset="0"/>
                          <a:cs typeface="Arial" panose="020B0604020202020204" pitchFamily="34" charset="0"/>
                        </a:rPr>
                        <a:t>Smart Script</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Yes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66691181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006689622"/>
              </p:ext>
            </p:extLst>
          </p:nvPr>
        </p:nvGraphicFramePr>
        <p:xfrm>
          <a:off x="0" y="5283481"/>
          <a:ext cx="6040315" cy="1574518"/>
        </p:xfrm>
        <a:graphic>
          <a:graphicData uri="http://schemas.openxmlformats.org/drawingml/2006/table">
            <a:tbl>
              <a:tblPr>
                <a:tableStyleId>{5C22544A-7EE6-4342-B048-85BDC9FD1C3A}</a:tableStyleId>
              </a:tblPr>
              <a:tblGrid>
                <a:gridCol w="2176967">
                  <a:extLst>
                    <a:ext uri="{9D8B030D-6E8A-4147-A177-3AD203B41FA5}">
                      <a16:colId xmlns:a16="http://schemas.microsoft.com/office/drawing/2014/main" val="1886688066"/>
                    </a:ext>
                  </a:extLst>
                </a:gridCol>
                <a:gridCol w="3863348">
                  <a:extLst>
                    <a:ext uri="{9D8B030D-6E8A-4147-A177-3AD203B41FA5}">
                      <a16:colId xmlns:a16="http://schemas.microsoft.com/office/drawing/2014/main" val="3766321555"/>
                    </a:ext>
                  </a:extLst>
                </a:gridCol>
              </a:tblGrid>
              <a:tr h="312117">
                <a:tc>
                  <a:txBody>
                    <a:bodyPr/>
                    <a:lstStyle/>
                    <a:p>
                      <a:pPr algn="ctr" fontAlgn="ctr"/>
                      <a:r>
                        <a:rPr lang="en-US" sz="1400" b="0" u="none" strike="noStrike" dirty="0">
                          <a:effectLst/>
                          <a:latin typeface="Arial Black" panose="020B0A04020102020204" pitchFamily="34" charset="0"/>
                          <a:cs typeface="Arial" panose="020B0604020202020204" pitchFamily="34" charset="0"/>
                        </a:rPr>
                        <a:t>Short Code</a:t>
                      </a:r>
                      <a:endParaRPr lang="en-US" sz="1400" b="0"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b="0" u="none" strike="noStrike" dirty="0">
                          <a:effectLst/>
                          <a:latin typeface="Arial Black" panose="020B0A04020102020204" pitchFamily="34" charset="0"/>
                          <a:cs typeface="Arial" panose="020B0604020202020204" pitchFamily="34" charset="0"/>
                        </a:rPr>
                        <a:t>33201</a:t>
                      </a:r>
                      <a:endParaRPr lang="en-US" sz="1400" b="0" i="0" u="none" strike="noStrike" dirty="0">
                        <a:solidFill>
                          <a:srgbClr val="000000"/>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471717901"/>
                  </a:ext>
                </a:extLst>
              </a:tr>
              <a:tr h="312117">
                <a:tc>
                  <a:txBody>
                    <a:bodyPr/>
                    <a:lstStyle/>
                    <a:p>
                      <a:pPr algn="ctr" fontAlgn="ctr"/>
                      <a:r>
                        <a:rPr lang="en-US" sz="1400" b="0" u="none" strike="noStrike">
                          <a:effectLst/>
                          <a:latin typeface="Arial" panose="020B0604020202020204" pitchFamily="34" charset="0"/>
                          <a:cs typeface="Arial" panose="020B0604020202020204" pitchFamily="34" charset="0"/>
                        </a:rPr>
                        <a:t>Type</a:t>
                      </a:r>
                      <a:endParaRPr lang="en-US" sz="1400" b="0"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b="0" u="none" strike="noStrike">
                          <a:effectLst/>
                          <a:latin typeface="Arial" panose="020B0604020202020204" pitchFamily="34" charset="0"/>
                          <a:cs typeface="Arial" panose="020B0604020202020204" pitchFamily="34" charset="0"/>
                        </a:rPr>
                        <a:t>DSL Fault For Offers</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44369751"/>
                  </a:ext>
                </a:extLst>
              </a:tr>
              <a:tr h="312117">
                <a:tc>
                  <a:txBody>
                    <a:bodyPr/>
                    <a:lstStyle/>
                    <a:p>
                      <a:pPr algn="ctr" fontAlgn="ctr"/>
                      <a:r>
                        <a:rPr lang="en-US" sz="1400" b="0" u="none" strike="noStrike">
                          <a:effectLst/>
                          <a:latin typeface="Arial" panose="020B0604020202020204" pitchFamily="34" charset="0"/>
                          <a:cs typeface="Arial" panose="020B0604020202020204" pitchFamily="34" charset="0"/>
                        </a:rPr>
                        <a:t>Area</a:t>
                      </a:r>
                      <a:endParaRPr lang="en-US" sz="1400" b="0"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b="0" u="none" strike="noStrike" dirty="0">
                          <a:effectLst/>
                          <a:latin typeface="Arial" panose="020B0604020202020204" pitchFamily="34" charset="0"/>
                          <a:cs typeface="Arial" panose="020B0604020202020204" pitchFamily="34" charset="0"/>
                        </a:rPr>
                        <a:t>Offer Wrong Duration</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855375731"/>
                  </a:ext>
                </a:extLst>
              </a:tr>
              <a:tr h="326050">
                <a:tc>
                  <a:txBody>
                    <a:bodyPr/>
                    <a:lstStyle/>
                    <a:p>
                      <a:pPr algn="ctr" fontAlgn="ctr"/>
                      <a:r>
                        <a:rPr lang="en-US" sz="1400" b="0" u="none" strike="noStrike" dirty="0">
                          <a:effectLst/>
                          <a:latin typeface="Arial" panose="020B0604020202020204" pitchFamily="34" charset="0"/>
                          <a:cs typeface="Arial" panose="020B0604020202020204" pitchFamily="34" charset="0"/>
                        </a:rPr>
                        <a:t>Owner Group</a:t>
                      </a:r>
                      <a:endParaRPr lang="en-US" sz="1400" b="0"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b="0" u="none" strike="noStrike">
                          <a:effectLst/>
                          <a:latin typeface="Arial" panose="020B0604020202020204" pitchFamily="34" charset="0"/>
                          <a:cs typeface="Arial" panose="020B0604020202020204" pitchFamily="34" charset="0"/>
                        </a:rPr>
                        <a:t>DSL CH VAS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578315662"/>
                  </a:ext>
                </a:extLst>
              </a:tr>
              <a:tr h="312117">
                <a:tc>
                  <a:txBody>
                    <a:bodyPr/>
                    <a:lstStyle/>
                    <a:p>
                      <a:pPr algn="ctr" fontAlgn="ctr"/>
                      <a:r>
                        <a:rPr lang="en-US" sz="1400" b="0" u="none" strike="noStrike">
                          <a:effectLst/>
                          <a:latin typeface="Arial" panose="020B0604020202020204" pitchFamily="34" charset="0"/>
                          <a:cs typeface="Arial" panose="020B0604020202020204" pitchFamily="34" charset="0"/>
                        </a:rPr>
                        <a:t>SLA</a:t>
                      </a:r>
                      <a:endParaRPr lang="en-US" sz="1400" b="0"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b="0" u="none" strike="noStrike" dirty="0">
                          <a:effectLst/>
                          <a:latin typeface="Arial" panose="020B0604020202020204" pitchFamily="34" charset="0"/>
                          <a:cs typeface="Arial" panose="020B0604020202020204" pitchFamily="34" charset="0"/>
                        </a:rPr>
                        <a:t>48 </a:t>
                      </a:r>
                      <a:r>
                        <a:rPr lang="en-US" sz="1400" b="0" u="none" strike="noStrike" dirty="0" err="1">
                          <a:effectLst/>
                          <a:latin typeface="Arial" panose="020B0604020202020204" pitchFamily="34" charset="0"/>
                          <a:cs typeface="Arial" panose="020B0604020202020204" pitchFamily="34" charset="0"/>
                        </a:rPr>
                        <a:t>WHrs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040301085"/>
                  </a:ext>
                </a:extLst>
              </a:tr>
            </a:tbl>
          </a:graphicData>
        </a:graphic>
      </p:graphicFrame>
    </p:spTree>
    <p:extLst>
      <p:ext uri="{BB962C8B-B14F-4D97-AF65-F5344CB8AC3E}">
        <p14:creationId xmlns:p14="http://schemas.microsoft.com/office/powerpoint/2010/main" val="1774807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2240"/>
            <a:ext cx="9274002" cy="873760"/>
          </a:xfrm>
        </p:spPr>
        <p:txBody>
          <a:bodyPr>
            <a:normAutofit/>
          </a:bodyPr>
          <a:lstStyle/>
          <a:p>
            <a:pPr>
              <a:lnSpc>
                <a:spcPct val="150000"/>
              </a:lnSpc>
            </a:pPr>
            <a:r>
              <a:rPr lang="en-US" b="1" dirty="0">
                <a:solidFill>
                  <a:schemeClr val="tx1"/>
                </a:solidFill>
                <a:latin typeface="Arial Black" panose="020B0A04020102020204" pitchFamily="34" charset="0"/>
                <a:cs typeface="Arial" panose="020B0604020202020204" pitchFamily="34" charset="0"/>
              </a:rPr>
              <a:t>How to Pay</a:t>
            </a:r>
            <a:endParaRPr lang="ar-EG" b="1" dirty="0">
              <a:solidFill>
                <a:schemeClr val="tx1"/>
              </a:solidFill>
              <a:latin typeface="Arial Black" panose="020B0A04020102020204" pitchFamily="34" charset="0"/>
              <a:cs typeface="Arial" panose="020B0604020202020204" pitchFamily="34" charset="0"/>
            </a:endParaRPr>
          </a:p>
        </p:txBody>
      </p:sp>
      <p:sp>
        <p:nvSpPr>
          <p:cNvPr id="3" name="Content Placeholder 2"/>
          <p:cNvSpPr>
            <a:spLocks noGrp="1"/>
          </p:cNvSpPr>
          <p:nvPr>
            <p:ph idx="1"/>
          </p:nvPr>
        </p:nvSpPr>
        <p:spPr>
          <a:xfrm>
            <a:off x="91440" y="640080"/>
            <a:ext cx="9182562" cy="6217919"/>
          </a:xfrm>
        </p:spPr>
        <p:txBody>
          <a:bodyPr>
            <a:normAutofit/>
          </a:bodyPr>
          <a:lstStyle/>
          <a:p>
            <a:r>
              <a:rPr lang="en-US" sz="2000" b="1" u="sng" dirty="0">
                <a:solidFill>
                  <a:schemeClr val="accent1"/>
                </a:solidFill>
                <a:latin typeface="Arial Black" panose="020B0A04020102020204" pitchFamily="34" charset="0"/>
              </a:rPr>
              <a:t>Digital Channels </a:t>
            </a: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endParaRPr lang="en-US" b="1" u="sng" dirty="0">
              <a:solidFill>
                <a:schemeClr val="accent1"/>
              </a:solidFill>
            </a:endParaRPr>
          </a:p>
          <a:p>
            <a:pPr marL="0" indent="0">
              <a:buNone/>
            </a:pPr>
            <a:endParaRPr lang="en-US" u="sng" dirty="0">
              <a:solidFill>
                <a:schemeClr val="accent1"/>
              </a:solidFill>
            </a:endParaRP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280829113"/>
              </p:ext>
            </p:extLst>
          </p:nvPr>
        </p:nvGraphicFramePr>
        <p:xfrm>
          <a:off x="0" y="1158239"/>
          <a:ext cx="5862320" cy="5273040"/>
        </p:xfrm>
        <a:graphic>
          <a:graphicData uri="http://schemas.openxmlformats.org/drawingml/2006/table">
            <a:tbl>
              <a:tblPr>
                <a:tableStyleId>{5C22544A-7EE6-4342-B048-85BDC9FD1C3A}</a:tableStyleId>
              </a:tblPr>
              <a:tblGrid>
                <a:gridCol w="2931160">
                  <a:extLst>
                    <a:ext uri="{9D8B030D-6E8A-4147-A177-3AD203B41FA5}">
                      <a16:colId xmlns:a16="http://schemas.microsoft.com/office/drawing/2014/main" val="156370751"/>
                    </a:ext>
                  </a:extLst>
                </a:gridCol>
                <a:gridCol w="2931160">
                  <a:extLst>
                    <a:ext uri="{9D8B030D-6E8A-4147-A177-3AD203B41FA5}">
                      <a16:colId xmlns:a16="http://schemas.microsoft.com/office/drawing/2014/main" val="1625162553"/>
                    </a:ext>
                  </a:extLst>
                </a:gridCol>
              </a:tblGrid>
              <a:tr h="289728">
                <a:tc rowSpan="3">
                  <a:txBody>
                    <a:bodyPr/>
                    <a:lstStyle/>
                    <a:p>
                      <a:pPr algn="ctr" fontAlgn="ctr"/>
                      <a:r>
                        <a:rPr lang="en-US" sz="2000" u="none" strike="noStrike" dirty="0">
                          <a:effectLst/>
                          <a:latin typeface="Arial" panose="020B0604020202020204" pitchFamily="34" charset="0"/>
                          <a:cs typeface="Arial" panose="020B0604020202020204" pitchFamily="34" charset="0"/>
                        </a:rPr>
                        <a:t>1</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2000" u="none" strike="noStrike" dirty="0">
                          <a:effectLst/>
                          <a:latin typeface="Arial" panose="020B0604020202020204" pitchFamily="34" charset="0"/>
                          <a:cs typeface="Arial" panose="020B0604020202020204" pitchFamily="34" charset="0"/>
                        </a:rPr>
                        <a:t>My Orange App</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618856224"/>
                  </a:ext>
                </a:extLst>
              </a:tr>
              <a:tr h="301800">
                <a:tc vMerge="1">
                  <a:txBody>
                    <a:bodyPr/>
                    <a:lstStyle/>
                    <a:p>
                      <a:endParaRPr lang="en-US"/>
                    </a:p>
                  </a:txBody>
                  <a:tcPr/>
                </a:tc>
                <a:tc>
                  <a:txBody>
                    <a:bodyPr/>
                    <a:lstStyle/>
                    <a:p>
                      <a:pPr algn="l" fontAlgn="ctr"/>
                      <a:r>
                        <a:rPr lang="en-US" sz="2000" u="none" strike="noStrike" dirty="0">
                          <a:effectLst/>
                          <a:latin typeface="Arial" panose="020B0604020202020204" pitchFamily="34" charset="0"/>
                          <a:cs typeface="Arial" panose="020B0604020202020204" pitchFamily="34" charset="0"/>
                        </a:rPr>
                        <a:t>1.1.For IOS Users</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37292942"/>
                  </a:ext>
                </a:extLst>
              </a:tr>
              <a:tr h="301800">
                <a:tc vMerge="1">
                  <a:txBody>
                    <a:bodyPr/>
                    <a:lstStyle/>
                    <a:p>
                      <a:endParaRPr lang="en-US"/>
                    </a:p>
                  </a:txBody>
                  <a:tcPr/>
                </a:tc>
                <a:tc>
                  <a:txBody>
                    <a:bodyPr/>
                    <a:lstStyle/>
                    <a:p>
                      <a:pPr algn="l" fontAlgn="ctr"/>
                      <a:r>
                        <a:rPr lang="en-US" sz="2000" u="none" strike="noStrike" dirty="0">
                          <a:effectLst/>
                          <a:latin typeface="Arial" panose="020B0604020202020204" pitchFamily="34" charset="0"/>
                          <a:cs typeface="Arial" panose="020B0604020202020204" pitchFamily="34" charset="0"/>
                        </a:rPr>
                        <a:t>1.2. For Android Users</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521533284"/>
                  </a:ext>
                </a:extLst>
              </a:tr>
              <a:tr h="301800">
                <a:tc>
                  <a:txBody>
                    <a:bodyPr/>
                    <a:lstStyle/>
                    <a:p>
                      <a:pPr algn="ctr" fontAlgn="ctr"/>
                      <a:r>
                        <a:rPr lang="en-US" sz="2000" u="none" strike="noStrike" dirty="0">
                          <a:effectLst/>
                          <a:latin typeface="Arial" panose="020B0604020202020204" pitchFamily="34" charset="0"/>
                          <a:cs typeface="Arial" panose="020B0604020202020204" pitchFamily="34" charset="0"/>
                        </a:rPr>
                        <a:t>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2000" u="none" strike="noStrike" dirty="0">
                          <a:effectLst/>
                          <a:latin typeface="Arial" panose="020B0604020202020204" pitchFamily="34" charset="0"/>
                          <a:cs typeface="Arial" panose="020B0604020202020204" pitchFamily="34" charset="0"/>
                        </a:rPr>
                        <a:t>Orange Cash</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534454353"/>
                  </a:ext>
                </a:extLst>
              </a:tr>
              <a:tr h="301800">
                <a:tc>
                  <a:txBody>
                    <a:bodyPr/>
                    <a:lstStyle/>
                    <a:p>
                      <a:pPr algn="ctr" fontAlgn="ctr"/>
                      <a:r>
                        <a:rPr lang="en-US" sz="2000" u="none" strike="noStrike" dirty="0">
                          <a:effectLst/>
                          <a:latin typeface="Arial" panose="020B0604020202020204" pitchFamily="34" charset="0"/>
                          <a:cs typeface="Arial" panose="020B0604020202020204" pitchFamily="34" charset="0"/>
                        </a:rPr>
                        <a:t>3</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2000" u="none" strike="noStrike" dirty="0" err="1">
                          <a:effectLst/>
                          <a:latin typeface="Arial" panose="020B0604020202020204" pitchFamily="34" charset="0"/>
                          <a:cs typeface="Arial" panose="020B0604020202020204" pitchFamily="34" charset="0"/>
                        </a:rPr>
                        <a:t>Eas</a:t>
                      </a:r>
                      <a:r>
                        <a:rPr lang="en-US" sz="2000" u="none" strike="noStrike" dirty="0">
                          <a:effectLst/>
                          <a:latin typeface="Arial" panose="020B0604020202020204" pitchFamily="34" charset="0"/>
                          <a:cs typeface="Arial" panose="020B0604020202020204" pitchFamily="34" charset="0"/>
                        </a:rPr>
                        <a:t>​</a:t>
                      </a:r>
                      <a:r>
                        <a:rPr lang="en-US" sz="2000" u="none" strike="noStrike" dirty="0" err="1">
                          <a:effectLst/>
                          <a:latin typeface="Arial" panose="020B0604020202020204" pitchFamily="34" charset="0"/>
                          <a:cs typeface="Arial" panose="020B0604020202020204" pitchFamily="34" charset="0"/>
                        </a:rPr>
                        <a:t>yPay</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81929740"/>
                  </a:ext>
                </a:extLst>
              </a:tr>
              <a:tr h="555313">
                <a:tc>
                  <a:txBody>
                    <a:bodyPr/>
                    <a:lstStyle/>
                    <a:p>
                      <a:pPr algn="ctr" fontAlgn="ctr"/>
                      <a:r>
                        <a:rPr lang="en-US" sz="2000" u="none" strike="noStrike" dirty="0">
                          <a:effectLst/>
                          <a:latin typeface="Arial" panose="020B0604020202020204" pitchFamily="34" charset="0"/>
                          <a:cs typeface="Arial" panose="020B0604020202020204" pitchFamily="34" charset="0"/>
                        </a:rPr>
                        <a:t>4</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2000" u="none" strike="noStrike" dirty="0">
                          <a:effectLst/>
                          <a:latin typeface="Arial" panose="020B0604020202020204" pitchFamily="34" charset="0"/>
                          <a:cs typeface="Arial" panose="020B0604020202020204" pitchFamily="34" charset="0"/>
                        </a:rPr>
                        <a:t>Eligible tariffs to pay through IVR 400</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265261739"/>
                  </a:ext>
                </a:extLst>
              </a:tr>
              <a:tr h="301800">
                <a:tc>
                  <a:txBody>
                    <a:bodyPr/>
                    <a:lstStyle/>
                    <a:p>
                      <a:pPr algn="ctr" fontAlgn="ctr"/>
                      <a:r>
                        <a:rPr lang="en-US" sz="2000" u="none" strike="noStrike" dirty="0">
                          <a:effectLst/>
                          <a:latin typeface="Arial" panose="020B0604020202020204" pitchFamily="34" charset="0"/>
                          <a:cs typeface="Arial" panose="020B0604020202020204" pitchFamily="34" charset="0"/>
                        </a:rPr>
                        <a:t>5</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2000" u="none" strike="noStrike" dirty="0">
                          <a:effectLst/>
                          <a:latin typeface="Arial" panose="020B0604020202020204" pitchFamily="34" charset="0"/>
                          <a:cs typeface="Arial" panose="020B0604020202020204" pitchFamily="34" charset="0"/>
                        </a:rPr>
                        <a:t>Eligible tariffs to pay through #100#</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21515432"/>
                  </a:ext>
                </a:extLst>
              </a:tr>
              <a:tr h="555313">
                <a:tc>
                  <a:txBody>
                    <a:bodyPr/>
                    <a:lstStyle/>
                    <a:p>
                      <a:pPr algn="ctr" fontAlgn="ctr"/>
                      <a:r>
                        <a:rPr lang="en-US" sz="2000" u="none" strike="noStrike" dirty="0">
                          <a:effectLst/>
                          <a:latin typeface="Arial" panose="020B0604020202020204" pitchFamily="34" charset="0"/>
                          <a:cs typeface="Arial" panose="020B0604020202020204" pitchFamily="34" charset="0"/>
                        </a:rPr>
                        <a:t>6</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2000" u="none" strike="noStrike" dirty="0">
                          <a:effectLst/>
                          <a:latin typeface="Arial" panose="020B0604020202020204" pitchFamily="34" charset="0"/>
                          <a:cs typeface="Arial" panose="020B0604020202020204" pitchFamily="34" charset="0"/>
                        </a:rPr>
                        <a:t>Payment steps through 400 IVR</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375737816"/>
                  </a:ext>
                </a:extLst>
              </a:tr>
              <a:tr h="555313">
                <a:tc>
                  <a:txBody>
                    <a:bodyPr/>
                    <a:lstStyle/>
                    <a:p>
                      <a:pPr algn="ctr" fontAlgn="ctr"/>
                      <a:r>
                        <a:rPr lang="en-US" sz="2000" u="none" strike="noStrike" dirty="0">
                          <a:effectLst/>
                          <a:latin typeface="Arial" panose="020B0604020202020204" pitchFamily="34" charset="0"/>
                          <a:cs typeface="Arial" panose="020B0604020202020204" pitchFamily="34" charset="0"/>
                        </a:rPr>
                        <a:t>7</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2000" u="none" strike="noStrike" dirty="0">
                          <a:effectLst/>
                          <a:latin typeface="Arial" panose="020B0604020202020204" pitchFamily="34" charset="0"/>
                          <a:cs typeface="Arial" panose="020B0604020202020204" pitchFamily="34" charset="0"/>
                        </a:rPr>
                        <a:t>Check invoice steps through 400 IVR</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867481266"/>
                  </a:ext>
                </a:extLst>
              </a:tr>
              <a:tr h="301800">
                <a:tc rowSpan="2">
                  <a:txBody>
                    <a:bodyPr/>
                    <a:lstStyle/>
                    <a:p>
                      <a:pPr algn="ctr" fontAlgn="ctr"/>
                      <a:r>
                        <a:rPr lang="en-US" sz="2000" u="none" strike="noStrike" dirty="0">
                          <a:effectLst/>
                          <a:latin typeface="Arial" panose="020B0604020202020204" pitchFamily="34" charset="0"/>
                          <a:cs typeface="Arial" panose="020B0604020202020204" pitchFamily="34" charset="0"/>
                        </a:rPr>
                        <a:t>8</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2000" u="none" strike="noStrike" dirty="0">
                          <a:effectLst/>
                          <a:latin typeface="Arial" panose="020B0604020202020204" pitchFamily="34" charset="0"/>
                          <a:cs typeface="Arial" panose="020B0604020202020204" pitchFamily="34" charset="0"/>
                        </a:rPr>
                        <a:t>Orang​​e Portal</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856070203"/>
                  </a:ext>
                </a:extLst>
              </a:tr>
              <a:tr h="301800">
                <a:tc vMerge="1">
                  <a:txBody>
                    <a:bodyPr/>
                    <a:lstStyle/>
                    <a:p>
                      <a:endParaRPr lang="en-US"/>
                    </a:p>
                  </a:txBody>
                  <a:tcPr/>
                </a:tc>
                <a:tc>
                  <a:txBody>
                    <a:bodyPr/>
                    <a:lstStyle/>
                    <a:p>
                      <a:pPr algn="l" fontAlgn="ctr"/>
                      <a:r>
                        <a:rPr lang="en-US" sz="2000" u="none" strike="noStrike" dirty="0">
                          <a:effectLst/>
                          <a:latin typeface="Arial" panose="020B0604020202020204" pitchFamily="34" charset="0"/>
                          <a:cs typeface="Arial" panose="020B0604020202020204" pitchFamily="34" charset="0"/>
                        </a:rPr>
                        <a:t> How to pay through Portal</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293799979"/>
                  </a:ext>
                </a:extLst>
              </a:tr>
              <a:tr h="301800">
                <a:tc>
                  <a:txBody>
                    <a:bodyPr/>
                    <a:lstStyle/>
                    <a:p>
                      <a:pPr algn="ctr" fontAlgn="ctr"/>
                      <a:r>
                        <a:rPr lang="en-US" sz="2000" u="none" strike="noStrike" dirty="0">
                          <a:effectLst/>
                          <a:latin typeface="Arial" panose="020B0604020202020204" pitchFamily="34" charset="0"/>
                          <a:cs typeface="Arial" panose="020B0604020202020204" pitchFamily="34" charset="0"/>
                        </a:rPr>
                        <a:t>9</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2000" u="none" strike="noStrike" dirty="0">
                          <a:effectLst/>
                          <a:latin typeface="Arial" panose="020B0604020202020204" pitchFamily="34" charset="0"/>
                          <a:cs typeface="Arial" panose="020B0604020202020204" pitchFamily="34" charset="0"/>
                        </a:rPr>
                        <a:t>#16333# </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915291162"/>
                  </a:ext>
                </a:extLst>
              </a:tr>
            </a:tbl>
          </a:graphicData>
        </a:graphic>
      </p:graphicFrame>
    </p:spTree>
    <p:extLst>
      <p:ext uri="{BB962C8B-B14F-4D97-AF65-F5344CB8AC3E}">
        <p14:creationId xmlns:p14="http://schemas.microsoft.com/office/powerpoint/2010/main" val="2943528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 y="0"/>
            <a:ext cx="9202882" cy="816639"/>
          </a:xfrm>
        </p:spPr>
        <p:txBody>
          <a:bodyPr>
            <a:normAutofit fontScale="90000"/>
          </a:bodyPr>
          <a:lstStyle/>
          <a:p>
            <a:r>
              <a:rPr lang="en-US" sz="2200" b="1" u="sng" dirty="0"/>
              <a:t>Aggregators</a:t>
            </a:r>
            <a:br>
              <a:rPr lang="en-US" b="1" u="sng" dirty="0"/>
            </a:br>
            <a:br>
              <a:rPr lang="en-US" u="sng" dirty="0"/>
            </a:b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936223262"/>
              </p:ext>
            </p:extLst>
          </p:nvPr>
        </p:nvGraphicFramePr>
        <p:xfrm>
          <a:off x="0" y="670554"/>
          <a:ext cx="4907280" cy="4526280"/>
        </p:xfrm>
        <a:graphic>
          <a:graphicData uri="http://schemas.openxmlformats.org/drawingml/2006/table">
            <a:tbl>
              <a:tblPr>
                <a:tableStyleId>{5C22544A-7EE6-4342-B048-85BDC9FD1C3A}</a:tableStyleId>
              </a:tblPr>
              <a:tblGrid>
                <a:gridCol w="1768614">
                  <a:extLst>
                    <a:ext uri="{9D8B030D-6E8A-4147-A177-3AD203B41FA5}">
                      <a16:colId xmlns:a16="http://schemas.microsoft.com/office/drawing/2014/main" val="2942603586"/>
                    </a:ext>
                  </a:extLst>
                </a:gridCol>
                <a:gridCol w="3138666">
                  <a:extLst>
                    <a:ext uri="{9D8B030D-6E8A-4147-A177-3AD203B41FA5}">
                      <a16:colId xmlns:a16="http://schemas.microsoft.com/office/drawing/2014/main" val="699882779"/>
                    </a:ext>
                  </a:extLst>
                </a:gridCol>
              </a:tblGrid>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1</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err="1">
                          <a:effectLst/>
                        </a:rPr>
                        <a:t>Fawry</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861965023"/>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2</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Post Office</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613241438"/>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3</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ATM Machines</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31938530"/>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4</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Banks</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6040850"/>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5</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Internet Banking</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2330070662"/>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6</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Bee</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2312285263"/>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7</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err="1">
                          <a:effectLst/>
                        </a:rPr>
                        <a:t>Khadamaty</a:t>
                      </a:r>
                      <a:r>
                        <a:rPr lang="en-US" sz="1600" u="none" strike="noStrike" dirty="0">
                          <a:effectLst/>
                        </a:rPr>
                        <a:t> “Stopped”</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604917664"/>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8</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err="1">
                          <a:effectLst/>
                        </a:rPr>
                        <a:t>Aman</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325102295"/>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9</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err="1">
                          <a:effectLst/>
                        </a:rPr>
                        <a:t>Momken</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222791762"/>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10</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err="1">
                          <a:effectLst/>
                        </a:rPr>
                        <a:t>Masary</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005362191"/>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11</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err="1">
                          <a:effectLst/>
                        </a:rPr>
                        <a:t>Sadad</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581906032"/>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12</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err="1">
                          <a:effectLst/>
                        </a:rPr>
                        <a:t>Maxab</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989728389"/>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13</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err="1">
                          <a:effectLst/>
                        </a:rPr>
                        <a:t>Damen</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66807128"/>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14</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Magic Pay</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3686840616"/>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15</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Delta</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186401142"/>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16</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err="1">
                          <a:effectLst/>
                        </a:rPr>
                        <a:t>Geidea</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3716908918"/>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17</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err="1">
                          <a:effectLst/>
                        </a:rPr>
                        <a:t>Superpay</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4108746863"/>
                  </a:ext>
                </a:extLst>
              </a:tr>
              <a:tr h="239889">
                <a:tc>
                  <a:txBody>
                    <a:bodyPr/>
                    <a:lstStyle/>
                    <a:p>
                      <a:pPr algn="ctr" fontAlgn="ctr"/>
                      <a:r>
                        <a:rPr lang="en-US" sz="1600" u="none" strike="noStrike" dirty="0">
                          <a:effectLst/>
                          <a:latin typeface="Arial" panose="020B0604020202020204" pitchFamily="34" charset="0"/>
                          <a:cs typeface="Arial" panose="020B0604020202020204" pitchFamily="34" charset="0"/>
                        </a:rPr>
                        <a:t>18</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rPr>
                        <a:t>Nonintegrated Aggregators</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2331380494"/>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791815164"/>
              </p:ext>
            </p:extLst>
          </p:nvPr>
        </p:nvGraphicFramePr>
        <p:xfrm>
          <a:off x="7450296" y="1951409"/>
          <a:ext cx="1899285" cy="2408735"/>
        </p:xfrm>
        <a:graphic>
          <a:graphicData uri="http://schemas.openxmlformats.org/drawingml/2006/table">
            <a:tbl>
              <a:tblPr/>
              <a:tblGrid>
                <a:gridCol w="1899285">
                  <a:extLst>
                    <a:ext uri="{9D8B030D-6E8A-4147-A177-3AD203B41FA5}">
                      <a16:colId xmlns:a16="http://schemas.microsoft.com/office/drawing/2014/main" val="3687022363"/>
                    </a:ext>
                  </a:extLst>
                </a:gridCol>
              </a:tblGrid>
              <a:tr h="732144">
                <a:tc>
                  <a:txBody>
                    <a:bodyPr/>
                    <a:lstStyle/>
                    <a:p>
                      <a:pPr algn="ctr">
                        <a:spcAft>
                          <a:spcPts val="750"/>
                        </a:spcAft>
                      </a:pPr>
                      <a:r>
                        <a:rPr lang="en-US" b="1" dirty="0">
                          <a:solidFill>
                            <a:schemeClr val="tx1"/>
                          </a:solidFill>
                          <a:effectLst/>
                          <a:latin typeface="Helvetica Neue"/>
                        </a:rPr>
                        <a:t>Aggregator Name</a:t>
                      </a:r>
                      <a:endParaRPr lang="en-US" dirty="0">
                        <a:solidFill>
                          <a:schemeClr val="tx1"/>
                        </a:solidFill>
                        <a:effectLst/>
                        <a:latin typeface="Helvetica Neue"/>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788380829"/>
                  </a:ext>
                </a:extLst>
              </a:tr>
              <a:tr h="435567">
                <a:tc>
                  <a:txBody>
                    <a:bodyPr/>
                    <a:lstStyle/>
                    <a:p>
                      <a:pPr algn="ctr">
                        <a:spcAft>
                          <a:spcPts val="750"/>
                        </a:spcAft>
                      </a:pPr>
                      <a:r>
                        <a:rPr lang="en-US" dirty="0">
                          <a:effectLst/>
                          <a:latin typeface="Helvetica Neue"/>
                        </a:rPr>
                        <a:t>Cash Call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60152908"/>
                  </a:ext>
                </a:extLst>
              </a:tr>
              <a:tr h="314960">
                <a:tc>
                  <a:txBody>
                    <a:bodyPr/>
                    <a:lstStyle/>
                    <a:p>
                      <a:pPr algn="ctr">
                        <a:spcAft>
                          <a:spcPts val="750"/>
                        </a:spcAft>
                      </a:pPr>
                      <a:r>
                        <a:rPr lang="en-US" dirty="0" err="1">
                          <a:effectLst/>
                          <a:latin typeface="Helvetica Neue"/>
                        </a:rPr>
                        <a:t>Opay</a:t>
                      </a:r>
                      <a:endParaRPr lang="en-US" dirty="0">
                        <a:effectLst/>
                        <a:latin typeface="Helvetica Neue"/>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42715756"/>
                  </a:ext>
                </a:extLst>
              </a:tr>
              <a:tr h="308688">
                <a:tc>
                  <a:txBody>
                    <a:bodyPr/>
                    <a:lstStyle/>
                    <a:p>
                      <a:pPr algn="ctr">
                        <a:spcAft>
                          <a:spcPts val="750"/>
                        </a:spcAft>
                      </a:pPr>
                      <a:r>
                        <a:rPr lang="en-US" dirty="0" err="1">
                          <a:effectLst/>
                          <a:latin typeface="Helvetica Neue"/>
                        </a:rPr>
                        <a:t>Sahl</a:t>
                      </a:r>
                      <a:endParaRPr lang="en-US" dirty="0">
                        <a:effectLst/>
                        <a:latin typeface="Helvetica Neue"/>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83669121"/>
                  </a:ext>
                </a:extLst>
              </a:tr>
              <a:tr h="308688">
                <a:tc>
                  <a:txBody>
                    <a:bodyPr/>
                    <a:lstStyle/>
                    <a:p>
                      <a:pPr algn="ctr">
                        <a:spcAft>
                          <a:spcPts val="750"/>
                        </a:spcAft>
                      </a:pPr>
                      <a:r>
                        <a:rPr lang="en-US" dirty="0" err="1">
                          <a:effectLst/>
                          <a:latin typeface="Helvetica Neue"/>
                        </a:rPr>
                        <a:t>Jumia</a:t>
                      </a:r>
                      <a:endParaRPr lang="en-US" dirty="0">
                        <a:effectLst/>
                        <a:latin typeface="Helvetica Neue"/>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53634501"/>
                  </a:ext>
                </a:extLst>
              </a:tr>
              <a:tr h="308688">
                <a:tc>
                  <a:txBody>
                    <a:bodyPr/>
                    <a:lstStyle/>
                    <a:p>
                      <a:pPr algn="ctr">
                        <a:spcAft>
                          <a:spcPts val="750"/>
                        </a:spcAft>
                      </a:pPr>
                      <a:r>
                        <a:rPr lang="en-US" dirty="0">
                          <a:effectLst/>
                          <a:latin typeface="Helvetica Neue"/>
                        </a:rPr>
                        <a:t>Tal2a​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51037212"/>
                  </a:ext>
                </a:extLst>
              </a:tr>
            </a:tbl>
          </a:graphicData>
        </a:graphic>
      </p:graphicFrame>
      <p:sp>
        <p:nvSpPr>
          <p:cNvPr id="10" name="Rectangle 9"/>
          <p:cNvSpPr/>
          <p:nvPr/>
        </p:nvSpPr>
        <p:spPr>
          <a:xfrm>
            <a:off x="5100320" y="408319"/>
            <a:ext cx="6096000" cy="923330"/>
          </a:xfrm>
          <a:prstGeom prst="rect">
            <a:avLst/>
          </a:prstGeom>
        </p:spPr>
        <p:txBody>
          <a:bodyPr>
            <a:spAutoFit/>
          </a:bodyPr>
          <a:lstStyle/>
          <a:p>
            <a:pPr algn="r" rtl="1">
              <a:buFont typeface="Arial" panose="020B0604020202020204" pitchFamily="34" charset="0"/>
              <a:buChar char="•"/>
            </a:pPr>
            <a:r>
              <a:rPr lang="ar-SA" dirty="0">
                <a:solidFill>
                  <a:srgbClr val="000000"/>
                </a:solidFill>
                <a:latin typeface="Helvetica Neue"/>
                <a:cs typeface="tahoma" panose="020B0604030504040204" pitchFamily="34" charset="0"/>
              </a:rPr>
              <a:t>في حالة تلقي شكوي عميل بالدفع عن طريق اي طريقة دفع غير المجمع المخصصين ، يجب علي الموظف إبلاغ العميل بالرجوع إلى نفس المجمع الذي تم الدفع عن طريقه</a:t>
            </a:r>
            <a:endParaRPr lang="ar-SA" dirty="0">
              <a:solidFill>
                <a:srgbClr val="000000"/>
              </a:solidFill>
              <a:latin typeface="Helvetica Neue"/>
            </a:endParaRPr>
          </a:p>
        </p:txBody>
      </p:sp>
      <p:sp>
        <p:nvSpPr>
          <p:cNvPr id="15" name="Curved Right Arrow 14"/>
          <p:cNvSpPr/>
          <p:nvPr/>
        </p:nvSpPr>
        <p:spPr>
          <a:xfrm>
            <a:off x="6403816" y="1331649"/>
            <a:ext cx="1046480" cy="1431871"/>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58066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670560"/>
          </a:xfrm>
        </p:spPr>
        <p:txBody>
          <a:bodyPr>
            <a:normAutofit fontScale="90000"/>
          </a:bodyPr>
          <a:lstStyle/>
          <a:p>
            <a:r>
              <a:rPr lang="en-US" sz="2400" b="1" u="sng" dirty="0"/>
              <a:t>Credit Card A​pp</a:t>
            </a:r>
            <a:br>
              <a:rPr lang="en-US" sz="2400" b="1" u="sng" dirty="0"/>
            </a:br>
            <a:br>
              <a:rPr lang="en-US" sz="2400" b="1" u="sng" dirty="0"/>
            </a:br>
            <a:endParaRPr lang="en-US"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92217761"/>
              </p:ext>
            </p:extLst>
          </p:nvPr>
        </p:nvGraphicFramePr>
        <p:xfrm>
          <a:off x="0" y="477520"/>
          <a:ext cx="5963920" cy="1605280"/>
        </p:xfrm>
        <a:graphic>
          <a:graphicData uri="http://schemas.openxmlformats.org/drawingml/2006/table">
            <a:tbl>
              <a:tblPr>
                <a:tableStyleId>{5C22544A-7EE6-4342-B048-85BDC9FD1C3A}</a:tableStyleId>
              </a:tblPr>
              <a:tblGrid>
                <a:gridCol w="2149433">
                  <a:extLst>
                    <a:ext uri="{9D8B030D-6E8A-4147-A177-3AD203B41FA5}">
                      <a16:colId xmlns:a16="http://schemas.microsoft.com/office/drawing/2014/main" val="1633276077"/>
                    </a:ext>
                  </a:extLst>
                </a:gridCol>
                <a:gridCol w="3814487">
                  <a:extLst>
                    <a:ext uri="{9D8B030D-6E8A-4147-A177-3AD203B41FA5}">
                      <a16:colId xmlns:a16="http://schemas.microsoft.com/office/drawing/2014/main" val="687361463"/>
                    </a:ext>
                  </a:extLst>
                </a:gridCol>
              </a:tblGrid>
              <a:tr h="275190">
                <a:tc>
                  <a:txBody>
                    <a:bodyPr/>
                    <a:lstStyle/>
                    <a:p>
                      <a:pPr algn="ctr" fontAlgn="ctr"/>
                      <a:r>
                        <a:rPr lang="en-US" sz="1400" u="none" strike="noStrike" dirty="0">
                          <a:effectLst/>
                          <a:latin typeface="Arial" panose="020B0604020202020204" pitchFamily="34" charset="0"/>
                          <a:cs typeface="Arial" panose="020B0604020202020204" pitchFamily="34" charset="0"/>
                        </a:rPr>
                        <a:t>1</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400" u="none" strike="noStrike" dirty="0">
                          <a:effectLst/>
                          <a:latin typeface="Arial" panose="020B0604020202020204" pitchFamily="34" charset="0"/>
                          <a:cs typeface="Arial" panose="020B0604020202020204" pitchFamily="34" charset="0"/>
                        </a:rPr>
                        <a:t>Credit Card App</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941462870"/>
                  </a:ext>
                </a:extLst>
              </a:tr>
              <a:tr h="527450">
                <a:tc>
                  <a:txBody>
                    <a:bodyPr/>
                    <a:lstStyle/>
                    <a:p>
                      <a:pPr algn="ctr" fontAlgn="ctr"/>
                      <a:r>
                        <a:rPr lang="en-US" sz="1400" u="none" strike="noStrike" dirty="0">
                          <a:effectLst/>
                          <a:latin typeface="Arial" panose="020B0604020202020204" pitchFamily="34" charset="0"/>
                          <a:cs typeface="Arial" panose="020B0604020202020204" pitchFamily="34" charset="0"/>
                        </a:rPr>
                        <a:t>2</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400" u="none" strike="noStrike">
                          <a:effectLst/>
                          <a:latin typeface="Arial" panose="020B0604020202020204" pitchFamily="34" charset="0"/>
                          <a:cs typeface="Arial" panose="020B0604020202020204" pitchFamily="34" charset="0"/>
                        </a:rPr>
                        <a:t>Direct Debit through Shops</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244140607"/>
                  </a:ext>
                </a:extLst>
              </a:tr>
              <a:tr h="275190">
                <a:tc>
                  <a:txBody>
                    <a:bodyPr/>
                    <a:lstStyle/>
                    <a:p>
                      <a:pPr algn="ctr" fontAlgn="ctr"/>
                      <a:r>
                        <a:rPr lang="en-US" sz="1400" u="none" strike="noStrike" dirty="0">
                          <a:effectLst/>
                          <a:latin typeface="Arial" panose="020B0604020202020204" pitchFamily="34" charset="0"/>
                          <a:cs typeface="Arial" panose="020B0604020202020204" pitchFamily="34" charset="0"/>
                        </a:rPr>
                        <a:t>3</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400" u="none" strike="noStrike" dirty="0">
                          <a:effectLst/>
                          <a:latin typeface="Arial" panose="020B0604020202020204" pitchFamily="34" charset="0"/>
                          <a:cs typeface="Arial" panose="020B0604020202020204" pitchFamily="34" charset="0"/>
                        </a:rPr>
                        <a:t>​Shop Age​</a:t>
                      </a:r>
                      <a:r>
                        <a:rPr lang="en-US" sz="1400" u="none" strike="noStrike" dirty="0" err="1">
                          <a:effectLst/>
                          <a:latin typeface="Arial" panose="020B0604020202020204" pitchFamily="34" charset="0"/>
                          <a:cs typeface="Arial" panose="020B0604020202020204" pitchFamily="34" charset="0"/>
                        </a:rPr>
                        <a:t>nts</a:t>
                      </a:r>
                      <a:r>
                        <a:rPr lang="en-US" sz="1400" u="none" strike="noStrike" dirty="0">
                          <a:effectLst/>
                          <a:latin typeface="Arial" panose="020B0604020202020204" pitchFamily="34" charset="0"/>
                          <a:cs typeface="Arial" panose="020B0604020202020204" pitchFamily="34" charset="0"/>
                        </a:rPr>
                        <a:t> Roles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195651545"/>
                  </a:ext>
                </a:extLst>
              </a:tr>
              <a:tr h="527450">
                <a:tc>
                  <a:txBody>
                    <a:bodyPr/>
                    <a:lstStyle/>
                    <a:p>
                      <a:pPr algn="ctr" fontAlgn="ctr"/>
                      <a:r>
                        <a:rPr lang="en-US" sz="1400" u="none" strike="noStrike" dirty="0">
                          <a:effectLst/>
                          <a:latin typeface="Arial" panose="020B0604020202020204" pitchFamily="34" charset="0"/>
                          <a:cs typeface="Arial" panose="020B0604020202020204" pitchFamily="34" charset="0"/>
                        </a:rPr>
                        <a:t>4</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400" u="none" strike="noStrike" dirty="0">
                          <a:effectLst/>
                          <a:latin typeface="Arial" panose="020B0604020202020204" pitchFamily="34" charset="0"/>
                          <a:cs typeface="Arial" panose="020B0604020202020204" pitchFamily="34" charset="0"/>
                        </a:rPr>
                        <a:t>DSL Dire​</a:t>
                      </a:r>
                      <a:r>
                        <a:rPr lang="en-US" sz="1400" u="none" strike="noStrike" dirty="0" err="1">
                          <a:effectLst/>
                          <a:latin typeface="Arial" panose="020B0604020202020204" pitchFamily="34" charset="0"/>
                          <a:cs typeface="Arial" panose="020B0604020202020204" pitchFamily="34" charset="0"/>
                        </a:rPr>
                        <a:t>ct</a:t>
                      </a:r>
                      <a:r>
                        <a:rPr lang="en-US" sz="1400" u="none" strike="noStrike" dirty="0">
                          <a:effectLst/>
                          <a:latin typeface="Arial" panose="020B0604020202020204" pitchFamily="34" charset="0"/>
                          <a:cs typeface="Arial" panose="020B0604020202020204" pitchFamily="34" charset="0"/>
                        </a:rPr>
                        <a:t> Debit through Call Center</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859237807"/>
                  </a:ext>
                </a:extLst>
              </a:tr>
            </a:tbl>
          </a:graphicData>
        </a:graphic>
      </p:graphicFrame>
      <p:sp>
        <p:nvSpPr>
          <p:cNvPr id="5" name="Rectangle 4"/>
          <p:cNvSpPr/>
          <p:nvPr/>
        </p:nvSpPr>
        <p:spPr>
          <a:xfrm>
            <a:off x="0" y="2082800"/>
            <a:ext cx="7038559" cy="461665"/>
          </a:xfrm>
          <a:prstGeom prst="rect">
            <a:avLst/>
          </a:prstGeom>
        </p:spPr>
        <p:txBody>
          <a:bodyPr wrap="square">
            <a:spAutoFit/>
          </a:bodyPr>
          <a:lstStyle/>
          <a:p>
            <a:r>
              <a:rPr lang="en-US" sz="2400" b="1" i="0" u="sng" dirty="0">
                <a:solidFill>
                  <a:schemeClr val="accent1"/>
                </a:solidFill>
                <a:effectLst/>
                <a:latin typeface="Helvetica Neue"/>
              </a:rPr>
              <a:t>Orange Cash</a:t>
            </a:r>
          </a:p>
        </p:txBody>
      </p:sp>
      <p:graphicFrame>
        <p:nvGraphicFramePr>
          <p:cNvPr id="8" name="Table 7"/>
          <p:cNvGraphicFramePr>
            <a:graphicFrameLocks noGrp="1"/>
          </p:cNvGraphicFramePr>
          <p:nvPr>
            <p:extLst>
              <p:ext uri="{D42A27DB-BD31-4B8C-83A1-F6EECF244321}">
                <p14:modId xmlns:p14="http://schemas.microsoft.com/office/powerpoint/2010/main" val="3094719446"/>
              </p:ext>
            </p:extLst>
          </p:nvPr>
        </p:nvGraphicFramePr>
        <p:xfrm>
          <a:off x="0" y="2621278"/>
          <a:ext cx="5963920" cy="4165605"/>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648936753"/>
                    </a:ext>
                  </a:extLst>
                </a:gridCol>
                <a:gridCol w="3860800">
                  <a:extLst>
                    <a:ext uri="{9D8B030D-6E8A-4147-A177-3AD203B41FA5}">
                      <a16:colId xmlns:a16="http://schemas.microsoft.com/office/drawing/2014/main" val="2215221923"/>
                    </a:ext>
                  </a:extLst>
                </a:gridCol>
              </a:tblGrid>
              <a:tr h="270097">
                <a:tc rowSpan="3">
                  <a:txBody>
                    <a:bodyPr/>
                    <a:lstStyle/>
                    <a:p>
                      <a:pPr algn="ctr" fontAlgn="ctr"/>
                      <a:r>
                        <a:rPr lang="en-US" sz="1400" u="none" strike="noStrike" dirty="0">
                          <a:effectLst/>
                          <a:latin typeface="Arial" panose="020B0604020202020204" pitchFamily="34" charset="0"/>
                          <a:cs typeface="Arial" panose="020B0604020202020204" pitchFamily="34" charset="0"/>
                        </a:rPr>
                        <a:t>1</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600" u="none" strike="noStrike" dirty="0">
                          <a:effectLst/>
                        </a:rPr>
                        <a:t>My Orange App</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1335582676"/>
                  </a:ext>
                </a:extLst>
              </a:tr>
              <a:tr h="270097">
                <a:tc vMerge="1">
                  <a:txBody>
                    <a:bodyPr/>
                    <a:lstStyle/>
                    <a:p>
                      <a:endParaRPr lang="en-US"/>
                    </a:p>
                  </a:txBody>
                  <a:tcPr/>
                </a:tc>
                <a:tc>
                  <a:txBody>
                    <a:bodyPr/>
                    <a:lstStyle/>
                    <a:p>
                      <a:pPr algn="l" fontAlgn="ctr"/>
                      <a:r>
                        <a:rPr lang="en-US" sz="1600" u="none" strike="noStrike" dirty="0">
                          <a:effectLst/>
                        </a:rPr>
                        <a:t>1.1.For IOS Users</a:t>
                      </a:r>
                      <a:endParaRPr lang="en-US" sz="16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3930563503"/>
                  </a:ext>
                </a:extLst>
              </a:tr>
              <a:tr h="270097">
                <a:tc vMerge="1">
                  <a:txBody>
                    <a:bodyPr/>
                    <a:lstStyle/>
                    <a:p>
                      <a:endParaRPr lang="en-US"/>
                    </a:p>
                  </a:txBody>
                  <a:tcPr/>
                </a:tc>
                <a:tc>
                  <a:txBody>
                    <a:bodyPr/>
                    <a:lstStyle/>
                    <a:p>
                      <a:pPr algn="l" fontAlgn="ctr"/>
                      <a:r>
                        <a:rPr lang="en-US" sz="1600" u="none" strike="noStrike">
                          <a:effectLst/>
                          <a:latin typeface="Arial" panose="020B0604020202020204" pitchFamily="34" charset="0"/>
                          <a:cs typeface="Arial" panose="020B0604020202020204" pitchFamily="34" charset="0"/>
                        </a:rPr>
                        <a:t>1.2. For Android Users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969735615"/>
                  </a:ext>
                </a:extLst>
              </a:tr>
              <a:tr h="270097">
                <a:tc>
                  <a:txBody>
                    <a:bodyPr/>
                    <a:lstStyle/>
                    <a:p>
                      <a:pPr algn="ctr" fontAlgn="ctr"/>
                      <a:r>
                        <a:rPr lang="en-US" sz="1400" u="none" strike="noStrike" dirty="0">
                          <a:effectLst/>
                          <a:latin typeface="Arial" panose="020B0604020202020204" pitchFamily="34" charset="0"/>
                          <a:cs typeface="Arial" panose="020B0604020202020204" pitchFamily="34" charset="0"/>
                        </a:rPr>
                        <a:t>2</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600" u="none" strike="noStrike">
                          <a:effectLst/>
                          <a:latin typeface="Arial" panose="020B0604020202020204" pitchFamily="34" charset="0"/>
                          <a:cs typeface="Arial" panose="020B0604020202020204" pitchFamily="34" charset="0"/>
                        </a:rPr>
                        <a:t>Orange Cash</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202477321"/>
                  </a:ext>
                </a:extLst>
              </a:tr>
              <a:tr h="270097">
                <a:tc>
                  <a:txBody>
                    <a:bodyPr/>
                    <a:lstStyle/>
                    <a:p>
                      <a:pPr algn="ctr" fontAlgn="ctr"/>
                      <a:r>
                        <a:rPr lang="en-US" sz="1400" u="none" strike="noStrike" dirty="0">
                          <a:effectLst/>
                          <a:latin typeface="Arial" panose="020B0604020202020204" pitchFamily="34" charset="0"/>
                          <a:cs typeface="Arial" panose="020B0604020202020204" pitchFamily="34" charset="0"/>
                        </a:rPr>
                        <a:t>3</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600" u="none" strike="noStrike">
                          <a:effectLst/>
                          <a:latin typeface="Arial" panose="020B0604020202020204" pitchFamily="34" charset="0"/>
                          <a:cs typeface="Arial" panose="020B0604020202020204" pitchFamily="34" charset="0"/>
                        </a:rPr>
                        <a:t>Eas​yPay</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085933336"/>
                  </a:ext>
                </a:extLst>
              </a:tr>
              <a:tr h="456972">
                <a:tc>
                  <a:txBody>
                    <a:bodyPr/>
                    <a:lstStyle/>
                    <a:p>
                      <a:pPr algn="ctr" fontAlgn="ctr"/>
                      <a:r>
                        <a:rPr lang="en-US" sz="1400" u="none" strike="noStrike" dirty="0">
                          <a:effectLst/>
                          <a:latin typeface="Arial" panose="020B0604020202020204" pitchFamily="34" charset="0"/>
                          <a:cs typeface="Arial" panose="020B0604020202020204" pitchFamily="34" charset="0"/>
                        </a:rPr>
                        <a:t>4</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600" u="none" strike="noStrike" dirty="0">
                          <a:effectLst/>
                          <a:latin typeface="Arial" panose="020B0604020202020204" pitchFamily="34" charset="0"/>
                          <a:cs typeface="Arial" panose="020B0604020202020204" pitchFamily="34" charset="0"/>
                        </a:rPr>
                        <a:t>Eligible tariffs to pay through IVR 400</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233153092"/>
                  </a:ext>
                </a:extLst>
              </a:tr>
              <a:tr h="456972">
                <a:tc>
                  <a:txBody>
                    <a:bodyPr/>
                    <a:lstStyle/>
                    <a:p>
                      <a:pPr algn="ctr" fontAlgn="ctr"/>
                      <a:r>
                        <a:rPr lang="en-US" sz="1400" u="none" strike="noStrike" dirty="0">
                          <a:effectLst/>
                          <a:latin typeface="Arial" panose="020B0604020202020204" pitchFamily="34" charset="0"/>
                          <a:cs typeface="Arial" panose="020B0604020202020204" pitchFamily="34" charset="0"/>
                        </a:rPr>
                        <a:t>5</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600" u="none" strike="noStrike" dirty="0">
                          <a:effectLst/>
                          <a:latin typeface="Arial" panose="020B0604020202020204" pitchFamily="34" charset="0"/>
                          <a:cs typeface="Arial" panose="020B0604020202020204" pitchFamily="34" charset="0"/>
                        </a:rPr>
                        <a:t>Eligible tariffs to pay through #100#</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489817520"/>
                  </a:ext>
                </a:extLst>
              </a:tr>
              <a:tr h="456972">
                <a:tc>
                  <a:txBody>
                    <a:bodyPr/>
                    <a:lstStyle/>
                    <a:p>
                      <a:pPr algn="ctr" fontAlgn="ctr"/>
                      <a:r>
                        <a:rPr lang="en-US" sz="1400" u="none" strike="noStrike" dirty="0">
                          <a:effectLst/>
                          <a:latin typeface="Arial" panose="020B0604020202020204" pitchFamily="34" charset="0"/>
                          <a:cs typeface="Arial" panose="020B0604020202020204" pitchFamily="34" charset="0"/>
                        </a:rPr>
                        <a:t>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600" u="none" strike="noStrike">
                          <a:effectLst/>
                          <a:latin typeface="Arial" panose="020B0604020202020204" pitchFamily="34" charset="0"/>
                          <a:cs typeface="Arial" panose="020B0604020202020204" pitchFamily="34" charset="0"/>
                        </a:rPr>
                        <a:t>Payment steps through 400 IVR</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003347871"/>
                  </a:ext>
                </a:extLst>
              </a:tr>
              <a:tr h="456972">
                <a:tc>
                  <a:txBody>
                    <a:bodyPr/>
                    <a:lstStyle/>
                    <a:p>
                      <a:pPr algn="ctr" fontAlgn="ctr"/>
                      <a:r>
                        <a:rPr lang="en-US" sz="1400" u="none" strike="noStrike" dirty="0">
                          <a:effectLst/>
                          <a:latin typeface="Arial" panose="020B0604020202020204" pitchFamily="34" charset="0"/>
                          <a:cs typeface="Arial" panose="020B0604020202020204" pitchFamily="34" charset="0"/>
                        </a:rPr>
                        <a:t>7</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600" u="none" strike="noStrike">
                          <a:effectLst/>
                          <a:latin typeface="Arial" panose="020B0604020202020204" pitchFamily="34" charset="0"/>
                          <a:cs typeface="Arial" panose="020B0604020202020204" pitchFamily="34" charset="0"/>
                        </a:rPr>
                        <a:t>Check invoice steps through 400 IVR</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000006700"/>
                  </a:ext>
                </a:extLst>
              </a:tr>
              <a:tr h="270097">
                <a:tc rowSpan="2">
                  <a:txBody>
                    <a:bodyPr/>
                    <a:lstStyle/>
                    <a:p>
                      <a:pPr algn="ctr" fontAlgn="ctr"/>
                      <a:r>
                        <a:rPr lang="en-US" sz="1400" u="none" strike="noStrike" dirty="0">
                          <a:effectLst/>
                          <a:latin typeface="Arial" panose="020B0604020202020204" pitchFamily="34" charset="0"/>
                          <a:cs typeface="Arial" panose="020B0604020202020204" pitchFamily="34" charset="0"/>
                        </a:rPr>
                        <a:t>8</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600" u="none" strike="noStrike" dirty="0">
                          <a:effectLst/>
                          <a:latin typeface="Arial" panose="020B0604020202020204" pitchFamily="34" charset="0"/>
                          <a:cs typeface="Arial" panose="020B0604020202020204" pitchFamily="34" charset="0"/>
                        </a:rPr>
                        <a:t>Orang​​e Portal</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89345"/>
                  </a:ext>
                </a:extLst>
              </a:tr>
              <a:tr h="447038">
                <a:tc vMerge="1">
                  <a:txBody>
                    <a:bodyPr/>
                    <a:lstStyle/>
                    <a:p>
                      <a:endParaRPr lang="en-US"/>
                    </a:p>
                  </a:txBody>
                  <a:tcPr/>
                </a:tc>
                <a:tc>
                  <a:txBody>
                    <a:bodyPr/>
                    <a:lstStyle/>
                    <a:p>
                      <a:pPr algn="ctr" fontAlgn="ctr"/>
                      <a:r>
                        <a:rPr lang="en-US" sz="1600" u="none" strike="noStrike" dirty="0">
                          <a:effectLst/>
                          <a:latin typeface="Arial" panose="020B0604020202020204" pitchFamily="34" charset="0"/>
                          <a:cs typeface="Arial" panose="020B0604020202020204" pitchFamily="34" charset="0"/>
                        </a:rPr>
                        <a:t>8.1. How to pay through Portal</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833178285"/>
                  </a:ext>
                </a:extLst>
              </a:tr>
              <a:tr h="270097">
                <a:tc>
                  <a:txBody>
                    <a:bodyPr/>
                    <a:lstStyle/>
                    <a:p>
                      <a:pPr algn="ctr" fontAlgn="ctr"/>
                      <a:r>
                        <a:rPr lang="en-US" sz="1400" u="none" strike="noStrike" dirty="0">
                          <a:effectLst/>
                          <a:latin typeface="Arial" panose="020B0604020202020204" pitchFamily="34" charset="0"/>
                          <a:cs typeface="Arial" panose="020B0604020202020204" pitchFamily="34" charset="0"/>
                        </a:rPr>
                        <a:t>9</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l" fontAlgn="ctr"/>
                      <a:r>
                        <a:rPr lang="en-US" sz="1600" u="none" strike="noStrike" dirty="0">
                          <a:effectLst/>
                          <a:latin typeface="Arial" panose="020B0604020202020204" pitchFamily="34" charset="0"/>
                          <a:cs typeface="Arial" panose="020B0604020202020204" pitchFamily="34" charset="0"/>
                        </a:rPr>
                        <a:t>#16333# </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766021743"/>
                  </a:ext>
                </a:extLst>
              </a:tr>
            </a:tbl>
          </a:graphicData>
        </a:graphic>
      </p:graphicFrame>
    </p:spTree>
    <p:extLst>
      <p:ext uri="{BB962C8B-B14F-4D97-AF65-F5344CB8AC3E}">
        <p14:creationId xmlns:p14="http://schemas.microsoft.com/office/powerpoint/2010/main" val="2950229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619760"/>
          </a:xfrm>
        </p:spPr>
        <p:txBody>
          <a:bodyPr>
            <a:normAutofit fontScale="90000"/>
          </a:bodyPr>
          <a:lstStyle/>
          <a:p>
            <a:r>
              <a:rPr lang="en-US" b="1" dirty="0">
                <a:solidFill>
                  <a:schemeClr val="tx1"/>
                </a:solidFill>
                <a:latin typeface="Arial Black" panose="020B0A04020102020204" pitchFamily="34" charset="0"/>
                <a:cs typeface="Arial" panose="020B0604020202020204" pitchFamily="34" charset="0"/>
              </a:rPr>
              <a:t>Active Payment Dispute</a:t>
            </a:r>
            <a:br>
              <a:rPr lang="ar-EG" b="1" dirty="0">
                <a:solidFill>
                  <a:schemeClr val="tx1"/>
                </a:solidFill>
                <a:latin typeface="Arial" panose="020B0604020202020204" pitchFamily="34" charset="0"/>
                <a:cs typeface="Arial" panose="020B0604020202020204" pitchFamily="34" charset="0"/>
              </a:rPr>
            </a:br>
            <a:endParaRPr lang="en-US" dirty="0">
              <a:solidFill>
                <a:schemeClr val="tx1"/>
              </a:solidFill>
            </a:endParaRPr>
          </a:p>
        </p:txBody>
      </p:sp>
      <p:sp>
        <p:nvSpPr>
          <p:cNvPr id="3" name="Content Placeholder 2"/>
          <p:cNvSpPr>
            <a:spLocks noGrp="1"/>
          </p:cNvSpPr>
          <p:nvPr>
            <p:ph idx="1"/>
          </p:nvPr>
        </p:nvSpPr>
        <p:spPr>
          <a:xfrm>
            <a:off x="0" y="497840"/>
            <a:ext cx="9448800" cy="6360159"/>
          </a:xfrm>
        </p:spPr>
        <p:txBody>
          <a:bodyPr>
            <a:normAutofit/>
          </a:bodyPr>
          <a:lstStyle/>
          <a:p>
            <a:r>
              <a:rPr lang="en-US" dirty="0">
                <a:latin typeface="Arial" panose="020B0604020202020204" pitchFamily="34" charset="0"/>
                <a:cs typeface="Arial" panose="020B0604020202020204" pitchFamily="34" charset="0"/>
              </a:rPr>
              <a:t>in case there is an FBB missing payment and still not updated on Siebel (For all payments channels except My Orange App. or Portal, Orange Cash or through reseller).​</a:t>
            </a:r>
          </a:p>
          <a:p>
            <a:r>
              <a:rPr lang="en-US" dirty="0">
                <a:latin typeface="Arial" panose="020B0604020202020204" pitchFamily="34" charset="0"/>
                <a:cs typeface="Arial" panose="020B0604020202020204" pitchFamily="34" charset="0"/>
              </a:rPr>
              <a:t>Agent should check the Pay Station Tool to make sure if the payment reflected or not, if Not</a:t>
            </a:r>
          </a:p>
          <a:p>
            <a:r>
              <a:rPr lang="en-US" dirty="0">
                <a:latin typeface="Arial" panose="020B0604020202020204" pitchFamily="34" charset="0"/>
                <a:cs typeface="Arial" panose="020B0604020202020204" pitchFamily="34" charset="0"/>
              </a:rPr>
              <a:t>Open payment dispute SR even if didn't exceed the SLA and a proof of payment should be attached in the SR.</a:t>
            </a:r>
          </a:p>
          <a:p>
            <a:pPr marL="0" indent="0">
              <a:buNone/>
            </a:pPr>
            <a:r>
              <a:rPr lang="en-US" dirty="0">
                <a:solidFill>
                  <a:schemeClr val="accent1">
                    <a:lumMod val="50000"/>
                  </a:schemeClr>
                </a:solidFill>
                <a:latin typeface="Arial" panose="020B0604020202020204" pitchFamily="34" charset="0"/>
                <a:cs typeface="Arial" panose="020B0604020202020204" pitchFamily="34" charset="0"/>
              </a:rPr>
              <a:t>Payment channel, Payment amount, Rec. number, Date of payment, Customer contact number</a:t>
            </a:r>
            <a:endParaRPr lang="ar-EG" dirty="0">
              <a:solidFill>
                <a:schemeClr val="accent1">
                  <a:lumMod val="50000"/>
                </a:schemeClr>
              </a:solidFill>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the customer paid through the website Or My Orange App </a:t>
            </a:r>
          </a:p>
          <a:p>
            <a:pPr marL="0" indent="0">
              <a:buNone/>
            </a:pPr>
            <a:r>
              <a:rPr lang="en-US" dirty="0">
                <a:solidFill>
                  <a:schemeClr val="accent1">
                    <a:lumMod val="50000"/>
                  </a:schemeClr>
                </a:solidFill>
              </a:rPr>
              <a:t>Last 4 digits from credit card, Amount, Transaction date, Channel ( my orange App or through portal), Number used for access the application, Contact number</a:t>
            </a:r>
            <a:endParaRPr lang="en-US" b="1" dirty="0">
              <a:solidFill>
                <a:schemeClr val="accent1">
                  <a:lumMod val="50000"/>
                </a:scheme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932904592"/>
              </p:ext>
            </p:extLst>
          </p:nvPr>
        </p:nvGraphicFramePr>
        <p:xfrm>
          <a:off x="0" y="4368798"/>
          <a:ext cx="8145780" cy="2489200"/>
        </p:xfrm>
        <a:graphic>
          <a:graphicData uri="http://schemas.openxmlformats.org/drawingml/2006/table">
            <a:tbl>
              <a:tblPr>
                <a:tableStyleId>{5C22544A-7EE6-4342-B048-85BDC9FD1C3A}</a:tableStyleId>
              </a:tblPr>
              <a:tblGrid>
                <a:gridCol w="2935788">
                  <a:extLst>
                    <a:ext uri="{9D8B030D-6E8A-4147-A177-3AD203B41FA5}">
                      <a16:colId xmlns:a16="http://schemas.microsoft.com/office/drawing/2014/main" val="2066997934"/>
                    </a:ext>
                  </a:extLst>
                </a:gridCol>
                <a:gridCol w="5209992">
                  <a:extLst>
                    <a:ext uri="{9D8B030D-6E8A-4147-A177-3AD203B41FA5}">
                      <a16:colId xmlns:a16="http://schemas.microsoft.com/office/drawing/2014/main" val="1146370277"/>
                    </a:ext>
                  </a:extLst>
                </a:gridCol>
              </a:tblGrid>
              <a:tr h="497840">
                <a:tc>
                  <a:txBody>
                    <a:bodyPr/>
                    <a:lstStyle/>
                    <a:p>
                      <a:pPr algn="ctr" fontAlgn="ctr"/>
                      <a:r>
                        <a:rPr lang="en-US" sz="1600" u="none" strike="noStrike" dirty="0">
                          <a:effectLst/>
                          <a:latin typeface="Arial Black" panose="020B0A04020102020204" pitchFamily="34" charset="0"/>
                          <a:cs typeface="Arial" panose="020B0604020202020204" pitchFamily="34" charset="0"/>
                        </a:rPr>
                        <a:t>Short Code</a:t>
                      </a:r>
                      <a:endParaRPr lang="en-US" sz="16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latin typeface="Arial Black" panose="020B0A04020102020204" pitchFamily="34" charset="0"/>
                          <a:cs typeface="Arial" panose="020B0604020202020204" pitchFamily="34" charset="0"/>
                        </a:rPr>
                        <a:t>33107</a:t>
                      </a:r>
                      <a:endParaRPr lang="en-US" sz="1600" b="0" i="0" u="none" strike="noStrike" dirty="0">
                        <a:solidFill>
                          <a:srgbClr val="000000"/>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3863526652"/>
                  </a:ext>
                </a:extLst>
              </a:tr>
              <a:tr h="497840">
                <a:tc>
                  <a:txBody>
                    <a:bodyPr/>
                    <a:lstStyle/>
                    <a:p>
                      <a:pPr algn="ctr" fontAlgn="ctr"/>
                      <a:r>
                        <a:rPr lang="en-US" sz="1600" u="none" strike="noStrike">
                          <a:effectLst/>
                          <a:latin typeface="Arial" panose="020B0604020202020204" pitchFamily="34" charset="0"/>
                          <a:cs typeface="Arial" panose="020B0604020202020204" pitchFamily="34" charset="0"/>
                        </a:rPr>
                        <a:t>Type</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DSL Fault For Billing</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241773491"/>
                  </a:ext>
                </a:extLst>
              </a:tr>
              <a:tr h="497840">
                <a:tc>
                  <a:txBody>
                    <a:bodyPr/>
                    <a:lstStyle/>
                    <a:p>
                      <a:pPr algn="ctr" fontAlgn="ctr"/>
                      <a:r>
                        <a:rPr lang="en-US" sz="1600" u="none" strike="noStrike">
                          <a:effectLst/>
                          <a:latin typeface="Arial" panose="020B0604020202020204" pitchFamily="34" charset="0"/>
                          <a:cs typeface="Arial" panose="020B0604020202020204" pitchFamily="34" charset="0"/>
                        </a:rPr>
                        <a:t>Area</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Payment Dispute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785311013"/>
                  </a:ext>
                </a:extLst>
              </a:tr>
              <a:tr h="497840">
                <a:tc>
                  <a:txBody>
                    <a:bodyPr/>
                    <a:lstStyle/>
                    <a:p>
                      <a:pPr algn="ctr" fontAlgn="ctr"/>
                      <a:r>
                        <a:rPr lang="en-US" sz="1600" u="none" strike="noStrike">
                          <a:effectLst/>
                          <a:latin typeface="Arial" panose="020B0604020202020204" pitchFamily="34" charset="0"/>
                          <a:cs typeface="Arial" panose="020B0604020202020204" pitchFamily="34" charset="0"/>
                        </a:rPr>
                        <a:t>Association</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Invoice flag</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767030663"/>
                  </a:ext>
                </a:extLst>
              </a:tr>
              <a:tr h="497840">
                <a:tc>
                  <a:txBody>
                    <a:bodyPr/>
                    <a:lstStyle/>
                    <a:p>
                      <a:pPr algn="ctr" fontAlgn="ctr"/>
                      <a:r>
                        <a:rPr lang="en-US" sz="1600" u="none" strike="noStrike" dirty="0">
                          <a:effectLst/>
                          <a:latin typeface="Arial" panose="020B0604020202020204" pitchFamily="34" charset="0"/>
                          <a:cs typeface="Arial" panose="020B0604020202020204" pitchFamily="34" charset="0"/>
                        </a:rPr>
                        <a:t>Smart Script</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Payment Dispute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356129204"/>
                  </a:ext>
                </a:extLst>
              </a:tr>
            </a:tbl>
          </a:graphicData>
        </a:graphic>
      </p:graphicFrame>
    </p:spTree>
    <p:extLst>
      <p:ext uri="{BB962C8B-B14F-4D97-AF65-F5344CB8AC3E}">
        <p14:creationId xmlns:p14="http://schemas.microsoft.com/office/powerpoint/2010/main" val="738655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387840" cy="6858000"/>
          </a:xfrm>
        </p:spPr>
        <p:txBody>
          <a:bodyPr/>
          <a:lstStyle/>
          <a:p>
            <a:r>
              <a:rPr lang="en-US" dirty="0"/>
              <a:t>If the Customer paid her/his due invoices and still not updated on her/his balance on Siebel that may cause service suspension, please use the below  SR:​</a:t>
            </a:r>
          </a:p>
          <a:p>
            <a:endParaRPr lang="en-US" dirty="0"/>
          </a:p>
          <a:p>
            <a:endParaRPr lang="en-US" dirty="0"/>
          </a:p>
          <a:p>
            <a:endParaRPr lang="en-US" dirty="0"/>
          </a:p>
          <a:p>
            <a:endParaRPr lang="en-US" dirty="0"/>
          </a:p>
          <a:p>
            <a:endParaRPr lang="en-US" dirty="0"/>
          </a:p>
          <a:p>
            <a:r>
              <a:rPr lang="en-US" dirty="0">
                <a:solidFill>
                  <a:schemeClr val="accent1">
                    <a:lumMod val="50000"/>
                  </a:schemeClr>
                </a:solidFill>
              </a:rPr>
              <a:t>Payment through reseller​</a:t>
            </a:r>
          </a:p>
          <a:p>
            <a:r>
              <a:rPr lang="en-US" sz="1600" dirty="0">
                <a:latin typeface="Arial" panose="020B0604020202020204" pitchFamily="34" charset="0"/>
                <a:cs typeface="Arial" panose="020B0604020202020204" pitchFamily="34" charset="0"/>
              </a:rPr>
              <a:t>In case receiving Indirect customers complaining that s/he paid with reseller and the bill didn't reflect yet after passing the SLA (48 </a:t>
            </a:r>
            <a:r>
              <a:rPr lang="en-US" sz="1600" dirty="0" err="1">
                <a:latin typeface="Arial" panose="020B0604020202020204" pitchFamily="34" charset="0"/>
                <a:cs typeface="Arial" panose="020B0604020202020204" pitchFamily="34" charset="0"/>
              </a:rPr>
              <a:t>WHr</a:t>
            </a:r>
            <a:r>
              <a:rPr lang="en-US" sz="1600" dirty="0">
                <a:latin typeface="Arial" panose="020B0604020202020204" pitchFamily="34" charset="0"/>
                <a:cs typeface="Arial" panose="020B0604020202020204" pitchFamily="34" charset="0"/>
              </a:rPr>
              <a:t>), </a:t>
            </a:r>
          </a:p>
          <a:p>
            <a:r>
              <a:rPr lang="en-US" sz="1600" dirty="0">
                <a:latin typeface="Arial" panose="020B0604020202020204" pitchFamily="34" charset="0"/>
                <a:cs typeface="Arial" panose="020B0604020202020204" pitchFamily="34" charset="0"/>
              </a:rPr>
              <a:t>Agent should check DSL pay station or  Collection tool  incase payment not reflected will create the below SR will be assign to Indirect Sales support Team.</a:t>
            </a:r>
          </a:p>
          <a:p>
            <a:r>
              <a:rPr lang="en-US" sz="1600" dirty="0">
                <a:latin typeface="Arial" panose="020B0604020202020204" pitchFamily="34" charset="0"/>
                <a:cs typeface="Arial" panose="020B0604020202020204" pitchFamily="34" charset="0"/>
              </a:rPr>
              <a:t>We have to attach copy of payment receipt in SR by advising the customer to send it to "dslcc-eg@orange.com"​:</a:t>
            </a:r>
            <a:endParaRPr lang="en-US" sz="1600" dirty="0">
              <a:solidFill>
                <a:schemeClr val="accent1">
                  <a:lumMod val="50000"/>
                </a:schemeClr>
              </a:solidFill>
              <a:latin typeface="Arial" panose="020B0604020202020204" pitchFamily="34" charset="0"/>
              <a:cs typeface="Arial" panose="020B0604020202020204" pitchFamily="34" charset="0"/>
            </a:endParaRP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681405114"/>
              </p:ext>
            </p:extLst>
          </p:nvPr>
        </p:nvGraphicFramePr>
        <p:xfrm>
          <a:off x="0" y="671331"/>
          <a:ext cx="9032240" cy="2110740"/>
        </p:xfrm>
        <a:graphic>
          <a:graphicData uri="http://schemas.openxmlformats.org/drawingml/2006/table">
            <a:tbl>
              <a:tblPr>
                <a:tableStyleId>{5C22544A-7EE6-4342-B048-85BDC9FD1C3A}</a:tableStyleId>
              </a:tblPr>
              <a:tblGrid>
                <a:gridCol w="3255274">
                  <a:extLst>
                    <a:ext uri="{9D8B030D-6E8A-4147-A177-3AD203B41FA5}">
                      <a16:colId xmlns:a16="http://schemas.microsoft.com/office/drawing/2014/main" val="3370821098"/>
                    </a:ext>
                  </a:extLst>
                </a:gridCol>
                <a:gridCol w="5776966">
                  <a:extLst>
                    <a:ext uri="{9D8B030D-6E8A-4147-A177-3AD203B41FA5}">
                      <a16:colId xmlns:a16="http://schemas.microsoft.com/office/drawing/2014/main" val="614097990"/>
                    </a:ext>
                  </a:extLst>
                </a:gridCol>
              </a:tblGrid>
              <a:tr h="210048">
                <a:tc>
                  <a:txBody>
                    <a:bodyPr/>
                    <a:lstStyle/>
                    <a:p>
                      <a:pPr algn="ctr" fontAlgn="ctr"/>
                      <a:r>
                        <a:rPr lang="en-US" sz="1400" u="none" strike="noStrike" dirty="0">
                          <a:effectLst/>
                          <a:latin typeface="Arial Black" panose="020B0A04020102020204" pitchFamily="34" charset="0"/>
                          <a:cs typeface="Arial" panose="020B0604020202020204" pitchFamily="34" charset="0"/>
                        </a:rPr>
                        <a:t>Short Code ​</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cs typeface="Arial" panose="020B0604020202020204" pitchFamily="34" charset="0"/>
                        </a:rPr>
                        <a:t>16011</a:t>
                      </a:r>
                      <a:endParaRPr lang="en-US" sz="1400" b="0" i="0" u="none" strike="noStrike" dirty="0">
                        <a:solidFill>
                          <a:srgbClr val="000000"/>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1315184649"/>
                  </a:ext>
                </a:extLst>
              </a:tr>
              <a:tr h="190500">
                <a:tc>
                  <a:txBody>
                    <a:bodyPr/>
                    <a:lstStyle/>
                    <a:p>
                      <a:pPr algn="ctr" fontAlgn="ctr"/>
                      <a:r>
                        <a:rPr lang="en-US" sz="1400" u="none" strike="noStrike" dirty="0">
                          <a:effectLst/>
                          <a:latin typeface="Arial" panose="020B0604020202020204" pitchFamily="34" charset="0"/>
                          <a:cs typeface="Arial" panose="020B0604020202020204" pitchFamily="34" charset="0"/>
                        </a:rPr>
                        <a:t>Type </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da-DK" sz="1400" u="none" strike="noStrike" dirty="0">
                          <a:effectLst/>
                          <a:latin typeface="Arial" panose="020B0604020202020204" pitchFamily="34" charset="0"/>
                          <a:cs typeface="Arial" panose="020B0604020202020204" pitchFamily="34" charset="0"/>
                        </a:rPr>
                        <a:t>DSL Acc Mod For Billing</a:t>
                      </a:r>
                      <a:endParaRPr lang="da-DK"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9422417"/>
                  </a:ext>
                </a:extLst>
              </a:tr>
              <a:tr h="190500">
                <a:tc>
                  <a:txBody>
                    <a:bodyPr/>
                    <a:lstStyle/>
                    <a:p>
                      <a:pPr algn="ctr" fontAlgn="ctr"/>
                      <a:r>
                        <a:rPr lang="en-US" sz="1400" u="none" strike="noStrike" dirty="0">
                          <a:effectLst/>
                          <a:latin typeface="Arial" panose="020B0604020202020204" pitchFamily="34" charset="0"/>
                          <a:cs typeface="Arial" panose="020B0604020202020204" pitchFamily="34" charset="0"/>
                        </a:rPr>
                        <a:t>Area</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Hold Dunning</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042892604"/>
                  </a:ext>
                </a:extLst>
              </a:tr>
              <a:tr h="190500">
                <a:tc>
                  <a:txBody>
                    <a:bodyPr/>
                    <a:lstStyle/>
                    <a:p>
                      <a:pPr algn="ctr" fontAlgn="ctr"/>
                      <a:r>
                        <a:rPr lang="en-US" sz="1400" u="none" strike="noStrike" dirty="0">
                          <a:effectLst/>
                          <a:latin typeface="Arial" panose="020B0604020202020204" pitchFamily="34" charset="0"/>
                          <a:cs typeface="Arial" panose="020B0604020202020204" pitchFamily="34" charset="0"/>
                        </a:rPr>
                        <a:t>Invoice Flag</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Put Right Mark</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314279312"/>
                  </a:ext>
                </a:extLst>
              </a:tr>
              <a:tr h="342900">
                <a:tc>
                  <a:txBody>
                    <a:bodyPr/>
                    <a:lstStyle/>
                    <a:p>
                      <a:pPr algn="ctr" fontAlgn="ctr"/>
                      <a:r>
                        <a:rPr lang="en-US" sz="1400" u="none" strike="noStrike" dirty="0">
                          <a:effectLst/>
                          <a:latin typeface="Arial" panose="020B0604020202020204" pitchFamily="34" charset="0"/>
                          <a:cs typeface="Arial" panose="020B0604020202020204" pitchFamily="34" charset="0"/>
                        </a:rPr>
                        <a:t>Owner Group</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Credit &amp; Collection Consumer</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789574052"/>
                  </a:ext>
                </a:extLst>
              </a:tr>
              <a:tr h="190500">
                <a:tc>
                  <a:txBody>
                    <a:bodyPr/>
                    <a:lstStyle/>
                    <a:p>
                      <a:pPr algn="ctr" fontAlgn="ctr"/>
                      <a:r>
                        <a:rPr lang="en-US" sz="1400" u="none" strike="noStrike">
                          <a:effectLst/>
                          <a:latin typeface="Arial" panose="020B0604020202020204" pitchFamily="34" charset="0"/>
                          <a:cs typeface="Arial" panose="020B0604020202020204" pitchFamily="34" charset="0"/>
                        </a:rPr>
                        <a:t>Sub Area</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Empty</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846099795"/>
                  </a:ext>
                </a:extLst>
              </a:tr>
              <a:tr h="190500">
                <a:tc>
                  <a:txBody>
                    <a:bodyPr/>
                    <a:lstStyle/>
                    <a:p>
                      <a:pPr algn="ctr" fontAlgn="ctr"/>
                      <a:r>
                        <a:rPr lang="en-US" sz="1400" u="none" strike="noStrike">
                          <a:effectLst/>
                          <a:latin typeface="Arial" panose="020B0604020202020204" pitchFamily="34" charset="0"/>
                          <a:cs typeface="Arial" panose="020B0604020202020204" pitchFamily="34" charset="0"/>
                        </a:rPr>
                        <a:t>Status</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Open</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12323777"/>
                  </a:ext>
                </a:extLst>
              </a:tr>
              <a:tr h="190500">
                <a:tc>
                  <a:txBody>
                    <a:bodyPr/>
                    <a:lstStyle/>
                    <a:p>
                      <a:pPr algn="ctr" fontAlgn="ctr"/>
                      <a:r>
                        <a:rPr lang="en-US" sz="1400" u="none" strike="noStrike">
                          <a:effectLst/>
                          <a:latin typeface="Arial" panose="020B0604020202020204" pitchFamily="34" charset="0"/>
                          <a:cs typeface="Arial" panose="020B0604020202020204" pitchFamily="34" charset="0"/>
                        </a:rPr>
                        <a:t>Smart Script</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No</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913981128"/>
                  </a:ext>
                </a:extLst>
              </a:tr>
              <a:tr h="190500">
                <a:tc>
                  <a:txBody>
                    <a:bodyPr/>
                    <a:lstStyle/>
                    <a:p>
                      <a:pPr algn="ctr" fontAlgn="ctr"/>
                      <a:r>
                        <a:rPr lang="en-US" sz="1400" u="none" strike="noStrike">
                          <a:effectLst/>
                          <a:latin typeface="Arial" panose="020B0604020202020204" pitchFamily="34" charset="0"/>
                          <a:cs typeface="Arial" panose="020B0604020202020204" pitchFamily="34" charset="0"/>
                        </a:rPr>
                        <a:t>SLA</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24 WHs​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64844051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19474594"/>
              </p:ext>
            </p:extLst>
          </p:nvPr>
        </p:nvGraphicFramePr>
        <p:xfrm>
          <a:off x="0" y="4900650"/>
          <a:ext cx="8827477" cy="1957353"/>
        </p:xfrm>
        <a:graphic>
          <a:graphicData uri="http://schemas.openxmlformats.org/drawingml/2006/table">
            <a:tbl>
              <a:tblPr>
                <a:tableStyleId>{5C22544A-7EE6-4342-B048-85BDC9FD1C3A}</a:tableStyleId>
              </a:tblPr>
              <a:tblGrid>
                <a:gridCol w="3181476">
                  <a:extLst>
                    <a:ext uri="{9D8B030D-6E8A-4147-A177-3AD203B41FA5}">
                      <a16:colId xmlns:a16="http://schemas.microsoft.com/office/drawing/2014/main" val="639669044"/>
                    </a:ext>
                  </a:extLst>
                </a:gridCol>
                <a:gridCol w="5646001">
                  <a:extLst>
                    <a:ext uri="{9D8B030D-6E8A-4147-A177-3AD203B41FA5}">
                      <a16:colId xmlns:a16="http://schemas.microsoft.com/office/drawing/2014/main" val="3958593561"/>
                    </a:ext>
                  </a:extLst>
                </a:gridCol>
              </a:tblGrid>
              <a:tr h="235029">
                <a:tc>
                  <a:txBody>
                    <a:bodyPr/>
                    <a:lstStyle/>
                    <a:p>
                      <a:pPr algn="ctr" fontAlgn="ctr"/>
                      <a:r>
                        <a:rPr lang="en-US" sz="1400" u="none" strike="noStrike" dirty="0">
                          <a:effectLst/>
                          <a:latin typeface="Arial Black" panose="020B0A04020102020204" pitchFamily="34" charset="0"/>
                          <a:cs typeface="Arial" panose="020B0604020202020204" pitchFamily="34" charset="0"/>
                        </a:rPr>
                        <a:t>Short Code </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cs typeface="Arial" panose="020B0604020202020204" pitchFamily="34" charset="0"/>
                        </a:rPr>
                        <a:t>32409</a:t>
                      </a:r>
                      <a:endParaRPr lang="en-US" sz="1400" b="0" i="0" u="none" strike="noStrike" dirty="0">
                        <a:solidFill>
                          <a:srgbClr val="000000"/>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2447889967"/>
                  </a:ext>
                </a:extLst>
              </a:tr>
              <a:tr h="235029">
                <a:tc>
                  <a:txBody>
                    <a:bodyPr/>
                    <a:lstStyle/>
                    <a:p>
                      <a:pPr algn="ctr" fontAlgn="ctr"/>
                      <a:r>
                        <a:rPr lang="en-US" sz="1400" u="none" strike="noStrike" dirty="0">
                          <a:effectLst/>
                          <a:latin typeface="Arial" panose="020B0604020202020204" pitchFamily="34" charset="0"/>
                          <a:cs typeface="Arial" panose="020B0604020202020204" pitchFamily="34" charset="0"/>
                        </a:rPr>
                        <a:t>Type </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DSL Fault For Resellers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177691991"/>
                  </a:ext>
                </a:extLst>
              </a:tr>
              <a:tr h="391104">
                <a:tc>
                  <a:txBody>
                    <a:bodyPr/>
                    <a:lstStyle/>
                    <a:p>
                      <a:pPr algn="ctr" fontAlgn="ctr"/>
                      <a:r>
                        <a:rPr lang="en-US" sz="1400" u="none" strike="noStrike" dirty="0">
                          <a:effectLst/>
                          <a:latin typeface="Arial" panose="020B0604020202020204" pitchFamily="34" charset="0"/>
                          <a:cs typeface="Arial" panose="020B0604020202020204" pitchFamily="34" charset="0"/>
                        </a:rPr>
                        <a:t>Area</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Reseller Payment not exist PGW</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698176787"/>
                  </a:ext>
                </a:extLst>
              </a:tr>
              <a:tr h="235029">
                <a:tc>
                  <a:txBody>
                    <a:bodyPr/>
                    <a:lstStyle/>
                    <a:p>
                      <a:pPr algn="ctr" fontAlgn="ctr"/>
                      <a:r>
                        <a:rPr lang="en-US" sz="1400" u="none" strike="noStrike">
                          <a:effectLst/>
                          <a:latin typeface="Arial" panose="020B0604020202020204" pitchFamily="34" charset="0"/>
                          <a:cs typeface="Arial" panose="020B0604020202020204" pitchFamily="34" charset="0"/>
                        </a:rPr>
                        <a:t>Product</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ADSL</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619535750"/>
                  </a:ext>
                </a:extLst>
              </a:tr>
              <a:tr h="391104">
                <a:tc>
                  <a:txBody>
                    <a:bodyPr/>
                    <a:lstStyle/>
                    <a:p>
                      <a:pPr algn="ctr" fontAlgn="ctr"/>
                      <a:r>
                        <a:rPr lang="en-US" sz="1400" u="none" strike="noStrike">
                          <a:effectLst/>
                          <a:latin typeface="Arial" panose="020B0604020202020204" pitchFamily="34" charset="0"/>
                          <a:cs typeface="Arial" panose="020B0604020202020204" pitchFamily="34" charset="0"/>
                        </a:rPr>
                        <a:t>Owner Group</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DSL Indirect Sales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983880066"/>
                  </a:ext>
                </a:extLst>
              </a:tr>
              <a:tr h="235029">
                <a:tc>
                  <a:txBody>
                    <a:bodyPr/>
                    <a:lstStyle/>
                    <a:p>
                      <a:pPr algn="ctr" fontAlgn="ctr"/>
                      <a:r>
                        <a:rPr lang="en-US" sz="1400" u="none" strike="noStrike">
                          <a:effectLst/>
                          <a:latin typeface="Arial" panose="020B0604020202020204" pitchFamily="34" charset="0"/>
                          <a:cs typeface="Arial" panose="020B0604020202020204" pitchFamily="34" charset="0"/>
                        </a:rPr>
                        <a:t>Smart Script</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Yes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127205460"/>
                  </a:ext>
                </a:extLst>
              </a:tr>
              <a:tr h="235029">
                <a:tc>
                  <a:txBody>
                    <a:bodyPr/>
                    <a:lstStyle/>
                    <a:p>
                      <a:pPr algn="ctr" fontAlgn="ctr"/>
                      <a:r>
                        <a:rPr lang="en-US" sz="1400" u="none" strike="noStrike" dirty="0">
                          <a:effectLst/>
                          <a:latin typeface="Arial" panose="020B0604020202020204" pitchFamily="34" charset="0"/>
                          <a:cs typeface="Arial" panose="020B0604020202020204" pitchFamily="34" charset="0"/>
                        </a:rPr>
                        <a:t>SLA</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24 </a:t>
                      </a:r>
                      <a:r>
                        <a:rPr lang="en-US" sz="1400" u="none" strike="noStrike" dirty="0" err="1">
                          <a:effectLst/>
                          <a:latin typeface="Arial" panose="020B0604020202020204" pitchFamily="34" charset="0"/>
                          <a:cs typeface="Arial" panose="020B0604020202020204" pitchFamily="34" charset="0"/>
                        </a:rPr>
                        <a:t>Whs</a:t>
                      </a:r>
                      <a:r>
                        <a:rPr lang="en-US" sz="1400" u="none" strike="noStrike" dirty="0">
                          <a:effectLst/>
                          <a:latin typeface="Arial" panose="020B0604020202020204" pitchFamily="34" charset="0"/>
                          <a:cs typeface="Arial" panose="020B0604020202020204" pitchFamily="34" charset="0"/>
                        </a:rPr>
                        <a:t>​</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645666865"/>
                  </a:ext>
                </a:extLst>
              </a:tr>
            </a:tbl>
          </a:graphicData>
        </a:graphic>
      </p:graphicFrame>
    </p:spTree>
    <p:extLst>
      <p:ext uri="{BB962C8B-B14F-4D97-AF65-F5344CB8AC3E}">
        <p14:creationId xmlns:p14="http://schemas.microsoft.com/office/powerpoint/2010/main" val="3550449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158213364"/>
              </p:ext>
            </p:extLst>
          </p:nvPr>
        </p:nvGraphicFramePr>
        <p:xfrm>
          <a:off x="0" y="711199"/>
          <a:ext cx="9855199" cy="6146798"/>
        </p:xfrm>
        <a:graphic>
          <a:graphicData uri="http://schemas.openxmlformats.org/drawingml/2006/table">
            <a:tbl>
              <a:tblPr/>
              <a:tblGrid>
                <a:gridCol w="3103444">
                  <a:extLst>
                    <a:ext uri="{9D8B030D-6E8A-4147-A177-3AD203B41FA5}">
                      <a16:colId xmlns:a16="http://schemas.microsoft.com/office/drawing/2014/main" val="2314416675"/>
                    </a:ext>
                  </a:extLst>
                </a:gridCol>
                <a:gridCol w="3555663">
                  <a:extLst>
                    <a:ext uri="{9D8B030D-6E8A-4147-A177-3AD203B41FA5}">
                      <a16:colId xmlns:a16="http://schemas.microsoft.com/office/drawing/2014/main" val="126755017"/>
                    </a:ext>
                  </a:extLst>
                </a:gridCol>
                <a:gridCol w="3196092">
                  <a:extLst>
                    <a:ext uri="{9D8B030D-6E8A-4147-A177-3AD203B41FA5}">
                      <a16:colId xmlns:a16="http://schemas.microsoft.com/office/drawing/2014/main" val="2414111828"/>
                    </a:ext>
                  </a:extLst>
                </a:gridCol>
              </a:tblGrid>
              <a:tr h="439057">
                <a:tc>
                  <a:txBody>
                    <a:bodyPr/>
                    <a:lstStyle/>
                    <a:p>
                      <a:pPr algn="ctr">
                        <a:spcAft>
                          <a:spcPts val="750"/>
                        </a:spcAft>
                      </a:pPr>
                      <a:r>
                        <a:rPr lang="en-US" sz="1400" b="1" dirty="0">
                          <a:solidFill>
                            <a:schemeClr val="tx1"/>
                          </a:solidFill>
                          <a:effectLst/>
                          <a:latin typeface="Arial Black" panose="020B0A04020102020204" pitchFamily="34" charset="0"/>
                          <a:cs typeface="Arial" panose="020B0604020202020204" pitchFamily="34" charset="0"/>
                        </a:rPr>
                        <a:t>Transaction ID</a:t>
                      </a:r>
                      <a:endParaRPr lang="en-US" sz="1400" dirty="0">
                        <a:solidFill>
                          <a:schemeClr val="tx1"/>
                        </a:solidFill>
                        <a:effectLst/>
                        <a:latin typeface="Arial Black" panose="020B0A04020102020204" pitchFamily="34" charset="0"/>
                        <a:cs typeface="Arial" panose="020B0604020202020204" pitchFamily="34" charset="0"/>
                      </a:endParaRPr>
                    </a:p>
                  </a:txBody>
                  <a:tcPr marL="47177" marR="471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gn="ctr">
                        <a:spcAft>
                          <a:spcPts val="750"/>
                        </a:spcAft>
                      </a:pPr>
                      <a:r>
                        <a:rPr lang="en-US" sz="1400" b="1" dirty="0">
                          <a:solidFill>
                            <a:schemeClr val="tx1"/>
                          </a:solidFill>
                          <a:effectLst/>
                          <a:latin typeface="Arial Black" panose="020B0A04020102020204" pitchFamily="34" charset="0"/>
                          <a:cs typeface="Arial" panose="020B0604020202020204" pitchFamily="34" charset="0"/>
                        </a:rPr>
                        <a:t>Channel</a:t>
                      </a:r>
                      <a:endParaRPr lang="en-US" sz="1400" dirty="0">
                        <a:solidFill>
                          <a:schemeClr val="tx1"/>
                        </a:solidFill>
                        <a:effectLst/>
                        <a:latin typeface="Arial Black" panose="020B0A04020102020204" pitchFamily="34" charset="0"/>
                        <a:cs typeface="Arial" panose="020B0604020202020204" pitchFamily="34" charset="0"/>
                      </a:endParaRPr>
                    </a:p>
                  </a:txBody>
                  <a:tcPr marL="47177" marR="471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gn="ctr">
                        <a:spcAft>
                          <a:spcPts val="750"/>
                        </a:spcAft>
                      </a:pPr>
                      <a:r>
                        <a:rPr lang="en-US" sz="1400" b="1" dirty="0">
                          <a:solidFill>
                            <a:schemeClr val="tx1"/>
                          </a:solidFill>
                          <a:effectLst/>
                          <a:latin typeface="Arial Black" panose="020B0A04020102020204" pitchFamily="34" charset="0"/>
                          <a:cs typeface="Arial" panose="020B0604020202020204" pitchFamily="34" charset="0"/>
                        </a:rPr>
                        <a:t>Note</a:t>
                      </a:r>
                      <a:endParaRPr lang="en-US" sz="1400" dirty="0">
                        <a:solidFill>
                          <a:schemeClr val="tx1"/>
                        </a:solidFill>
                        <a:effectLst/>
                        <a:latin typeface="Arial Black" panose="020B0A04020102020204" pitchFamily="34" charset="0"/>
                        <a:cs typeface="Arial" panose="020B0604020202020204" pitchFamily="34" charset="0"/>
                      </a:endParaRPr>
                    </a:p>
                  </a:txBody>
                  <a:tcPr marL="47177" marR="471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241333167"/>
                  </a:ext>
                </a:extLst>
              </a:tr>
              <a:tr h="439057">
                <a:tc>
                  <a:txBody>
                    <a:bodyPr/>
                    <a:lstStyle/>
                    <a:p>
                      <a:pPr algn="ctr">
                        <a:spcAft>
                          <a:spcPts val="750"/>
                        </a:spcAft>
                      </a:pPr>
                      <a:r>
                        <a:rPr lang="en-US" sz="1400" b="1" dirty="0">
                          <a:solidFill>
                            <a:srgbClr val="FF6600"/>
                          </a:solidFill>
                          <a:effectLst/>
                          <a:latin typeface="Arial" panose="020B0604020202020204" pitchFamily="34" charset="0"/>
                          <a:cs typeface="Arial" panose="020B0604020202020204" pitchFamily="34" charset="0"/>
                        </a:rPr>
                        <a:t>AMN</a:t>
                      </a:r>
                      <a:r>
                        <a:rPr lang="en-US" sz="1400" dirty="0">
                          <a:effectLst/>
                          <a:latin typeface="Arial" panose="020B0604020202020204" pitchFamily="34" charset="0"/>
                          <a:cs typeface="Arial" panose="020B0604020202020204" pitchFamily="34" charset="0"/>
                        </a:rPr>
                        <a:t>AOAS1423011015222362354</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AMAN</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Aggregator</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9573850"/>
                  </a:ext>
                </a:extLst>
              </a:tr>
              <a:tr h="439057">
                <a:tc>
                  <a:txBody>
                    <a:bodyPr/>
                    <a:lstStyle/>
                    <a:p>
                      <a:pPr algn="ctr">
                        <a:spcAft>
                          <a:spcPts val="750"/>
                        </a:spcAft>
                      </a:pPr>
                      <a:r>
                        <a:rPr lang="en-US" sz="1400" b="1">
                          <a:solidFill>
                            <a:srgbClr val="FF6600"/>
                          </a:solidFill>
                          <a:effectLst/>
                          <a:latin typeface="Arial" panose="020B0604020202020204" pitchFamily="34" charset="0"/>
                          <a:cs typeface="Arial" panose="020B0604020202020204" pitchFamily="34" charset="0"/>
                        </a:rPr>
                        <a:t>BEE</a:t>
                      </a:r>
                      <a:r>
                        <a:rPr lang="en-US" sz="1400">
                          <a:effectLst/>
                          <a:latin typeface="Arial" panose="020B0604020202020204" pitchFamily="34" charset="0"/>
                          <a:cs typeface="Arial" panose="020B0604020202020204" pitchFamily="34" charset="0"/>
                        </a:rPr>
                        <a:t>AOAS1223011015231451271</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BEE</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Aggregator</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8339151"/>
                  </a:ext>
                </a:extLst>
              </a:tr>
              <a:tr h="439057">
                <a:tc>
                  <a:txBody>
                    <a:bodyPr/>
                    <a:lstStyle/>
                    <a:p>
                      <a:pPr algn="ctr">
                        <a:spcAft>
                          <a:spcPts val="750"/>
                        </a:spcAft>
                      </a:pPr>
                      <a:r>
                        <a:rPr lang="en-US" sz="1400" b="1">
                          <a:solidFill>
                            <a:srgbClr val="FF6600"/>
                          </a:solidFill>
                          <a:effectLst/>
                          <a:latin typeface="Arial" panose="020B0604020202020204" pitchFamily="34" charset="0"/>
                          <a:cs typeface="Arial" panose="020B0604020202020204" pitchFamily="34" charset="0"/>
                        </a:rPr>
                        <a:t>CHP</a:t>
                      </a:r>
                      <a:r>
                        <a:rPr lang="en-US" sz="1400">
                          <a:effectLst/>
                          <a:latin typeface="Arial" panose="020B0604020202020204" pitchFamily="34" charset="0"/>
                          <a:cs typeface="Arial" panose="020B0604020202020204" pitchFamily="34" charset="0"/>
                        </a:rPr>
                        <a:t>AOAS1223011015234451377</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CHANNEL-PORTAL</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Reseller</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5517364"/>
                  </a:ext>
                </a:extLst>
              </a:tr>
              <a:tr h="439057">
                <a:tc>
                  <a:txBody>
                    <a:bodyPr/>
                    <a:lstStyle/>
                    <a:p>
                      <a:pPr algn="ctr">
                        <a:spcAft>
                          <a:spcPts val="750"/>
                        </a:spcAft>
                      </a:pPr>
                      <a:r>
                        <a:rPr lang="en-US" sz="1400" b="1">
                          <a:solidFill>
                            <a:srgbClr val="FF6600"/>
                          </a:solidFill>
                          <a:effectLst/>
                          <a:latin typeface="Arial" panose="020B0604020202020204" pitchFamily="34" charset="0"/>
                          <a:cs typeface="Arial" panose="020B0604020202020204" pitchFamily="34" charset="0"/>
                        </a:rPr>
                        <a:t>DMN</a:t>
                      </a:r>
                      <a:r>
                        <a:rPr lang="en-US" sz="1400">
                          <a:effectLst/>
                          <a:latin typeface="Arial" panose="020B0604020202020204" pitchFamily="34" charset="0"/>
                          <a:cs typeface="Arial" panose="020B0604020202020204" pitchFamily="34" charset="0"/>
                        </a:rPr>
                        <a:t>AOAS1223011015232251298</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DAMEN</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Aggregator</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9563286"/>
                  </a:ext>
                </a:extLst>
              </a:tr>
              <a:tr h="439057">
                <a:tc>
                  <a:txBody>
                    <a:bodyPr/>
                    <a:lstStyle/>
                    <a:p>
                      <a:pPr algn="ctr">
                        <a:spcAft>
                          <a:spcPts val="750"/>
                        </a:spcAft>
                      </a:pPr>
                      <a:r>
                        <a:rPr lang="en-US" sz="1400" b="1">
                          <a:solidFill>
                            <a:srgbClr val="FF6600"/>
                          </a:solidFill>
                          <a:effectLst/>
                          <a:latin typeface="Arial" panose="020B0604020202020204" pitchFamily="34" charset="0"/>
                          <a:cs typeface="Arial" panose="020B0604020202020204" pitchFamily="34" charset="0"/>
                        </a:rPr>
                        <a:t>MAS</a:t>
                      </a:r>
                      <a:r>
                        <a:rPr lang="en-US" sz="1400">
                          <a:effectLst/>
                          <a:latin typeface="Arial" panose="020B0604020202020204" pitchFamily="34" charset="0"/>
                          <a:cs typeface="Arial" panose="020B0604020202020204" pitchFamily="34" charset="0"/>
                        </a:rPr>
                        <a:t>AOAS1523011015223929907</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E-MASARY</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Aggregator</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3551975"/>
                  </a:ext>
                </a:extLst>
              </a:tr>
              <a:tr h="439057">
                <a:tc>
                  <a:txBody>
                    <a:bodyPr/>
                    <a:lstStyle/>
                    <a:p>
                      <a:pPr algn="ctr">
                        <a:spcAft>
                          <a:spcPts val="750"/>
                        </a:spcAft>
                      </a:pPr>
                      <a:r>
                        <a:rPr lang="en-US" sz="1400" b="1">
                          <a:solidFill>
                            <a:srgbClr val="FF6600"/>
                          </a:solidFill>
                          <a:effectLst/>
                          <a:latin typeface="Arial" panose="020B0604020202020204" pitchFamily="34" charset="0"/>
                          <a:cs typeface="Arial" panose="020B0604020202020204" pitchFamily="34" charset="0"/>
                        </a:rPr>
                        <a:t>FWR</a:t>
                      </a:r>
                      <a:r>
                        <a:rPr lang="en-US" sz="1400">
                          <a:effectLst/>
                          <a:latin typeface="Arial" panose="020B0604020202020204" pitchFamily="34" charset="0"/>
                          <a:cs typeface="Arial" panose="020B0604020202020204" pitchFamily="34" charset="0"/>
                        </a:rPr>
                        <a:t>AOAS1423011015234062699</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FAWRY</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Aggregator</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9053325"/>
                  </a:ext>
                </a:extLst>
              </a:tr>
              <a:tr h="439057">
                <a:tc>
                  <a:txBody>
                    <a:bodyPr/>
                    <a:lstStyle/>
                    <a:p>
                      <a:pPr algn="ctr">
                        <a:spcAft>
                          <a:spcPts val="750"/>
                        </a:spcAft>
                      </a:pPr>
                      <a:r>
                        <a:rPr lang="en-US" sz="1400" b="1">
                          <a:solidFill>
                            <a:srgbClr val="FF6600"/>
                          </a:solidFill>
                          <a:effectLst/>
                          <a:latin typeface="Arial" panose="020B0604020202020204" pitchFamily="34" charset="0"/>
                          <a:cs typeface="Arial" panose="020B0604020202020204" pitchFamily="34" charset="0"/>
                        </a:rPr>
                        <a:t>USO</a:t>
                      </a:r>
                      <a:r>
                        <a:rPr lang="en-US" sz="1400">
                          <a:effectLst/>
                          <a:latin typeface="Arial" panose="020B0604020202020204" pitchFamily="34" charset="0"/>
                          <a:cs typeface="Arial" panose="020B0604020202020204" pitchFamily="34" charset="0"/>
                        </a:rPr>
                        <a:t>AOOM1123011015234334430</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MOBILEAPP</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My Orange/Orange Cash</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6937278"/>
                  </a:ext>
                </a:extLst>
              </a:tr>
              <a:tr h="439057">
                <a:tc>
                  <a:txBody>
                    <a:bodyPr/>
                    <a:lstStyle/>
                    <a:p>
                      <a:pPr algn="ctr">
                        <a:spcAft>
                          <a:spcPts val="750"/>
                        </a:spcAft>
                      </a:pPr>
                      <a:r>
                        <a:rPr lang="en-US" sz="1400" b="1">
                          <a:solidFill>
                            <a:srgbClr val="FF6600"/>
                          </a:solidFill>
                          <a:effectLst/>
                          <a:latin typeface="Arial" panose="020B0604020202020204" pitchFamily="34" charset="0"/>
                          <a:cs typeface="Arial" panose="020B0604020202020204" pitchFamily="34" charset="0"/>
                        </a:rPr>
                        <a:t>MKN</a:t>
                      </a:r>
                      <a:r>
                        <a:rPr lang="en-US" sz="1400">
                          <a:effectLst/>
                          <a:latin typeface="Arial" panose="020B0604020202020204" pitchFamily="34" charset="0"/>
                          <a:cs typeface="Arial" panose="020B0604020202020204" pitchFamily="34" charset="0"/>
                        </a:rPr>
                        <a:t>AOAS1523011015234430383</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err="1">
                          <a:effectLst/>
                          <a:latin typeface="Arial" panose="020B0604020202020204" pitchFamily="34" charset="0"/>
                          <a:cs typeface="Arial" panose="020B0604020202020204" pitchFamily="34" charset="0"/>
                        </a:rPr>
                        <a:t>Momken</a:t>
                      </a:r>
                      <a:endParaRPr lang="en-US" sz="1400" dirty="0">
                        <a:effectLst/>
                        <a:latin typeface="Arial" panose="020B0604020202020204" pitchFamily="34" charset="0"/>
                        <a:cs typeface="Arial" panose="020B0604020202020204" pitchFamily="34" charset="0"/>
                      </a:endParaRP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Aggregator</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5903466"/>
                  </a:ext>
                </a:extLst>
              </a:tr>
              <a:tr h="439057">
                <a:tc>
                  <a:txBody>
                    <a:bodyPr/>
                    <a:lstStyle/>
                    <a:p>
                      <a:pPr algn="ctr">
                        <a:spcAft>
                          <a:spcPts val="750"/>
                        </a:spcAft>
                      </a:pPr>
                      <a:r>
                        <a:rPr lang="en-US" sz="1400" b="1">
                          <a:solidFill>
                            <a:srgbClr val="FF6600"/>
                          </a:solidFill>
                          <a:effectLst/>
                          <a:latin typeface="Arial" panose="020B0604020202020204" pitchFamily="34" charset="0"/>
                          <a:cs typeface="Arial" panose="020B0604020202020204" pitchFamily="34" charset="0"/>
                        </a:rPr>
                        <a:t>SAD</a:t>
                      </a:r>
                      <a:r>
                        <a:rPr lang="en-US" sz="1400">
                          <a:effectLst/>
                          <a:latin typeface="Arial" panose="020B0604020202020204" pitchFamily="34" charset="0"/>
                          <a:cs typeface="Arial" panose="020B0604020202020204" pitchFamily="34" charset="0"/>
                        </a:rPr>
                        <a:t>AOAS1223011014444542108</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SADAD</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Aggregator</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3934296"/>
                  </a:ext>
                </a:extLst>
              </a:tr>
              <a:tr h="439057">
                <a:tc>
                  <a:txBody>
                    <a:bodyPr/>
                    <a:lstStyle/>
                    <a:p>
                      <a:pPr algn="ctr">
                        <a:spcAft>
                          <a:spcPts val="750"/>
                        </a:spcAft>
                      </a:pPr>
                      <a:r>
                        <a:rPr lang="en-US" sz="1400" b="1">
                          <a:solidFill>
                            <a:srgbClr val="FF6600"/>
                          </a:solidFill>
                          <a:effectLst/>
                          <a:latin typeface="Arial" panose="020B0604020202020204" pitchFamily="34" charset="0"/>
                          <a:cs typeface="Arial" panose="020B0604020202020204" pitchFamily="34" charset="0"/>
                        </a:rPr>
                        <a:t>USD</a:t>
                      </a:r>
                      <a:r>
                        <a:rPr lang="en-US" sz="1400">
                          <a:effectLst/>
                          <a:latin typeface="Arial" panose="020B0604020202020204" pitchFamily="34" charset="0"/>
                          <a:cs typeface="Arial" panose="020B0604020202020204" pitchFamily="34" charset="0"/>
                        </a:rPr>
                        <a:t>AOPB1123011015222634036</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USSD</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USSD</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9562366"/>
                  </a:ext>
                </a:extLst>
              </a:tr>
              <a:tr h="439057">
                <a:tc>
                  <a:txBody>
                    <a:bodyPr/>
                    <a:lstStyle/>
                    <a:p>
                      <a:pPr algn="ctr">
                        <a:spcAft>
                          <a:spcPts val="750"/>
                        </a:spcAft>
                      </a:pPr>
                      <a:r>
                        <a:rPr lang="en-US" sz="1400" b="1">
                          <a:solidFill>
                            <a:srgbClr val="FF6600"/>
                          </a:solidFill>
                          <a:effectLst/>
                          <a:latin typeface="Arial" panose="020B0604020202020204" pitchFamily="34" charset="0"/>
                          <a:cs typeface="Arial" panose="020B0604020202020204" pitchFamily="34" charset="0"/>
                        </a:rPr>
                        <a:t>WIN</a:t>
                      </a:r>
                      <a:r>
                        <a:rPr lang="en-US" sz="1400">
                          <a:effectLst/>
                          <a:latin typeface="Arial" panose="020B0604020202020204" pitchFamily="34" charset="0"/>
                          <a:cs typeface="Arial" panose="020B0604020202020204" pitchFamily="34" charset="0"/>
                        </a:rPr>
                        <a:t>ADNP1423011015235162734</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WINCASH</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Shops</a:t>
                      </a:r>
                    </a:p>
                  </a:txBody>
                  <a:tcPr marL="47177" marR="471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1235577"/>
                  </a:ext>
                </a:extLst>
              </a:tr>
              <a:tr h="439057">
                <a:tc>
                  <a:txBody>
                    <a:bodyPr/>
                    <a:lstStyle/>
                    <a:p>
                      <a:pPr algn="ctr"/>
                      <a:r>
                        <a:rPr lang="en-US" sz="1400" b="1">
                          <a:solidFill>
                            <a:srgbClr val="FF6600"/>
                          </a:solidFill>
                          <a:effectLst/>
                          <a:latin typeface="Arial" panose="020B0604020202020204" pitchFamily="34" charset="0"/>
                          <a:cs typeface="Arial" panose="020B0604020202020204" pitchFamily="34" charset="0"/>
                        </a:rPr>
                        <a:t>USO</a:t>
                      </a:r>
                      <a:r>
                        <a:rPr lang="en-US" sz="1400">
                          <a:effectLst/>
                          <a:latin typeface="Arial" panose="020B0604020202020204" pitchFamily="34" charset="0"/>
                          <a:cs typeface="Arial" panose="020B0604020202020204" pitchFamily="34" charset="0"/>
                        </a:rPr>
                        <a:t>AOOM1124033123585931311</a:t>
                      </a:r>
                    </a:p>
                  </a:txBody>
                  <a:tcPr marL="47177" marR="471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Orange Cash</a:t>
                      </a:r>
                    </a:p>
                  </a:txBody>
                  <a:tcPr marL="47177" marR="471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Orange Cash</a:t>
                      </a:r>
                    </a:p>
                  </a:txBody>
                  <a:tcPr marL="47177" marR="471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0718145"/>
                  </a:ext>
                </a:extLst>
              </a:tr>
              <a:tr h="439057">
                <a:tc>
                  <a:txBody>
                    <a:bodyPr/>
                    <a:lstStyle/>
                    <a:p>
                      <a:pPr algn="ctr"/>
                      <a:r>
                        <a:rPr lang="en-US" sz="1400" b="1">
                          <a:solidFill>
                            <a:srgbClr val="FF6600"/>
                          </a:solidFill>
                          <a:effectLst/>
                          <a:latin typeface="Arial" panose="020B0604020202020204" pitchFamily="34" charset="0"/>
                          <a:cs typeface="Arial" panose="020B0604020202020204" pitchFamily="34" charset="0"/>
                        </a:rPr>
                        <a:t>USO</a:t>
                      </a:r>
                      <a:r>
                        <a:rPr lang="en-US" sz="1400">
                          <a:effectLst/>
                          <a:latin typeface="Arial" panose="020B0604020202020204" pitchFamily="34" charset="0"/>
                          <a:cs typeface="Arial" panose="020B0604020202020204" pitchFamily="34" charset="0"/>
                        </a:rPr>
                        <a:t>AOAS1424033123585005194</a:t>
                      </a:r>
                    </a:p>
                  </a:txBody>
                  <a:tcPr marL="47177" marR="471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My orange</a:t>
                      </a:r>
                    </a:p>
                  </a:txBody>
                  <a:tcPr marL="47177" marR="471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My Orange App</a:t>
                      </a:r>
                    </a:p>
                  </a:txBody>
                  <a:tcPr marL="47177" marR="471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9263379"/>
                  </a:ext>
                </a:extLst>
              </a:tr>
            </a:tbl>
          </a:graphicData>
        </a:graphic>
      </p:graphicFrame>
      <p:sp>
        <p:nvSpPr>
          <p:cNvPr id="5" name="Rectangle 4"/>
          <p:cNvSpPr/>
          <p:nvPr/>
        </p:nvSpPr>
        <p:spPr>
          <a:xfrm>
            <a:off x="218492" y="125214"/>
            <a:ext cx="4577028" cy="400110"/>
          </a:xfrm>
          <a:prstGeom prst="rect">
            <a:avLst/>
          </a:prstGeom>
        </p:spPr>
        <p:txBody>
          <a:bodyPr wrap="square">
            <a:spAutoFit/>
          </a:bodyPr>
          <a:lstStyle/>
          <a:p>
            <a:r>
              <a:rPr lang="en-US" sz="2000" b="1" dirty="0">
                <a:solidFill>
                  <a:schemeClr val="accent1"/>
                </a:solidFill>
                <a:latin typeface="Arial Black" panose="020B0A04020102020204" pitchFamily="34" charset="0"/>
                <a:cs typeface="Arial" panose="020B0604020202020204" pitchFamily="34" charset="0"/>
              </a:rPr>
              <a:t>Payment Methods Reference</a:t>
            </a:r>
            <a:endParaRPr lang="en-US" sz="2000" dirty="0">
              <a:solidFill>
                <a:schemeClr val="accent1"/>
              </a:solidFill>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934340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81281"/>
            <a:ext cx="9182562" cy="5960082"/>
          </a:xfrm>
        </p:spPr>
        <p:txBody>
          <a:bodyPr/>
          <a:lstStyle/>
          <a:p>
            <a:pPr marL="0" indent="0">
              <a:buNone/>
            </a:pPr>
            <a:r>
              <a:rPr lang="en-US" sz="3200" b="1" dirty="0">
                <a:solidFill>
                  <a:schemeClr val="tx1"/>
                </a:solidFill>
                <a:latin typeface="Arial Black" panose="020B0A04020102020204" pitchFamily="34" charset="0"/>
                <a:cs typeface="Arial" panose="020B0604020202020204" pitchFamily="34" charset="0"/>
              </a:rPr>
              <a:t>How to Pay </a:t>
            </a:r>
            <a:r>
              <a:rPr lang="en-US" sz="2800" b="1" dirty="0">
                <a:solidFill>
                  <a:schemeClr val="accent1"/>
                </a:solidFill>
                <a:latin typeface="Arial" panose="020B0604020202020204" pitchFamily="34" charset="0"/>
                <a:cs typeface="Arial" panose="020B0604020202020204" pitchFamily="34" charset="0"/>
              </a:rPr>
              <a:t>(</a:t>
            </a:r>
            <a:r>
              <a:rPr lang="en-US" sz="2800" dirty="0">
                <a:solidFill>
                  <a:schemeClr val="accent1"/>
                </a:solidFill>
              </a:rPr>
              <a:t>Candidate customers </a:t>
            </a:r>
            <a:r>
              <a:rPr lang="en-US" sz="3200" dirty="0"/>
              <a:t>)</a:t>
            </a:r>
            <a:endParaRPr lang="en-US" sz="3200" dirty="0">
              <a:solidFill>
                <a:schemeClr val="accent1"/>
              </a:solidFill>
            </a:endParaRPr>
          </a:p>
          <a:p>
            <a:endParaRPr lang="en-US" dirty="0"/>
          </a:p>
          <a:p>
            <a:pPr marL="0" indent="0">
              <a:buNone/>
            </a:pPr>
            <a:endParaRPr lang="en-US" dirty="0"/>
          </a:p>
          <a:p>
            <a:pPr marL="0" indent="0">
              <a:buNone/>
            </a:pPr>
            <a:endParaRPr lang="en-US" dirty="0"/>
          </a:p>
          <a:p>
            <a:r>
              <a:rPr lang="en-US" dirty="0"/>
              <a:t>Candidate customers can pay their down payments through Retail, </a:t>
            </a:r>
            <a:r>
              <a:rPr lang="en-US" dirty="0" err="1"/>
              <a:t>Fawry</a:t>
            </a:r>
            <a:r>
              <a:rPr lang="en-US" dirty="0"/>
              <a:t>, Bee , Orange Cash, </a:t>
            </a:r>
            <a:r>
              <a:rPr lang="en-US" dirty="0" err="1"/>
              <a:t>Aramex</a:t>
            </a:r>
            <a:r>
              <a:rPr lang="en-US" dirty="0"/>
              <a:t> and First (Free Visit)​.</a:t>
            </a:r>
          </a:p>
          <a:p>
            <a:r>
              <a:rPr lang="en-US" dirty="0"/>
              <a:t>Gov. customers can pay the down payment through resellers, Orange Cash, National shops, </a:t>
            </a:r>
            <a:r>
              <a:rPr lang="en-US" dirty="0" err="1"/>
              <a:t>Fawry</a:t>
            </a:r>
            <a:r>
              <a:rPr lang="en-US" dirty="0"/>
              <a:t> &amp; USSD.​</a:t>
            </a:r>
          </a:p>
          <a:p>
            <a:r>
              <a:rPr lang="en-US" dirty="0"/>
              <a:t>Online payment is available for B&amp;C suspended customers.</a:t>
            </a:r>
          </a:p>
          <a:p>
            <a:endParaRPr lang="en-US" dirty="0"/>
          </a:p>
        </p:txBody>
      </p:sp>
    </p:spTree>
    <p:extLst>
      <p:ext uri="{BB962C8B-B14F-4D97-AF65-F5344CB8AC3E}">
        <p14:creationId xmlns:p14="http://schemas.microsoft.com/office/powerpoint/2010/main" val="3897423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619760"/>
          </a:xfrm>
        </p:spPr>
        <p:txBody>
          <a:bodyPr>
            <a:normAutofit fontScale="90000"/>
          </a:bodyPr>
          <a:lstStyle/>
          <a:p>
            <a:r>
              <a:rPr lang="en-US" b="1" dirty="0">
                <a:solidFill>
                  <a:schemeClr val="tx1"/>
                </a:solidFill>
                <a:latin typeface="Arial Black" panose="020B0A04020102020204" pitchFamily="34" charset="0"/>
                <a:cs typeface="Arial" panose="020B0604020202020204" pitchFamily="34" charset="0"/>
              </a:rPr>
              <a:t>Candidate Payment Dispute</a:t>
            </a:r>
            <a:endParaRPr lang="en-US" dirty="0">
              <a:solidFill>
                <a:schemeClr val="tx1"/>
              </a:solidFill>
              <a:latin typeface="Arial Black" panose="020B0A04020102020204" pitchFamily="34" charset="0"/>
            </a:endParaRPr>
          </a:p>
        </p:txBody>
      </p:sp>
      <p:sp>
        <p:nvSpPr>
          <p:cNvPr id="3" name="Content Placeholder 2"/>
          <p:cNvSpPr>
            <a:spLocks noGrp="1"/>
          </p:cNvSpPr>
          <p:nvPr>
            <p:ph idx="1"/>
          </p:nvPr>
        </p:nvSpPr>
        <p:spPr>
          <a:xfrm>
            <a:off x="0" y="619760"/>
            <a:ext cx="9274002" cy="6238239"/>
          </a:xfrm>
        </p:spPr>
        <p:txBody>
          <a:bodyPr/>
          <a:lstStyle/>
          <a:p>
            <a:endParaRPr lang="en-US" dirty="0"/>
          </a:p>
          <a:p>
            <a:endParaRPr lang="en-US" dirty="0"/>
          </a:p>
          <a:p>
            <a:r>
              <a:rPr lang="en-US" dirty="0">
                <a:latin typeface="Arial" panose="020B0604020202020204" pitchFamily="34" charset="0"/>
                <a:cs typeface="Arial" panose="020B0604020202020204" pitchFamily="34" charset="0"/>
              </a:rPr>
              <a:t>Customer paid his/her due invoice and still not updated on Siebel after the agreed SLA. </a:t>
            </a:r>
          </a:p>
          <a:p>
            <a:r>
              <a:rPr lang="en-US" dirty="0">
                <a:latin typeface="Arial" panose="020B0604020202020204" pitchFamily="34" charset="0"/>
                <a:cs typeface="Arial" panose="020B0604020202020204" pitchFamily="34" charset="0"/>
              </a:rPr>
              <a:t>​We should attach copy of payment receipt in SR.</a:t>
            </a:r>
          </a:p>
          <a:p>
            <a:pPr marL="0" indent="0">
              <a:buNone/>
            </a:pPr>
            <a:endParaRPr lang="en-US" dirty="0"/>
          </a:p>
          <a:p>
            <a:pPr marL="0" indent="0">
              <a:buNone/>
            </a:pPr>
            <a:endParaRPr lang="en-US" dirty="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38317233"/>
              </p:ext>
            </p:extLst>
          </p:nvPr>
        </p:nvGraphicFramePr>
        <p:xfrm>
          <a:off x="0" y="3079749"/>
          <a:ext cx="6400800" cy="3778250"/>
        </p:xfrm>
        <a:graphic>
          <a:graphicData uri="http://schemas.openxmlformats.org/drawingml/2006/table">
            <a:tbl>
              <a:tblPr>
                <a:tableStyleId>{5C22544A-7EE6-4342-B048-85BDC9FD1C3A}</a:tableStyleId>
              </a:tblPr>
              <a:tblGrid>
                <a:gridCol w="2306887">
                  <a:extLst>
                    <a:ext uri="{9D8B030D-6E8A-4147-A177-3AD203B41FA5}">
                      <a16:colId xmlns:a16="http://schemas.microsoft.com/office/drawing/2014/main" val="3482160222"/>
                    </a:ext>
                  </a:extLst>
                </a:gridCol>
                <a:gridCol w="4093913">
                  <a:extLst>
                    <a:ext uri="{9D8B030D-6E8A-4147-A177-3AD203B41FA5}">
                      <a16:colId xmlns:a16="http://schemas.microsoft.com/office/drawing/2014/main" val="1023259383"/>
                    </a:ext>
                  </a:extLst>
                </a:gridCol>
              </a:tblGrid>
              <a:tr h="545990">
                <a:tc>
                  <a:txBody>
                    <a:bodyPr/>
                    <a:lstStyle/>
                    <a:p>
                      <a:pPr algn="ctr" fontAlgn="ctr"/>
                      <a:r>
                        <a:rPr lang="en-US" sz="1400" u="none" strike="noStrike" dirty="0">
                          <a:effectLst/>
                          <a:latin typeface="Arial Black" panose="020B0A04020102020204" pitchFamily="34" charset="0"/>
                          <a:cs typeface="Arial" panose="020B0604020202020204" pitchFamily="34" charset="0"/>
                        </a:rPr>
                        <a:t>Short Code </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Black" panose="020B0A04020102020204" pitchFamily="34" charset="0"/>
                          <a:cs typeface="Arial" panose="020B0604020202020204" pitchFamily="34" charset="0"/>
                        </a:rPr>
                        <a:t>33118</a:t>
                      </a:r>
                      <a:endParaRPr lang="en-US" sz="1400" b="0" i="0" u="none" strike="noStrike" dirty="0">
                        <a:solidFill>
                          <a:srgbClr val="000000"/>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4257244660"/>
                  </a:ext>
                </a:extLst>
              </a:tr>
              <a:tr h="545990">
                <a:tc>
                  <a:txBody>
                    <a:bodyPr/>
                    <a:lstStyle/>
                    <a:p>
                      <a:pPr algn="ctr" fontAlgn="ctr"/>
                      <a:r>
                        <a:rPr lang="en-US" sz="1600" u="none" strike="noStrike" dirty="0">
                          <a:effectLst/>
                          <a:latin typeface="Arial" panose="020B0604020202020204" pitchFamily="34" charset="0"/>
                          <a:cs typeface="Arial" panose="020B0604020202020204" pitchFamily="34" charset="0"/>
                        </a:rPr>
                        <a:t>Type </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DDSL Fault For Billing</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857003952"/>
                  </a:ext>
                </a:extLst>
              </a:tr>
              <a:tr h="545990">
                <a:tc>
                  <a:txBody>
                    <a:bodyPr/>
                    <a:lstStyle/>
                    <a:p>
                      <a:pPr algn="ctr" fontAlgn="ctr"/>
                      <a:r>
                        <a:rPr lang="en-US" sz="1600" u="none" strike="noStrike">
                          <a:effectLst/>
                          <a:latin typeface="Arial" panose="020B0604020202020204" pitchFamily="34" charset="0"/>
                          <a:cs typeface="Arial" panose="020B0604020202020204" pitchFamily="34" charset="0"/>
                        </a:rPr>
                        <a:t>Area</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Down Payment Dispute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182645164"/>
                  </a:ext>
                </a:extLst>
              </a:tr>
              <a:tr h="545990">
                <a:tc>
                  <a:txBody>
                    <a:bodyPr/>
                    <a:lstStyle/>
                    <a:p>
                      <a:pPr algn="ctr" fontAlgn="ctr"/>
                      <a:r>
                        <a:rPr lang="en-US" sz="1600" u="none" strike="noStrike">
                          <a:effectLst/>
                          <a:latin typeface="Arial" panose="020B0604020202020204" pitchFamily="34" charset="0"/>
                          <a:cs typeface="Arial" panose="020B0604020202020204" pitchFamily="34" charset="0"/>
                        </a:rPr>
                        <a:t>Invoice Flag</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Put Right Mark</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053905530"/>
                  </a:ext>
                </a:extLst>
              </a:tr>
              <a:tr h="1026461">
                <a:tc>
                  <a:txBody>
                    <a:bodyPr/>
                    <a:lstStyle/>
                    <a:p>
                      <a:pPr algn="ctr" fontAlgn="ctr"/>
                      <a:r>
                        <a:rPr lang="en-US" sz="1600" u="none" strike="noStrike">
                          <a:effectLst/>
                          <a:latin typeface="Arial" panose="020B0604020202020204" pitchFamily="34" charset="0"/>
                          <a:cs typeface="Arial" panose="020B0604020202020204" pitchFamily="34" charset="0"/>
                        </a:rPr>
                        <a:t>Owner Group</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DSL CH Billing</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62586245"/>
                  </a:ext>
                </a:extLst>
              </a:tr>
              <a:tr h="567829">
                <a:tc>
                  <a:txBody>
                    <a:bodyPr/>
                    <a:lstStyle/>
                    <a:p>
                      <a:pPr algn="ctr" fontAlgn="ctr"/>
                      <a:r>
                        <a:rPr lang="en-US" sz="1600" u="none" strike="noStrike">
                          <a:effectLst/>
                          <a:latin typeface="Arial" panose="020B0604020202020204" pitchFamily="34" charset="0"/>
                          <a:cs typeface="Arial" panose="020B0604020202020204" pitchFamily="34" charset="0"/>
                        </a:rPr>
                        <a:t>Smart Script</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Yes​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781466895"/>
                  </a:ext>
                </a:extLst>
              </a:tr>
            </a:tbl>
          </a:graphicData>
        </a:graphic>
      </p:graphicFrame>
    </p:spTree>
    <p:extLst>
      <p:ext uri="{BB962C8B-B14F-4D97-AF65-F5344CB8AC3E}">
        <p14:creationId xmlns:p14="http://schemas.microsoft.com/office/powerpoint/2010/main" val="1755951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670560"/>
          </a:xfrm>
        </p:spPr>
        <p:txBody>
          <a:bodyPr/>
          <a:lstStyle/>
          <a:p>
            <a:r>
              <a:rPr lang="en-US" dirty="0">
                <a:solidFill>
                  <a:schemeClr val="tx1"/>
                </a:solidFill>
              </a:rPr>
              <a:t>​​​​</a:t>
            </a:r>
            <a:r>
              <a:rPr lang="en-US" sz="3200" b="1" dirty="0">
                <a:solidFill>
                  <a:schemeClr val="tx1"/>
                </a:solidFill>
                <a:latin typeface="Arial Black" panose="020B0A04020102020204" pitchFamily="34" charset="0"/>
              </a:rPr>
              <a:t>Quota Consumption Issues</a:t>
            </a:r>
            <a:r>
              <a:rPr lang="en-US" sz="3200" dirty="0">
                <a:solidFill>
                  <a:schemeClr val="tx1"/>
                </a:solidFill>
                <a:latin typeface="Arial Black" panose="020B0A04020102020204" pitchFamily="34" charset="0"/>
              </a:rPr>
              <a:t> </a:t>
            </a:r>
          </a:p>
        </p:txBody>
      </p:sp>
      <p:sp>
        <p:nvSpPr>
          <p:cNvPr id="3" name="Content Placeholder 2"/>
          <p:cNvSpPr>
            <a:spLocks noGrp="1"/>
          </p:cNvSpPr>
          <p:nvPr>
            <p:ph idx="1"/>
          </p:nvPr>
        </p:nvSpPr>
        <p:spPr>
          <a:xfrm>
            <a:off x="0" y="800101"/>
            <a:ext cx="9580880" cy="6057899"/>
          </a:xfrm>
        </p:spPr>
        <p:txBody>
          <a:bodyPr/>
          <a:lstStyle/>
          <a:p>
            <a:r>
              <a:rPr lang="en-US" dirty="0">
                <a:latin typeface="Arial" panose="020B0604020202020204" pitchFamily="34" charset="0"/>
                <a:cs typeface="Arial" panose="020B0604020202020204" pitchFamily="34" charset="0"/>
              </a:rPr>
              <a:t>In case a customer is asking about his/her consumption, inform him/her with all the below </a:t>
            </a:r>
            <a:r>
              <a:rPr lang="en-US" dirty="0">
                <a:solidFill>
                  <a:schemeClr val="accent1"/>
                </a:solidFill>
              </a:rPr>
              <a:t>(Total GBs, Consumed GBs, Remaining GBs, Renewal Date</a:t>
            </a:r>
            <a:r>
              <a:rPr lang="en-US" dirty="0"/>
              <a:t>)</a:t>
            </a:r>
          </a:p>
          <a:p>
            <a:r>
              <a:rPr lang="en-US" dirty="0"/>
              <a:t>In case a customer is asking about the consumption priority, inform him/her with all the below: </a:t>
            </a:r>
            <a:r>
              <a:rPr lang="en-US" dirty="0">
                <a:solidFill>
                  <a:schemeClr val="accent1"/>
                </a:solidFill>
              </a:rPr>
              <a:t>(</a:t>
            </a:r>
            <a:r>
              <a:rPr lang="it-IT" dirty="0">
                <a:solidFill>
                  <a:schemeClr val="accent1"/>
                </a:solidFill>
              </a:rPr>
              <a:t>Double Quota,Basic Quota,Extra Quota,Compensation Quota)</a:t>
            </a:r>
            <a:endParaRPr lang="en-US" dirty="0">
              <a:solidFill>
                <a:schemeClr val="accent1"/>
              </a:solidFill>
            </a:endParaRPr>
          </a:p>
          <a:p>
            <a:r>
              <a:rPr lang="en-US" dirty="0"/>
              <a:t> customers can check their consumption through the following list of Digital Channels:</a:t>
            </a:r>
          </a:p>
          <a:p>
            <a:pPr marL="0" indent="0">
              <a:buNone/>
            </a:pPr>
            <a:r>
              <a:rPr lang="en-US" dirty="0"/>
              <a:t>        (</a:t>
            </a:r>
            <a:r>
              <a:rPr lang="en-US" dirty="0">
                <a:solidFill>
                  <a:schemeClr val="accent1"/>
                </a:solidFill>
              </a:rPr>
              <a:t>My Orange App, Chat Bot, Port</a:t>
            </a:r>
            <a:r>
              <a:rPr lang="en-US" sz="1600" b="1" dirty="0">
                <a:solidFill>
                  <a:srgbClr val="FF6600"/>
                </a:solidFill>
                <a:latin typeface="Helvetica Neue"/>
              </a:rPr>
              <a:t> </a:t>
            </a:r>
            <a:r>
              <a:rPr lang="en-US" dirty="0">
                <a:solidFill>
                  <a:schemeClr val="accent1"/>
                </a:solidFill>
              </a:rPr>
              <a:t>al,#16333# USSD, 16333​ IVR)</a:t>
            </a:r>
            <a:r>
              <a:rPr lang="en-US" b="1" dirty="0">
                <a:solidFill>
                  <a:srgbClr val="FF6600"/>
                </a:solidFill>
                <a:latin typeface="Helvetica Neue"/>
              </a:rPr>
              <a:t> </a:t>
            </a:r>
            <a:endParaRPr lang="en-US" dirty="0">
              <a:solidFill>
                <a:schemeClr val="accent1"/>
              </a:solidFill>
            </a:endParaRPr>
          </a:p>
        </p:txBody>
      </p:sp>
      <p:pic>
        <p:nvPicPr>
          <p:cNvPr id="17" name="Picture 9" descr="http://orangepedia/_layouts/15/OrangeKB.Branding/Images/question.pn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58256" y="3052766"/>
            <a:ext cx="1828800" cy="180467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18" name="Picture 9" descr="http://orangepedia/_layouts/15/OrangeKB.Branding/Images/question.pn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807460" y="3053010"/>
            <a:ext cx="1965960" cy="180467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19" name="Picture 9" descr="http://orangepedia/_layouts/15/OrangeKB.Branding/Images/question.pn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445202" y="3052765"/>
            <a:ext cx="1828800" cy="180467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11" name="Rectangle 10"/>
          <p:cNvSpPr/>
          <p:nvPr/>
        </p:nvSpPr>
        <p:spPr>
          <a:xfrm>
            <a:off x="3672772" y="5020557"/>
            <a:ext cx="2895600" cy="584775"/>
          </a:xfrm>
          <a:prstGeom prst="rect">
            <a:avLst/>
          </a:prstGeom>
          <a:ln>
            <a:solidFill>
              <a:schemeClr val="accent1"/>
            </a:solidFill>
          </a:ln>
        </p:spPr>
        <p:txBody>
          <a:bodyPr wrap="square">
            <a:spAutoFit/>
          </a:bodyPr>
          <a:lstStyle/>
          <a:p>
            <a:r>
              <a:rPr lang="en-US" sz="1600" b="1" i="0" dirty="0">
                <a:solidFill>
                  <a:schemeClr val="accent1"/>
                </a:solidFill>
                <a:effectLst/>
                <a:latin typeface="Helvetica Neue"/>
              </a:rPr>
              <a:t>Extra Quota Not Updated After Recharge</a:t>
            </a:r>
            <a:endParaRPr lang="en-US" sz="1600" dirty="0">
              <a:solidFill>
                <a:schemeClr val="accent1"/>
              </a:solidFill>
            </a:endParaRPr>
          </a:p>
        </p:txBody>
      </p:sp>
      <p:sp>
        <p:nvSpPr>
          <p:cNvPr id="12" name="Rectangle 11"/>
          <p:cNvSpPr/>
          <p:nvPr/>
        </p:nvSpPr>
        <p:spPr>
          <a:xfrm>
            <a:off x="7206231" y="5020557"/>
            <a:ext cx="2599422" cy="646331"/>
          </a:xfrm>
          <a:prstGeom prst="rect">
            <a:avLst/>
          </a:prstGeom>
          <a:ln>
            <a:solidFill>
              <a:schemeClr val="accent1"/>
            </a:solidFill>
          </a:ln>
        </p:spPr>
        <p:txBody>
          <a:bodyPr wrap="square">
            <a:spAutoFit/>
          </a:bodyPr>
          <a:lstStyle/>
          <a:p>
            <a:r>
              <a:rPr lang="en-US" b="1" dirty="0">
                <a:solidFill>
                  <a:schemeClr val="accent1"/>
                </a:solidFill>
                <a:latin typeface="Helvetica Neue"/>
              </a:rPr>
              <a:t>Quota Consumption Problem</a:t>
            </a:r>
            <a:r>
              <a:rPr lang="en-US" b="1" dirty="0">
                <a:solidFill>
                  <a:schemeClr val="accent1"/>
                </a:solidFill>
              </a:rPr>
              <a:t>​​</a:t>
            </a:r>
            <a:endParaRPr lang="en-US" dirty="0">
              <a:solidFill>
                <a:schemeClr val="accent1"/>
              </a:solidFill>
            </a:endParaRPr>
          </a:p>
        </p:txBody>
      </p:sp>
      <p:sp>
        <p:nvSpPr>
          <p:cNvPr id="23" name="Rectangle 22"/>
          <p:cNvSpPr/>
          <p:nvPr/>
        </p:nvSpPr>
        <p:spPr>
          <a:xfrm>
            <a:off x="205707" y="5020557"/>
            <a:ext cx="3017520" cy="830997"/>
          </a:xfrm>
          <a:prstGeom prst="rect">
            <a:avLst/>
          </a:prstGeom>
          <a:ln>
            <a:solidFill>
              <a:schemeClr val="accent1"/>
            </a:solidFill>
          </a:ln>
        </p:spPr>
        <p:txBody>
          <a:bodyPr wrap="square">
            <a:spAutoFit/>
          </a:bodyPr>
          <a:lstStyle/>
          <a:p>
            <a:r>
              <a:rPr lang="en-US" sz="1600" b="1" i="0" dirty="0">
                <a:solidFill>
                  <a:schemeClr val="accent1"/>
                </a:solidFill>
                <a:effectLst/>
                <a:latin typeface="Helvetica Neue"/>
              </a:rPr>
              <a:t>Monthly Not Updated After Recharge Not Update or Updated Wrongly</a:t>
            </a:r>
            <a:endParaRPr lang="en-US" sz="1600" dirty="0">
              <a:solidFill>
                <a:schemeClr val="accent1"/>
              </a:solidFill>
            </a:endParaRPr>
          </a:p>
        </p:txBody>
      </p:sp>
    </p:spTree>
    <p:extLst>
      <p:ext uri="{BB962C8B-B14F-4D97-AF65-F5344CB8AC3E}">
        <p14:creationId xmlns:p14="http://schemas.microsoft.com/office/powerpoint/2010/main" val="1435608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480060"/>
          </a:xfrm>
        </p:spPr>
        <p:txBody>
          <a:bodyPr>
            <a:normAutofit fontScale="90000"/>
          </a:bodyPr>
          <a:lstStyle/>
          <a:p>
            <a:r>
              <a:rPr lang="en-US" sz="2200" b="1" dirty="0">
                <a:latin typeface="Helvetica Neue"/>
              </a:rPr>
              <a:t>Monthly Not Updated After Recharge Not Update or Updated Wrongly</a:t>
            </a:r>
            <a:br>
              <a:rPr lang="en-US" sz="2000" dirty="0"/>
            </a:br>
            <a:endParaRPr lang="en-US" sz="2000" dirty="0"/>
          </a:p>
        </p:txBody>
      </p:sp>
      <p:sp>
        <p:nvSpPr>
          <p:cNvPr id="3" name="Content Placeholder 2"/>
          <p:cNvSpPr>
            <a:spLocks noGrp="1"/>
          </p:cNvSpPr>
          <p:nvPr>
            <p:ph idx="1"/>
          </p:nvPr>
        </p:nvSpPr>
        <p:spPr>
          <a:xfrm>
            <a:off x="0" y="628650"/>
            <a:ext cx="9274002" cy="6229349"/>
          </a:xfrm>
        </p:spPr>
        <p:txBody>
          <a:bodyPr/>
          <a:lstStyle/>
          <a:p>
            <a:r>
              <a:rPr lang="en-US" dirty="0"/>
              <a:t>​​Renewal takes place from </a:t>
            </a:r>
            <a:r>
              <a:rPr lang="en-US" b="1" dirty="0"/>
              <a:t>12:00 AM</a:t>
            </a:r>
            <a:r>
              <a:rPr lang="en-US" dirty="0"/>
              <a:t> till </a:t>
            </a:r>
            <a:r>
              <a:rPr lang="en-US" b="1" dirty="0"/>
              <a:t>3:00 AM</a:t>
            </a:r>
            <a:r>
              <a:rPr lang="en-US" dirty="0"/>
              <a:t>, accordingly no need for escalation during this time</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Check customer balance and the renewal date as (Quota Renewal date = Due Date for invoices), if not matched.</a:t>
            </a:r>
          </a:p>
          <a:p>
            <a:r>
              <a:rPr lang="en-US" dirty="0">
                <a:latin typeface="Arial" panose="020B0604020202020204" pitchFamily="34" charset="0"/>
                <a:cs typeface="Arial" panose="020B0604020202020204" pitchFamily="34" charset="0"/>
              </a:rPr>
              <a:t>In case customer is asking about the package renewal date and there is a difference between package renewal date on PCRF and due date on Siebel.</a:t>
            </a:r>
          </a:p>
          <a:p>
            <a:r>
              <a:rPr lang="en-US" dirty="0">
                <a:latin typeface="Arial" panose="020B0604020202020204" pitchFamily="34" charset="0"/>
                <a:cs typeface="Arial" panose="020B0604020202020204" pitchFamily="34" charset="0"/>
              </a:rPr>
              <a:t>In case of receiving customer complaining that his/her main package quota wasn't renewed after 03:00 AM, agent should create SR</a:t>
            </a:r>
          </a:p>
          <a:p>
            <a:pPr marL="0" indent="0">
              <a:buNone/>
            </a:pPr>
            <a:endParaRPr lang="en-US" dirty="0">
              <a:latin typeface="Arial" panose="020B0604020202020204" pitchFamily="34" charset="0"/>
              <a:cs typeface="Arial" panose="020B0604020202020204" pitchFamily="34" charset="0"/>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846732230"/>
              </p:ext>
            </p:extLst>
          </p:nvPr>
        </p:nvGraphicFramePr>
        <p:xfrm>
          <a:off x="0" y="3911600"/>
          <a:ext cx="10058401" cy="1303020"/>
        </p:xfrm>
        <a:graphic>
          <a:graphicData uri="http://schemas.openxmlformats.org/drawingml/2006/table">
            <a:tbl>
              <a:tblPr>
                <a:tableStyleId>{5C22544A-7EE6-4342-B048-85BDC9FD1C3A}</a:tableStyleId>
              </a:tblPr>
              <a:tblGrid>
                <a:gridCol w="1490911">
                  <a:extLst>
                    <a:ext uri="{9D8B030D-6E8A-4147-A177-3AD203B41FA5}">
                      <a16:colId xmlns:a16="http://schemas.microsoft.com/office/drawing/2014/main" val="801578995"/>
                    </a:ext>
                  </a:extLst>
                </a:gridCol>
                <a:gridCol w="2372857">
                  <a:extLst>
                    <a:ext uri="{9D8B030D-6E8A-4147-A177-3AD203B41FA5}">
                      <a16:colId xmlns:a16="http://schemas.microsoft.com/office/drawing/2014/main" val="2842843112"/>
                    </a:ext>
                  </a:extLst>
                </a:gridCol>
                <a:gridCol w="1994881">
                  <a:extLst>
                    <a:ext uri="{9D8B030D-6E8A-4147-A177-3AD203B41FA5}">
                      <a16:colId xmlns:a16="http://schemas.microsoft.com/office/drawing/2014/main" val="3854087458"/>
                    </a:ext>
                  </a:extLst>
                </a:gridCol>
                <a:gridCol w="1196929">
                  <a:extLst>
                    <a:ext uri="{9D8B030D-6E8A-4147-A177-3AD203B41FA5}">
                      <a16:colId xmlns:a16="http://schemas.microsoft.com/office/drawing/2014/main" val="2645853398"/>
                    </a:ext>
                  </a:extLst>
                </a:gridCol>
                <a:gridCol w="986941">
                  <a:extLst>
                    <a:ext uri="{9D8B030D-6E8A-4147-A177-3AD203B41FA5}">
                      <a16:colId xmlns:a16="http://schemas.microsoft.com/office/drawing/2014/main" val="2585659383"/>
                    </a:ext>
                  </a:extLst>
                </a:gridCol>
                <a:gridCol w="1007941">
                  <a:extLst>
                    <a:ext uri="{9D8B030D-6E8A-4147-A177-3AD203B41FA5}">
                      <a16:colId xmlns:a16="http://schemas.microsoft.com/office/drawing/2014/main" val="2152478323"/>
                    </a:ext>
                  </a:extLst>
                </a:gridCol>
                <a:gridCol w="1007941">
                  <a:extLst>
                    <a:ext uri="{9D8B030D-6E8A-4147-A177-3AD203B41FA5}">
                      <a16:colId xmlns:a16="http://schemas.microsoft.com/office/drawing/2014/main" val="2850101860"/>
                    </a:ext>
                  </a:extLst>
                </a:gridCol>
              </a:tblGrid>
              <a:tr h="439420">
                <a:tc>
                  <a:txBody>
                    <a:bodyPr/>
                    <a:lstStyle/>
                    <a:p>
                      <a:pPr algn="ctr" fontAlgn="ctr"/>
                      <a:r>
                        <a:rPr lang="en-US" sz="1800" u="none" strike="noStrike" dirty="0">
                          <a:effectLst/>
                          <a:latin typeface="Arial Black" panose="020B0A04020102020204" pitchFamily="34" charset="0"/>
                          <a:cs typeface="Arial" panose="020B0604020202020204" pitchFamily="34" charset="0"/>
                        </a:rPr>
                        <a:t>Short Code</a:t>
                      </a:r>
                      <a:endParaRPr lang="en-US" sz="1800" b="0"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Type</a:t>
                      </a:r>
                      <a:endParaRPr lang="en-US" sz="1800" b="0"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Area</a:t>
                      </a:r>
                      <a:endParaRPr lang="en-US" sz="1800" b="0"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Product</a:t>
                      </a:r>
                      <a:endParaRPr lang="en-US" sz="1800" b="0"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Smart Script</a:t>
                      </a:r>
                      <a:endParaRPr lang="en-US" sz="1800" b="0"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Owner Group</a:t>
                      </a:r>
                      <a:endParaRPr lang="en-US" sz="1800" b="0"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SLA</a:t>
                      </a:r>
                      <a:endParaRPr lang="en-US" sz="1800" b="0"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739961071"/>
                  </a:ext>
                </a:extLst>
              </a:tr>
              <a:tr h="746760">
                <a:tc>
                  <a:txBody>
                    <a:bodyPr/>
                    <a:lstStyle/>
                    <a:p>
                      <a:pPr algn="ctr" fontAlgn="ctr"/>
                      <a:r>
                        <a:rPr lang="en-US" sz="1800" u="none" strike="noStrike" dirty="0">
                          <a:effectLst/>
                          <a:latin typeface="Arial" panose="020B0604020202020204" pitchFamily="34" charset="0"/>
                          <a:cs typeface="Arial" panose="020B0604020202020204" pitchFamily="34" charset="0"/>
                        </a:rPr>
                        <a:t>37014</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Fault For VAS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Quota Renewal Problem</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ADSL</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Yes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DSL CH VAS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48 WHRs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605527494"/>
                  </a:ext>
                </a:extLst>
              </a:tr>
            </a:tbl>
          </a:graphicData>
        </a:graphic>
      </p:graphicFrame>
    </p:spTree>
    <p:extLst>
      <p:ext uri="{BB962C8B-B14F-4D97-AF65-F5344CB8AC3E}">
        <p14:creationId xmlns:p14="http://schemas.microsoft.com/office/powerpoint/2010/main" val="3358869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731520"/>
          </a:xfrm>
        </p:spPr>
        <p:txBody>
          <a:bodyPr>
            <a:normAutofit/>
          </a:bodyPr>
          <a:lstStyle/>
          <a:p>
            <a:r>
              <a:rPr lang="en-US" sz="2400" b="1" dirty="0">
                <a:latin typeface="Arial Black" panose="020B0A04020102020204" pitchFamily="34" charset="0"/>
              </a:rPr>
              <a:t>Extra Quota Not Updated After Recharge​</a:t>
            </a:r>
            <a:endParaRPr lang="en-US" sz="2400" dirty="0">
              <a:latin typeface="Arial Black" panose="020B0A04020102020204" pitchFamily="34" charset="0"/>
            </a:endParaRPr>
          </a:p>
        </p:txBody>
      </p:sp>
      <p:sp>
        <p:nvSpPr>
          <p:cNvPr id="3" name="Content Placeholder 2"/>
          <p:cNvSpPr>
            <a:spLocks noGrp="1"/>
          </p:cNvSpPr>
          <p:nvPr>
            <p:ph idx="1"/>
          </p:nvPr>
        </p:nvSpPr>
        <p:spPr>
          <a:xfrm>
            <a:off x="0" y="523876"/>
            <a:ext cx="9580880" cy="6334124"/>
          </a:xfrm>
        </p:spPr>
        <p:txBody>
          <a:bodyPr/>
          <a:lstStyle/>
          <a:p>
            <a:r>
              <a:rPr lang="en-US" sz="1600" dirty="0">
                <a:latin typeface="Arial" panose="020B0604020202020204" pitchFamily="34" charset="0"/>
                <a:cs typeface="Arial" panose="020B0604020202020204" pitchFamily="34" charset="0"/>
              </a:rPr>
              <a:t>In case customer is complaining that s/he purchased an extension but it wasn't added</a:t>
            </a:r>
          </a:p>
          <a:p>
            <a:r>
              <a:rPr lang="en-US" sz="1600" dirty="0">
                <a:latin typeface="Arial" panose="020B0604020202020204" pitchFamily="34" charset="0"/>
                <a:cs typeface="Arial" panose="020B0604020202020204" pitchFamily="34" charset="0"/>
              </a:rPr>
              <a:t>Agent should check it through Pay Station and Payment Gateway if the transaction is done successfully or failed.</a:t>
            </a:r>
          </a:p>
          <a:p>
            <a:r>
              <a:rPr lang="en-US" sz="1600" dirty="0">
                <a:latin typeface="Arial" panose="020B0604020202020204" pitchFamily="34" charset="0"/>
                <a:cs typeface="Arial" panose="020B0604020202020204" pitchFamily="34" charset="0"/>
              </a:rPr>
              <a:t>If Failed  Follow </a:t>
            </a:r>
            <a:r>
              <a:rPr lang="en-US" sz="1600" dirty="0">
                <a:solidFill>
                  <a:schemeClr val="accent1"/>
                </a:solidFill>
                <a:latin typeface="Arial Black" panose="020B0A04020102020204" pitchFamily="34" charset="0"/>
                <a:cs typeface="Arial" panose="020B0604020202020204" pitchFamily="34" charset="0"/>
              </a:rPr>
              <a:t>Payment Dispute WF </a:t>
            </a:r>
          </a:p>
          <a:p>
            <a:r>
              <a:rPr lang="en-US" sz="1600" dirty="0">
                <a:latin typeface="Arial" panose="020B0604020202020204" pitchFamily="34" charset="0"/>
                <a:cs typeface="Arial" panose="020B0604020202020204" pitchFamily="34" charset="0"/>
              </a:rPr>
              <a:t>If Transaction Done Successfully​</a:t>
            </a:r>
          </a:p>
          <a:p>
            <a:r>
              <a:rPr lang="en-US" sz="1600" dirty="0">
                <a:latin typeface="Arial" panose="020B0604020202020204" pitchFamily="34" charset="0"/>
                <a:cs typeface="Arial" panose="020B0604020202020204" pitchFamily="34" charset="0"/>
              </a:rPr>
              <a:t> ​Check Quota on PCRF.</a:t>
            </a:r>
          </a:p>
          <a:p>
            <a:r>
              <a:rPr lang="en-US" sz="1600" dirty="0">
                <a:solidFill>
                  <a:schemeClr val="accent3"/>
                </a:solidFill>
                <a:latin typeface="Arial Black" panose="020B0A04020102020204" pitchFamily="34" charset="0"/>
              </a:rPr>
              <a:t>Extra Quota is Updated Now on PCRF​</a:t>
            </a:r>
            <a:endParaRPr lang="en-US" sz="1600" dirty="0">
              <a:solidFill>
                <a:schemeClr val="accent3"/>
              </a:solidFill>
              <a:latin typeface="Arial Black" panose="020B0A040201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If the extra quota updated on PCRF, but download speed (QOS) still 1MB or 256MB  Let customer restart the router if not solved </a:t>
            </a:r>
            <a:r>
              <a:rPr lang="en-US" sz="1600" dirty="0">
                <a:solidFill>
                  <a:schemeClr val="accent1"/>
                </a:solidFill>
                <a:latin typeface="Arial Black" panose="020B0A04020102020204" pitchFamily="34" charset="0"/>
                <a:cs typeface="Arial" panose="020B0604020202020204" pitchFamily="34" charset="0"/>
              </a:rPr>
              <a:t>follow No Browsing WF</a:t>
            </a:r>
          </a:p>
          <a:p>
            <a:r>
              <a:rPr lang="en-US" sz="1600" dirty="0">
                <a:solidFill>
                  <a:schemeClr val="accent3"/>
                </a:solidFill>
                <a:latin typeface="Arial Black" panose="020B0A04020102020204" pitchFamily="34" charset="0"/>
                <a:cs typeface="Arial" panose="020B0604020202020204" pitchFamily="34" charset="0"/>
              </a:rPr>
              <a:t>IF Extra Quota is not Updated on PCRF​ </a:t>
            </a:r>
          </a:p>
          <a:p>
            <a:r>
              <a:rPr lang="en-US" sz="1600" dirty="0">
                <a:latin typeface="Arial" panose="020B0604020202020204" pitchFamily="34" charset="0"/>
                <a:cs typeface="Arial" panose="020B0604020202020204" pitchFamily="34" charset="0"/>
              </a:rPr>
              <a:t>In case customer added extra quota through any digital channel but it's duplicated in PCRF Or:</a:t>
            </a:r>
          </a:p>
          <a:p>
            <a:r>
              <a:rPr lang="en-US" sz="1600" dirty="0">
                <a:latin typeface="Arial" panose="020B0604020202020204" pitchFamily="34" charset="0"/>
                <a:cs typeface="Arial" panose="020B0604020202020204" pitchFamily="34" charset="0"/>
              </a:rPr>
              <a:t>In case customer added 1 or more extra quota by mistake and complained from non-usage due to the new validity or any other reason:</a:t>
            </a:r>
          </a:p>
          <a:p>
            <a:pPr lvl="1"/>
            <a:r>
              <a:rPr lang="en-US" dirty="0">
                <a:latin typeface="Arial" panose="020B0604020202020204" pitchFamily="34" charset="0"/>
                <a:cs typeface="Arial" panose="020B0604020202020204" pitchFamily="34" charset="0"/>
              </a:rPr>
              <a:t>​​Agent should validate and confirm customer 0 consumption of the claimed extra quota through PCRF.</a:t>
            </a:r>
          </a:p>
          <a:p>
            <a:pPr lvl="1"/>
            <a:r>
              <a:rPr lang="en-US" dirty="0">
                <a:latin typeface="Arial" panose="020B0604020202020204" pitchFamily="34" charset="0"/>
                <a:cs typeface="Arial" panose="020B0604020202020204" pitchFamily="34" charset="0"/>
              </a:rPr>
              <a:t>​​Agent should create: </a:t>
            </a:r>
            <a:endParaRPr lang="en-US" dirty="0">
              <a:solidFill>
                <a:schemeClr val="accent1"/>
              </a:solidFill>
              <a:latin typeface="Arial" panose="020B0604020202020204" pitchFamily="34" charset="0"/>
              <a:cs typeface="Arial" panose="020B0604020202020204" pitchFamily="34" charset="0"/>
            </a:endParaRPr>
          </a:p>
          <a:p>
            <a:pPr marL="0" indent="0">
              <a:buNone/>
            </a:pPr>
            <a:endParaRPr lang="en-US" dirty="0"/>
          </a:p>
        </p:txBody>
      </p:sp>
      <p:sp>
        <p:nvSpPr>
          <p:cNvPr id="4" name="Curved Left Arrow 3"/>
          <p:cNvSpPr/>
          <p:nvPr/>
        </p:nvSpPr>
        <p:spPr>
          <a:xfrm>
            <a:off x="3484880" y="2072640"/>
            <a:ext cx="741680" cy="45720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476540811"/>
              </p:ext>
            </p:extLst>
          </p:nvPr>
        </p:nvGraphicFramePr>
        <p:xfrm>
          <a:off x="2743200" y="5384801"/>
          <a:ext cx="6705599" cy="1473198"/>
        </p:xfrm>
        <a:graphic>
          <a:graphicData uri="http://schemas.openxmlformats.org/drawingml/2006/table">
            <a:tbl>
              <a:tblPr>
                <a:tableStyleId>{5C22544A-7EE6-4342-B048-85BDC9FD1C3A}</a:tableStyleId>
              </a:tblPr>
              <a:tblGrid>
                <a:gridCol w="1142809">
                  <a:extLst>
                    <a:ext uri="{9D8B030D-6E8A-4147-A177-3AD203B41FA5}">
                      <a16:colId xmlns:a16="http://schemas.microsoft.com/office/drawing/2014/main" val="2002167192"/>
                    </a:ext>
                  </a:extLst>
                </a:gridCol>
                <a:gridCol w="1781438">
                  <a:extLst>
                    <a:ext uri="{9D8B030D-6E8A-4147-A177-3AD203B41FA5}">
                      <a16:colId xmlns:a16="http://schemas.microsoft.com/office/drawing/2014/main" val="104127465"/>
                    </a:ext>
                  </a:extLst>
                </a:gridCol>
                <a:gridCol w="1378093">
                  <a:extLst>
                    <a:ext uri="{9D8B030D-6E8A-4147-A177-3AD203B41FA5}">
                      <a16:colId xmlns:a16="http://schemas.microsoft.com/office/drawing/2014/main" val="342510729"/>
                    </a:ext>
                  </a:extLst>
                </a:gridCol>
                <a:gridCol w="840300">
                  <a:extLst>
                    <a:ext uri="{9D8B030D-6E8A-4147-A177-3AD203B41FA5}">
                      <a16:colId xmlns:a16="http://schemas.microsoft.com/office/drawing/2014/main" val="2104269394"/>
                    </a:ext>
                  </a:extLst>
                </a:gridCol>
                <a:gridCol w="789882">
                  <a:extLst>
                    <a:ext uri="{9D8B030D-6E8A-4147-A177-3AD203B41FA5}">
                      <a16:colId xmlns:a16="http://schemas.microsoft.com/office/drawing/2014/main" val="527207219"/>
                    </a:ext>
                  </a:extLst>
                </a:gridCol>
                <a:gridCol w="773077">
                  <a:extLst>
                    <a:ext uri="{9D8B030D-6E8A-4147-A177-3AD203B41FA5}">
                      <a16:colId xmlns:a16="http://schemas.microsoft.com/office/drawing/2014/main" val="2539621254"/>
                    </a:ext>
                  </a:extLst>
                </a:gridCol>
              </a:tblGrid>
              <a:tr h="720586">
                <a:tc>
                  <a:txBody>
                    <a:bodyPr/>
                    <a:lstStyle/>
                    <a:p>
                      <a:pPr algn="ctr" fontAlgn="ctr"/>
                      <a:r>
                        <a:rPr lang="en-US" sz="1600" u="none" strike="noStrike" dirty="0">
                          <a:effectLst/>
                          <a:latin typeface="Arial Black" panose="020B0A04020102020204" pitchFamily="34" charset="0"/>
                          <a:cs typeface="Arial" panose="020B0604020202020204" pitchFamily="34" charset="0"/>
                        </a:rPr>
                        <a:t>Short Code</a:t>
                      </a:r>
                      <a:endParaRPr lang="en-US" sz="16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latin typeface="Arial Black" panose="020B0A04020102020204" pitchFamily="34" charset="0"/>
                          <a:cs typeface="Arial" panose="020B0604020202020204" pitchFamily="34" charset="0"/>
                        </a:rPr>
                        <a:t>Type</a:t>
                      </a:r>
                      <a:endParaRPr lang="en-US" sz="16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latin typeface="Arial Black" panose="020B0A04020102020204" pitchFamily="34" charset="0"/>
                          <a:cs typeface="Arial" panose="020B0604020202020204" pitchFamily="34" charset="0"/>
                        </a:rPr>
                        <a:t>Area</a:t>
                      </a:r>
                      <a:endParaRPr lang="en-US" sz="16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latin typeface="Arial Black" panose="020B0A04020102020204" pitchFamily="34" charset="0"/>
                          <a:cs typeface="Arial" panose="020B0604020202020204" pitchFamily="34" charset="0"/>
                        </a:rPr>
                        <a:t>Product</a:t>
                      </a:r>
                      <a:endParaRPr lang="en-US" sz="16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latin typeface="Arial Black" panose="020B0A04020102020204" pitchFamily="34" charset="0"/>
                          <a:cs typeface="Arial" panose="020B0604020202020204" pitchFamily="34" charset="0"/>
                        </a:rPr>
                        <a:t>Owner Group</a:t>
                      </a:r>
                      <a:endParaRPr lang="en-US" sz="16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latin typeface="Arial Black" panose="020B0A04020102020204" pitchFamily="34" charset="0"/>
                          <a:cs typeface="Arial" panose="020B0604020202020204" pitchFamily="34" charset="0"/>
                        </a:rPr>
                        <a:t>SLA</a:t>
                      </a:r>
                      <a:endParaRPr lang="en-US" sz="16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1894738452"/>
                  </a:ext>
                </a:extLst>
              </a:tr>
              <a:tr h="752612">
                <a:tc>
                  <a:txBody>
                    <a:bodyPr/>
                    <a:lstStyle/>
                    <a:p>
                      <a:pPr algn="ctr" fontAlgn="ctr"/>
                      <a:r>
                        <a:rPr lang="en-US" sz="1600" u="none" strike="noStrike">
                          <a:effectLst/>
                          <a:latin typeface="Arial" panose="020B0604020202020204" pitchFamily="34" charset="0"/>
                          <a:cs typeface="Arial" panose="020B0604020202020204" pitchFamily="34" charset="0"/>
                        </a:rPr>
                        <a:t>37021</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DSL Fault For VAS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Extra Quota Dispute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ADSL</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DSL CH VAS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48 </a:t>
                      </a:r>
                      <a:r>
                        <a:rPr lang="en-US" sz="1600" u="none" strike="noStrike" dirty="0" err="1">
                          <a:effectLst/>
                          <a:latin typeface="Arial" panose="020B0604020202020204" pitchFamily="34" charset="0"/>
                          <a:cs typeface="Arial" panose="020B0604020202020204" pitchFamily="34" charset="0"/>
                        </a:rPr>
                        <a:t>Whrs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401981837"/>
                  </a:ext>
                </a:extLst>
              </a:tr>
            </a:tbl>
          </a:graphicData>
        </a:graphic>
      </p:graphicFrame>
    </p:spTree>
    <p:extLst>
      <p:ext uri="{BB962C8B-B14F-4D97-AF65-F5344CB8AC3E}">
        <p14:creationId xmlns:p14="http://schemas.microsoft.com/office/powerpoint/2010/main" val="211628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619760"/>
          </a:xfrm>
        </p:spPr>
        <p:txBody>
          <a:bodyPr>
            <a:normAutofit fontScale="90000"/>
          </a:bodyPr>
          <a:lstStyle/>
          <a:p>
            <a:r>
              <a:rPr lang="en-US" b="1" dirty="0">
                <a:latin typeface="Arial Black" panose="020B0A04020102020204" pitchFamily="34" charset="0"/>
              </a:rPr>
              <a:t>Quota Consumption Problem​​</a:t>
            </a:r>
            <a:endParaRPr lang="en-US" dirty="0">
              <a:latin typeface="Arial Black" panose="020B0A04020102020204" pitchFamily="34" charset="0"/>
            </a:endParaRPr>
          </a:p>
        </p:txBody>
      </p:sp>
      <p:sp>
        <p:nvSpPr>
          <p:cNvPr id="3" name="Content Placeholder 2"/>
          <p:cNvSpPr>
            <a:spLocks noGrp="1"/>
          </p:cNvSpPr>
          <p:nvPr>
            <p:ph idx="1"/>
          </p:nvPr>
        </p:nvSpPr>
        <p:spPr>
          <a:xfrm>
            <a:off x="-31923" y="619760"/>
            <a:ext cx="9274002" cy="6238239"/>
          </a:xfrm>
        </p:spPr>
        <p:txBody>
          <a:bodyPr>
            <a:normAutofit/>
          </a:bodyPr>
          <a:lstStyle/>
          <a:p>
            <a:r>
              <a:rPr lang="en-US" sz="1600" dirty="0">
                <a:solidFill>
                  <a:schemeClr val="accent1"/>
                </a:solidFill>
                <a:latin typeface="Arial Black" panose="020B0A04020102020204" pitchFamily="34" charset="0"/>
              </a:rPr>
              <a:t>Quota Consumption Error</a:t>
            </a:r>
            <a:r>
              <a:rPr lang="en-US" sz="1400" dirty="0">
                <a:solidFill>
                  <a:schemeClr val="accent3"/>
                </a:solidFill>
                <a:latin typeface="Arial Black" panose="020B0A04020102020204" pitchFamily="34" charset="0"/>
              </a:rPr>
              <a:t>​</a:t>
            </a:r>
          </a:p>
          <a:p>
            <a:r>
              <a:rPr lang="en-US" sz="1400" b="1" dirty="0">
                <a:latin typeface="Arial" panose="020B0604020202020204" pitchFamily="34" charset="0"/>
                <a:cs typeface="Arial" panose="020B0604020202020204" pitchFamily="34" charset="0"/>
              </a:rPr>
              <a:t>​​​In case customer is complaining from his/her consumption:</a:t>
            </a:r>
            <a:endParaRPr lang="en-US" sz="1400" dirty="0">
              <a:latin typeface="Arial" panose="020B0604020202020204" pitchFamily="34" charset="0"/>
              <a:cs typeface="Arial" panose="020B0604020202020204" pitchFamily="34" charset="0"/>
            </a:endParaRPr>
          </a:p>
          <a:p>
            <a:pPr lvl="1">
              <a:buFont typeface="Wingdings" panose="05000000000000000000" pitchFamily="2" charset="2"/>
              <a:buChar char="Ø"/>
            </a:pPr>
            <a:r>
              <a:rPr lang="en-US" sz="1400" dirty="0">
                <a:latin typeface="Arial" panose="020B0604020202020204" pitchFamily="34" charset="0"/>
                <a:cs typeface="Arial" panose="020B0604020202020204" pitchFamily="34" charset="0"/>
              </a:rPr>
              <a:t>Agent should make sure that customer wireless connection is secured with a strong Wi-Fi password.</a:t>
            </a:r>
          </a:p>
          <a:p>
            <a:pPr lvl="2">
              <a:buFont typeface="Wingdings" panose="05000000000000000000" pitchFamily="2" charset="2"/>
              <a:buChar char="Ø"/>
            </a:pPr>
            <a:r>
              <a:rPr lang="en-US" dirty="0">
                <a:latin typeface="Arial" panose="020B0604020202020204" pitchFamily="34" charset="0"/>
                <a:cs typeface="Arial" panose="020B0604020202020204" pitchFamily="34" charset="0"/>
              </a:rPr>
              <a:t>Calculate the wrong quota consumption.</a:t>
            </a:r>
          </a:p>
          <a:p>
            <a:pPr lvl="2">
              <a:buFont typeface="Wingdings" panose="05000000000000000000" pitchFamily="2" charset="2"/>
              <a:buChar char="Ø"/>
            </a:pPr>
            <a:r>
              <a:rPr lang="en-US" dirty="0">
                <a:latin typeface="Arial" panose="020B0604020202020204" pitchFamily="34" charset="0"/>
                <a:cs typeface="Arial" panose="020B0604020202020204" pitchFamily="34" charset="0"/>
              </a:rPr>
              <a:t>Compensate the customer with the wrong consumption volume up to 100 GBs and close the SR </a:t>
            </a:r>
          </a:p>
          <a:p>
            <a:pPr lvl="2">
              <a:buFont typeface="Wingdings" panose="05000000000000000000" pitchFamily="2" charset="2"/>
              <a:buChar char="Ø"/>
            </a:pPr>
            <a:r>
              <a:rPr lang="en-US" dirty="0">
                <a:latin typeface="Arial" panose="020B0604020202020204" pitchFamily="34" charset="0"/>
                <a:cs typeface="Arial" panose="020B0604020202020204" pitchFamily="34" charset="0"/>
              </a:rPr>
              <a:t>​Consumption average should be calculated according to previous 30 days consumption.​</a:t>
            </a:r>
          </a:p>
          <a:p>
            <a:r>
              <a:rPr lang="en-US" sz="1400" b="1" dirty="0">
                <a:latin typeface="Arial" panose="020B0604020202020204" pitchFamily="34" charset="0"/>
                <a:cs typeface="Arial" panose="020B0604020202020204" pitchFamily="34" charset="0"/>
              </a:rPr>
              <a:t>In case customer can't browse due to throttling speed while s/he deserves more than 100 GBs as Quota Compensation:</a:t>
            </a:r>
          </a:p>
          <a:p>
            <a:pPr>
              <a:buFont typeface="Wingdings" panose="05000000000000000000" pitchFamily="2" charset="2"/>
              <a:buChar char="Ø"/>
            </a:pPr>
            <a:r>
              <a:rPr lang="en-US" sz="1400" dirty="0">
                <a:latin typeface="Arial" panose="020B0604020202020204" pitchFamily="34" charset="0"/>
                <a:cs typeface="Arial" panose="020B0604020202020204" pitchFamily="34" charset="0"/>
              </a:rPr>
              <a:t>Agent should compensate the customer with only 10 GBs in order to enable the customer to use the service till handling the SR from Complaint Handling team side.</a:t>
            </a:r>
          </a:p>
          <a:p>
            <a:pPr>
              <a:buFont typeface="Wingdings" panose="05000000000000000000" pitchFamily="2" charset="2"/>
              <a:buChar char="Ø"/>
            </a:pPr>
            <a:r>
              <a:rPr lang="en-US" sz="1400" dirty="0">
                <a:latin typeface="Arial" panose="020B0604020202020204" pitchFamily="34" charset="0"/>
                <a:cs typeface="Arial" panose="020B0604020202020204" pitchFamily="34" charset="0"/>
              </a:rPr>
              <a:t>Agent should validate if customer was compensated for the same reason or not </a:t>
            </a:r>
            <a:r>
              <a:rPr lang="en-US" sz="1400" b="1" dirty="0">
                <a:latin typeface="Arial" panose="020B0604020202020204" pitchFamily="34" charset="0"/>
                <a:cs typeface="Arial" panose="020B0604020202020204" pitchFamily="34" charset="0"/>
              </a:rPr>
              <a:t>during 3 months</a:t>
            </a:r>
            <a:r>
              <a:rPr lang="en-US" sz="1400" dirty="0">
                <a:latin typeface="Arial" panose="020B0604020202020204" pitchFamily="34" charset="0"/>
                <a:cs typeface="Arial" panose="020B0604020202020204" pitchFamily="34" charset="0"/>
              </a:rPr>
              <a:t>.</a:t>
            </a:r>
          </a:p>
          <a:p>
            <a:pPr>
              <a:buFont typeface="Wingdings" panose="05000000000000000000" pitchFamily="2" charset="2"/>
              <a:buChar char="Ø"/>
            </a:pPr>
            <a:r>
              <a:rPr lang="en-US" sz="1400" dirty="0">
                <a:latin typeface="Arial" panose="020B0604020202020204" pitchFamily="34" charset="0"/>
                <a:cs typeface="Arial" panose="020B0604020202020204" pitchFamily="34" charset="0"/>
              </a:rPr>
              <a:t>Agent should make sure to create SR only in case exceeding 100 GBs:</a:t>
            </a:r>
          </a:p>
          <a:p>
            <a:pPr>
              <a:buFont typeface="Wingdings" panose="05000000000000000000" pitchFamily="2" charset="2"/>
              <a:buChar char="Ø"/>
            </a:pPr>
            <a:r>
              <a:rPr lang="en-US" sz="1400" dirty="0">
                <a:latin typeface="Arial" panose="020B0604020202020204" pitchFamily="34" charset="0"/>
                <a:cs typeface="Arial" panose="020B0604020202020204" pitchFamily="34" charset="0"/>
              </a:rPr>
              <a:t>In case compensation is required due to technical problem, agent should add the </a:t>
            </a:r>
            <a:r>
              <a:rPr lang="en-US" sz="1400" b="1" dirty="0">
                <a:latin typeface="Arial" panose="020B0604020202020204" pitchFamily="34" charset="0"/>
                <a:cs typeface="Arial" panose="020B0604020202020204" pitchFamily="34" charset="0"/>
              </a:rPr>
              <a:t>Technical SR number</a:t>
            </a:r>
            <a:r>
              <a:rPr lang="en-US" sz="1400" dirty="0">
                <a:latin typeface="Arial" panose="020B0604020202020204" pitchFamily="34" charset="0"/>
                <a:cs typeface="Arial" panose="020B0604020202020204" pitchFamily="34" charset="0"/>
              </a:rPr>
              <a:t> as a reference in the compensation SR note.</a:t>
            </a:r>
          </a:p>
          <a:p>
            <a:pPr>
              <a:buFont typeface="Wingdings" panose="05000000000000000000" pitchFamily="2" charset="2"/>
              <a:buChar char="Ø"/>
            </a:pPr>
            <a:r>
              <a:rPr lang="en-US" sz="1400" dirty="0">
                <a:latin typeface="Arial" panose="020B0604020202020204" pitchFamily="34" charset="0"/>
                <a:cs typeface="Arial" panose="020B0604020202020204" pitchFamily="34" charset="0"/>
              </a:rPr>
              <a:t>Complaint Handling team shouldn't add any type of compensation due to technical problem in case Technical SR number wasn't added by frontline.​</a:t>
            </a:r>
          </a:p>
          <a:p>
            <a:endParaRPr lang="en-US" sz="3200" dirty="0"/>
          </a:p>
          <a:p>
            <a:endParaRPr lang="en-US" dirty="0">
              <a:solidFill>
                <a:schemeClr val="accent3"/>
              </a:solidFill>
              <a:latin typeface="Arial Black" panose="020B0A040201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613533664"/>
              </p:ext>
            </p:extLst>
          </p:nvPr>
        </p:nvGraphicFramePr>
        <p:xfrm>
          <a:off x="0" y="5745480"/>
          <a:ext cx="8676637" cy="1112520"/>
        </p:xfrm>
        <a:graphic>
          <a:graphicData uri="http://schemas.openxmlformats.org/drawingml/2006/table">
            <a:tbl>
              <a:tblPr>
                <a:tableStyleId>{5C22544A-7EE6-4342-B048-85BDC9FD1C3A}</a:tableStyleId>
              </a:tblPr>
              <a:tblGrid>
                <a:gridCol w="1472535">
                  <a:extLst>
                    <a:ext uri="{9D8B030D-6E8A-4147-A177-3AD203B41FA5}">
                      <a16:colId xmlns:a16="http://schemas.microsoft.com/office/drawing/2014/main" val="1585099358"/>
                    </a:ext>
                  </a:extLst>
                </a:gridCol>
                <a:gridCol w="1857662">
                  <a:extLst>
                    <a:ext uri="{9D8B030D-6E8A-4147-A177-3AD203B41FA5}">
                      <a16:colId xmlns:a16="http://schemas.microsoft.com/office/drawing/2014/main" val="1233448028"/>
                    </a:ext>
                  </a:extLst>
                </a:gridCol>
                <a:gridCol w="1721735">
                  <a:extLst>
                    <a:ext uri="{9D8B030D-6E8A-4147-A177-3AD203B41FA5}">
                      <a16:colId xmlns:a16="http://schemas.microsoft.com/office/drawing/2014/main" val="4060914843"/>
                    </a:ext>
                  </a:extLst>
                </a:gridCol>
                <a:gridCol w="1517845">
                  <a:extLst>
                    <a:ext uri="{9D8B030D-6E8A-4147-A177-3AD203B41FA5}">
                      <a16:colId xmlns:a16="http://schemas.microsoft.com/office/drawing/2014/main" val="2804033204"/>
                    </a:ext>
                  </a:extLst>
                </a:gridCol>
                <a:gridCol w="1064757">
                  <a:extLst>
                    <a:ext uri="{9D8B030D-6E8A-4147-A177-3AD203B41FA5}">
                      <a16:colId xmlns:a16="http://schemas.microsoft.com/office/drawing/2014/main" val="3476322194"/>
                    </a:ext>
                  </a:extLst>
                </a:gridCol>
                <a:gridCol w="1042103">
                  <a:extLst>
                    <a:ext uri="{9D8B030D-6E8A-4147-A177-3AD203B41FA5}">
                      <a16:colId xmlns:a16="http://schemas.microsoft.com/office/drawing/2014/main" val="4179612210"/>
                    </a:ext>
                  </a:extLst>
                </a:gridCol>
              </a:tblGrid>
              <a:tr h="462280">
                <a:tc>
                  <a:txBody>
                    <a:bodyPr/>
                    <a:lstStyle/>
                    <a:p>
                      <a:pPr algn="ctr" fontAlgn="ctr"/>
                      <a:r>
                        <a:rPr lang="en-US" sz="1800" u="none" strike="noStrike" dirty="0">
                          <a:effectLst/>
                          <a:latin typeface="Arial Black" panose="020B0A04020102020204" pitchFamily="34" charset="0"/>
                        </a:rPr>
                        <a:t>Short Code</a:t>
                      </a:r>
                      <a:endParaRPr lang="en-US" sz="18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rPr>
                        <a:t>Type</a:t>
                      </a:r>
                      <a:endParaRPr lang="en-US" sz="18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rPr>
                        <a:t>Area</a:t>
                      </a:r>
                      <a:endParaRPr lang="en-US" sz="18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rPr>
                        <a:t>Product</a:t>
                      </a:r>
                      <a:endParaRPr lang="en-US" sz="18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rPr>
                        <a:t>Owner Group</a:t>
                      </a:r>
                      <a:endParaRPr lang="en-US" sz="18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rPr>
                        <a:t>SLA</a:t>
                      </a:r>
                      <a:endParaRPr lang="en-US" sz="1800" b="1" i="0" u="none" strike="noStrike" dirty="0">
                        <a:solidFill>
                          <a:srgbClr val="FFFFFF"/>
                        </a:solidFill>
                        <a:effectLst/>
                        <a:latin typeface="Arial Black" panose="020B0A04020102020204" pitchFamily="34" charset="0"/>
                      </a:endParaRPr>
                    </a:p>
                  </a:txBody>
                  <a:tcPr marL="7620" marR="7620" marT="7620" marB="0" anchor="ctr">
                    <a:solidFill>
                      <a:schemeClr val="accent1"/>
                    </a:solidFill>
                  </a:tcPr>
                </a:tc>
                <a:extLst>
                  <a:ext uri="{0D108BD9-81ED-4DB2-BD59-A6C34878D82A}">
                    <a16:rowId xmlns:a16="http://schemas.microsoft.com/office/drawing/2014/main" val="149619907"/>
                  </a:ext>
                </a:extLst>
              </a:tr>
              <a:tr h="436880">
                <a:tc>
                  <a:txBody>
                    <a:bodyPr/>
                    <a:lstStyle/>
                    <a:p>
                      <a:pPr algn="ctr" fontAlgn="ctr"/>
                      <a:r>
                        <a:rPr lang="en-US" sz="1800" u="none" strike="noStrike" dirty="0">
                          <a:effectLst/>
                        </a:rPr>
                        <a:t>37004</a:t>
                      </a:r>
                      <a:endParaRPr lang="en-US" sz="1800" b="0" i="0" u="none" strike="noStrike" dirty="0">
                        <a:solidFill>
                          <a:srgbClr val="000000"/>
                        </a:solidFill>
                        <a:effectLst/>
                        <a:latin typeface="Helvetica Neue"/>
                      </a:endParaRPr>
                    </a:p>
                  </a:txBody>
                  <a:tcPr marL="7620" marR="7620" marT="7620" marB="0" anchor="ctr"/>
                </a:tc>
                <a:tc>
                  <a:txBody>
                    <a:bodyPr/>
                    <a:lstStyle/>
                    <a:p>
                      <a:pPr algn="ctr" fontAlgn="ctr"/>
                      <a:r>
                        <a:rPr lang="en-US" sz="1800" u="none" strike="noStrike" dirty="0">
                          <a:effectLst/>
                        </a:rPr>
                        <a:t>Fault For VAS</a:t>
                      </a:r>
                      <a:endParaRPr lang="en-US" sz="1800" b="0" i="0" u="none" strike="noStrike" dirty="0">
                        <a:solidFill>
                          <a:srgbClr val="000000"/>
                        </a:solidFill>
                        <a:effectLst/>
                        <a:latin typeface="Helvetica Neue"/>
                      </a:endParaRPr>
                    </a:p>
                  </a:txBody>
                  <a:tcPr marL="7620" marR="7620" marT="7620" marB="0" anchor="ctr"/>
                </a:tc>
                <a:tc>
                  <a:txBody>
                    <a:bodyPr/>
                    <a:lstStyle/>
                    <a:p>
                      <a:pPr algn="ctr" fontAlgn="ctr"/>
                      <a:r>
                        <a:rPr lang="en-US" sz="1800" u="none" strike="noStrike">
                          <a:effectLst/>
                        </a:rPr>
                        <a:t>Quota Dispute</a:t>
                      </a:r>
                      <a:endParaRPr lang="en-US" sz="1800" b="0" i="0" u="none" strike="noStrike">
                        <a:solidFill>
                          <a:srgbClr val="000000"/>
                        </a:solidFill>
                        <a:effectLst/>
                        <a:latin typeface="Helvetica Neue"/>
                      </a:endParaRPr>
                    </a:p>
                  </a:txBody>
                  <a:tcPr marL="7620" marR="7620" marT="7620" marB="0" anchor="ctr"/>
                </a:tc>
                <a:tc>
                  <a:txBody>
                    <a:bodyPr/>
                    <a:lstStyle/>
                    <a:p>
                      <a:pPr algn="ctr" fontAlgn="ctr"/>
                      <a:r>
                        <a:rPr lang="en-US" sz="1800" u="none" strike="noStrike" dirty="0">
                          <a:effectLst/>
                        </a:rPr>
                        <a:t>ADSL</a:t>
                      </a:r>
                      <a:endParaRPr lang="en-US" sz="1800" b="0" i="0" u="none" strike="noStrike" dirty="0">
                        <a:solidFill>
                          <a:srgbClr val="000000"/>
                        </a:solidFill>
                        <a:effectLst/>
                        <a:latin typeface="Helvetica Neue"/>
                      </a:endParaRPr>
                    </a:p>
                  </a:txBody>
                  <a:tcPr marL="7620" marR="7620" marT="7620" marB="0" anchor="ctr"/>
                </a:tc>
                <a:tc>
                  <a:txBody>
                    <a:bodyPr/>
                    <a:lstStyle/>
                    <a:p>
                      <a:pPr algn="ctr" fontAlgn="ctr"/>
                      <a:r>
                        <a:rPr lang="en-US" sz="1800" u="none" strike="noStrike" dirty="0">
                          <a:effectLst/>
                        </a:rPr>
                        <a:t>DSL CH VAS</a:t>
                      </a:r>
                      <a:endParaRPr lang="en-US" sz="1800" b="0" i="0" u="none" strike="noStrike" dirty="0">
                        <a:solidFill>
                          <a:srgbClr val="000000"/>
                        </a:solidFill>
                        <a:effectLst/>
                        <a:latin typeface="Helvetica Neue"/>
                      </a:endParaRPr>
                    </a:p>
                  </a:txBody>
                  <a:tcPr marL="7620" marR="7620" marT="7620" marB="0" anchor="ctr"/>
                </a:tc>
                <a:tc>
                  <a:txBody>
                    <a:bodyPr/>
                    <a:lstStyle/>
                    <a:p>
                      <a:pPr algn="ctr" fontAlgn="ctr"/>
                      <a:r>
                        <a:rPr lang="en-US" sz="1800" u="none" strike="noStrike" dirty="0">
                          <a:effectLst/>
                        </a:rPr>
                        <a:t>48 </a:t>
                      </a:r>
                      <a:r>
                        <a:rPr lang="en-US" sz="1800" u="none" strike="noStrike" dirty="0" err="1">
                          <a:effectLst/>
                        </a:rPr>
                        <a:t>Whrs</a:t>
                      </a:r>
                      <a:endParaRPr lang="en-US" sz="1800" b="0" i="0" u="none" strike="noStrike" dirty="0">
                        <a:solidFill>
                          <a:srgbClr val="000000"/>
                        </a:solidFill>
                        <a:effectLst/>
                        <a:latin typeface="Helvetica Neue"/>
                      </a:endParaRPr>
                    </a:p>
                  </a:txBody>
                  <a:tcPr marL="7620" marR="7620" marT="7620" marB="0" anchor="ctr"/>
                </a:tc>
                <a:extLst>
                  <a:ext uri="{0D108BD9-81ED-4DB2-BD59-A6C34878D82A}">
                    <a16:rowId xmlns:a16="http://schemas.microsoft.com/office/drawing/2014/main" val="2892452014"/>
                  </a:ext>
                </a:extLst>
              </a:tr>
            </a:tbl>
          </a:graphicData>
        </a:graphic>
      </p:graphicFrame>
    </p:spTree>
    <p:extLst>
      <p:ext uri="{BB962C8B-B14F-4D97-AF65-F5344CB8AC3E}">
        <p14:creationId xmlns:p14="http://schemas.microsoft.com/office/powerpoint/2010/main" val="6380173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579120"/>
          </a:xfrm>
        </p:spPr>
        <p:txBody>
          <a:bodyPr>
            <a:normAutofit fontScale="90000"/>
          </a:bodyPr>
          <a:lstStyle/>
          <a:p>
            <a:r>
              <a:rPr lang="en-US" b="1" dirty="0">
                <a:solidFill>
                  <a:schemeClr val="tx1"/>
                </a:solidFill>
                <a:latin typeface="Arial Black" panose="020B0A04020102020204" pitchFamily="34" charset="0"/>
              </a:rPr>
              <a:t>DSL Compensation Matrix</a:t>
            </a:r>
            <a:endParaRPr lang="en-US" dirty="0">
              <a:solidFill>
                <a:schemeClr val="tx1"/>
              </a:solidFill>
              <a:latin typeface="Arial Black" panose="020B0A04020102020204" pitchFamily="34" charset="0"/>
            </a:endParaRPr>
          </a:p>
        </p:txBody>
      </p:sp>
      <p:sp>
        <p:nvSpPr>
          <p:cNvPr id="3" name="Content Placeholder 2"/>
          <p:cNvSpPr>
            <a:spLocks noGrp="1"/>
          </p:cNvSpPr>
          <p:nvPr>
            <p:ph idx="1"/>
          </p:nvPr>
        </p:nvSpPr>
        <p:spPr>
          <a:xfrm>
            <a:off x="0" y="579120"/>
            <a:ext cx="9733280" cy="6278880"/>
          </a:xfrm>
        </p:spPr>
        <p:txBody>
          <a:bodyPr>
            <a:normAutofit/>
          </a:bodyPr>
          <a:lstStyle/>
          <a:p>
            <a:pPr marL="0" indent="0" algn="ctr">
              <a:buNone/>
            </a:pPr>
            <a:r>
              <a:rPr lang="ar-EG" sz="2000" b="1" dirty="0">
                <a:solidFill>
                  <a:schemeClr val="accent3"/>
                </a:solidFill>
                <a:latin typeface="Arial Black" panose="020B0A04020102020204" pitchFamily="34" charset="0"/>
              </a:rPr>
              <a:t>في حاله طلب العميل تعويض</a:t>
            </a:r>
            <a:endParaRPr lang="en-US" sz="2000" b="1" dirty="0">
              <a:solidFill>
                <a:schemeClr val="accent3"/>
              </a:solidFill>
              <a:latin typeface="Arial Black" panose="020B0A04020102020204" pitchFamily="34" charset="0"/>
            </a:endParaRPr>
          </a:p>
          <a:p>
            <a:pPr marL="0" indent="0" algn="r">
              <a:buNone/>
            </a:pPr>
            <a:endParaRPr lang="ar-EG" sz="2000" b="1" dirty="0">
              <a:solidFill>
                <a:schemeClr val="accent3"/>
              </a:solidFill>
              <a:latin typeface="Arial Black" panose="020B0A04020102020204" pitchFamily="34" charset="0"/>
            </a:endParaRPr>
          </a:p>
          <a:p>
            <a:pPr marL="0" indent="0" algn="ctr">
              <a:buNone/>
            </a:pPr>
            <a:r>
              <a:rPr lang="ar-EG" dirty="0">
                <a:latin typeface="Arial" panose="020B0604020202020204" pitchFamily="34" charset="0"/>
                <a:cs typeface="Arial" panose="020B0604020202020204" pitchFamily="34" charset="0"/>
              </a:rPr>
              <a:t>اولا يجب ان توجد شكوي بنفس تاريخ المذكور من العميل وان تكون مقفوله بتم حلها من جانب الاداره سواء</a:t>
            </a:r>
            <a:endParaRPr lang="en-US" dirty="0">
              <a:latin typeface="Arial" panose="020B0604020202020204" pitchFamily="34" charset="0"/>
              <a:cs typeface="Arial" panose="020B0604020202020204" pitchFamily="34" charset="0"/>
            </a:endParaRPr>
          </a:p>
          <a:p>
            <a:pPr marL="0" indent="0" algn="ctr">
              <a:buNone/>
            </a:pPr>
            <a:r>
              <a:rPr lang="en-US" dirty="0">
                <a:solidFill>
                  <a:schemeClr val="accent1"/>
                </a:solidFill>
                <a:latin typeface="Arial" panose="020B0604020202020204" pitchFamily="34" charset="0"/>
                <a:cs typeface="Arial" panose="020B0604020202020204" pitchFamily="34" charset="0"/>
              </a:rPr>
              <a:t>Technical or Network</a:t>
            </a:r>
            <a:endParaRPr lang="ar-EG" dirty="0">
              <a:solidFill>
                <a:schemeClr val="accent1"/>
              </a:solidFill>
              <a:latin typeface="Arial" panose="020B0604020202020204" pitchFamily="34" charset="0"/>
              <a:cs typeface="Arial" panose="020B0604020202020204" pitchFamily="34" charset="0"/>
            </a:endParaRPr>
          </a:p>
          <a:p>
            <a:pPr marL="0" indent="0" algn="r" rtl="1">
              <a:buNone/>
            </a:pPr>
            <a:r>
              <a:rPr lang="ar-EG" dirty="0">
                <a:latin typeface="Arial" panose="020B0604020202020204" pitchFamily="34" charset="0"/>
                <a:cs typeface="Arial" panose="020B0604020202020204" pitchFamily="34" charset="0"/>
              </a:rPr>
              <a:t>وان يكون استهلاك العميل لنفس الفتره للشكوي هو 0  (مفيش استهلاك)</a:t>
            </a:r>
          </a:p>
          <a:p>
            <a:pPr marL="0" indent="0" algn="r">
              <a:buNone/>
            </a:pPr>
            <a:r>
              <a:rPr lang="ar-EG" dirty="0">
                <a:latin typeface="Arial" panose="020B0604020202020204" pitchFamily="34" charset="0"/>
                <a:cs typeface="Arial" panose="020B0604020202020204" pitchFamily="34" charset="0"/>
              </a:rPr>
              <a:t>مسموح بالتعويض لقبل 3 شهور </a:t>
            </a:r>
            <a:endParaRPr lang="en-US" dirty="0">
              <a:latin typeface="Arial" panose="020B0604020202020204" pitchFamily="34" charset="0"/>
              <a:cs typeface="Arial" panose="020B0604020202020204" pitchFamily="34" charset="0"/>
            </a:endParaRPr>
          </a:p>
          <a:p>
            <a:pPr marL="0" indent="0" algn="r">
              <a:buNone/>
            </a:pPr>
            <a:r>
              <a:rPr lang="ar-EG" sz="2000" b="1" dirty="0">
                <a:solidFill>
                  <a:schemeClr val="accent3"/>
                </a:solidFill>
                <a:latin typeface="Arial Black" panose="020B0A04020102020204" pitchFamily="34" charset="0"/>
              </a:rPr>
              <a:t>اشكال الشكاوي </a:t>
            </a:r>
          </a:p>
          <a:p>
            <a:pPr marL="0" indent="0" algn="r">
              <a:buNone/>
            </a:pPr>
            <a:r>
              <a:rPr lang="ar-EG" dirty="0">
                <a:latin typeface="Arial" panose="020B0604020202020204" pitchFamily="34" charset="0"/>
                <a:cs typeface="Arial" panose="020B0604020202020204" pitchFamily="34" charset="0"/>
              </a:rPr>
              <a:t>اما مشاكل خاصه ببطي الخدمه او عدم الاستقرار وهنا تعويض العميل بنص المده</a:t>
            </a:r>
          </a:p>
          <a:p>
            <a:pPr marL="0" indent="0" algn="r">
              <a:buNone/>
            </a:pPr>
            <a:r>
              <a:rPr lang="ar-EG" dirty="0">
                <a:latin typeface="Arial" panose="020B0604020202020204" pitchFamily="34" charset="0"/>
                <a:cs typeface="Arial" panose="020B0604020202020204" pitchFamily="34" charset="0"/>
              </a:rPr>
              <a:t>او مشاكل خاصه بانقطاع الخدمه بشكل عام وهنا تعويض العميل بضعف المده </a:t>
            </a:r>
          </a:p>
          <a:p>
            <a:pPr marL="0" indent="0" algn="r">
              <a:buNone/>
            </a:pPr>
            <a:endParaRPr lang="ar-EG" dirty="0"/>
          </a:p>
          <a:p>
            <a:pPr marL="0" indent="0" algn="r">
              <a:buNone/>
            </a:pPr>
            <a:r>
              <a:rPr lang="ar-EG" sz="2000" b="1" dirty="0">
                <a:solidFill>
                  <a:schemeClr val="accent3"/>
                </a:solidFill>
                <a:latin typeface="Arial Black" panose="020B0A04020102020204" pitchFamily="34" charset="0"/>
              </a:rPr>
              <a:t>اذ توافرت جميع الشروط هنا ابدء اعرض علي العميل اشكال التعويض</a:t>
            </a:r>
          </a:p>
          <a:p>
            <a:pPr marL="0" indent="0" algn="r">
              <a:buNone/>
            </a:pPr>
            <a:r>
              <a:rPr lang="ar-EG" dirty="0"/>
              <a:t>1</a:t>
            </a:r>
            <a:r>
              <a:rPr lang="ar-EG" dirty="0">
                <a:latin typeface="Arial" panose="020B0604020202020204" pitchFamily="34" charset="0"/>
                <a:cs typeface="Arial" panose="020B0604020202020204" pitchFamily="34" charset="0"/>
              </a:rPr>
              <a:t> ان اضيف جيجات صالحه معاه لمده شهر لو اعترض</a:t>
            </a:r>
          </a:p>
          <a:p>
            <a:pPr marL="0" indent="0" algn="r">
              <a:buNone/>
            </a:pPr>
            <a:r>
              <a:rPr lang="ar-EG" dirty="0">
                <a:latin typeface="Arial" panose="020B0604020202020204" pitchFamily="34" charset="0"/>
                <a:cs typeface="Arial" panose="020B0604020202020204" pitchFamily="34" charset="0"/>
              </a:rPr>
              <a:t>2 اعرض عليه خصم علي الفاتوره القادمه واقصي مده لحد 15 يوم تعويض ولو تخطت افتح الطلب  لو اعترض  </a:t>
            </a:r>
          </a:p>
          <a:p>
            <a:pPr marL="0" indent="0" algn="r">
              <a:buNone/>
            </a:pPr>
            <a:r>
              <a:rPr lang="ar-EG" dirty="0">
                <a:latin typeface="Arial" panose="020B0604020202020204" pitchFamily="34" charset="0"/>
                <a:cs typeface="Arial" panose="020B0604020202020204" pitchFamily="34" charset="0"/>
              </a:rPr>
              <a:t>3 وطلب اسقاط الفاتوره الحاليه افتح طلب اسقاط فاتوره </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1173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589047221"/>
              </p:ext>
            </p:extLst>
          </p:nvPr>
        </p:nvGraphicFramePr>
        <p:xfrm>
          <a:off x="1" y="1"/>
          <a:ext cx="9794240" cy="6888920"/>
        </p:xfrm>
        <a:graphic>
          <a:graphicData uri="http://schemas.openxmlformats.org/drawingml/2006/table">
            <a:tbl>
              <a:tblPr>
                <a:tableStyleId>{5C22544A-7EE6-4342-B048-85BDC9FD1C3A}</a:tableStyleId>
              </a:tblPr>
              <a:tblGrid>
                <a:gridCol w="3320793">
                  <a:extLst>
                    <a:ext uri="{9D8B030D-6E8A-4147-A177-3AD203B41FA5}">
                      <a16:colId xmlns:a16="http://schemas.microsoft.com/office/drawing/2014/main" val="1894840083"/>
                    </a:ext>
                  </a:extLst>
                </a:gridCol>
                <a:gridCol w="3320793">
                  <a:extLst>
                    <a:ext uri="{9D8B030D-6E8A-4147-A177-3AD203B41FA5}">
                      <a16:colId xmlns:a16="http://schemas.microsoft.com/office/drawing/2014/main" val="994381035"/>
                    </a:ext>
                  </a:extLst>
                </a:gridCol>
                <a:gridCol w="1744467">
                  <a:extLst>
                    <a:ext uri="{9D8B030D-6E8A-4147-A177-3AD203B41FA5}">
                      <a16:colId xmlns:a16="http://schemas.microsoft.com/office/drawing/2014/main" val="2711682023"/>
                    </a:ext>
                  </a:extLst>
                </a:gridCol>
                <a:gridCol w="1408187">
                  <a:extLst>
                    <a:ext uri="{9D8B030D-6E8A-4147-A177-3AD203B41FA5}">
                      <a16:colId xmlns:a16="http://schemas.microsoft.com/office/drawing/2014/main" val="3659038946"/>
                    </a:ext>
                  </a:extLst>
                </a:gridCol>
              </a:tblGrid>
              <a:tr h="276594">
                <a:tc rowSpan="2">
                  <a:txBody>
                    <a:bodyPr/>
                    <a:lstStyle/>
                    <a:p>
                      <a:pPr algn="ctr" fontAlgn="ctr"/>
                      <a:r>
                        <a:rPr lang="en-US" sz="1800" u="none" strike="noStrike" dirty="0">
                          <a:effectLst/>
                          <a:latin typeface="Arial Black" panose="020B0A04020102020204" pitchFamily="34" charset="0"/>
                          <a:cs typeface="Arial" panose="020B0604020202020204" pitchFamily="34" charset="0"/>
                        </a:rPr>
                        <a:t>Complaint Type</a:t>
                      </a:r>
                      <a:endParaRPr lang="en-US" sz="1800" b="1" i="0" u="none" strike="noStrike" dirty="0">
                        <a:solidFill>
                          <a:srgbClr val="FFFFFF"/>
                        </a:solidFill>
                        <a:effectLst/>
                        <a:latin typeface="Arial Black" panose="020B0A04020102020204" pitchFamily="34" charset="0"/>
                        <a:cs typeface="Arial" panose="020B0604020202020204" pitchFamily="34" charset="0"/>
                      </a:endParaRPr>
                    </a:p>
                  </a:txBody>
                  <a:tcPr marL="4351" marR="4351" marT="4351" marB="0" anchor="ctr">
                    <a:solidFill>
                      <a:schemeClr val="accent1"/>
                    </a:solidFill>
                  </a:tcPr>
                </a:tc>
                <a:tc gridSpan="3">
                  <a:txBody>
                    <a:bodyPr/>
                    <a:lstStyle/>
                    <a:p>
                      <a:pPr algn="ctr" fontAlgn="ctr"/>
                      <a:r>
                        <a:rPr lang="en-US" sz="1800" u="none" strike="noStrike" dirty="0">
                          <a:effectLst/>
                          <a:latin typeface="Arial Black" panose="020B0A04020102020204" pitchFamily="34" charset="0"/>
                          <a:cs typeface="Arial" panose="020B0604020202020204" pitchFamily="34" charset="0"/>
                        </a:rPr>
                        <a:t>Compensation​ E​legibility</a:t>
                      </a:r>
                      <a:endParaRPr lang="en-US" sz="1800" b="1" i="0" u="none" strike="noStrike" dirty="0">
                        <a:solidFill>
                          <a:srgbClr val="FFFFFF"/>
                        </a:solidFill>
                        <a:effectLst/>
                        <a:latin typeface="Arial Black" panose="020B0A04020102020204" pitchFamily="34" charset="0"/>
                        <a:cs typeface="Arial" panose="020B0604020202020204" pitchFamily="34" charset="0"/>
                      </a:endParaRPr>
                    </a:p>
                  </a:txBody>
                  <a:tcPr marL="4351" marR="4351" marT="4351" marB="0" anchor="ctr">
                    <a:solidFill>
                      <a:schemeClr val="accen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94496425"/>
                  </a:ext>
                </a:extLst>
              </a:tr>
              <a:tr h="548870">
                <a:tc vMerge="1">
                  <a:txBody>
                    <a:bodyPr/>
                    <a:lstStyle/>
                    <a:p>
                      <a:endParaRPr lang="en-US"/>
                    </a:p>
                  </a:txBody>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Quota Compensation</a:t>
                      </a:r>
                      <a:endParaRPr lang="en-US" sz="1800" b="1" i="0" u="none" strike="noStrike" dirty="0">
                        <a:solidFill>
                          <a:srgbClr val="FFFFFF"/>
                        </a:solidFill>
                        <a:effectLst/>
                        <a:latin typeface="Arial Black" panose="020B0A04020102020204" pitchFamily="34" charset="0"/>
                        <a:cs typeface="Arial" panose="020B0604020202020204" pitchFamily="34" charset="0"/>
                      </a:endParaRPr>
                    </a:p>
                  </a:txBody>
                  <a:tcPr marL="4351" marR="4351" marT="4351"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Free Duration</a:t>
                      </a:r>
                      <a:endParaRPr lang="en-US" sz="1800" b="1" i="0" u="none" strike="noStrike" dirty="0">
                        <a:solidFill>
                          <a:srgbClr val="FFFFFF"/>
                        </a:solidFill>
                        <a:effectLst/>
                        <a:latin typeface="Arial Black" panose="020B0A04020102020204" pitchFamily="34" charset="0"/>
                        <a:cs typeface="Arial" panose="020B0604020202020204" pitchFamily="34" charset="0"/>
                      </a:endParaRPr>
                    </a:p>
                  </a:txBody>
                  <a:tcPr marL="4351" marR="4351" marT="4351" marB="0" anchor="ctr">
                    <a:solidFill>
                      <a:schemeClr val="accent1"/>
                    </a:solidFill>
                  </a:tcPr>
                </a:tc>
                <a:tc>
                  <a:txBody>
                    <a:bodyPr/>
                    <a:lstStyle/>
                    <a:p>
                      <a:pPr algn="ctr" fontAlgn="ctr"/>
                      <a:r>
                        <a:rPr lang="en-US" sz="1800" u="none" strike="noStrike" dirty="0" err="1">
                          <a:effectLst/>
                          <a:latin typeface="Arial Black" panose="020B0A04020102020204" pitchFamily="34" charset="0"/>
                        </a:rPr>
                        <a:t>Adju</a:t>
                      </a:r>
                      <a:r>
                        <a:rPr lang="en-US" sz="1800" u="none" strike="noStrike" dirty="0">
                          <a:effectLst/>
                          <a:latin typeface="Arial Black" panose="020B0A04020102020204" pitchFamily="34" charset="0"/>
                        </a:rPr>
                        <a:t>​</a:t>
                      </a:r>
                      <a:r>
                        <a:rPr lang="en-US" sz="1800" u="none" strike="noStrike" dirty="0" err="1">
                          <a:effectLst/>
                          <a:latin typeface="Arial Black" panose="020B0A04020102020204" pitchFamily="34" charset="0"/>
                        </a:rPr>
                        <a:t>stment</a:t>
                      </a:r>
                      <a:endParaRPr lang="en-US" sz="1800" b="1" i="0" u="none" strike="noStrike" dirty="0">
                        <a:solidFill>
                          <a:srgbClr val="FFFFFF"/>
                        </a:solidFill>
                        <a:effectLst/>
                        <a:latin typeface="Arial Black" panose="020B0A04020102020204" pitchFamily="34" charset="0"/>
                      </a:endParaRPr>
                    </a:p>
                  </a:txBody>
                  <a:tcPr marL="4351" marR="4351" marT="4351" marB="0" anchor="ctr">
                    <a:solidFill>
                      <a:schemeClr val="accent1"/>
                    </a:solidFill>
                  </a:tcPr>
                </a:tc>
                <a:extLst>
                  <a:ext uri="{0D108BD9-81ED-4DB2-BD59-A6C34878D82A}">
                    <a16:rowId xmlns:a16="http://schemas.microsoft.com/office/drawing/2014/main" val="1346764598"/>
                  </a:ext>
                </a:extLst>
              </a:tr>
              <a:tr h="488364">
                <a:tc>
                  <a:txBody>
                    <a:bodyPr/>
                    <a:lstStyle/>
                    <a:p>
                      <a:pPr algn="ctr" fontAlgn="ctr"/>
                      <a:r>
                        <a:rPr lang="en-US" sz="1400" u="sng" strike="noStrike" dirty="0">
                          <a:effectLst/>
                          <a:latin typeface="Arial" panose="020B0604020202020204" pitchFamily="34" charset="0"/>
                          <a:cs typeface="Arial" panose="020B0604020202020204" pitchFamily="34" charset="0"/>
                        </a:rPr>
                        <a:t>MSAN Financial Adjustment​</a:t>
                      </a:r>
                      <a:endParaRPr lang="en-US" sz="1400" b="0" i="0" u="sng" strike="noStrike" dirty="0">
                        <a:solidFill>
                          <a:srgbClr val="0563C1"/>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Double quota per day according to: Duration &amp; Package</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Double</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rPr>
                        <a:t>Double</a:t>
                      </a:r>
                      <a:endParaRPr lang="en-US" sz="1600" b="0" i="0" u="none" strike="noStrike">
                        <a:solidFill>
                          <a:srgbClr val="000000"/>
                        </a:solidFill>
                        <a:effectLst/>
                        <a:latin typeface="Helvetica Neue"/>
                      </a:endParaRPr>
                    </a:p>
                  </a:txBody>
                  <a:tcPr marL="4351" marR="4351" marT="4351" marB="0" anchor="ctr"/>
                </a:tc>
                <a:extLst>
                  <a:ext uri="{0D108BD9-81ED-4DB2-BD59-A6C34878D82A}">
                    <a16:rowId xmlns:a16="http://schemas.microsoft.com/office/drawing/2014/main" val="2033545783"/>
                  </a:ext>
                </a:extLst>
              </a:tr>
              <a:tr h="730387">
                <a:tc>
                  <a:txBody>
                    <a:bodyPr/>
                    <a:lstStyle/>
                    <a:p>
                      <a:pPr algn="ctr" fontAlgn="ctr"/>
                      <a:r>
                        <a:rPr lang="en-US" sz="1400" u="sng" strike="noStrike" dirty="0">
                          <a:effectLst/>
                          <a:latin typeface="Arial" panose="020B0604020202020204" pitchFamily="34" charset="0"/>
                          <a:cs typeface="Arial" panose="020B0604020202020204" pitchFamily="34" charset="0"/>
                        </a:rPr>
                        <a:t>Congested Pop Problem​</a:t>
                      </a:r>
                      <a:endParaRPr lang="en-US" sz="1400" b="0" i="0" u="sng" strike="noStrike" dirty="0">
                        <a:solidFill>
                          <a:srgbClr val="0563C1"/>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Package quota per day according to: Duration &amp; Package maximum 10 days per bill cycle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Claim Amount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rPr>
                        <a:t>Claim Amount</a:t>
                      </a:r>
                      <a:endParaRPr lang="en-US" sz="1600" b="0" i="0" u="none" strike="noStrike">
                        <a:solidFill>
                          <a:srgbClr val="000000"/>
                        </a:solidFill>
                        <a:effectLst/>
                        <a:latin typeface="Helvetica Neue"/>
                      </a:endParaRPr>
                    </a:p>
                  </a:txBody>
                  <a:tcPr marL="4351" marR="4351" marT="4351" marB="0" anchor="ctr"/>
                </a:tc>
                <a:extLst>
                  <a:ext uri="{0D108BD9-81ED-4DB2-BD59-A6C34878D82A}">
                    <a16:rowId xmlns:a16="http://schemas.microsoft.com/office/drawing/2014/main" val="4132299540"/>
                  </a:ext>
                </a:extLst>
              </a:tr>
              <a:tr h="754775">
                <a:tc>
                  <a:txBody>
                    <a:bodyPr/>
                    <a:lstStyle/>
                    <a:p>
                      <a:pPr algn="ctr" fontAlgn="ctr"/>
                      <a:r>
                        <a:rPr lang="en-US" sz="1400" u="none" strike="noStrike" dirty="0">
                          <a:effectLst/>
                          <a:latin typeface="Arial" panose="020B0604020202020204" pitchFamily="34" charset="0"/>
                          <a:cs typeface="Arial" panose="020B0604020202020204" pitchFamily="34" charset="0"/>
                        </a:rPr>
                        <a:t>Physical Problem – Bad performance (Line Unstable &amp; Bad Line)</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Half quota per day according to Duration &amp; Package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Half</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rPr>
                        <a:t>Half</a:t>
                      </a:r>
                      <a:endParaRPr lang="en-US" sz="1600" b="0" i="0" u="none" strike="noStrike">
                        <a:solidFill>
                          <a:srgbClr val="000000"/>
                        </a:solidFill>
                        <a:effectLst/>
                        <a:latin typeface="Helvetica Neue"/>
                      </a:endParaRPr>
                    </a:p>
                  </a:txBody>
                  <a:tcPr marL="4351" marR="4351" marT="4351" marB="0" anchor="ctr"/>
                </a:tc>
                <a:extLst>
                  <a:ext uri="{0D108BD9-81ED-4DB2-BD59-A6C34878D82A}">
                    <a16:rowId xmlns:a16="http://schemas.microsoft.com/office/drawing/2014/main" val="3539857262"/>
                  </a:ext>
                </a:extLst>
              </a:tr>
              <a:tr h="488364">
                <a:tc>
                  <a:txBody>
                    <a:bodyPr/>
                    <a:lstStyle/>
                    <a:p>
                      <a:pPr algn="ctr" fontAlgn="ctr"/>
                      <a:r>
                        <a:rPr lang="en-US" sz="1400" u="none" strike="noStrike" dirty="0">
                          <a:effectLst/>
                          <a:latin typeface="Arial" panose="020B0604020202020204" pitchFamily="34" charset="0"/>
                          <a:cs typeface="Arial" panose="020B0604020202020204" pitchFamily="34" charset="0"/>
                        </a:rPr>
                        <a:t>Connectivity problem – Speed problems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Half quota per day according to Duration &amp; Package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Half</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rPr>
                        <a:t>Half</a:t>
                      </a:r>
                      <a:endParaRPr lang="en-US" sz="1600" b="0" i="0" u="none" strike="noStrike">
                        <a:solidFill>
                          <a:srgbClr val="000000"/>
                        </a:solidFill>
                        <a:effectLst/>
                        <a:latin typeface="Helvetica Neue"/>
                      </a:endParaRPr>
                    </a:p>
                  </a:txBody>
                  <a:tcPr marL="4351" marR="4351" marT="4351" marB="0" anchor="ctr"/>
                </a:tc>
                <a:extLst>
                  <a:ext uri="{0D108BD9-81ED-4DB2-BD59-A6C34878D82A}">
                    <a16:rowId xmlns:a16="http://schemas.microsoft.com/office/drawing/2014/main" val="1746008295"/>
                  </a:ext>
                </a:extLst>
              </a:tr>
              <a:tr h="488364">
                <a:tc>
                  <a:txBody>
                    <a:bodyPr/>
                    <a:lstStyle/>
                    <a:p>
                      <a:pPr algn="ctr" fontAlgn="ctr"/>
                      <a:r>
                        <a:rPr lang="en-US" sz="1400" u="none" strike="noStrike" dirty="0">
                          <a:effectLst/>
                          <a:latin typeface="Arial" panose="020B0604020202020204" pitchFamily="34" charset="0"/>
                          <a:cs typeface="Arial" panose="020B0604020202020204" pitchFamily="34" charset="0"/>
                        </a:rPr>
                        <a:t>Connection complaints (Connection Unstable)</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Half quota per day according to Duration &amp; Package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Half</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ctr"/>
                </a:tc>
                <a:tc>
                  <a:txBody>
                    <a:bodyPr/>
                    <a:lstStyle/>
                    <a:p>
                      <a:pPr algn="ctr" fontAlgn="ctr"/>
                      <a:r>
                        <a:rPr lang="en-US" sz="1600" u="none" strike="noStrike">
                          <a:effectLst/>
                        </a:rPr>
                        <a:t>Half</a:t>
                      </a:r>
                      <a:endParaRPr lang="en-US" sz="1600" b="0" i="0" u="none" strike="noStrike">
                        <a:solidFill>
                          <a:srgbClr val="000000"/>
                        </a:solidFill>
                        <a:effectLst/>
                        <a:latin typeface="Helvetica Neue"/>
                      </a:endParaRPr>
                    </a:p>
                  </a:txBody>
                  <a:tcPr marL="4351" marR="4351" marT="4351" marB="0" anchor="ctr"/>
                </a:tc>
                <a:extLst>
                  <a:ext uri="{0D108BD9-81ED-4DB2-BD59-A6C34878D82A}">
                    <a16:rowId xmlns:a16="http://schemas.microsoft.com/office/drawing/2014/main" val="519663223"/>
                  </a:ext>
                </a:extLst>
              </a:tr>
              <a:tr h="754775">
                <a:tc>
                  <a:txBody>
                    <a:bodyPr/>
                    <a:lstStyle/>
                    <a:p>
                      <a:pPr algn="ctr" fontAlgn="ctr"/>
                      <a:r>
                        <a:rPr lang="en-US" sz="1400" u="none" strike="noStrike" dirty="0">
                          <a:effectLst/>
                          <a:latin typeface="Arial" panose="020B0604020202020204" pitchFamily="34" charset="0"/>
                          <a:cs typeface="Arial" panose="020B0604020202020204" pitchFamily="34" charset="0"/>
                        </a:rPr>
                        <a:t>Physical problem – Totally Down (Line Down-C​</a:t>
                      </a:r>
                      <a:r>
                        <a:rPr lang="en-US" sz="1400" u="none" strike="noStrike" dirty="0" err="1">
                          <a:effectLst/>
                          <a:latin typeface="Arial" panose="020B0604020202020204" pitchFamily="34" charset="0"/>
                          <a:cs typeface="Arial" panose="020B0604020202020204" pitchFamily="34" charset="0"/>
                        </a:rPr>
                        <a:t>abinet</a:t>
                      </a:r>
                      <a:r>
                        <a:rPr lang="en-US" sz="1400" u="none" strike="noStrike" dirty="0">
                          <a:effectLst/>
                          <a:latin typeface="Arial" panose="020B0604020202020204" pitchFamily="34" charset="0"/>
                          <a:cs typeface="Arial" panose="020B0604020202020204" pitchFamily="34" charset="0"/>
                        </a:rPr>
                        <a:t> Offline-</a:t>
                      </a:r>
                      <a:r>
                        <a:rPr lang="en-US" sz="1400" u="none" strike="noStrike" dirty="0" err="1">
                          <a:effectLst/>
                          <a:latin typeface="Arial" panose="020B0604020202020204" pitchFamily="34" charset="0"/>
                          <a:cs typeface="Arial" panose="020B0604020202020204" pitchFamily="34" charset="0"/>
                        </a:rPr>
                        <a:t>Administively</a:t>
                      </a:r>
                      <a:r>
                        <a:rPr lang="en-US" sz="1400" u="none" strike="noStrike" dirty="0">
                          <a:effectLst/>
                          <a:latin typeface="Arial" panose="020B0604020202020204" pitchFamily="34" charset="0"/>
                          <a:cs typeface="Arial" panose="020B0604020202020204" pitchFamily="34" charset="0"/>
                        </a:rPr>
                        <a:t> Locked by TE-Broken Line)</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rowSpan="3">
                  <a:txBody>
                    <a:bodyPr/>
                    <a:lstStyle/>
                    <a:p>
                      <a:pPr algn="ctr" fontAlgn="ctr"/>
                      <a:r>
                        <a:rPr lang="en-US" sz="1600" u="none" strike="noStrike" dirty="0">
                          <a:effectLst/>
                          <a:latin typeface="Arial" panose="020B0604020202020204" pitchFamily="34" charset="0"/>
                          <a:cs typeface="Arial" panose="020B0604020202020204" pitchFamily="34" charset="0"/>
                        </a:rPr>
                        <a:t>Double Quo​ta Per Day</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rowSpan="3">
                  <a:txBody>
                    <a:bodyPr/>
                    <a:lstStyle/>
                    <a:p>
                      <a:pPr algn="ctr" fontAlgn="ctr"/>
                      <a:r>
                        <a:rPr lang="en-US" sz="1600" u="none" strike="noStrike">
                          <a:effectLst/>
                          <a:latin typeface="Arial" panose="020B0604020202020204" pitchFamily="34" charset="0"/>
                          <a:cs typeface="Arial" panose="020B0604020202020204" pitchFamily="34" charset="0"/>
                        </a:rPr>
                        <a:t>Double</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ctr"/>
                </a:tc>
                <a:tc rowSpan="3">
                  <a:txBody>
                    <a:bodyPr/>
                    <a:lstStyle/>
                    <a:p>
                      <a:pPr algn="ctr" fontAlgn="ctr"/>
                      <a:r>
                        <a:rPr lang="en-US" sz="1600" u="none" strike="noStrike" dirty="0">
                          <a:effectLst/>
                        </a:rPr>
                        <a:t>Double</a:t>
                      </a:r>
                      <a:endParaRPr lang="en-US" sz="1600" b="0" i="0" u="none" strike="noStrike" dirty="0">
                        <a:solidFill>
                          <a:srgbClr val="000000"/>
                        </a:solidFill>
                        <a:effectLst/>
                        <a:latin typeface="Helvetica Neue"/>
                      </a:endParaRPr>
                    </a:p>
                  </a:txBody>
                  <a:tcPr marL="4351" marR="4351" marT="4351" marB="0" anchor="ctr"/>
                </a:tc>
                <a:extLst>
                  <a:ext uri="{0D108BD9-81ED-4DB2-BD59-A6C34878D82A}">
                    <a16:rowId xmlns:a16="http://schemas.microsoft.com/office/drawing/2014/main" val="3078868552"/>
                  </a:ext>
                </a:extLst>
              </a:tr>
              <a:tr h="605120">
                <a:tc>
                  <a:txBody>
                    <a:bodyPr/>
                    <a:lstStyle/>
                    <a:p>
                      <a:pPr algn="ctr" fontAlgn="ctr"/>
                      <a:r>
                        <a:rPr lang="en-US" sz="1400" u="none" strike="noStrike" dirty="0">
                          <a:effectLst/>
                          <a:latin typeface="Arial" panose="020B0604020202020204" pitchFamily="34" charset="0"/>
                          <a:cs typeface="Arial" panose="020B0604020202020204" pitchFamily="34" charset="0"/>
                        </a:rPr>
                        <a:t>Physical problem-Totally down (Due to Global/National Projects,​</a:t>
                      </a:r>
                      <a:r>
                        <a:rPr lang="en-US" sz="1400" u="none" strike="noStrike" dirty="0" err="1">
                          <a:effectLst/>
                          <a:latin typeface="Arial" panose="020B0604020202020204" pitchFamily="34" charset="0"/>
                          <a:cs typeface="Arial" panose="020B0604020202020204" pitchFamily="34" charset="0"/>
                        </a:rPr>
                        <a:t>etc</a:t>
                      </a:r>
                      <a:r>
                        <a:rPr lang="en-US" sz="1400" u="none" strike="noStrike" dirty="0">
                          <a:effectLst/>
                          <a:latin typeface="Arial" panose="020B0604020202020204" pitchFamily="34" charset="0"/>
                          <a:cs typeface="Arial" panose="020B0604020202020204" pitchFamily="34" charset="0"/>
                        </a:rPr>
                        <a:t>)</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727721261"/>
                  </a:ext>
                </a:extLst>
              </a:tr>
              <a:tr h="851399">
                <a:tc>
                  <a:txBody>
                    <a:bodyPr/>
                    <a:lstStyle/>
                    <a:p>
                      <a:pPr algn="ctr" fontAlgn="ctr"/>
                      <a:r>
                        <a:rPr lang="en-US" sz="1400" u="none" strike="noStrike" dirty="0">
                          <a:effectLst/>
                          <a:latin typeface="Arial" panose="020B0604020202020204" pitchFamily="34" charset="0"/>
                          <a:cs typeface="Arial" panose="020B0604020202020204" pitchFamily="34" charset="0"/>
                        </a:rPr>
                        <a:t>Connectivity Problem – Totally disconnected (No Browsing, Authentication Problem, No Account on Bit stream,…etc.)</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766520696"/>
                  </a:ext>
                </a:extLst>
              </a:tr>
              <a:tr h="246342">
                <a:tc>
                  <a:txBody>
                    <a:bodyPr/>
                    <a:lstStyle/>
                    <a:p>
                      <a:pPr algn="ctr" fontAlgn="ctr"/>
                      <a:r>
                        <a:rPr lang="en-US" sz="1400" u="sng" strike="noStrike" dirty="0">
                          <a:effectLst/>
                          <a:latin typeface="Arial" panose="020B0604020202020204" pitchFamily="34" charset="0"/>
                          <a:cs typeface="Arial" panose="020B0604020202020204" pitchFamily="34" charset="0"/>
                        </a:rPr>
                        <a:t>Customer Care/Wrong info</a:t>
                      </a:r>
                      <a:endParaRPr lang="en-US" sz="1400" b="0" i="0" u="sng" strike="noStrike" dirty="0">
                        <a:solidFill>
                          <a:srgbClr val="0563C1"/>
                        </a:solidFill>
                        <a:effectLst/>
                        <a:latin typeface="Arial" panose="020B0604020202020204" pitchFamily="34" charset="0"/>
                        <a:cs typeface="Arial" panose="020B0604020202020204" pitchFamily="34" charset="0"/>
                      </a:endParaRPr>
                    </a:p>
                  </a:txBody>
                  <a:tcPr marL="4351" marR="4351" marT="4351" marB="0" anchor="ctr"/>
                </a:tc>
                <a:tc gridSpan="3">
                  <a:txBody>
                    <a:bodyPr/>
                    <a:lstStyle/>
                    <a:p>
                      <a:pPr algn="ctr" fontAlgn="ctr"/>
                      <a:r>
                        <a:rPr lang="en-US" sz="1600" u="none" strike="noStrike" dirty="0">
                          <a:effectLst/>
                          <a:latin typeface="Arial" panose="020B0604020202020204" pitchFamily="34" charset="0"/>
                          <a:cs typeface="Arial" panose="020B0604020202020204" pitchFamily="34" charset="0"/>
                        </a:rPr>
                        <a:t>Quota Compensation</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37972571"/>
                  </a:ext>
                </a:extLst>
              </a:tr>
              <a:tr h="318827">
                <a:tc>
                  <a:txBody>
                    <a:bodyPr/>
                    <a:lstStyle/>
                    <a:p>
                      <a:pPr algn="ctr" fontAlgn="ctr"/>
                      <a:r>
                        <a:rPr lang="en-US" sz="1400" u="sng" strike="noStrike" dirty="0">
                          <a:effectLst/>
                          <a:latin typeface="Arial" panose="020B0604020202020204" pitchFamily="34" charset="0"/>
                          <a:cs typeface="Arial" panose="020B0604020202020204" pitchFamily="34" charset="0"/>
                        </a:rPr>
                        <a:t>Customer Care/Long Waiting Time</a:t>
                      </a:r>
                      <a:endParaRPr lang="en-US" sz="1400" b="0" i="0" u="sng" strike="noStrike" dirty="0">
                        <a:solidFill>
                          <a:srgbClr val="0563C1"/>
                        </a:solidFill>
                        <a:effectLst/>
                        <a:latin typeface="Arial" panose="020B0604020202020204" pitchFamily="34" charset="0"/>
                        <a:cs typeface="Arial" panose="020B0604020202020204" pitchFamily="34" charset="0"/>
                      </a:endParaRPr>
                    </a:p>
                  </a:txBody>
                  <a:tcPr marL="4351" marR="4351" marT="4351" marB="0" anchor="ctr"/>
                </a:tc>
                <a:tc gridSpan="3">
                  <a:txBody>
                    <a:bodyPr/>
                    <a:lstStyle/>
                    <a:p>
                      <a:pPr algn="ctr" fontAlgn="ctr"/>
                      <a:r>
                        <a:rPr lang="en-US" sz="1600" u="none" strike="noStrike" dirty="0">
                          <a:effectLst/>
                          <a:latin typeface="Arial" panose="020B0604020202020204" pitchFamily="34" charset="0"/>
                          <a:cs typeface="Arial" panose="020B0604020202020204" pitchFamily="34" charset="0"/>
                        </a:rPr>
                        <a:t>Quota Compensation:10 GBs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68712296"/>
                  </a:ext>
                </a:extLst>
              </a:tr>
              <a:tr h="305815">
                <a:tc>
                  <a:txBody>
                    <a:bodyPr/>
                    <a:lstStyle/>
                    <a:p>
                      <a:pPr algn="ctr" fontAlgn="ctr"/>
                      <a:r>
                        <a:rPr lang="en-US" sz="1400" u="sng" strike="noStrike" dirty="0">
                          <a:effectLst/>
                          <a:latin typeface="Arial" panose="020B0604020202020204" pitchFamily="34" charset="0"/>
                          <a:cs typeface="Arial" panose="020B0604020202020204" pitchFamily="34" charset="0"/>
                        </a:rPr>
                        <a:t>Quota Dispute / Quota Renewal</a:t>
                      </a:r>
                      <a:endParaRPr lang="en-US" sz="1400" b="1" i="0" u="sng" strike="noStrike" dirty="0">
                        <a:solidFill>
                          <a:srgbClr val="0000FF"/>
                        </a:solidFill>
                        <a:effectLst/>
                        <a:latin typeface="Arial" panose="020B0604020202020204" pitchFamily="34" charset="0"/>
                        <a:cs typeface="Arial" panose="020B0604020202020204" pitchFamily="34" charset="0"/>
                      </a:endParaRPr>
                    </a:p>
                  </a:txBody>
                  <a:tcPr marL="4351" marR="4351" marT="4351" marB="0" anchor="ctr"/>
                </a:tc>
                <a:tc gridSpan="3">
                  <a:txBody>
                    <a:bodyPr/>
                    <a:lstStyle/>
                    <a:p>
                      <a:pPr algn="ctr" fontAlgn="ctr"/>
                      <a:r>
                        <a:rPr lang="en-US" sz="1600" u="none" strike="noStrike" dirty="0">
                          <a:effectLst/>
                          <a:latin typeface="Arial" panose="020B0604020202020204" pitchFamily="34" charset="0"/>
                          <a:cs typeface="Arial" panose="020B0604020202020204" pitchFamily="34" charset="0"/>
                        </a:rPr>
                        <a:t>Quota Compensation</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351" marR="4351" marT="4351"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25163247"/>
                  </a:ext>
                </a:extLst>
              </a:tr>
            </a:tbl>
          </a:graphicData>
        </a:graphic>
      </p:graphicFrame>
    </p:spTree>
    <p:extLst>
      <p:ext uri="{BB962C8B-B14F-4D97-AF65-F5344CB8AC3E}">
        <p14:creationId xmlns:p14="http://schemas.microsoft.com/office/powerpoint/2010/main" val="2866588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390525"/>
          </a:xfrm>
        </p:spPr>
        <p:txBody>
          <a:bodyPr>
            <a:normAutofit fontScale="90000"/>
          </a:bodyPr>
          <a:lstStyle/>
          <a:p>
            <a:r>
              <a:rPr lang="en-US" sz="2200" b="1" dirty="0">
                <a:latin typeface="Arial Black" panose="020B0A04020102020204" pitchFamily="34" charset="0"/>
              </a:rPr>
              <a:t>Customer Care/Wrong info</a:t>
            </a:r>
            <a:br>
              <a:rPr lang="en-US" dirty="0">
                <a:solidFill>
                  <a:srgbClr val="0563C1"/>
                </a:solidFill>
                <a:latin typeface="Arial" panose="020B0604020202020204" pitchFamily="34" charset="0"/>
                <a:cs typeface="Arial" panose="020B0604020202020204" pitchFamily="34" charset="0"/>
              </a:rPr>
            </a:br>
            <a:endParaRPr lang="en-US" dirty="0"/>
          </a:p>
        </p:txBody>
      </p:sp>
      <p:sp>
        <p:nvSpPr>
          <p:cNvPr id="3" name="Content Placeholder 2"/>
          <p:cNvSpPr>
            <a:spLocks noGrp="1"/>
          </p:cNvSpPr>
          <p:nvPr>
            <p:ph idx="1"/>
          </p:nvPr>
        </p:nvSpPr>
        <p:spPr>
          <a:xfrm>
            <a:off x="0" y="390526"/>
            <a:ext cx="9274002" cy="6467474"/>
          </a:xfrm>
        </p:spPr>
        <p:txBody>
          <a:bodyPr/>
          <a:lstStyle/>
          <a:p>
            <a:r>
              <a:rPr lang="en-US" dirty="0"/>
              <a:t>Customers who will be calling to complain fro​m agent’s wrong info will be handled as follows:</a:t>
            </a:r>
            <a:endParaRPr lang="en-US" sz="3200" dirty="0"/>
          </a:p>
          <a:p>
            <a:pPr lvl="1"/>
            <a:r>
              <a:rPr lang="en-US" dirty="0"/>
              <a:t>Agent should check if the customer has a financial impact or not.</a:t>
            </a:r>
            <a:endParaRPr lang="en-US" sz="2400" dirty="0"/>
          </a:p>
          <a:p>
            <a:pPr lvl="1"/>
            <a:r>
              <a:rPr lang="en-US" dirty="0"/>
              <a:t>In case no financial impact, agent should apologize to the customer.</a:t>
            </a:r>
            <a:endParaRPr lang="en-US" sz="2400" dirty="0"/>
          </a:p>
          <a:p>
            <a:pPr lvl="1"/>
            <a:r>
              <a:rPr lang="en-US" dirty="0"/>
              <a:t>In case customer is dissatisfied, agent should compensate the customer according to the below compensation matrix.</a:t>
            </a:r>
            <a:endParaRPr lang="ar-EG" dirty="0"/>
          </a:p>
          <a:p>
            <a:pPr lvl="1"/>
            <a:endParaRPr lang="en-US" dirty="0"/>
          </a:p>
          <a:p>
            <a:pPr lvl="1"/>
            <a:endParaRPr lang="ar-EG" dirty="0"/>
          </a:p>
          <a:p>
            <a:pPr lvl="1"/>
            <a:endParaRPr lang="ar-EG" dirty="0"/>
          </a:p>
          <a:p>
            <a:pPr lvl="1"/>
            <a:endParaRPr lang="ar-EG" dirty="0"/>
          </a:p>
          <a:p>
            <a:pPr lvl="1"/>
            <a:endParaRPr lang="ar-EG" dirty="0"/>
          </a:p>
          <a:p>
            <a:pPr lvl="1"/>
            <a:r>
              <a:rPr lang="en-US" dirty="0"/>
              <a:t>SR</a:t>
            </a:r>
            <a:endParaRPr lang="ar-EG" dirty="0"/>
          </a:p>
          <a:p>
            <a:pPr lvl="1"/>
            <a:endParaRPr lang="ar-EG" dirty="0"/>
          </a:p>
          <a:p>
            <a:pPr lvl="1"/>
            <a:endParaRPr lang="ar-EG" sz="2400" dirty="0"/>
          </a:p>
          <a:p>
            <a:pPr lvl="1"/>
            <a:endParaRPr lang="ar-EG" sz="2400" dirty="0"/>
          </a:p>
          <a:p>
            <a:pPr lvl="1"/>
            <a:endParaRPr lang="ar-EG" sz="2400" dirty="0"/>
          </a:p>
          <a:p>
            <a:pPr lvl="1"/>
            <a:endParaRPr lang="ar-EG" sz="2400" dirty="0"/>
          </a:p>
          <a:p>
            <a:pPr marL="457200" lvl="1" indent="0">
              <a:buNone/>
            </a:pPr>
            <a:endParaRPr lang="en-US" sz="2400" dirty="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553430496"/>
              </p:ext>
            </p:extLst>
          </p:nvPr>
        </p:nvGraphicFramePr>
        <p:xfrm>
          <a:off x="0" y="2623819"/>
          <a:ext cx="7995920" cy="1480820"/>
        </p:xfrm>
        <a:graphic>
          <a:graphicData uri="http://schemas.openxmlformats.org/drawingml/2006/table">
            <a:tbl>
              <a:tblPr>
                <a:tableStyleId>{5C22544A-7EE6-4342-B048-85BDC9FD1C3A}</a:tableStyleId>
              </a:tblPr>
              <a:tblGrid>
                <a:gridCol w="7995920">
                  <a:extLst>
                    <a:ext uri="{9D8B030D-6E8A-4147-A177-3AD203B41FA5}">
                      <a16:colId xmlns:a16="http://schemas.microsoft.com/office/drawing/2014/main" val="3786618191"/>
                    </a:ext>
                  </a:extLst>
                </a:gridCol>
              </a:tblGrid>
              <a:tr h="377760">
                <a:tc>
                  <a:txBody>
                    <a:bodyPr/>
                    <a:lstStyle/>
                    <a:p>
                      <a:pPr algn="ctr" fontAlgn="ctr"/>
                      <a:r>
                        <a:rPr lang="en-US" sz="1400" u="none" strike="noStrike" dirty="0">
                          <a:effectLst/>
                          <a:latin typeface="Arial Black" panose="020B0A04020102020204" pitchFamily="34" charset="0"/>
                          <a:cs typeface="Arial" panose="020B0604020202020204" pitchFamily="34" charset="0"/>
                        </a:rPr>
                        <a:t>Goodwill Quota Compensation Matrix</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1705427466"/>
                  </a:ext>
                </a:extLst>
              </a:tr>
              <a:tr h="347540">
                <a:tc>
                  <a:txBody>
                    <a:bodyPr/>
                    <a:lstStyle/>
                    <a:p>
                      <a:pPr algn="ctr" fontAlgn="ctr"/>
                      <a:r>
                        <a:rPr lang="en-US" sz="1400" u="none" strike="noStrike" dirty="0">
                          <a:effectLst/>
                          <a:latin typeface="Arial" panose="020B0604020202020204" pitchFamily="34" charset="0"/>
                          <a:cs typeface="Arial" panose="020B0604020202020204" pitchFamily="34" charset="0"/>
                        </a:rPr>
                        <a:t>​​10 GBs from Home internet 210 up to 420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024830352"/>
                  </a:ext>
                </a:extLst>
              </a:tr>
              <a:tr h="377760">
                <a:tc>
                  <a:txBody>
                    <a:bodyPr/>
                    <a:lstStyle/>
                    <a:p>
                      <a:pPr algn="ctr" fontAlgn="ctr"/>
                      <a:r>
                        <a:rPr lang="en-US" sz="1400" u="none" strike="noStrike" dirty="0">
                          <a:effectLst/>
                          <a:latin typeface="Arial" panose="020B0604020202020204" pitchFamily="34" charset="0"/>
                          <a:cs typeface="Arial" panose="020B0604020202020204" pitchFamily="34" charset="0"/>
                        </a:rPr>
                        <a:t>20 GBs from Home Internet 680 up to 1230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863684205"/>
                  </a:ext>
                </a:extLst>
              </a:tr>
              <a:tr h="377760">
                <a:tc>
                  <a:txBody>
                    <a:bodyPr/>
                    <a:lstStyle/>
                    <a:p>
                      <a:pPr algn="ctr" fontAlgn="ctr"/>
                      <a:r>
                        <a:rPr lang="en-US" sz="1400" u="none" strike="noStrike" dirty="0">
                          <a:effectLst/>
                          <a:latin typeface="Arial" panose="020B0604020202020204" pitchFamily="34" charset="0"/>
                          <a:cs typeface="Arial" panose="020B0604020202020204" pitchFamily="34" charset="0"/>
                        </a:rPr>
                        <a:t>30 GBs for Home Interne​t 1760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29226451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149807610"/>
              </p:ext>
            </p:extLst>
          </p:nvPr>
        </p:nvGraphicFramePr>
        <p:xfrm>
          <a:off x="0" y="4593589"/>
          <a:ext cx="8097519" cy="1981200"/>
        </p:xfrm>
        <a:graphic>
          <a:graphicData uri="http://schemas.openxmlformats.org/drawingml/2006/table">
            <a:tbl>
              <a:tblPr>
                <a:tableStyleId>{5C22544A-7EE6-4342-B048-85BDC9FD1C3A}</a:tableStyleId>
              </a:tblPr>
              <a:tblGrid>
                <a:gridCol w="1134504">
                  <a:extLst>
                    <a:ext uri="{9D8B030D-6E8A-4147-A177-3AD203B41FA5}">
                      <a16:colId xmlns:a16="http://schemas.microsoft.com/office/drawing/2014/main" val="1740031391"/>
                    </a:ext>
                  </a:extLst>
                </a:gridCol>
                <a:gridCol w="2141376">
                  <a:extLst>
                    <a:ext uri="{9D8B030D-6E8A-4147-A177-3AD203B41FA5}">
                      <a16:colId xmlns:a16="http://schemas.microsoft.com/office/drawing/2014/main" val="2146964730"/>
                    </a:ext>
                  </a:extLst>
                </a:gridCol>
                <a:gridCol w="850877">
                  <a:extLst>
                    <a:ext uri="{9D8B030D-6E8A-4147-A177-3AD203B41FA5}">
                      <a16:colId xmlns:a16="http://schemas.microsoft.com/office/drawing/2014/main" val="1947765995"/>
                    </a:ext>
                  </a:extLst>
                </a:gridCol>
                <a:gridCol w="1134504">
                  <a:extLst>
                    <a:ext uri="{9D8B030D-6E8A-4147-A177-3AD203B41FA5}">
                      <a16:colId xmlns:a16="http://schemas.microsoft.com/office/drawing/2014/main" val="1078742531"/>
                    </a:ext>
                  </a:extLst>
                </a:gridCol>
                <a:gridCol w="1418129">
                  <a:extLst>
                    <a:ext uri="{9D8B030D-6E8A-4147-A177-3AD203B41FA5}">
                      <a16:colId xmlns:a16="http://schemas.microsoft.com/office/drawing/2014/main" val="723557298"/>
                    </a:ext>
                  </a:extLst>
                </a:gridCol>
                <a:gridCol w="1418129">
                  <a:extLst>
                    <a:ext uri="{9D8B030D-6E8A-4147-A177-3AD203B41FA5}">
                      <a16:colId xmlns:a16="http://schemas.microsoft.com/office/drawing/2014/main" val="826711309"/>
                    </a:ext>
                  </a:extLst>
                </a:gridCol>
              </a:tblGrid>
              <a:tr h="350520">
                <a:tc>
                  <a:txBody>
                    <a:bodyPr/>
                    <a:lstStyle/>
                    <a:p>
                      <a:pPr marL="0" algn="ctr" defTabSz="457200" rtl="0" eaLnBrk="1" fontAlgn="ctr" latinLnBrk="0" hangingPunct="1"/>
                      <a:r>
                        <a:rPr lang="en-US" sz="1400" u="none" strike="noStrike" kern="1200" dirty="0" err="1">
                          <a:solidFill>
                            <a:schemeClr val="dk1"/>
                          </a:solidFill>
                          <a:effectLst/>
                          <a:latin typeface="Arial Black" panose="020B0A04020102020204" pitchFamily="34" charset="0"/>
                          <a:ea typeface="+mn-ea"/>
                          <a:cs typeface="Arial" panose="020B0604020202020204" pitchFamily="34" charset="0"/>
                        </a:rPr>
                        <a:t>Sh</a:t>
                      </a:r>
                      <a:r>
                        <a:rPr lang="en-US" sz="1400" u="none" strike="noStrike" kern="1200" dirty="0">
                          <a:solidFill>
                            <a:schemeClr val="dk1"/>
                          </a:solidFill>
                          <a:effectLst/>
                          <a:latin typeface="Arial Black" panose="020B0A04020102020204" pitchFamily="34" charset="0"/>
                          <a:ea typeface="+mn-ea"/>
                          <a:cs typeface="Arial" panose="020B0604020202020204" pitchFamily="34" charset="0"/>
                        </a:rPr>
                        <a:t>​ort Code</a:t>
                      </a:r>
                    </a:p>
                  </a:txBody>
                  <a:tcPr marL="7620" marR="7620" marT="7620" marB="0" anchor="ctr">
                    <a:solidFill>
                      <a:schemeClr val="accent1"/>
                    </a:solidFill>
                  </a:tcPr>
                </a:tc>
                <a:tc>
                  <a:txBody>
                    <a:bodyPr/>
                    <a:lstStyle/>
                    <a:p>
                      <a:pPr marL="0" algn="ctr" defTabSz="457200" rtl="0" eaLnBrk="1" fontAlgn="ctr" latinLnBrk="0" hangingPunct="1"/>
                      <a:r>
                        <a:rPr lang="en-US" sz="1400" u="none" strike="noStrike" kern="1200" dirty="0">
                          <a:solidFill>
                            <a:schemeClr val="dk1"/>
                          </a:solidFill>
                          <a:effectLst/>
                          <a:latin typeface="Arial Black" panose="020B0A04020102020204" pitchFamily="34" charset="0"/>
                          <a:ea typeface="+mn-ea"/>
                          <a:cs typeface="Arial" panose="020B0604020202020204" pitchFamily="34" charset="0"/>
                        </a:rPr>
                        <a:t>Type</a:t>
                      </a:r>
                    </a:p>
                  </a:txBody>
                  <a:tcPr marL="7620" marR="7620" marT="7620" marB="0" anchor="ctr">
                    <a:solidFill>
                      <a:schemeClr val="accent1"/>
                    </a:solidFill>
                  </a:tcPr>
                </a:tc>
                <a:tc>
                  <a:txBody>
                    <a:bodyPr/>
                    <a:lstStyle/>
                    <a:p>
                      <a:pPr marL="0" algn="ctr" defTabSz="457200" rtl="0" eaLnBrk="1" fontAlgn="ctr" latinLnBrk="0" hangingPunct="1"/>
                      <a:r>
                        <a:rPr lang="en-US" sz="1400" u="none" strike="noStrike" kern="1200" dirty="0">
                          <a:solidFill>
                            <a:schemeClr val="dk1"/>
                          </a:solidFill>
                          <a:effectLst/>
                          <a:latin typeface="Arial Black" panose="020B0A04020102020204" pitchFamily="34" charset="0"/>
                          <a:ea typeface="+mn-ea"/>
                          <a:cs typeface="Arial" panose="020B0604020202020204" pitchFamily="34" charset="0"/>
                        </a:rPr>
                        <a:t>Area</a:t>
                      </a:r>
                    </a:p>
                  </a:txBody>
                  <a:tcPr marL="7620" marR="7620" marT="7620" marB="0" anchor="ctr">
                    <a:solidFill>
                      <a:schemeClr val="accent1"/>
                    </a:solidFill>
                  </a:tcPr>
                </a:tc>
                <a:tc>
                  <a:txBody>
                    <a:bodyPr/>
                    <a:lstStyle/>
                    <a:p>
                      <a:pPr marL="0" algn="ctr" defTabSz="457200" rtl="0" eaLnBrk="1" fontAlgn="ctr" latinLnBrk="0" hangingPunct="1"/>
                      <a:r>
                        <a:rPr lang="en-US" sz="1400" u="none" strike="noStrike" kern="1200" dirty="0">
                          <a:solidFill>
                            <a:schemeClr val="dk1"/>
                          </a:solidFill>
                          <a:effectLst/>
                          <a:latin typeface="Arial Black" panose="020B0A04020102020204" pitchFamily="34" charset="0"/>
                          <a:ea typeface="+mn-ea"/>
                          <a:cs typeface="Arial" panose="020B0604020202020204" pitchFamily="34" charset="0"/>
                        </a:rPr>
                        <a:t>Sub Area</a:t>
                      </a:r>
                    </a:p>
                  </a:txBody>
                  <a:tcPr marL="7620" marR="7620" marT="7620" marB="0" anchor="ctr">
                    <a:solidFill>
                      <a:schemeClr val="accent1"/>
                    </a:solidFill>
                  </a:tcPr>
                </a:tc>
                <a:tc>
                  <a:txBody>
                    <a:bodyPr/>
                    <a:lstStyle/>
                    <a:p>
                      <a:pPr marL="0" algn="ctr" defTabSz="457200" rtl="0" eaLnBrk="1" fontAlgn="ctr" latinLnBrk="0" hangingPunct="1"/>
                      <a:r>
                        <a:rPr lang="en-US" sz="1400" u="none" strike="noStrike" kern="1200" dirty="0">
                          <a:solidFill>
                            <a:schemeClr val="dk1"/>
                          </a:solidFill>
                          <a:effectLst/>
                          <a:latin typeface="Arial Black" panose="020B0A04020102020204" pitchFamily="34" charset="0"/>
                          <a:ea typeface="+mn-ea"/>
                          <a:cs typeface="Arial" panose="020B0604020202020204" pitchFamily="34" charset="0"/>
                        </a:rPr>
                        <a:t>Product</a:t>
                      </a:r>
                    </a:p>
                  </a:txBody>
                  <a:tcPr marL="7620" marR="7620" marT="7620" marB="0" anchor="ctr">
                    <a:solidFill>
                      <a:schemeClr val="accent1"/>
                    </a:solidFill>
                  </a:tcPr>
                </a:tc>
                <a:tc>
                  <a:txBody>
                    <a:bodyPr/>
                    <a:lstStyle/>
                    <a:p>
                      <a:pPr marL="0" algn="ctr" defTabSz="457200" rtl="0" eaLnBrk="1" fontAlgn="ctr" latinLnBrk="0" hangingPunct="1"/>
                      <a:r>
                        <a:rPr lang="en-US" sz="1400" u="none" strike="noStrike" kern="1200" dirty="0">
                          <a:solidFill>
                            <a:schemeClr val="dk1"/>
                          </a:solidFill>
                          <a:effectLst/>
                          <a:latin typeface="Arial Black" panose="020B0A04020102020204" pitchFamily="34" charset="0"/>
                          <a:ea typeface="+mn-ea"/>
                          <a:cs typeface="Arial" panose="020B0604020202020204" pitchFamily="34" charset="0"/>
                        </a:rPr>
                        <a:t>Description</a:t>
                      </a:r>
                    </a:p>
                  </a:txBody>
                  <a:tcPr marL="7620" marR="7620" marT="7620" marB="0" anchor="ctr">
                    <a:solidFill>
                      <a:schemeClr val="accent1"/>
                    </a:solidFill>
                  </a:tcPr>
                </a:tc>
                <a:extLst>
                  <a:ext uri="{0D108BD9-81ED-4DB2-BD59-A6C34878D82A}">
                    <a16:rowId xmlns:a16="http://schemas.microsoft.com/office/drawing/2014/main" val="405191046"/>
                  </a:ext>
                </a:extLst>
              </a:tr>
              <a:tr h="411480">
                <a:tc rowSpan="3">
                  <a:txBody>
                    <a:bodyPr/>
                    <a:lstStyle/>
                    <a:p>
                      <a:pPr marL="0" algn="ctr" defTabSz="457200" rtl="0" eaLnBrk="1" fontAlgn="ctr" latinLnBrk="0" hangingPunct="1"/>
                      <a:r>
                        <a:rPr lang="en-US" sz="1400" u="none" strike="noStrike" kern="1200" dirty="0">
                          <a:solidFill>
                            <a:schemeClr val="dk1"/>
                          </a:solidFill>
                          <a:effectLst/>
                          <a:latin typeface="Arial" panose="020B0604020202020204" pitchFamily="34" charset="0"/>
                          <a:ea typeface="+mn-ea"/>
                          <a:cs typeface="Arial" panose="020B0604020202020204" pitchFamily="34" charset="0"/>
                        </a:rPr>
                        <a:t>32004</a:t>
                      </a:r>
                    </a:p>
                  </a:txBody>
                  <a:tcPr marL="7620" marR="7620" marT="7620" marB="0" anchor="ctr"/>
                </a:tc>
                <a:tc rowSpan="3">
                  <a:txBody>
                    <a:bodyPr/>
                    <a:lstStyle/>
                    <a:p>
                      <a:pPr marL="0" algn="ctr" defTabSz="457200" rtl="0" eaLnBrk="1" fontAlgn="ctr" latinLnBrk="0" hangingPunct="1"/>
                      <a:r>
                        <a:rPr lang="en-US" sz="1400" u="none" strike="noStrike" kern="1200" dirty="0">
                          <a:solidFill>
                            <a:schemeClr val="dk1"/>
                          </a:solidFill>
                          <a:effectLst/>
                          <a:latin typeface="Arial" panose="020B0604020202020204" pitchFamily="34" charset="0"/>
                          <a:ea typeface="+mn-ea"/>
                          <a:cs typeface="Arial" panose="020B0604020202020204" pitchFamily="34" charset="0"/>
                        </a:rPr>
                        <a:t>DSL Fault For Customer Care​</a:t>
                      </a:r>
                    </a:p>
                  </a:txBody>
                  <a:tcPr marL="7620" marR="7620" marT="7620" marB="0" anchor="ctr"/>
                </a:tc>
                <a:tc rowSpan="3">
                  <a:txBody>
                    <a:bodyPr/>
                    <a:lstStyle/>
                    <a:p>
                      <a:pPr marL="0" algn="ctr" defTabSz="457200" rtl="0" eaLnBrk="1" fontAlgn="ctr" latinLnBrk="0" hangingPunct="1"/>
                      <a:r>
                        <a:rPr lang="en-US" sz="1400" u="none" strike="noStrike" kern="1200" dirty="0" err="1">
                          <a:solidFill>
                            <a:schemeClr val="dk1"/>
                          </a:solidFill>
                          <a:effectLst/>
                          <a:latin typeface="Arial" panose="020B0604020202020204" pitchFamily="34" charset="0"/>
                          <a:ea typeface="+mn-ea"/>
                          <a:cs typeface="Arial" panose="020B0604020202020204" pitchFamily="34" charset="0"/>
                        </a:rPr>
                        <a:t>Wr</a:t>
                      </a:r>
                      <a:r>
                        <a:rPr lang="en-US" sz="1400" u="none" strike="noStrike" kern="1200" dirty="0">
                          <a:solidFill>
                            <a:schemeClr val="dk1"/>
                          </a:solidFill>
                          <a:effectLst/>
                          <a:latin typeface="Arial" panose="020B0604020202020204" pitchFamily="34" charset="0"/>
                          <a:ea typeface="+mn-ea"/>
                          <a:cs typeface="Arial" panose="020B0604020202020204" pitchFamily="34" charset="0"/>
                        </a:rPr>
                        <a:t>​</a:t>
                      </a:r>
                      <a:r>
                        <a:rPr lang="en-US" sz="1400" u="none" strike="noStrike" kern="1200" dirty="0" err="1">
                          <a:solidFill>
                            <a:schemeClr val="dk1"/>
                          </a:solidFill>
                          <a:effectLst/>
                          <a:latin typeface="Arial" panose="020B0604020202020204" pitchFamily="34" charset="0"/>
                          <a:ea typeface="+mn-ea"/>
                          <a:cs typeface="Arial" panose="020B0604020202020204" pitchFamily="34" charset="0"/>
                        </a:rPr>
                        <a:t>ong</a:t>
                      </a:r>
                      <a:r>
                        <a:rPr lang="en-US" sz="1400" u="none" strike="noStrike" kern="1200" dirty="0">
                          <a:solidFill>
                            <a:schemeClr val="dk1"/>
                          </a:solidFill>
                          <a:effectLst/>
                          <a:latin typeface="Arial" panose="020B0604020202020204" pitchFamily="34" charset="0"/>
                          <a:ea typeface="+mn-ea"/>
                          <a:cs typeface="Arial" panose="020B0604020202020204" pitchFamily="34" charset="0"/>
                        </a:rPr>
                        <a:t> Info</a:t>
                      </a:r>
                    </a:p>
                  </a:txBody>
                  <a:tcPr marL="7620" marR="7620" marT="7620" marB="0" anchor="ctr"/>
                </a:tc>
                <a:tc>
                  <a:txBody>
                    <a:bodyPr/>
                    <a:lstStyle/>
                    <a:p>
                      <a:pPr marL="0" algn="ctr" defTabSz="457200" rtl="0" eaLnBrk="1" fontAlgn="ctr" latinLnBrk="0" hangingPunct="1"/>
                      <a:r>
                        <a:rPr lang="en-US" sz="1400" u="none" strike="noStrike" kern="1200">
                          <a:solidFill>
                            <a:schemeClr val="dk1"/>
                          </a:solidFill>
                          <a:effectLst/>
                          <a:latin typeface="Arial" panose="020B0604020202020204" pitchFamily="34" charset="0"/>
                          <a:ea typeface="+mn-ea"/>
                          <a:cs typeface="Arial" panose="020B0604020202020204" pitchFamily="34" charset="0"/>
                        </a:rPr>
                        <a:t>Solved &amp; Compensated</a:t>
                      </a:r>
                    </a:p>
                  </a:txBody>
                  <a:tcPr marL="7620" marR="7620" marT="7620" marB="0" anchor="ctr"/>
                </a:tc>
                <a:tc>
                  <a:txBody>
                    <a:bodyPr/>
                    <a:lstStyle/>
                    <a:p>
                      <a:pPr marL="0" algn="ctr" defTabSz="457200" rtl="0" eaLnBrk="1" fontAlgn="ctr" latinLnBrk="0" hangingPunct="1"/>
                      <a:r>
                        <a:rPr lang="en-US" sz="1400" u="none" strike="noStrike" kern="1200">
                          <a:solidFill>
                            <a:schemeClr val="dk1"/>
                          </a:solidFill>
                          <a:effectLst/>
                          <a:latin typeface="Arial" panose="020B0604020202020204" pitchFamily="34" charset="0"/>
                          <a:ea typeface="+mn-ea"/>
                          <a:cs typeface="Arial" panose="020B0604020202020204" pitchFamily="34" charset="0"/>
                        </a:rPr>
                        <a:t>16333</a:t>
                      </a:r>
                    </a:p>
                  </a:txBody>
                  <a:tcPr marL="7620" marR="7620" marT="7620" marB="0" anchor="ctr"/>
                </a:tc>
                <a:tc>
                  <a:txBody>
                    <a:bodyPr/>
                    <a:lstStyle/>
                    <a:p>
                      <a:pPr marL="0" algn="ctr" defTabSz="457200" rtl="0" eaLnBrk="1" fontAlgn="ctr" latinLnBrk="0" hangingPunct="1"/>
                      <a:r>
                        <a:rPr lang="en-US" sz="1400" u="none" strike="noStrike" kern="1200">
                          <a:solidFill>
                            <a:schemeClr val="dk1"/>
                          </a:solidFill>
                          <a:effectLst/>
                          <a:latin typeface="Arial" panose="020B0604020202020204" pitchFamily="34" charset="0"/>
                          <a:ea typeface="+mn-ea"/>
                          <a:cs typeface="Arial" panose="020B0604020202020204" pitchFamily="34" charset="0"/>
                        </a:rPr>
                        <a:t>Complaint from CC agent</a:t>
                      </a:r>
                    </a:p>
                  </a:txBody>
                  <a:tcPr marL="7620" marR="7620" marT="7620" marB="0" anchor="ctr"/>
                </a:tc>
                <a:extLst>
                  <a:ext uri="{0D108BD9-81ED-4DB2-BD59-A6C34878D82A}">
                    <a16:rowId xmlns:a16="http://schemas.microsoft.com/office/drawing/2014/main" val="2104858879"/>
                  </a:ext>
                </a:extLst>
              </a:tr>
              <a:tr h="54864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algn="ctr" defTabSz="457200" rtl="0" eaLnBrk="1" fontAlgn="ctr" latinLnBrk="0" hangingPunct="1"/>
                      <a:r>
                        <a:rPr lang="en-US" sz="1400" u="none" strike="noStrike" kern="1200" dirty="0">
                          <a:solidFill>
                            <a:schemeClr val="dk1"/>
                          </a:solidFill>
                          <a:effectLst/>
                          <a:latin typeface="Arial" panose="020B0604020202020204" pitchFamily="34" charset="0"/>
                          <a:ea typeface="+mn-ea"/>
                          <a:cs typeface="Arial" panose="020B0604020202020204" pitchFamily="34" charset="0"/>
                        </a:rPr>
                        <a:t>Solved &amp; Not Compensated</a:t>
                      </a:r>
                    </a:p>
                  </a:txBody>
                  <a:tcPr marL="7620" marR="7620" marT="7620" marB="0" anchor="ctr"/>
                </a:tc>
                <a:tc>
                  <a:txBody>
                    <a:bodyPr/>
                    <a:lstStyle/>
                    <a:p>
                      <a:pPr marL="0" algn="ctr" defTabSz="457200" rtl="0" eaLnBrk="1" fontAlgn="ctr" latinLnBrk="0" hangingPunct="1"/>
                      <a:r>
                        <a:rPr lang="en-US" sz="1400" u="none" strike="noStrike" kern="1200" dirty="0">
                          <a:solidFill>
                            <a:schemeClr val="dk1"/>
                          </a:solidFill>
                          <a:effectLst/>
                          <a:latin typeface="Arial" panose="020B0604020202020204" pitchFamily="34" charset="0"/>
                          <a:ea typeface="+mn-ea"/>
                          <a:cs typeface="Arial" panose="020B0604020202020204" pitchFamily="34" charset="0"/>
                        </a:rPr>
                        <a:t>Orange Shop</a:t>
                      </a:r>
                    </a:p>
                  </a:txBody>
                  <a:tcPr marL="7620" marR="7620" marT="7620" marB="0" anchor="ctr"/>
                </a:tc>
                <a:tc>
                  <a:txBody>
                    <a:bodyPr/>
                    <a:lstStyle/>
                    <a:p>
                      <a:pPr marL="0" algn="ctr" defTabSz="457200" rtl="0" eaLnBrk="1" fontAlgn="ctr" latinLnBrk="0" hangingPunct="1"/>
                      <a:r>
                        <a:rPr lang="en-US" sz="1400" u="none" strike="noStrike" kern="1200" dirty="0">
                          <a:solidFill>
                            <a:schemeClr val="dk1"/>
                          </a:solidFill>
                          <a:effectLst/>
                          <a:latin typeface="Arial" panose="020B0604020202020204" pitchFamily="34" charset="0"/>
                          <a:ea typeface="+mn-ea"/>
                          <a:cs typeface="Arial" panose="020B0604020202020204" pitchFamily="34" charset="0"/>
                        </a:rPr>
                        <a:t>Complaint from shop agent</a:t>
                      </a:r>
                    </a:p>
                  </a:txBody>
                  <a:tcPr marL="7620" marR="7620" marT="7620" marB="0" anchor="ctr"/>
                </a:tc>
                <a:extLst>
                  <a:ext uri="{0D108BD9-81ED-4DB2-BD59-A6C34878D82A}">
                    <a16:rowId xmlns:a16="http://schemas.microsoft.com/office/drawing/2014/main" val="1289736033"/>
                  </a:ext>
                </a:extLst>
              </a:tr>
              <a:tr h="46482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algn="ctr" defTabSz="457200" rtl="0" eaLnBrk="1" fontAlgn="ctr" latinLnBrk="0" hangingPunct="1"/>
                      <a:r>
                        <a:rPr lang="en-US" sz="1400" u="none" strike="noStrike" kern="1200">
                          <a:solidFill>
                            <a:schemeClr val="dk1"/>
                          </a:solidFill>
                          <a:effectLst/>
                          <a:latin typeface="Arial" panose="020B0604020202020204" pitchFamily="34" charset="0"/>
                          <a:ea typeface="+mn-ea"/>
                          <a:cs typeface="Arial" panose="020B0604020202020204" pitchFamily="34" charset="0"/>
                        </a:rPr>
                        <a:t> </a:t>
                      </a:r>
                    </a:p>
                  </a:txBody>
                  <a:tcPr marL="7620" marR="7620" marT="7620" marB="0" anchor="ctr"/>
                </a:tc>
                <a:tc>
                  <a:txBody>
                    <a:bodyPr/>
                    <a:lstStyle/>
                    <a:p>
                      <a:pPr marL="0" algn="ctr" defTabSz="457200" rtl="0" eaLnBrk="1" fontAlgn="ctr" latinLnBrk="0" hangingPunct="1"/>
                      <a:r>
                        <a:rPr lang="en-US" sz="1400" u="none" strike="noStrike" kern="1200">
                          <a:solidFill>
                            <a:schemeClr val="dk1"/>
                          </a:solidFill>
                          <a:effectLst/>
                          <a:latin typeface="Arial" panose="020B0604020202020204" pitchFamily="34" charset="0"/>
                          <a:ea typeface="+mn-ea"/>
                          <a:cs typeface="Arial" panose="020B0604020202020204" pitchFamily="34" charset="0"/>
                        </a:rPr>
                        <a:t>Social Media /Click to chat</a:t>
                      </a:r>
                    </a:p>
                  </a:txBody>
                  <a:tcPr marL="7620" marR="7620" marT="7620" marB="0" anchor="ctr"/>
                </a:tc>
                <a:tc>
                  <a:txBody>
                    <a:bodyPr/>
                    <a:lstStyle/>
                    <a:p>
                      <a:pPr marL="0" algn="ctr" defTabSz="457200" rtl="0" eaLnBrk="1" fontAlgn="ctr" latinLnBrk="0" hangingPunct="1"/>
                      <a:r>
                        <a:rPr lang="en-US" sz="1400" u="none" strike="noStrike" kern="1200" dirty="0">
                          <a:solidFill>
                            <a:schemeClr val="dk1"/>
                          </a:solidFill>
                          <a:effectLst/>
                          <a:latin typeface="Arial" panose="020B0604020202020204" pitchFamily="34" charset="0"/>
                          <a:ea typeface="+mn-ea"/>
                          <a:cs typeface="Arial" panose="020B0604020202020204" pitchFamily="34" charset="0"/>
                        </a:rPr>
                        <a:t>Complaint from Social Media agent</a:t>
                      </a:r>
                    </a:p>
                  </a:txBody>
                  <a:tcPr marL="7620" marR="7620" marT="7620" marB="0" anchor="ctr"/>
                </a:tc>
                <a:extLst>
                  <a:ext uri="{0D108BD9-81ED-4DB2-BD59-A6C34878D82A}">
                    <a16:rowId xmlns:a16="http://schemas.microsoft.com/office/drawing/2014/main" val="3439105772"/>
                  </a:ext>
                </a:extLst>
              </a:tr>
            </a:tbl>
          </a:graphicData>
        </a:graphic>
      </p:graphicFrame>
    </p:spTree>
    <p:extLst>
      <p:ext uri="{BB962C8B-B14F-4D97-AF65-F5344CB8AC3E}">
        <p14:creationId xmlns:p14="http://schemas.microsoft.com/office/powerpoint/2010/main" val="3346397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599440"/>
          </a:xfrm>
        </p:spPr>
        <p:txBody>
          <a:bodyPr>
            <a:normAutofit/>
          </a:bodyPr>
          <a:lstStyle/>
          <a:p>
            <a:r>
              <a:rPr lang="en-US" sz="2000" dirty="0">
                <a:latin typeface="Arial Black" panose="020B0A04020102020204" pitchFamily="34" charset="0"/>
                <a:cs typeface="Arial" panose="020B0604020202020204" pitchFamily="34" charset="0"/>
              </a:rPr>
              <a:t>Long Waiting Time</a:t>
            </a:r>
          </a:p>
        </p:txBody>
      </p:sp>
      <p:sp>
        <p:nvSpPr>
          <p:cNvPr id="3" name="Content Placeholder 2"/>
          <p:cNvSpPr>
            <a:spLocks noGrp="1"/>
          </p:cNvSpPr>
          <p:nvPr>
            <p:ph idx="1"/>
          </p:nvPr>
        </p:nvSpPr>
        <p:spPr>
          <a:xfrm>
            <a:off x="0" y="599440"/>
            <a:ext cx="9274002" cy="6258560"/>
          </a:xfrm>
        </p:spPr>
        <p:txBody>
          <a:bodyPr/>
          <a:lstStyle/>
          <a:p>
            <a:r>
              <a:rPr lang="en-US" dirty="0"/>
              <a:t>Customers that are contacting DSL support teams through 16333/Click To Chat/Technical Back Office and complaining from long waiting time should be compensated with free 10 GBs as a Goodwill compensation.</a:t>
            </a:r>
          </a:p>
          <a:p>
            <a:r>
              <a:rPr lang="en-US" dirty="0"/>
              <a:t>Customer can be compensated with free GBs maximum 2 times per quarter (3 months)</a:t>
            </a:r>
          </a:p>
          <a:p>
            <a:pPr algn="r"/>
            <a:r>
              <a:rPr lang="en-US" b="1" u="sng" dirty="0"/>
              <a:t>Script:</a:t>
            </a:r>
            <a:r>
              <a:rPr lang="ar-EG" dirty="0"/>
              <a:t>احنا بنعتذر عن طول مده الانتظار انا هضيف لحضرتك 10 جيجا بايتس هديه من اورنچ علشان يهمنا دايما رضاء حضرتك</a:t>
            </a:r>
            <a:endParaRPr lang="en-US" dirty="0"/>
          </a:p>
          <a:p>
            <a:r>
              <a:rPr lang="en-US" dirty="0"/>
              <a:t>In case customer took the maximum limit ,agent should communicate the below script.</a:t>
            </a:r>
            <a:endParaRPr lang="en-US" u="sng" dirty="0"/>
          </a:p>
          <a:p>
            <a:pPr algn="r"/>
            <a:r>
              <a:rPr lang="en-US" b="1" u="sng" dirty="0"/>
              <a:t>Script:</a:t>
            </a:r>
            <a:r>
              <a:rPr lang="ar-EG" dirty="0"/>
              <a:t> احنا بنعتذر لحضرتك يا فندم بس احنا بنعمل كل اللى نقدر عليه للرد على مكالمة حضرتك فى اسرع وقت ممكن... اتفضل استفسار حضرتك إيه</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171742468"/>
              </p:ext>
            </p:extLst>
          </p:nvPr>
        </p:nvGraphicFramePr>
        <p:xfrm>
          <a:off x="0" y="4805680"/>
          <a:ext cx="10810240" cy="1112520"/>
        </p:xfrm>
        <a:graphic>
          <a:graphicData uri="http://schemas.openxmlformats.org/drawingml/2006/table">
            <a:tbl>
              <a:tblPr>
                <a:tableStyleId>{5C22544A-7EE6-4342-B048-85BDC9FD1C3A}</a:tableStyleId>
              </a:tblPr>
              <a:tblGrid>
                <a:gridCol w="1508952">
                  <a:extLst>
                    <a:ext uri="{9D8B030D-6E8A-4147-A177-3AD203B41FA5}">
                      <a16:colId xmlns:a16="http://schemas.microsoft.com/office/drawing/2014/main" val="3635753946"/>
                    </a:ext>
                  </a:extLst>
                </a:gridCol>
                <a:gridCol w="3294383">
                  <a:extLst>
                    <a:ext uri="{9D8B030D-6E8A-4147-A177-3AD203B41FA5}">
                      <a16:colId xmlns:a16="http://schemas.microsoft.com/office/drawing/2014/main" val="1025021313"/>
                    </a:ext>
                  </a:extLst>
                </a:gridCol>
                <a:gridCol w="2166425">
                  <a:extLst>
                    <a:ext uri="{9D8B030D-6E8A-4147-A177-3AD203B41FA5}">
                      <a16:colId xmlns:a16="http://schemas.microsoft.com/office/drawing/2014/main" val="2343775007"/>
                    </a:ext>
                  </a:extLst>
                </a:gridCol>
                <a:gridCol w="2997982">
                  <a:extLst>
                    <a:ext uri="{9D8B030D-6E8A-4147-A177-3AD203B41FA5}">
                      <a16:colId xmlns:a16="http://schemas.microsoft.com/office/drawing/2014/main" val="2070237400"/>
                    </a:ext>
                  </a:extLst>
                </a:gridCol>
                <a:gridCol w="842498">
                  <a:extLst>
                    <a:ext uri="{9D8B030D-6E8A-4147-A177-3AD203B41FA5}">
                      <a16:colId xmlns:a16="http://schemas.microsoft.com/office/drawing/2014/main" val="3078531134"/>
                    </a:ext>
                  </a:extLst>
                </a:gridCol>
              </a:tblGrid>
              <a:tr h="358140">
                <a:tc>
                  <a:txBody>
                    <a:bodyPr/>
                    <a:lstStyle/>
                    <a:p>
                      <a:pPr algn="ctr" fontAlgn="ctr"/>
                      <a:r>
                        <a:rPr lang="en-US" sz="1800" u="none" strike="noStrike" dirty="0">
                          <a:effectLst/>
                          <a:latin typeface="Arial Black" panose="020B0A04020102020204" pitchFamily="34" charset="0"/>
                          <a:cs typeface="Arial" panose="020B0604020202020204" pitchFamily="34" charset="0"/>
                        </a:rPr>
                        <a:t>Short ​Code</a:t>
                      </a:r>
                      <a:endParaRPr lang="en-US" sz="18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Type</a:t>
                      </a:r>
                      <a:endParaRPr lang="en-US" sz="18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Area</a:t>
                      </a:r>
                      <a:endParaRPr lang="en-US" sz="18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Sub Area</a:t>
                      </a:r>
                      <a:endParaRPr lang="en-US" sz="18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Black" panose="020B0A04020102020204" pitchFamily="34" charset="0"/>
                          <a:cs typeface="Arial" panose="020B0604020202020204" pitchFamily="34" charset="0"/>
                        </a:rPr>
                        <a:t>Product</a:t>
                      </a:r>
                      <a:endParaRPr lang="en-US" sz="18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181862569"/>
                  </a:ext>
                </a:extLst>
              </a:tr>
              <a:tr h="533400">
                <a:tc>
                  <a:txBody>
                    <a:bodyPr/>
                    <a:lstStyle/>
                    <a:p>
                      <a:pPr algn="ctr" fontAlgn="ctr"/>
                      <a:r>
                        <a:rPr lang="en-US" sz="1800" u="none" strike="noStrike">
                          <a:effectLst/>
                          <a:latin typeface="Arial" panose="020B0604020202020204" pitchFamily="34" charset="0"/>
                          <a:cs typeface="Arial" panose="020B0604020202020204" pitchFamily="34" charset="0"/>
                        </a:rPr>
                        <a:t>16819</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da-DK" sz="1800" u="none" strike="noStrike" dirty="0">
                          <a:effectLst/>
                          <a:latin typeface="Arial" panose="020B0604020202020204" pitchFamily="34" charset="0"/>
                          <a:cs typeface="Arial" panose="020B0604020202020204" pitchFamily="34" charset="0"/>
                        </a:rPr>
                        <a:t>DSL Acc Mo​d For Line Mod</a:t>
                      </a:r>
                      <a:endParaRPr lang="da-DK"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Quota Compensation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Waiting Time - Quota  Added</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ADSL​</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426922140"/>
                  </a:ext>
                </a:extLst>
              </a:tr>
            </a:tbl>
          </a:graphicData>
        </a:graphic>
      </p:graphicFrame>
    </p:spTree>
    <p:extLst>
      <p:ext uri="{BB962C8B-B14F-4D97-AF65-F5344CB8AC3E}">
        <p14:creationId xmlns:p14="http://schemas.microsoft.com/office/powerpoint/2010/main" val="883211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518160"/>
          </a:xfrm>
        </p:spPr>
        <p:txBody>
          <a:bodyPr>
            <a:normAutofit/>
          </a:bodyPr>
          <a:lstStyle/>
          <a:p>
            <a:r>
              <a:rPr lang="en-US" sz="2000" b="1" dirty="0">
                <a:latin typeface="Arial Black" panose="020B0A04020102020204" pitchFamily="34" charset="0"/>
              </a:rPr>
              <a:t>Basic Quota Not Updated</a:t>
            </a:r>
            <a:endParaRPr lang="en-US" sz="2000" dirty="0">
              <a:latin typeface="Arial Black" panose="020B0A04020102020204" pitchFamily="34" charset="0"/>
            </a:endParaRPr>
          </a:p>
        </p:txBody>
      </p:sp>
      <p:sp>
        <p:nvSpPr>
          <p:cNvPr id="3" name="Content Placeholder 2"/>
          <p:cNvSpPr>
            <a:spLocks noGrp="1"/>
          </p:cNvSpPr>
          <p:nvPr>
            <p:ph idx="1"/>
          </p:nvPr>
        </p:nvSpPr>
        <p:spPr>
          <a:xfrm>
            <a:off x="0" y="518160"/>
            <a:ext cx="9274002" cy="6339839"/>
          </a:xfrm>
        </p:spPr>
        <p:txBody>
          <a:bodyPr/>
          <a:lstStyle/>
          <a:p>
            <a:r>
              <a:rPr lang="en-US" dirty="0"/>
              <a:t>​​</a:t>
            </a:r>
            <a:r>
              <a:rPr lang="en-US" dirty="0">
                <a:latin typeface="Arial" panose="020B0604020202020204" pitchFamily="34" charset="0"/>
                <a:cs typeface="Arial" panose="020B0604020202020204" pitchFamily="34" charset="0"/>
              </a:rPr>
              <a:t>Renewal takes place from </a:t>
            </a:r>
            <a:r>
              <a:rPr lang="en-US" b="1" dirty="0">
                <a:latin typeface="Arial" panose="020B0604020202020204" pitchFamily="34" charset="0"/>
                <a:cs typeface="Arial" panose="020B0604020202020204" pitchFamily="34" charset="0"/>
              </a:rPr>
              <a:t>12:00 AM</a:t>
            </a:r>
            <a:r>
              <a:rPr lang="en-US" dirty="0">
                <a:latin typeface="Arial" panose="020B0604020202020204" pitchFamily="34" charset="0"/>
                <a:cs typeface="Arial" panose="020B0604020202020204" pitchFamily="34" charset="0"/>
              </a:rPr>
              <a:t> till </a:t>
            </a:r>
            <a:r>
              <a:rPr lang="en-US" b="1" dirty="0">
                <a:latin typeface="Arial" panose="020B0604020202020204" pitchFamily="34" charset="0"/>
                <a:cs typeface="Arial" panose="020B0604020202020204" pitchFamily="34" charset="0"/>
              </a:rPr>
              <a:t>3:00 AM</a:t>
            </a:r>
            <a:r>
              <a:rPr lang="en-US" dirty="0">
                <a:latin typeface="Arial" panose="020B0604020202020204" pitchFamily="34" charset="0"/>
                <a:cs typeface="Arial" panose="020B0604020202020204" pitchFamily="34" charset="0"/>
              </a:rPr>
              <a:t>, accordingly no need for escalation during this time</a:t>
            </a:r>
          </a:p>
          <a:p>
            <a:r>
              <a:rPr lang="en-US" dirty="0">
                <a:latin typeface="Arial" panose="020B0604020202020204" pitchFamily="34" charset="0"/>
                <a:cs typeface="Arial" panose="020B0604020202020204" pitchFamily="34" charset="0"/>
              </a:rPr>
              <a:t>Check customer balance and the renewal date as (Quota Renewal date = Due Date for invoices), if not matched.</a:t>
            </a:r>
          </a:p>
          <a:p>
            <a:r>
              <a:rPr lang="en-US" dirty="0">
                <a:latin typeface="Arial" panose="020B0604020202020204" pitchFamily="34" charset="0"/>
                <a:cs typeface="Arial" panose="020B0604020202020204" pitchFamily="34" charset="0"/>
              </a:rPr>
              <a:t>In case customer is asking about the package renewal date and there is a difference between package renewal date on PCRF and due date on Siebel.</a:t>
            </a:r>
          </a:p>
          <a:p>
            <a:r>
              <a:rPr lang="en-US" dirty="0">
                <a:latin typeface="Arial" panose="020B0604020202020204" pitchFamily="34" charset="0"/>
                <a:cs typeface="Arial" panose="020B0604020202020204" pitchFamily="34" charset="0"/>
              </a:rPr>
              <a:t>In case of receiving customer complaining that his/her main package quota wasn't renewed after 03:00 AM, agent should create SR</a:t>
            </a:r>
          </a:p>
          <a:p>
            <a:endParaRPr lang="en-US"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753957974"/>
              </p:ext>
            </p:extLst>
          </p:nvPr>
        </p:nvGraphicFramePr>
        <p:xfrm>
          <a:off x="0" y="3215640"/>
          <a:ext cx="8432800" cy="944878"/>
        </p:xfrm>
        <a:graphic>
          <a:graphicData uri="http://schemas.openxmlformats.org/drawingml/2006/table">
            <a:tbl>
              <a:tblPr>
                <a:tableStyleId>{5C22544A-7EE6-4342-B048-85BDC9FD1C3A}</a:tableStyleId>
              </a:tblPr>
              <a:tblGrid>
                <a:gridCol w="8432800">
                  <a:extLst>
                    <a:ext uri="{9D8B030D-6E8A-4147-A177-3AD203B41FA5}">
                      <a16:colId xmlns:a16="http://schemas.microsoft.com/office/drawing/2014/main" val="3786618191"/>
                    </a:ext>
                  </a:extLst>
                </a:gridCol>
              </a:tblGrid>
              <a:tr h="241040">
                <a:tc>
                  <a:txBody>
                    <a:bodyPr/>
                    <a:lstStyle/>
                    <a:p>
                      <a:pPr algn="ctr" fontAlgn="ctr"/>
                      <a:r>
                        <a:rPr lang="en-US" sz="1400" u="none" strike="noStrike" dirty="0">
                          <a:effectLst/>
                          <a:latin typeface="Arial Black" panose="020B0A04020102020204" pitchFamily="34" charset="0"/>
                          <a:cs typeface="Arial" panose="020B0604020202020204" pitchFamily="34" charset="0"/>
                        </a:rPr>
                        <a:t>Goodwill Quota Compensation Matrix</a:t>
                      </a:r>
                      <a:endParaRPr lang="en-US" sz="1400" b="1" i="0" u="none" strike="noStrike" dirty="0">
                        <a:solidFill>
                          <a:srgbClr val="FFFFFF"/>
                        </a:solidFill>
                        <a:effectLst/>
                        <a:latin typeface="Arial Black" panose="020B0A040201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1705427466"/>
                  </a:ext>
                </a:extLst>
              </a:tr>
              <a:tr h="221758">
                <a:tc>
                  <a:txBody>
                    <a:bodyPr/>
                    <a:lstStyle/>
                    <a:p>
                      <a:pPr algn="ctr" fontAlgn="ctr"/>
                      <a:r>
                        <a:rPr lang="en-US" sz="1400" u="none" strike="noStrike" dirty="0">
                          <a:effectLst/>
                          <a:latin typeface="Arial" panose="020B0604020202020204" pitchFamily="34" charset="0"/>
                          <a:cs typeface="Arial" panose="020B0604020202020204" pitchFamily="34" charset="0"/>
                        </a:rPr>
                        <a:t>​​10 GBs from Home internet 210 up to 420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024830352"/>
                  </a:ext>
                </a:extLst>
              </a:tr>
              <a:tr h="241040">
                <a:tc>
                  <a:txBody>
                    <a:bodyPr/>
                    <a:lstStyle/>
                    <a:p>
                      <a:pPr algn="ctr" fontAlgn="ctr"/>
                      <a:r>
                        <a:rPr lang="en-US" sz="1400" u="none" strike="noStrike" dirty="0">
                          <a:effectLst/>
                          <a:latin typeface="Arial" panose="020B0604020202020204" pitchFamily="34" charset="0"/>
                          <a:cs typeface="Arial" panose="020B0604020202020204" pitchFamily="34" charset="0"/>
                        </a:rPr>
                        <a:t>20 GBs from Home Internet 680 up to 1230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863684205"/>
                  </a:ext>
                </a:extLst>
              </a:tr>
              <a:tr h="241040">
                <a:tc>
                  <a:txBody>
                    <a:bodyPr/>
                    <a:lstStyle/>
                    <a:p>
                      <a:pPr algn="ctr" fontAlgn="ctr"/>
                      <a:r>
                        <a:rPr lang="en-US" sz="1400" u="none" strike="noStrike" dirty="0">
                          <a:effectLst/>
                          <a:latin typeface="Arial" panose="020B0604020202020204" pitchFamily="34" charset="0"/>
                          <a:cs typeface="Arial" panose="020B0604020202020204" pitchFamily="34" charset="0"/>
                        </a:rPr>
                        <a:t>30 GBs for Home Interne​t 1760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29226451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64540775"/>
              </p:ext>
            </p:extLst>
          </p:nvPr>
        </p:nvGraphicFramePr>
        <p:xfrm>
          <a:off x="0" y="4160518"/>
          <a:ext cx="8432800" cy="2697480"/>
        </p:xfrm>
        <a:graphic>
          <a:graphicData uri="http://schemas.openxmlformats.org/drawingml/2006/table">
            <a:tbl>
              <a:tblPr>
                <a:tableStyleId>{5C22544A-7EE6-4342-B048-85BDC9FD1C3A}</a:tableStyleId>
              </a:tblPr>
              <a:tblGrid>
                <a:gridCol w="635000">
                  <a:extLst>
                    <a:ext uri="{9D8B030D-6E8A-4147-A177-3AD203B41FA5}">
                      <a16:colId xmlns:a16="http://schemas.microsoft.com/office/drawing/2014/main" val="4016068280"/>
                    </a:ext>
                  </a:extLst>
                </a:gridCol>
                <a:gridCol w="1651000">
                  <a:extLst>
                    <a:ext uri="{9D8B030D-6E8A-4147-A177-3AD203B41FA5}">
                      <a16:colId xmlns:a16="http://schemas.microsoft.com/office/drawing/2014/main" val="2995766121"/>
                    </a:ext>
                  </a:extLst>
                </a:gridCol>
                <a:gridCol w="762000">
                  <a:extLst>
                    <a:ext uri="{9D8B030D-6E8A-4147-A177-3AD203B41FA5}">
                      <a16:colId xmlns:a16="http://schemas.microsoft.com/office/drawing/2014/main" val="1764341200"/>
                    </a:ext>
                  </a:extLst>
                </a:gridCol>
                <a:gridCol w="977900">
                  <a:extLst>
                    <a:ext uri="{9D8B030D-6E8A-4147-A177-3AD203B41FA5}">
                      <a16:colId xmlns:a16="http://schemas.microsoft.com/office/drawing/2014/main" val="3506786277"/>
                    </a:ext>
                  </a:extLst>
                </a:gridCol>
                <a:gridCol w="800100">
                  <a:extLst>
                    <a:ext uri="{9D8B030D-6E8A-4147-A177-3AD203B41FA5}">
                      <a16:colId xmlns:a16="http://schemas.microsoft.com/office/drawing/2014/main" val="3554086861"/>
                    </a:ext>
                  </a:extLst>
                </a:gridCol>
                <a:gridCol w="812800">
                  <a:extLst>
                    <a:ext uri="{9D8B030D-6E8A-4147-A177-3AD203B41FA5}">
                      <a16:colId xmlns:a16="http://schemas.microsoft.com/office/drawing/2014/main" val="1091019687"/>
                    </a:ext>
                  </a:extLst>
                </a:gridCol>
                <a:gridCol w="609600">
                  <a:extLst>
                    <a:ext uri="{9D8B030D-6E8A-4147-A177-3AD203B41FA5}">
                      <a16:colId xmlns:a16="http://schemas.microsoft.com/office/drawing/2014/main" val="3270755029"/>
                    </a:ext>
                  </a:extLst>
                </a:gridCol>
                <a:gridCol w="2184400">
                  <a:extLst>
                    <a:ext uri="{9D8B030D-6E8A-4147-A177-3AD203B41FA5}">
                      <a16:colId xmlns:a16="http://schemas.microsoft.com/office/drawing/2014/main" val="1070349225"/>
                    </a:ext>
                  </a:extLst>
                </a:gridCol>
              </a:tblGrid>
              <a:tr h="418280">
                <a:tc>
                  <a:txBody>
                    <a:bodyPr/>
                    <a:lstStyle/>
                    <a:p>
                      <a:pPr algn="ctr" fontAlgn="ctr"/>
                      <a:r>
                        <a:rPr lang="en-US" sz="1200" u="none" strike="noStrike" kern="1200" dirty="0">
                          <a:solidFill>
                            <a:schemeClr val="dk1"/>
                          </a:solidFill>
                          <a:effectLst/>
                          <a:latin typeface="Arial Black" panose="020B0A04020102020204" pitchFamily="34" charset="0"/>
                          <a:ea typeface="+mn-ea"/>
                          <a:cs typeface="Arial" panose="020B0604020202020204" pitchFamily="34" charset="0"/>
                        </a:rPr>
                        <a:t>​Short Code</a:t>
                      </a:r>
                    </a:p>
                  </a:txBody>
                  <a:tcPr marL="7620" marR="7620" marT="7620" marB="0" anchor="ctr">
                    <a:solidFill>
                      <a:schemeClr val="accent1"/>
                    </a:solidFill>
                  </a:tcPr>
                </a:tc>
                <a:tc>
                  <a:txBody>
                    <a:bodyPr/>
                    <a:lstStyle/>
                    <a:p>
                      <a:pPr algn="ctr" fontAlgn="ctr"/>
                      <a:r>
                        <a:rPr lang="en-US" sz="1200" u="none" strike="noStrike" kern="1200" dirty="0">
                          <a:solidFill>
                            <a:schemeClr val="dk1"/>
                          </a:solidFill>
                          <a:effectLst/>
                          <a:latin typeface="Arial Black" panose="020B0A04020102020204" pitchFamily="34" charset="0"/>
                          <a:ea typeface="+mn-ea"/>
                          <a:cs typeface="Arial" panose="020B0604020202020204" pitchFamily="34" charset="0"/>
                        </a:rPr>
                        <a:t>Type</a:t>
                      </a:r>
                    </a:p>
                  </a:txBody>
                  <a:tcPr marL="7620" marR="7620" marT="7620" marB="0" anchor="ctr">
                    <a:solidFill>
                      <a:schemeClr val="accent1"/>
                    </a:solidFill>
                  </a:tcPr>
                </a:tc>
                <a:tc>
                  <a:txBody>
                    <a:bodyPr/>
                    <a:lstStyle/>
                    <a:p>
                      <a:pPr algn="ctr" fontAlgn="ctr"/>
                      <a:r>
                        <a:rPr lang="en-US" sz="1200" u="none" strike="noStrike" kern="1200" dirty="0">
                          <a:solidFill>
                            <a:schemeClr val="dk1"/>
                          </a:solidFill>
                          <a:effectLst/>
                          <a:latin typeface="Arial Black" panose="020B0A04020102020204" pitchFamily="34" charset="0"/>
                          <a:ea typeface="+mn-ea"/>
                          <a:cs typeface="Arial" panose="020B0604020202020204" pitchFamily="34" charset="0"/>
                        </a:rPr>
                        <a:t>Area</a:t>
                      </a:r>
                    </a:p>
                  </a:txBody>
                  <a:tcPr marL="7620" marR="7620" marT="7620" marB="0" anchor="ctr">
                    <a:solidFill>
                      <a:schemeClr val="accent1"/>
                    </a:solidFill>
                  </a:tcPr>
                </a:tc>
                <a:tc>
                  <a:txBody>
                    <a:bodyPr/>
                    <a:lstStyle/>
                    <a:p>
                      <a:pPr algn="ctr" fontAlgn="ctr"/>
                      <a:r>
                        <a:rPr lang="en-US" sz="1200" u="none" strike="noStrike" kern="1200" dirty="0">
                          <a:solidFill>
                            <a:schemeClr val="dk1"/>
                          </a:solidFill>
                          <a:effectLst/>
                          <a:latin typeface="Arial Black" panose="020B0A04020102020204" pitchFamily="34" charset="0"/>
                          <a:ea typeface="+mn-ea"/>
                          <a:cs typeface="Arial" panose="020B0604020202020204" pitchFamily="34" charset="0"/>
                        </a:rPr>
                        <a:t>Product</a:t>
                      </a:r>
                    </a:p>
                  </a:txBody>
                  <a:tcPr marL="7620" marR="7620" marT="7620" marB="0" anchor="ctr">
                    <a:solidFill>
                      <a:schemeClr val="accent1"/>
                    </a:solidFill>
                  </a:tcPr>
                </a:tc>
                <a:tc>
                  <a:txBody>
                    <a:bodyPr/>
                    <a:lstStyle/>
                    <a:p>
                      <a:pPr algn="ctr" fontAlgn="ctr"/>
                      <a:r>
                        <a:rPr lang="en-US" sz="1200" u="none" strike="noStrike" kern="1200" dirty="0">
                          <a:solidFill>
                            <a:schemeClr val="dk1"/>
                          </a:solidFill>
                          <a:effectLst/>
                          <a:latin typeface="Arial Black" panose="020B0A04020102020204" pitchFamily="34" charset="0"/>
                          <a:ea typeface="+mn-ea"/>
                          <a:cs typeface="Arial" panose="020B0604020202020204" pitchFamily="34" charset="0"/>
                        </a:rPr>
                        <a:t>Owner Group</a:t>
                      </a:r>
                    </a:p>
                  </a:txBody>
                  <a:tcPr marL="7620" marR="7620" marT="7620" marB="0" anchor="ctr">
                    <a:solidFill>
                      <a:schemeClr val="accent1"/>
                    </a:solidFill>
                  </a:tcPr>
                </a:tc>
                <a:tc>
                  <a:txBody>
                    <a:bodyPr/>
                    <a:lstStyle/>
                    <a:p>
                      <a:pPr algn="ctr" fontAlgn="ctr"/>
                      <a:r>
                        <a:rPr lang="en-US" sz="1200" u="none" strike="noStrike" kern="1200" dirty="0">
                          <a:solidFill>
                            <a:schemeClr val="dk1"/>
                          </a:solidFill>
                          <a:effectLst/>
                          <a:latin typeface="Arial Black" panose="020B0A04020102020204" pitchFamily="34" charset="0"/>
                          <a:ea typeface="+mn-ea"/>
                          <a:cs typeface="Arial" panose="020B0604020202020204" pitchFamily="34" charset="0"/>
                        </a:rPr>
                        <a:t>SLA</a:t>
                      </a:r>
                    </a:p>
                  </a:txBody>
                  <a:tcPr marL="7620" marR="7620" marT="7620" marB="0" anchor="ctr">
                    <a:solidFill>
                      <a:schemeClr val="accent1"/>
                    </a:solidFill>
                  </a:tcPr>
                </a:tc>
                <a:tc>
                  <a:txBody>
                    <a:bodyPr/>
                    <a:lstStyle/>
                    <a:p>
                      <a:pPr algn="ctr" fontAlgn="ctr"/>
                      <a:r>
                        <a:rPr lang="en-US" sz="1200" u="none" strike="noStrike" kern="1200" dirty="0">
                          <a:solidFill>
                            <a:schemeClr val="dk1"/>
                          </a:solidFill>
                          <a:effectLst/>
                          <a:latin typeface="Arial Black" panose="020B0A04020102020204" pitchFamily="34" charset="0"/>
                          <a:ea typeface="+mn-ea"/>
                          <a:cs typeface="Arial" panose="020B0604020202020204" pitchFamily="34" charset="0"/>
                        </a:rPr>
                        <a:t>SS</a:t>
                      </a:r>
                    </a:p>
                  </a:txBody>
                  <a:tcPr marL="7620" marR="7620" marT="7620" marB="0" anchor="ctr">
                    <a:solidFill>
                      <a:schemeClr val="accent1"/>
                    </a:solidFill>
                  </a:tcPr>
                </a:tc>
                <a:tc>
                  <a:txBody>
                    <a:bodyPr/>
                    <a:lstStyle/>
                    <a:p>
                      <a:pPr algn="ctr" fontAlgn="ctr"/>
                      <a:r>
                        <a:rPr lang="en-US" sz="1200" u="none" strike="noStrike" kern="1200" dirty="0">
                          <a:solidFill>
                            <a:schemeClr val="dk1"/>
                          </a:solidFill>
                          <a:effectLst/>
                          <a:latin typeface="Arial Black" panose="020B0A04020102020204" pitchFamily="34" charset="0"/>
                          <a:ea typeface="+mn-ea"/>
                          <a:cs typeface="Arial" panose="020B0604020202020204" pitchFamily="34" charset="0"/>
                        </a:rPr>
                        <a:t>Description</a:t>
                      </a:r>
                    </a:p>
                  </a:txBody>
                  <a:tcPr marL="7620" marR="7620" marT="7620" marB="0" anchor="ctr">
                    <a:solidFill>
                      <a:schemeClr val="accent1"/>
                    </a:solidFill>
                  </a:tcPr>
                </a:tc>
                <a:extLst>
                  <a:ext uri="{0D108BD9-81ED-4DB2-BD59-A6C34878D82A}">
                    <a16:rowId xmlns:a16="http://schemas.microsoft.com/office/drawing/2014/main" val="3989189921"/>
                  </a:ext>
                </a:extLst>
              </a:tr>
              <a:tr h="623152">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37014</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Fault For VAS</a:t>
                      </a:r>
                    </a:p>
                  </a:txBody>
                  <a:tcPr marL="7620" marR="7620" marT="7620" marB="0" anchor="ctr"/>
                </a:tc>
                <a:tc>
                  <a:txBody>
                    <a:bodyPr/>
                    <a:lstStyle/>
                    <a:p>
                      <a:pPr algn="ctr" fontAlgn="ctr"/>
                      <a:r>
                        <a:rPr lang="en-US" sz="1200" u="none" strike="noStrike" kern="1200">
                          <a:solidFill>
                            <a:schemeClr val="dk1"/>
                          </a:solidFill>
                          <a:effectLst/>
                          <a:latin typeface="Arial" panose="020B0604020202020204" pitchFamily="34" charset="0"/>
                          <a:ea typeface="+mn-ea"/>
                          <a:cs typeface="Arial" panose="020B0604020202020204" pitchFamily="34" charset="0"/>
                        </a:rPr>
                        <a:t>Quota Renewal Problem</a:t>
                      </a:r>
                    </a:p>
                  </a:txBody>
                  <a:tcPr marL="7620" marR="7620" marT="7620" marB="0" anchor="ctr"/>
                </a:tc>
                <a:tc>
                  <a:txBody>
                    <a:bodyPr/>
                    <a:lstStyle/>
                    <a:p>
                      <a:pPr algn="ctr" fontAlgn="ctr"/>
                      <a:r>
                        <a:rPr lang="en-US" sz="1200" u="none" strike="noStrike" kern="1200">
                          <a:solidFill>
                            <a:schemeClr val="dk1"/>
                          </a:solidFill>
                          <a:effectLst/>
                          <a:latin typeface="Arial" panose="020B0604020202020204" pitchFamily="34" charset="0"/>
                          <a:ea typeface="+mn-ea"/>
                          <a:cs typeface="Arial" panose="020B0604020202020204" pitchFamily="34" charset="0"/>
                        </a:rPr>
                        <a:t>ADSL</a:t>
                      </a:r>
                    </a:p>
                  </a:txBody>
                  <a:tcPr marL="7620" marR="7620" marT="7620" marB="0" anchor="ctr"/>
                </a:tc>
                <a:tc>
                  <a:txBody>
                    <a:bodyPr/>
                    <a:lstStyle/>
                    <a:p>
                      <a:pPr algn="ctr" fontAlgn="ctr"/>
                      <a:r>
                        <a:rPr lang="en-US" sz="1200" u="none" strike="noStrike" kern="1200">
                          <a:solidFill>
                            <a:schemeClr val="dk1"/>
                          </a:solidFill>
                          <a:effectLst/>
                          <a:latin typeface="Arial" panose="020B0604020202020204" pitchFamily="34" charset="0"/>
                          <a:ea typeface="+mn-ea"/>
                          <a:cs typeface="Arial" panose="020B0604020202020204" pitchFamily="34" charset="0"/>
                        </a:rPr>
                        <a:t>DSL CH VAS​</a:t>
                      </a:r>
                    </a:p>
                  </a:txBody>
                  <a:tcPr marL="7620" marR="7620" marT="7620" marB="0" anchor="ctr"/>
                </a:tc>
                <a:tc>
                  <a:txBody>
                    <a:bodyPr/>
                    <a:lstStyle/>
                    <a:p>
                      <a:pPr algn="ctr" fontAlgn="ctr"/>
                      <a:r>
                        <a:rPr lang="en-US" sz="1200" u="none" strike="noStrike" kern="1200">
                          <a:solidFill>
                            <a:schemeClr val="dk1"/>
                          </a:solidFill>
                          <a:effectLst/>
                          <a:latin typeface="Arial" panose="020B0604020202020204" pitchFamily="34" charset="0"/>
                          <a:ea typeface="+mn-ea"/>
                          <a:cs typeface="Arial" panose="020B0604020202020204" pitchFamily="34" charset="0"/>
                        </a:rPr>
                        <a:t>48 Whrs</a:t>
                      </a:r>
                    </a:p>
                  </a:txBody>
                  <a:tcPr marL="7620" marR="7620" marT="7620" marB="0" anchor="ctr"/>
                </a:tc>
                <a:tc>
                  <a:txBody>
                    <a:bodyPr/>
                    <a:lstStyle/>
                    <a:p>
                      <a:pPr algn="ctr" fontAlgn="ctr"/>
                      <a:r>
                        <a:rPr lang="en-US" sz="1200" u="none" strike="noStrike" kern="1200">
                          <a:solidFill>
                            <a:schemeClr val="dk1"/>
                          </a:solidFill>
                          <a:effectLst/>
                          <a:latin typeface="Arial" panose="020B0604020202020204" pitchFamily="34" charset="0"/>
                          <a:ea typeface="+mn-ea"/>
                          <a:cs typeface="Arial" panose="020B0604020202020204" pitchFamily="34" charset="0"/>
                        </a:rPr>
                        <a:t>Yes</a:t>
                      </a:r>
                    </a:p>
                  </a:txBody>
                  <a:tcPr marL="7620" marR="7620" marT="7620" marB="0" anchor="ctr"/>
                </a:tc>
                <a:tc>
                  <a:txBody>
                    <a:bodyPr/>
                    <a:lstStyle/>
                    <a:p>
                      <a:pPr algn="ctr" fontAlgn="ctr"/>
                      <a:r>
                        <a:rPr lang="en-US" sz="1200" u="none" strike="noStrike" kern="1200">
                          <a:solidFill>
                            <a:schemeClr val="dk1"/>
                          </a:solidFill>
                          <a:effectLst/>
                          <a:latin typeface="Arial" panose="020B0604020202020204" pitchFamily="34" charset="0"/>
                          <a:ea typeface="+mn-ea"/>
                          <a:cs typeface="Arial" panose="020B0604020202020204" pitchFamily="34" charset="0"/>
                        </a:rPr>
                        <a:t>SR should be created in case main package quota wasn't renewed after 03:00 AM</a:t>
                      </a:r>
                    </a:p>
                  </a:txBody>
                  <a:tcPr marL="7620" marR="7620" marT="7620" marB="0" anchor="ctr"/>
                </a:tc>
                <a:extLst>
                  <a:ext uri="{0D108BD9-81ED-4DB2-BD59-A6C34878D82A}">
                    <a16:rowId xmlns:a16="http://schemas.microsoft.com/office/drawing/2014/main" val="3221961201"/>
                  </a:ext>
                </a:extLst>
              </a:tr>
              <a:tr h="828024">
                <a:tc>
                  <a:txBody>
                    <a:bodyPr/>
                    <a:lstStyle/>
                    <a:p>
                      <a:pPr algn="ctr" fontAlgn="ctr"/>
                      <a:r>
                        <a:rPr lang="en-US" sz="1200" u="none" strike="noStrike" kern="1200">
                          <a:solidFill>
                            <a:schemeClr val="dk1"/>
                          </a:solidFill>
                          <a:effectLst/>
                          <a:latin typeface="Arial" panose="020B0604020202020204" pitchFamily="34" charset="0"/>
                          <a:ea typeface="+mn-ea"/>
                          <a:cs typeface="Arial" panose="020B0604020202020204" pitchFamily="34" charset="0"/>
                        </a:rPr>
                        <a:t>5001</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DSL Service-</a:t>
                      </a:r>
                      <a:r>
                        <a:rPr lang="en-US" sz="1200" u="none" strike="noStrike" kern="1200" dirty="0" err="1">
                          <a:solidFill>
                            <a:schemeClr val="dk1"/>
                          </a:solidFill>
                          <a:effectLst/>
                          <a:latin typeface="Arial" panose="020B0604020202020204" pitchFamily="34" charset="0"/>
                          <a:ea typeface="+mn-ea"/>
                          <a:cs typeface="Arial" panose="020B0604020202020204" pitchFamily="34" charset="0"/>
                        </a:rPr>
                        <a:t>Acc</a:t>
                      </a:r>
                      <a:r>
                        <a:rPr lang="en-US" sz="1200" u="none" strike="noStrike" kern="1200" dirty="0">
                          <a:solidFill>
                            <a:schemeClr val="dk1"/>
                          </a:solidFill>
                          <a:effectLst/>
                          <a:latin typeface="Arial" panose="020B0604020202020204" pitchFamily="34" charset="0"/>
                          <a:ea typeface="+mn-ea"/>
                          <a:cs typeface="Arial" panose="020B0604020202020204" pitchFamily="34" charset="0"/>
                        </a:rPr>
                        <a:t> Administration</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Compensation Quota</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SR is created &amp; closed automatically upon compensating the customer with free GBs</a:t>
                      </a:r>
                    </a:p>
                  </a:txBody>
                  <a:tcPr marL="7620" marR="7620" marT="7620" marB="0" anchor="ctr"/>
                </a:tc>
                <a:extLst>
                  <a:ext uri="{0D108BD9-81ED-4DB2-BD59-A6C34878D82A}">
                    <a16:rowId xmlns:a16="http://schemas.microsoft.com/office/drawing/2014/main" val="3362786642"/>
                  </a:ext>
                </a:extLst>
              </a:tr>
              <a:tr h="828024">
                <a:tc>
                  <a:txBody>
                    <a:bodyPr/>
                    <a:lstStyle/>
                    <a:p>
                      <a:pPr algn="ctr" fontAlgn="ctr"/>
                      <a:r>
                        <a:rPr lang="en-US" sz="1200" u="none" strike="noStrike" kern="1200">
                          <a:solidFill>
                            <a:schemeClr val="dk1"/>
                          </a:solidFill>
                          <a:effectLst/>
                          <a:latin typeface="Arial" panose="020B0604020202020204" pitchFamily="34" charset="0"/>
                          <a:ea typeface="+mn-ea"/>
                          <a:cs typeface="Arial" panose="020B0604020202020204" pitchFamily="34" charset="0"/>
                        </a:rPr>
                        <a:t>16819</a:t>
                      </a:r>
                    </a:p>
                  </a:txBody>
                  <a:tcPr marL="7620" marR="7620" marT="7620" marB="0" anchor="ctr"/>
                </a:tc>
                <a:tc>
                  <a:txBody>
                    <a:bodyPr/>
                    <a:lstStyle/>
                    <a:p>
                      <a:pPr algn="ctr" fontAlgn="ctr"/>
                      <a:r>
                        <a:rPr lang="da-DK" sz="1200" u="none" strike="noStrike" kern="1200">
                          <a:solidFill>
                            <a:schemeClr val="dk1"/>
                          </a:solidFill>
                          <a:effectLst/>
                          <a:latin typeface="Arial" panose="020B0604020202020204" pitchFamily="34" charset="0"/>
                          <a:ea typeface="+mn-ea"/>
                          <a:cs typeface="Arial" panose="020B0604020202020204" pitchFamily="34" charset="0"/>
                        </a:rPr>
                        <a:t>DSL Acc Mod For Line Mod</a:t>
                      </a:r>
                    </a:p>
                  </a:txBody>
                  <a:tcPr marL="7620" marR="7620" marT="7620" marB="0" anchor="ctr"/>
                </a:tc>
                <a:tc>
                  <a:txBody>
                    <a:bodyPr/>
                    <a:lstStyle/>
                    <a:p>
                      <a:pPr algn="ctr" fontAlgn="ctr"/>
                      <a:r>
                        <a:rPr lang="en-US" sz="1200" u="none" strike="noStrike" kern="1200">
                          <a:solidFill>
                            <a:schemeClr val="dk1"/>
                          </a:solidFill>
                          <a:effectLst/>
                          <a:latin typeface="Arial" panose="020B0604020202020204" pitchFamily="34" charset="0"/>
                          <a:ea typeface="+mn-ea"/>
                          <a:cs typeface="Arial" panose="020B0604020202020204" pitchFamily="34" charset="0"/>
                        </a:rPr>
                        <a:t>Quota Compensation​</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ADSL</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7620" marR="7620" marT="7620" marB="0" anchor="ctr"/>
                </a:tc>
                <a:tc>
                  <a:txBody>
                    <a:bodyPr/>
                    <a:lstStyle/>
                    <a:p>
                      <a:pPr algn="ctr" fontAlgn="ctr"/>
                      <a:r>
                        <a:rPr lang="en-US" sz="1200" u="none" strike="noStrike" kern="1200" dirty="0">
                          <a:solidFill>
                            <a:schemeClr val="dk1"/>
                          </a:solidFill>
                          <a:effectLst/>
                          <a:latin typeface="Arial" panose="020B0604020202020204" pitchFamily="34" charset="0"/>
                          <a:ea typeface="+mn-ea"/>
                          <a:cs typeface="Arial" panose="020B0604020202020204" pitchFamily="34" charset="0"/>
                        </a:rPr>
                        <a:t>SR should be created manually &amp; closed by agent after adding the GBs explaining the reason for compensation​</a:t>
                      </a:r>
                    </a:p>
                  </a:txBody>
                  <a:tcPr marL="7620" marR="7620" marT="7620" marB="0" anchor="ctr"/>
                </a:tc>
                <a:extLst>
                  <a:ext uri="{0D108BD9-81ED-4DB2-BD59-A6C34878D82A}">
                    <a16:rowId xmlns:a16="http://schemas.microsoft.com/office/drawing/2014/main" val="63096350"/>
                  </a:ext>
                </a:extLst>
              </a:tr>
            </a:tbl>
          </a:graphicData>
        </a:graphic>
      </p:graphicFrame>
    </p:spTree>
    <p:extLst>
      <p:ext uri="{BB962C8B-B14F-4D97-AF65-F5344CB8AC3E}">
        <p14:creationId xmlns:p14="http://schemas.microsoft.com/office/powerpoint/2010/main" val="3787898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55520808"/>
              </p:ext>
            </p:extLst>
          </p:nvPr>
        </p:nvGraphicFramePr>
        <p:xfrm>
          <a:off x="0" y="0"/>
          <a:ext cx="9357360" cy="6858001"/>
        </p:xfrm>
        <a:graphic>
          <a:graphicData uri="http://schemas.openxmlformats.org/drawingml/2006/table">
            <a:tbl>
              <a:tblPr>
                <a:tableStyleId>{5C22544A-7EE6-4342-B048-85BDC9FD1C3A}</a:tableStyleId>
              </a:tblPr>
              <a:tblGrid>
                <a:gridCol w="3889505">
                  <a:extLst>
                    <a:ext uri="{9D8B030D-6E8A-4147-A177-3AD203B41FA5}">
                      <a16:colId xmlns:a16="http://schemas.microsoft.com/office/drawing/2014/main" val="1835928922"/>
                    </a:ext>
                  </a:extLst>
                </a:gridCol>
                <a:gridCol w="5467855">
                  <a:extLst>
                    <a:ext uri="{9D8B030D-6E8A-4147-A177-3AD203B41FA5}">
                      <a16:colId xmlns:a16="http://schemas.microsoft.com/office/drawing/2014/main" val="765525528"/>
                    </a:ext>
                  </a:extLst>
                </a:gridCol>
              </a:tblGrid>
              <a:tr h="557304">
                <a:tc>
                  <a:txBody>
                    <a:bodyPr/>
                    <a:lstStyle/>
                    <a:p>
                      <a:pPr algn="ctr" fontAlgn="ctr"/>
                      <a:r>
                        <a:rPr lang="en-US" sz="1600" u="none" strike="noStrike" dirty="0">
                          <a:effectLst/>
                          <a:latin typeface="Arial Black" panose="020B0A04020102020204" pitchFamily="34" charset="0"/>
                          <a:cs typeface="Arial" panose="020B0604020202020204" pitchFamily="34" charset="0"/>
                        </a:rPr>
                        <a:t>SR Sub Area</a:t>
                      </a:r>
                      <a:endParaRPr lang="en-US" sz="1600" b="1" i="0" u="none" strike="noStrike" dirty="0">
                        <a:solidFill>
                          <a:srgbClr val="FFFFFF"/>
                        </a:solidFill>
                        <a:effectLst/>
                        <a:latin typeface="Arial Black" panose="020B0A04020102020204" pitchFamily="34" charset="0"/>
                        <a:cs typeface="Arial" panose="020B0604020202020204" pitchFamily="34" charset="0"/>
                      </a:endParaRPr>
                    </a:p>
                  </a:txBody>
                  <a:tcPr marL="6870" marR="6870" marT="6870"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Proper Action</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6870" marR="6870" marT="6870" marB="0" anchor="ctr"/>
                </a:tc>
                <a:extLst>
                  <a:ext uri="{0D108BD9-81ED-4DB2-BD59-A6C34878D82A}">
                    <a16:rowId xmlns:a16="http://schemas.microsoft.com/office/drawing/2014/main" val="3976870503"/>
                  </a:ext>
                </a:extLst>
              </a:tr>
              <a:tr h="1114605">
                <a:tc>
                  <a:txBody>
                    <a:bodyPr/>
                    <a:lstStyle/>
                    <a:p>
                      <a:pPr algn="ctr" fontAlgn="ctr"/>
                      <a:r>
                        <a:rPr lang="en-US" sz="1600" u="none" strike="noStrike" dirty="0">
                          <a:effectLst/>
                          <a:latin typeface="Arial Black" panose="020B0A04020102020204" pitchFamily="34" charset="0"/>
                          <a:cs typeface="Arial" panose="020B0604020202020204" pitchFamily="34" charset="0"/>
                        </a:rPr>
                        <a:t>Not Available For a Visit</a:t>
                      </a:r>
                      <a:endParaRPr lang="en-US" sz="1600" b="0" i="0" u="none" strike="noStrike" dirty="0">
                        <a:solidFill>
                          <a:srgbClr val="000000"/>
                        </a:solidFill>
                        <a:effectLst/>
                        <a:latin typeface="Arial Black" panose="020B0A04020102020204" pitchFamily="34" charset="0"/>
                        <a:cs typeface="Arial" panose="020B0604020202020204" pitchFamily="34" charset="0"/>
                      </a:endParaRPr>
                    </a:p>
                  </a:txBody>
                  <a:tcPr marL="6870" marR="6870" marT="687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Agent should compensate the customer for the duration starting from the time of creating the SR till the time of getting the feedback that the customer is unavailable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6870" marR="6870" marT="6870" marB="0" anchor="ctr"/>
                </a:tc>
                <a:extLst>
                  <a:ext uri="{0D108BD9-81ED-4DB2-BD59-A6C34878D82A}">
                    <a16:rowId xmlns:a16="http://schemas.microsoft.com/office/drawing/2014/main" val="1936023775"/>
                  </a:ext>
                </a:extLst>
              </a:tr>
              <a:tr h="391296">
                <a:tc>
                  <a:txBody>
                    <a:bodyPr/>
                    <a:lstStyle/>
                    <a:p>
                      <a:pPr algn="ctr" fontAlgn="ctr"/>
                      <a:r>
                        <a:rPr lang="en-US" sz="1600" u="none" strike="noStrike" dirty="0">
                          <a:effectLst/>
                          <a:latin typeface="Arial Black" panose="020B0A04020102020204" pitchFamily="34" charset="0"/>
                          <a:cs typeface="Arial" panose="020B0604020202020204" pitchFamily="34" charset="0"/>
                        </a:rPr>
                        <a:t>No Problem Found</a:t>
                      </a:r>
                      <a:endParaRPr lang="en-US" sz="1600" b="0" i="0" u="none" strike="noStrike" dirty="0">
                        <a:solidFill>
                          <a:srgbClr val="000000"/>
                        </a:solidFill>
                        <a:effectLst/>
                        <a:latin typeface="Arial Black" panose="020B0A04020102020204" pitchFamily="34" charset="0"/>
                        <a:cs typeface="Arial" panose="020B0604020202020204" pitchFamily="34" charset="0"/>
                      </a:endParaRPr>
                    </a:p>
                  </a:txBody>
                  <a:tcPr marL="6870" marR="6870" marT="687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Agent shouldn't compensate the customer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6870" marR="6870" marT="6870" marB="0" anchor="ctr"/>
                </a:tc>
                <a:extLst>
                  <a:ext uri="{0D108BD9-81ED-4DB2-BD59-A6C34878D82A}">
                    <a16:rowId xmlns:a16="http://schemas.microsoft.com/office/drawing/2014/main" val="3441753120"/>
                  </a:ext>
                </a:extLst>
              </a:tr>
              <a:tr h="1031603">
                <a:tc>
                  <a:txBody>
                    <a:bodyPr/>
                    <a:lstStyle/>
                    <a:p>
                      <a:pPr algn="ctr" fontAlgn="ctr"/>
                      <a:r>
                        <a:rPr lang="en-US" sz="1600" u="none" strike="noStrike" dirty="0">
                          <a:effectLst/>
                          <a:latin typeface="Arial Black" panose="020B0A04020102020204" pitchFamily="34" charset="0"/>
                          <a:cs typeface="Arial" panose="020B0604020202020204" pitchFamily="34" charset="0"/>
                        </a:rPr>
                        <a:t>Building Cable</a:t>
                      </a:r>
                      <a:endParaRPr lang="en-US" sz="1600" b="0" i="0" u="none" strike="noStrike" dirty="0">
                        <a:solidFill>
                          <a:srgbClr val="000000"/>
                        </a:solidFill>
                        <a:effectLst/>
                        <a:latin typeface="Arial Black" panose="020B0A04020102020204" pitchFamily="34" charset="0"/>
                        <a:cs typeface="Arial" panose="020B0604020202020204" pitchFamily="34" charset="0"/>
                      </a:endParaRPr>
                    </a:p>
                  </a:txBody>
                  <a:tcPr marL="6870" marR="6870" marT="687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Agent should compensate the customer for the duration starting from the time of creating the first SR only till the time of getting the feedback</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6870" marR="6870" marT="6870" marB="0" anchor="ctr"/>
                </a:tc>
                <a:extLst>
                  <a:ext uri="{0D108BD9-81ED-4DB2-BD59-A6C34878D82A}">
                    <a16:rowId xmlns:a16="http://schemas.microsoft.com/office/drawing/2014/main" val="881383562"/>
                  </a:ext>
                </a:extLst>
              </a:tr>
              <a:tr h="1079032">
                <a:tc>
                  <a:txBody>
                    <a:bodyPr/>
                    <a:lstStyle/>
                    <a:p>
                      <a:pPr algn="ctr" fontAlgn="ctr"/>
                      <a:r>
                        <a:rPr lang="en-US" sz="1600" u="none" strike="noStrike" dirty="0">
                          <a:effectLst/>
                          <a:latin typeface="Arial Black" panose="020B0A04020102020204" pitchFamily="34" charset="0"/>
                          <a:cs typeface="Arial" panose="020B0604020202020204" pitchFamily="34" charset="0"/>
                        </a:rPr>
                        <a:t>Bad Router</a:t>
                      </a:r>
                      <a:endParaRPr lang="en-US" sz="1600" b="0" i="0" u="none" strike="noStrike" dirty="0">
                        <a:solidFill>
                          <a:srgbClr val="000000"/>
                        </a:solidFill>
                        <a:effectLst/>
                        <a:latin typeface="Arial Black" panose="020B0A04020102020204" pitchFamily="34" charset="0"/>
                        <a:cs typeface="Arial" panose="020B0604020202020204" pitchFamily="34" charset="0"/>
                      </a:endParaRPr>
                    </a:p>
                  </a:txBody>
                  <a:tcPr marL="6870" marR="6870" marT="687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Agent should compensate the customer for the duration starting from the time of creating the first SR only till the time of getting the feedback</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6870" marR="6870" marT="6870" marB="0" anchor="ctr"/>
                </a:tc>
                <a:extLst>
                  <a:ext uri="{0D108BD9-81ED-4DB2-BD59-A6C34878D82A}">
                    <a16:rowId xmlns:a16="http://schemas.microsoft.com/office/drawing/2014/main" val="1639082153"/>
                  </a:ext>
                </a:extLst>
              </a:tr>
              <a:tr h="853741">
                <a:tc>
                  <a:txBody>
                    <a:bodyPr/>
                    <a:lstStyle/>
                    <a:p>
                      <a:pPr algn="ctr" fontAlgn="ctr"/>
                      <a:r>
                        <a:rPr lang="en-US" sz="1600" u="none" strike="noStrike" dirty="0">
                          <a:effectLst/>
                          <a:latin typeface="Arial Black" panose="020B0A04020102020204" pitchFamily="34" charset="0"/>
                          <a:cs typeface="Arial" panose="020B0604020202020204" pitchFamily="34" charset="0"/>
                        </a:rPr>
                        <a:t>"Customer Unreachable" &amp; called again within 48 hours from the first SR feedback</a:t>
                      </a:r>
                      <a:endParaRPr lang="en-US" sz="1600" b="0" i="0" u="none" strike="noStrike" dirty="0">
                        <a:solidFill>
                          <a:srgbClr val="000000"/>
                        </a:solidFill>
                        <a:effectLst/>
                        <a:latin typeface="Arial Black" panose="020B0A04020102020204" pitchFamily="34" charset="0"/>
                        <a:cs typeface="Arial" panose="020B0604020202020204" pitchFamily="34" charset="0"/>
                      </a:endParaRPr>
                    </a:p>
                  </a:txBody>
                  <a:tcPr marL="6870" marR="6870" marT="687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Agent should compensate the customer for the whole duration</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6870" marR="6870" marT="6870" marB="0" anchor="ctr"/>
                </a:tc>
                <a:extLst>
                  <a:ext uri="{0D108BD9-81ED-4DB2-BD59-A6C34878D82A}">
                    <a16:rowId xmlns:a16="http://schemas.microsoft.com/office/drawing/2014/main" val="1550528700"/>
                  </a:ext>
                </a:extLst>
              </a:tr>
              <a:tr h="747021">
                <a:tc>
                  <a:txBody>
                    <a:bodyPr/>
                    <a:lstStyle/>
                    <a:p>
                      <a:pPr algn="ctr" fontAlgn="ctr"/>
                      <a:r>
                        <a:rPr lang="en-US" sz="1600" u="none" strike="noStrike" dirty="0">
                          <a:effectLst/>
                          <a:latin typeface="Arial Black" panose="020B0A04020102020204" pitchFamily="34" charset="0"/>
                          <a:cs typeface="Arial" panose="020B0604020202020204" pitchFamily="34" charset="0"/>
                        </a:rPr>
                        <a:t>"Customer Unreachable" &amp; called again after 48 hours from the first SR feedback</a:t>
                      </a:r>
                      <a:endParaRPr lang="en-US" sz="1600" b="0" i="0" u="none" strike="noStrike" dirty="0">
                        <a:solidFill>
                          <a:srgbClr val="000000"/>
                        </a:solidFill>
                        <a:effectLst/>
                        <a:latin typeface="Arial Black" panose="020B0A04020102020204" pitchFamily="34" charset="0"/>
                        <a:cs typeface="Arial" panose="020B0604020202020204" pitchFamily="34" charset="0"/>
                      </a:endParaRPr>
                    </a:p>
                  </a:txBody>
                  <a:tcPr marL="6870" marR="6870" marT="687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Agent shouldn't compensate the customer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6870" marR="6870" marT="6870" marB="0" anchor="ctr"/>
                </a:tc>
                <a:extLst>
                  <a:ext uri="{0D108BD9-81ED-4DB2-BD59-A6C34878D82A}">
                    <a16:rowId xmlns:a16="http://schemas.microsoft.com/office/drawing/2014/main" val="2337829418"/>
                  </a:ext>
                </a:extLst>
              </a:tr>
              <a:tr h="537953">
                <a:tc>
                  <a:txBody>
                    <a:bodyPr/>
                    <a:lstStyle/>
                    <a:p>
                      <a:pPr algn="ctr" fontAlgn="ctr"/>
                      <a:r>
                        <a:rPr lang="en-US" sz="1600" u="none" strike="noStrike" dirty="0">
                          <a:effectLst/>
                          <a:latin typeface="Arial Black" panose="020B0A04020102020204" pitchFamily="34" charset="0"/>
                          <a:cs typeface="Arial" panose="020B0604020202020204" pitchFamily="34" charset="0"/>
                        </a:rPr>
                        <a:t>Linked to TT</a:t>
                      </a:r>
                      <a:endParaRPr lang="en-US" sz="1600" b="0" i="0" u="none" strike="noStrike" dirty="0">
                        <a:solidFill>
                          <a:srgbClr val="000000"/>
                        </a:solidFill>
                        <a:effectLst/>
                        <a:latin typeface="Arial Black" panose="020B0A04020102020204" pitchFamily="34" charset="0"/>
                        <a:cs typeface="Arial" panose="020B0604020202020204" pitchFamily="34" charset="0"/>
                      </a:endParaRPr>
                    </a:p>
                  </a:txBody>
                  <a:tcPr marL="6870" marR="6870" marT="687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Agent should follow the normal global compensation matrix</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6870" marR="6870" marT="6870" marB="0" anchor="ctr"/>
                </a:tc>
                <a:extLst>
                  <a:ext uri="{0D108BD9-81ED-4DB2-BD59-A6C34878D82A}">
                    <a16:rowId xmlns:a16="http://schemas.microsoft.com/office/drawing/2014/main" val="3764758426"/>
                  </a:ext>
                </a:extLst>
              </a:tr>
              <a:tr h="545446">
                <a:tc>
                  <a:txBody>
                    <a:bodyPr/>
                    <a:lstStyle/>
                    <a:p>
                      <a:pPr algn="ctr" fontAlgn="ctr"/>
                      <a:r>
                        <a:rPr lang="en-US" sz="1600" u="none" strike="noStrike" dirty="0">
                          <a:effectLst/>
                          <a:latin typeface="Arial Black" panose="020B0A04020102020204" pitchFamily="34" charset="0"/>
                          <a:cs typeface="Arial" panose="020B0604020202020204" pitchFamily="34" charset="0"/>
                        </a:rPr>
                        <a:t>SR Note/Feedback: Congested Peer</a:t>
                      </a:r>
                      <a:endParaRPr lang="en-US" sz="1600" b="0" i="0" u="none" strike="noStrike" dirty="0">
                        <a:solidFill>
                          <a:srgbClr val="000000"/>
                        </a:solidFill>
                        <a:effectLst/>
                        <a:latin typeface="Arial Black" panose="020B0A04020102020204" pitchFamily="34" charset="0"/>
                        <a:cs typeface="Arial" panose="020B0604020202020204" pitchFamily="34" charset="0"/>
                      </a:endParaRPr>
                    </a:p>
                  </a:txBody>
                  <a:tcPr marL="6870" marR="6870" marT="687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Agent shouldn't compensate the customer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6870" marR="6870" marT="6870" marB="0" anchor="ctr"/>
                </a:tc>
                <a:extLst>
                  <a:ext uri="{0D108BD9-81ED-4DB2-BD59-A6C34878D82A}">
                    <a16:rowId xmlns:a16="http://schemas.microsoft.com/office/drawing/2014/main" val="2083135095"/>
                  </a:ext>
                </a:extLst>
              </a:tr>
            </a:tbl>
          </a:graphicData>
        </a:graphic>
      </p:graphicFrame>
    </p:spTree>
    <p:extLst>
      <p:ext uri="{BB962C8B-B14F-4D97-AF65-F5344CB8AC3E}">
        <p14:creationId xmlns:p14="http://schemas.microsoft.com/office/powerpoint/2010/main" val="3757939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1026160"/>
          </a:xfrm>
        </p:spPr>
        <p:txBody>
          <a:bodyPr>
            <a:normAutofit fontScale="90000"/>
          </a:bodyPr>
          <a:lstStyle/>
          <a:p>
            <a:r>
              <a:rPr lang="en-US" sz="2200" b="1" dirty="0">
                <a:latin typeface="Arial Black" panose="020B0A04020102020204" pitchFamily="34" charset="0"/>
              </a:rPr>
              <a:t>Compensation on Orange Mobile Dials for customers having Totally Disconnected DSL Service:</a:t>
            </a:r>
            <a:br>
              <a:rPr lang="en-US" sz="2800" u="sng" dirty="0"/>
            </a:br>
            <a:endParaRPr lang="en-US" sz="2800" dirty="0"/>
          </a:p>
        </p:txBody>
      </p:sp>
      <p:sp>
        <p:nvSpPr>
          <p:cNvPr id="3" name="Content Placeholder 2"/>
          <p:cNvSpPr>
            <a:spLocks noGrp="1"/>
          </p:cNvSpPr>
          <p:nvPr>
            <p:ph idx="1"/>
          </p:nvPr>
        </p:nvSpPr>
        <p:spPr>
          <a:xfrm>
            <a:off x="-71120" y="694592"/>
            <a:ext cx="10109200" cy="6163407"/>
          </a:xfrm>
        </p:spPr>
        <p:txBody>
          <a:bodyPr>
            <a:normAutofit/>
          </a:bodyPr>
          <a:lstStyle/>
          <a:p>
            <a:pPr lvl="1"/>
            <a:r>
              <a:rPr lang="en-US" sz="1400" dirty="0">
                <a:latin typeface="Arial" panose="020B0604020202020204" pitchFamily="34" charset="0"/>
                <a:cs typeface="Arial" panose="020B0604020202020204" pitchFamily="34" charset="0"/>
              </a:rPr>
              <a:t>DSL Call Center agents should start using the gifts below for the cases that are required to compensate the customer on his/her Orange dial till solving his/her DSL service technical issue.</a:t>
            </a:r>
          </a:p>
          <a:p>
            <a:pPr lvl="1"/>
            <a:r>
              <a:rPr lang="en-US" sz="1400" dirty="0">
                <a:latin typeface="Arial" panose="020B0604020202020204" pitchFamily="34" charset="0"/>
                <a:cs typeface="Arial" panose="020B0604020202020204" pitchFamily="34" charset="0"/>
              </a:rPr>
              <a:t>Compensation should not be pre-offered to the customers; hence, customers should ask clearly about it.</a:t>
            </a:r>
          </a:p>
          <a:p>
            <a:pPr lvl="1"/>
            <a:r>
              <a:rPr lang="en-US" sz="1400" dirty="0">
                <a:latin typeface="Arial" panose="020B0604020202020204" pitchFamily="34" charset="0"/>
                <a:cs typeface="Arial" panose="020B0604020202020204" pitchFamily="34" charset="0"/>
              </a:rPr>
              <a:t>Agent should confirm that customer is having no DSL service due to a technical issue that is not solved yet.</a:t>
            </a:r>
          </a:p>
          <a:p>
            <a:pPr lvl="1"/>
            <a:r>
              <a:rPr lang="en-US" sz="1400" dirty="0">
                <a:latin typeface="Arial" panose="020B0604020202020204" pitchFamily="34" charset="0"/>
                <a:cs typeface="Arial" panose="020B0604020202020204" pitchFamily="34" charset="0"/>
              </a:rPr>
              <a:t>Agent should confirm that the customer is totally disconnected, hence, any other type of complaints are excluded from this type of compensation.</a:t>
            </a:r>
          </a:p>
          <a:p>
            <a:pPr lvl="1"/>
            <a:r>
              <a:rPr lang="en-US" sz="1400" dirty="0">
                <a:latin typeface="Arial" panose="020B0604020202020204" pitchFamily="34" charset="0"/>
                <a:cs typeface="Arial" panose="020B0604020202020204" pitchFamily="34" charset="0"/>
              </a:rPr>
              <a:t>Agents should ask the customer if his/her GSM dial is consumer or business "</a:t>
            </a:r>
            <a:r>
              <a:rPr lang="ar-EG" sz="1400" dirty="0">
                <a:latin typeface="Arial" panose="020B0604020202020204" pitchFamily="34" charset="0"/>
                <a:cs typeface="Arial" panose="020B0604020202020204" pitchFamily="34" charset="0"/>
              </a:rPr>
              <a:t>أفراد ولا شركات" </a:t>
            </a:r>
            <a:r>
              <a:rPr lang="en-US" sz="1400" dirty="0">
                <a:latin typeface="Arial" panose="020B0604020202020204" pitchFamily="34" charset="0"/>
                <a:cs typeface="Arial" panose="020B0604020202020204" pitchFamily="34" charset="0"/>
              </a:rPr>
              <a:t>before communicating the relevant compensation matrix.</a:t>
            </a:r>
          </a:p>
          <a:p>
            <a:pPr lvl="1"/>
            <a:r>
              <a:rPr lang="en-US" sz="1400" dirty="0">
                <a:latin typeface="Arial" panose="020B0604020202020204" pitchFamily="34" charset="0"/>
                <a:cs typeface="Arial" panose="020B0604020202020204" pitchFamily="34" charset="0"/>
              </a:rPr>
              <a:t>After knowing the GSM dial type, agent should communicate the number of GBs that will be added according to the below matrix.</a:t>
            </a:r>
          </a:p>
          <a:p>
            <a:pPr lvl="1"/>
            <a:r>
              <a:rPr lang="en-US" sz="1400" dirty="0">
                <a:latin typeface="Arial" panose="020B0604020202020204" pitchFamily="34" charset="0"/>
                <a:cs typeface="Arial" panose="020B0604020202020204" pitchFamily="34" charset="0"/>
              </a:rPr>
              <a:t>Agents should create the relevant Siebel SR on the same GSM dial to be assigned to the relevant Complaint handling team.</a:t>
            </a:r>
          </a:p>
          <a:p>
            <a:pPr lvl="1"/>
            <a:r>
              <a:rPr lang="en-US" sz="1400" dirty="0">
                <a:latin typeface="Arial" panose="020B0604020202020204" pitchFamily="34" charset="0"/>
                <a:cs typeface="Arial" panose="020B0604020202020204" pitchFamily="34" charset="0"/>
              </a:rPr>
              <a:t>Agents should create the following Siebel SR in the DSL account in order to document the compensation action.</a:t>
            </a:r>
          </a:p>
          <a:p>
            <a:pPr lvl="1"/>
            <a:r>
              <a:rPr lang="en-US" sz="1400" dirty="0">
                <a:latin typeface="Arial" panose="020B0604020202020204" pitchFamily="34" charset="0"/>
                <a:cs typeface="Arial" panose="020B0604020202020204" pitchFamily="34" charset="0"/>
              </a:rPr>
              <a:t>Agents should add the customer's name and GSM dial number in the SR.</a:t>
            </a:r>
          </a:p>
          <a:p>
            <a:pPr lvl="1"/>
            <a:r>
              <a:rPr lang="en-US" sz="1400" dirty="0">
                <a:latin typeface="Arial" panose="020B0604020202020204" pitchFamily="34" charset="0"/>
                <a:cs typeface="Arial" panose="020B0604020202020204" pitchFamily="34" charset="0"/>
              </a:rPr>
              <a:t>Above mentioned actions are mandatory in order to ensure proper handling and to avoid duplicate compensation on the same GSM dial or another dial for the same DSL account number within the same 3 months.​</a:t>
            </a:r>
          </a:p>
          <a:p>
            <a:pPr lvl="1"/>
            <a:r>
              <a:rPr lang="en-US" sz="1400" dirty="0">
                <a:latin typeface="Arial" panose="020B0604020202020204" pitchFamily="34" charset="0"/>
                <a:cs typeface="Arial" panose="020B0604020202020204" pitchFamily="34" charset="0"/>
              </a:rPr>
              <a:t>Capping: 1 gift per quarter same as the current goodwill compensation matrix.</a:t>
            </a:r>
          </a:p>
          <a:p>
            <a:pPr marL="0" indent="0">
              <a:buNone/>
            </a:pPr>
            <a:endParaRPr lang="en-US" sz="1100"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495359207"/>
              </p:ext>
            </p:extLst>
          </p:nvPr>
        </p:nvGraphicFramePr>
        <p:xfrm>
          <a:off x="596936" y="6000749"/>
          <a:ext cx="8080130" cy="666750"/>
        </p:xfrm>
        <a:graphic>
          <a:graphicData uri="http://schemas.openxmlformats.org/drawingml/2006/table">
            <a:tbl>
              <a:tblPr>
                <a:tableStyleId>{5C22544A-7EE6-4342-B048-85BDC9FD1C3A}</a:tableStyleId>
              </a:tblPr>
              <a:tblGrid>
                <a:gridCol w="8080130">
                  <a:extLst>
                    <a:ext uri="{9D8B030D-6E8A-4147-A177-3AD203B41FA5}">
                      <a16:colId xmlns:a16="http://schemas.microsoft.com/office/drawing/2014/main" val="809722439"/>
                    </a:ext>
                  </a:extLst>
                </a:gridCol>
              </a:tblGrid>
              <a:tr h="333375">
                <a:tc>
                  <a:txBody>
                    <a:bodyPr/>
                    <a:lstStyle/>
                    <a:p>
                      <a:pPr algn="ctr" fontAlgn="ctr"/>
                      <a:r>
                        <a:rPr lang="en-US" sz="1400" u="none" strike="noStrike" dirty="0">
                          <a:effectLst/>
                          <a:latin typeface="Arial" panose="020B0604020202020204" pitchFamily="34" charset="0"/>
                          <a:cs typeface="Arial" panose="020B0604020202020204" pitchFamily="34" charset="0"/>
                        </a:rPr>
                        <a:t>Compensation Matrix for All GSM Business Customers</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3500472178"/>
                  </a:ext>
                </a:extLst>
              </a:tr>
              <a:tr h="333375">
                <a:tc>
                  <a:txBody>
                    <a:bodyPr/>
                    <a:lstStyle/>
                    <a:p>
                      <a:pPr algn="ctr" fontAlgn="ctr"/>
                      <a:r>
                        <a:rPr lang="en-US" sz="1400" u="none" strike="noStrike" dirty="0">
                          <a:effectLst/>
                          <a:latin typeface="Arial" panose="020B0604020202020204" pitchFamily="34" charset="0"/>
                          <a:cs typeface="Arial" panose="020B0604020202020204" pitchFamily="34" charset="0"/>
                        </a:rPr>
                        <a:t>​​​​​​3 G​​B-Valid For 3 Days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14400" marR="7620" marT="7620" marB="0" anchor="ctr"/>
                </a:tc>
                <a:extLst>
                  <a:ext uri="{0D108BD9-81ED-4DB2-BD59-A6C34878D82A}">
                    <a16:rowId xmlns:a16="http://schemas.microsoft.com/office/drawing/2014/main" val="452512199"/>
                  </a:ext>
                </a:extLst>
              </a:tr>
            </a:tbl>
          </a:graphicData>
        </a:graphic>
      </p:graphicFrame>
    </p:spTree>
    <p:extLst>
      <p:ext uri="{BB962C8B-B14F-4D97-AF65-F5344CB8AC3E}">
        <p14:creationId xmlns:p14="http://schemas.microsoft.com/office/powerpoint/2010/main" val="2866952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571499"/>
          </a:xfrm>
        </p:spPr>
        <p:txBody>
          <a:bodyPr>
            <a:normAutofit/>
          </a:bodyPr>
          <a:lstStyle/>
          <a:p>
            <a:r>
              <a:rPr lang="en-US" sz="2000" b="1" dirty="0">
                <a:latin typeface="Arial Black" panose="020B0A04020102020204" pitchFamily="34" charset="0"/>
              </a:rPr>
              <a:t>Siebel SRs​</a:t>
            </a:r>
            <a:endParaRPr lang="en-US" sz="2000" dirty="0">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26835958"/>
              </p:ext>
            </p:extLst>
          </p:nvPr>
        </p:nvGraphicFramePr>
        <p:xfrm>
          <a:off x="0" y="571500"/>
          <a:ext cx="11125200" cy="6287604"/>
        </p:xfrm>
        <a:graphic>
          <a:graphicData uri="http://schemas.openxmlformats.org/drawingml/2006/table">
            <a:tbl>
              <a:tblPr>
                <a:tableStyleId>{5C22544A-7EE6-4342-B048-85BDC9FD1C3A}</a:tableStyleId>
              </a:tblPr>
              <a:tblGrid>
                <a:gridCol w="799231">
                  <a:extLst>
                    <a:ext uri="{9D8B030D-6E8A-4147-A177-3AD203B41FA5}">
                      <a16:colId xmlns:a16="http://schemas.microsoft.com/office/drawing/2014/main" val="1199834430"/>
                    </a:ext>
                  </a:extLst>
                </a:gridCol>
                <a:gridCol w="1877222">
                  <a:extLst>
                    <a:ext uri="{9D8B030D-6E8A-4147-A177-3AD203B41FA5}">
                      <a16:colId xmlns:a16="http://schemas.microsoft.com/office/drawing/2014/main" val="497646073"/>
                    </a:ext>
                  </a:extLst>
                </a:gridCol>
                <a:gridCol w="2107608">
                  <a:extLst>
                    <a:ext uri="{9D8B030D-6E8A-4147-A177-3AD203B41FA5}">
                      <a16:colId xmlns:a16="http://schemas.microsoft.com/office/drawing/2014/main" val="2135980288"/>
                    </a:ext>
                  </a:extLst>
                </a:gridCol>
                <a:gridCol w="2537908">
                  <a:extLst>
                    <a:ext uri="{9D8B030D-6E8A-4147-A177-3AD203B41FA5}">
                      <a16:colId xmlns:a16="http://schemas.microsoft.com/office/drawing/2014/main" val="162505181"/>
                    </a:ext>
                  </a:extLst>
                </a:gridCol>
                <a:gridCol w="1396104">
                  <a:extLst>
                    <a:ext uri="{9D8B030D-6E8A-4147-A177-3AD203B41FA5}">
                      <a16:colId xmlns:a16="http://schemas.microsoft.com/office/drawing/2014/main" val="4012401660"/>
                    </a:ext>
                  </a:extLst>
                </a:gridCol>
                <a:gridCol w="2407127">
                  <a:extLst>
                    <a:ext uri="{9D8B030D-6E8A-4147-A177-3AD203B41FA5}">
                      <a16:colId xmlns:a16="http://schemas.microsoft.com/office/drawing/2014/main" val="1969670169"/>
                    </a:ext>
                  </a:extLst>
                </a:gridCol>
              </a:tblGrid>
              <a:tr h="368355">
                <a:tc>
                  <a:txBody>
                    <a:bodyPr/>
                    <a:lstStyle/>
                    <a:p>
                      <a:pPr algn="ctr" fontAlgn="ctr"/>
                      <a:r>
                        <a:rPr lang="en-US" sz="1200" u="none" strike="noStrike" dirty="0">
                          <a:effectLst/>
                          <a:latin typeface="Arial Black" panose="020B0A04020102020204" pitchFamily="34" charset="0"/>
                          <a:cs typeface="Arial" panose="020B0604020202020204" pitchFamily="34" charset="0"/>
                        </a:rPr>
                        <a:t>​Short Code</a:t>
                      </a:r>
                      <a:endParaRPr lang="en-US" sz="1200" b="1" i="0" u="none" strike="noStrike" dirty="0">
                        <a:solidFill>
                          <a:srgbClr val="FFFFFF"/>
                        </a:solidFill>
                        <a:effectLst/>
                        <a:latin typeface="Arial Black" panose="020B0A04020102020204" pitchFamily="34" charset="0"/>
                        <a:cs typeface="Arial" panose="020B0604020202020204" pitchFamily="34" charset="0"/>
                      </a:endParaRPr>
                    </a:p>
                  </a:txBody>
                  <a:tcPr marL="3700" marR="3700" marT="3700" marB="0" anchor="ctr">
                    <a:solidFill>
                      <a:schemeClr val="accent1"/>
                    </a:solidFill>
                  </a:tcPr>
                </a:tc>
                <a:tc>
                  <a:txBody>
                    <a:bodyPr/>
                    <a:lstStyle/>
                    <a:p>
                      <a:pPr algn="ctr" fontAlgn="ctr"/>
                      <a:r>
                        <a:rPr lang="en-US" sz="1200" u="none" strike="noStrike" dirty="0">
                          <a:effectLst/>
                          <a:latin typeface="Arial Black" panose="020B0A04020102020204" pitchFamily="34" charset="0"/>
                          <a:cs typeface="Arial" panose="020B0604020202020204" pitchFamily="34" charset="0"/>
                        </a:rPr>
                        <a:t>Type</a:t>
                      </a:r>
                      <a:endParaRPr lang="en-US" sz="1200" b="1" i="0" u="none" strike="noStrike" dirty="0">
                        <a:solidFill>
                          <a:srgbClr val="FFFFFF"/>
                        </a:solidFill>
                        <a:effectLst/>
                        <a:latin typeface="Arial Black" panose="020B0A04020102020204" pitchFamily="34" charset="0"/>
                        <a:cs typeface="Arial" panose="020B0604020202020204" pitchFamily="34" charset="0"/>
                      </a:endParaRPr>
                    </a:p>
                  </a:txBody>
                  <a:tcPr marL="3700" marR="3700" marT="3700" marB="0" anchor="ctr">
                    <a:solidFill>
                      <a:schemeClr val="accent1"/>
                    </a:solidFill>
                  </a:tcPr>
                </a:tc>
                <a:tc>
                  <a:txBody>
                    <a:bodyPr/>
                    <a:lstStyle/>
                    <a:p>
                      <a:pPr algn="ctr" fontAlgn="ctr"/>
                      <a:r>
                        <a:rPr lang="en-US" sz="1200" u="none" strike="noStrike" dirty="0">
                          <a:effectLst/>
                          <a:latin typeface="Arial Black" panose="020B0A04020102020204" pitchFamily="34" charset="0"/>
                          <a:cs typeface="Arial" panose="020B0604020202020204" pitchFamily="34" charset="0"/>
                        </a:rPr>
                        <a:t>Area</a:t>
                      </a:r>
                      <a:endParaRPr lang="en-US" sz="1200" b="1" i="0" u="none" strike="noStrike" dirty="0">
                        <a:solidFill>
                          <a:srgbClr val="FFFFFF"/>
                        </a:solidFill>
                        <a:effectLst/>
                        <a:latin typeface="Arial Black" panose="020B0A04020102020204" pitchFamily="34" charset="0"/>
                        <a:cs typeface="Arial" panose="020B0604020202020204" pitchFamily="34" charset="0"/>
                      </a:endParaRPr>
                    </a:p>
                  </a:txBody>
                  <a:tcPr marL="3700" marR="3700" marT="3700" marB="0" anchor="ctr">
                    <a:solidFill>
                      <a:schemeClr val="accent1"/>
                    </a:solidFill>
                  </a:tcPr>
                </a:tc>
                <a:tc>
                  <a:txBody>
                    <a:bodyPr/>
                    <a:lstStyle/>
                    <a:p>
                      <a:pPr algn="ctr" fontAlgn="ctr"/>
                      <a:r>
                        <a:rPr lang="en-US" sz="1200" u="none" strike="noStrike" dirty="0">
                          <a:effectLst/>
                          <a:latin typeface="Arial Black" panose="020B0A04020102020204" pitchFamily="34" charset="0"/>
                          <a:cs typeface="Arial" panose="020B0604020202020204" pitchFamily="34" charset="0"/>
                        </a:rPr>
                        <a:t>Owner Group</a:t>
                      </a:r>
                      <a:endParaRPr lang="en-US" sz="1200" b="1" i="0" u="none" strike="noStrike" dirty="0">
                        <a:solidFill>
                          <a:srgbClr val="FFFFFF"/>
                        </a:solidFill>
                        <a:effectLst/>
                        <a:latin typeface="Arial Black" panose="020B0A04020102020204" pitchFamily="34" charset="0"/>
                        <a:cs typeface="Arial" panose="020B0604020202020204" pitchFamily="34" charset="0"/>
                      </a:endParaRPr>
                    </a:p>
                  </a:txBody>
                  <a:tcPr marL="3700" marR="3700" marT="3700" marB="0" anchor="ctr">
                    <a:solidFill>
                      <a:schemeClr val="accent1"/>
                    </a:solidFill>
                  </a:tcPr>
                </a:tc>
                <a:tc>
                  <a:txBody>
                    <a:bodyPr/>
                    <a:lstStyle/>
                    <a:p>
                      <a:pPr algn="ctr" fontAlgn="ctr"/>
                      <a:r>
                        <a:rPr lang="en-US" sz="1200" u="none" strike="noStrike" dirty="0">
                          <a:effectLst/>
                          <a:latin typeface="Arial Black" panose="020B0A04020102020204" pitchFamily="34" charset="0"/>
                          <a:cs typeface="Arial" panose="020B0604020202020204" pitchFamily="34" charset="0"/>
                        </a:rPr>
                        <a:t>SLA</a:t>
                      </a:r>
                      <a:endParaRPr lang="en-US" sz="1200" b="1" i="0" u="none" strike="noStrike" dirty="0">
                        <a:solidFill>
                          <a:srgbClr val="FFFFFF"/>
                        </a:solidFill>
                        <a:effectLst/>
                        <a:latin typeface="Arial Black" panose="020B0A04020102020204" pitchFamily="34" charset="0"/>
                        <a:cs typeface="Arial" panose="020B0604020202020204" pitchFamily="34" charset="0"/>
                      </a:endParaRPr>
                    </a:p>
                  </a:txBody>
                  <a:tcPr marL="3700" marR="3700" marT="3700" marB="0" anchor="ctr">
                    <a:solidFill>
                      <a:schemeClr val="accent1"/>
                    </a:solidFill>
                  </a:tcPr>
                </a:tc>
                <a:tc>
                  <a:txBody>
                    <a:bodyPr/>
                    <a:lstStyle/>
                    <a:p>
                      <a:pPr algn="ctr" fontAlgn="ctr"/>
                      <a:r>
                        <a:rPr lang="en-US" sz="1200" u="none" strike="noStrike" dirty="0">
                          <a:effectLst/>
                          <a:latin typeface="Arial Black" panose="020B0A04020102020204" pitchFamily="34" charset="0"/>
                          <a:cs typeface="Arial" panose="020B0604020202020204" pitchFamily="34" charset="0"/>
                        </a:rPr>
                        <a:t>Description</a:t>
                      </a:r>
                      <a:endParaRPr lang="en-US" sz="1200" b="1" i="0" u="none" strike="noStrike" dirty="0">
                        <a:solidFill>
                          <a:srgbClr val="FFFFFF"/>
                        </a:solidFill>
                        <a:effectLst/>
                        <a:latin typeface="Arial Black" panose="020B0A04020102020204" pitchFamily="34" charset="0"/>
                        <a:cs typeface="Arial" panose="020B0604020202020204" pitchFamily="34" charset="0"/>
                      </a:endParaRPr>
                    </a:p>
                  </a:txBody>
                  <a:tcPr marL="3700" marR="3700" marT="3700" marB="0" anchor="ctr">
                    <a:solidFill>
                      <a:schemeClr val="accent1"/>
                    </a:solidFill>
                  </a:tcPr>
                </a:tc>
                <a:extLst>
                  <a:ext uri="{0D108BD9-81ED-4DB2-BD59-A6C34878D82A}">
                    <a16:rowId xmlns:a16="http://schemas.microsoft.com/office/drawing/2014/main" val="1628072684"/>
                  </a:ext>
                </a:extLst>
              </a:tr>
              <a:tr h="733022">
                <a:tc>
                  <a:txBody>
                    <a:bodyPr/>
                    <a:lstStyle/>
                    <a:p>
                      <a:pPr algn="ctr" fontAlgn="ctr"/>
                      <a:r>
                        <a:rPr lang="en-US" sz="1200" u="none" strike="noStrike" dirty="0">
                          <a:effectLst/>
                          <a:latin typeface="Arial" panose="020B0604020202020204" pitchFamily="34" charset="0"/>
                          <a:cs typeface="Arial" panose="020B0604020202020204" pitchFamily="34" charset="0"/>
                        </a:rPr>
                        <a:t>5001</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DSL Service-</a:t>
                      </a:r>
                      <a:r>
                        <a:rPr lang="en-US" sz="1200" u="none" strike="noStrike" dirty="0" err="1">
                          <a:effectLst/>
                          <a:latin typeface="Arial" panose="020B0604020202020204" pitchFamily="34" charset="0"/>
                          <a:cs typeface="Arial" panose="020B0604020202020204" pitchFamily="34" charset="0"/>
                        </a:rPr>
                        <a:t>Acc</a:t>
                      </a:r>
                      <a:r>
                        <a:rPr lang="en-US" sz="1200" u="none" strike="noStrike" dirty="0">
                          <a:effectLst/>
                          <a:latin typeface="Arial" panose="020B0604020202020204" pitchFamily="34" charset="0"/>
                          <a:cs typeface="Arial" panose="020B0604020202020204" pitchFamily="34" charset="0"/>
                        </a:rPr>
                        <a:t> </a:t>
                      </a:r>
                      <a:r>
                        <a:rPr lang="en-US" sz="1200" u="none" strike="noStrike" dirty="0" err="1">
                          <a:effectLst/>
                          <a:latin typeface="Arial" panose="020B0604020202020204" pitchFamily="34" charset="0"/>
                          <a:cs typeface="Arial" panose="020B0604020202020204" pitchFamily="34" charset="0"/>
                        </a:rPr>
                        <a:t>Administ</a:t>
                      </a:r>
                      <a:r>
                        <a:rPr lang="en-US" sz="1200" u="none" strike="noStrike" dirty="0">
                          <a:effectLst/>
                          <a:latin typeface="Arial" panose="020B0604020202020204" pitchFamily="34" charset="0"/>
                          <a:cs typeface="Arial" panose="020B0604020202020204" pitchFamily="34" charset="0"/>
                        </a:rPr>
                        <a:t>​ration</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Compensation Quota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SR is created &amp; closed automatically upon compensating the customer with free GBs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extLst>
                  <a:ext uri="{0D108BD9-81ED-4DB2-BD59-A6C34878D82A}">
                    <a16:rowId xmlns:a16="http://schemas.microsoft.com/office/drawing/2014/main" val="3122022595"/>
                  </a:ext>
                </a:extLst>
              </a:tr>
              <a:tr h="733022">
                <a:tc>
                  <a:txBody>
                    <a:bodyPr/>
                    <a:lstStyle/>
                    <a:p>
                      <a:pPr algn="ctr" fontAlgn="ctr"/>
                      <a:r>
                        <a:rPr lang="en-US" sz="1200" u="none" strike="noStrike" dirty="0">
                          <a:effectLst/>
                          <a:latin typeface="Arial" panose="020B0604020202020204" pitchFamily="34" charset="0"/>
                          <a:cs typeface="Arial" panose="020B0604020202020204" pitchFamily="34" charset="0"/>
                        </a:rPr>
                        <a:t>5037</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DSL Service-</a:t>
                      </a:r>
                      <a:r>
                        <a:rPr lang="en-US" sz="1200" u="none" strike="noStrike" dirty="0" err="1">
                          <a:effectLst/>
                          <a:latin typeface="Arial" panose="020B0604020202020204" pitchFamily="34" charset="0"/>
                          <a:cs typeface="Arial" panose="020B0604020202020204" pitchFamily="34" charset="0"/>
                        </a:rPr>
                        <a:t>Acc</a:t>
                      </a:r>
                      <a:r>
                        <a:rPr lang="en-US" sz="1200" u="none" strike="noStrike" dirty="0">
                          <a:effectLst/>
                          <a:latin typeface="Arial" panose="020B0604020202020204" pitchFamily="34" charset="0"/>
                          <a:cs typeface="Arial" panose="020B0604020202020204" pitchFamily="34" charset="0"/>
                        </a:rPr>
                        <a:t> Administration</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Free Duration</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SR is created &amp; closed automatically upon compensating the customer with free duration</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extLst>
                  <a:ext uri="{0D108BD9-81ED-4DB2-BD59-A6C34878D82A}">
                    <a16:rowId xmlns:a16="http://schemas.microsoft.com/office/drawing/2014/main" val="1212852770"/>
                  </a:ext>
                </a:extLst>
              </a:tr>
              <a:tr h="809406">
                <a:tc>
                  <a:txBody>
                    <a:bodyPr/>
                    <a:lstStyle/>
                    <a:p>
                      <a:pPr algn="ctr" fontAlgn="ctr"/>
                      <a:r>
                        <a:rPr lang="en-US" sz="1200" u="none" strike="noStrike">
                          <a:effectLst/>
                          <a:latin typeface="Arial" panose="020B0604020202020204" pitchFamily="34" charset="0"/>
                          <a:cs typeface="Arial" panose="020B0604020202020204" pitchFamily="34" charset="0"/>
                        </a:rPr>
                        <a:t>16819</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da-DK" sz="1200" u="none" strike="noStrike">
                          <a:effectLst/>
                          <a:latin typeface="Arial" panose="020B0604020202020204" pitchFamily="34" charset="0"/>
                          <a:cs typeface="Arial" panose="020B0604020202020204" pitchFamily="34" charset="0"/>
                        </a:rPr>
                        <a:t>DSL Acc Mod For Line Mod</a:t>
                      </a:r>
                      <a:endParaRPr lang="da-DK"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Quota Compensation​</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DSL CC</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SR should be created manually &amp; closed by agent after adding the GBs explaining the reason for compensation</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extLst>
                  <a:ext uri="{0D108BD9-81ED-4DB2-BD59-A6C34878D82A}">
                    <a16:rowId xmlns:a16="http://schemas.microsoft.com/office/drawing/2014/main" val="637100937"/>
                  </a:ext>
                </a:extLst>
              </a:tr>
              <a:tr h="924702">
                <a:tc rowSpan="2">
                  <a:txBody>
                    <a:bodyPr/>
                    <a:lstStyle/>
                    <a:p>
                      <a:pPr algn="ctr" fontAlgn="ctr"/>
                      <a:r>
                        <a:rPr lang="en-US" sz="1200" u="none" strike="noStrike">
                          <a:effectLst/>
                          <a:latin typeface="Arial" panose="020B0604020202020204" pitchFamily="34" charset="0"/>
                          <a:cs typeface="Arial" panose="020B0604020202020204" pitchFamily="34" charset="0"/>
                        </a:rPr>
                        <a:t>32216</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rowSpan="2">
                  <a:txBody>
                    <a:bodyPr/>
                    <a:lstStyle/>
                    <a:p>
                      <a:pPr algn="ctr" fontAlgn="ctr"/>
                      <a:r>
                        <a:rPr lang="da-DK" sz="1200" u="none" strike="noStrike">
                          <a:effectLst/>
                          <a:latin typeface="Arial" panose="020B0604020202020204" pitchFamily="34" charset="0"/>
                          <a:cs typeface="Arial" panose="020B0604020202020204" pitchFamily="34" charset="0"/>
                        </a:rPr>
                        <a:t>DSL Acc Mod For Products</a:t>
                      </a:r>
                      <a:endParaRPr lang="da-DK"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rowSpan="2">
                  <a:txBody>
                    <a:bodyPr/>
                    <a:lstStyle/>
                    <a:p>
                      <a:pPr algn="ctr" fontAlgn="ctr"/>
                      <a:r>
                        <a:rPr lang="en-US" sz="1200" u="none" strike="noStrike">
                          <a:effectLst/>
                          <a:latin typeface="Arial" panose="020B0604020202020204" pitchFamily="34" charset="0"/>
                          <a:cs typeface="Arial" panose="020B0604020202020204" pitchFamily="34" charset="0"/>
                        </a:rPr>
                        <a:t>Duration Compensation</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DSL CC</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SR should be created manually &amp; closed by agent after adding the free duration explaining the reason for compensation</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extLst>
                  <a:ext uri="{0D108BD9-81ED-4DB2-BD59-A6C34878D82A}">
                    <a16:rowId xmlns:a16="http://schemas.microsoft.com/office/drawing/2014/main" val="3139114368"/>
                  </a:ext>
                </a:extLst>
              </a:tr>
              <a:tr h="55068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200" u="none" strike="noStrike">
                          <a:effectLst/>
                          <a:latin typeface="Arial" panose="020B0604020202020204" pitchFamily="34" charset="0"/>
                          <a:cs typeface="Arial" panose="020B0604020202020204" pitchFamily="34" charset="0"/>
                        </a:rPr>
                        <a:t>DSL Call Center SPV/TL​</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72 </a:t>
                      </a:r>
                      <a:r>
                        <a:rPr lang="en-US" sz="1200" u="none" strike="noStrike" dirty="0" err="1">
                          <a:effectLst/>
                          <a:latin typeface="Arial" panose="020B0604020202020204" pitchFamily="34" charset="0"/>
                          <a:cs typeface="Arial" panose="020B0604020202020204" pitchFamily="34" charset="0"/>
                        </a:rPr>
                        <a:t>Whrs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SR should be created in case the free duration is more than 15 days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extLst>
                  <a:ext uri="{0D108BD9-81ED-4DB2-BD59-A6C34878D82A}">
                    <a16:rowId xmlns:a16="http://schemas.microsoft.com/office/drawing/2014/main" val="3984609568"/>
                  </a:ext>
                </a:extLst>
              </a:tr>
              <a:tr h="809406">
                <a:tc>
                  <a:txBody>
                    <a:bodyPr/>
                    <a:lstStyle/>
                    <a:p>
                      <a:pPr algn="ctr" fontAlgn="ctr"/>
                      <a:r>
                        <a:rPr lang="en-US" sz="1200" u="none" strike="noStrike">
                          <a:effectLst/>
                          <a:latin typeface="Arial" panose="020B0604020202020204" pitchFamily="34" charset="0"/>
                          <a:cs typeface="Arial" panose="020B0604020202020204" pitchFamily="34" charset="0"/>
                        </a:rPr>
                        <a:t>16014</a:t>
                      </a:r>
                      <a:endParaRPr lang="en-US" sz="1200" b="1"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da-DK" sz="1200" u="none" strike="noStrike">
                          <a:effectLst/>
                          <a:latin typeface="Arial" panose="020B0604020202020204" pitchFamily="34" charset="0"/>
                          <a:cs typeface="Arial" panose="020B0604020202020204" pitchFamily="34" charset="0"/>
                        </a:rPr>
                        <a:t>DSL Acc Mod For Billing</a:t>
                      </a:r>
                      <a:endParaRPr lang="da-DK"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Drop Amount</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a:effectLst/>
                          <a:latin typeface="Arial" panose="020B0604020202020204" pitchFamily="34" charset="0"/>
                          <a:cs typeface="Arial" panose="020B0604020202020204" pitchFamily="34" charset="0"/>
                        </a:rPr>
                        <a:t>DSL CH Billing</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48 </a:t>
                      </a:r>
                      <a:r>
                        <a:rPr lang="en-US" sz="1200" u="none" strike="noStrike" dirty="0" err="1">
                          <a:effectLst/>
                          <a:latin typeface="Arial" panose="020B0604020202020204" pitchFamily="34" charset="0"/>
                          <a:cs typeface="Arial" panose="020B0604020202020204" pitchFamily="34" charset="0"/>
                        </a:rPr>
                        <a:t>Whrs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SR should be created in case customer asked to be compensated with the free duration in the current bill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extLst>
                  <a:ext uri="{0D108BD9-81ED-4DB2-BD59-A6C34878D82A}">
                    <a16:rowId xmlns:a16="http://schemas.microsoft.com/office/drawing/2014/main" val="1464896117"/>
                  </a:ext>
                </a:extLst>
              </a:tr>
              <a:tr h="968254">
                <a:tc rowSpan="2">
                  <a:txBody>
                    <a:bodyPr/>
                    <a:lstStyle/>
                    <a:p>
                      <a:pPr algn="ctr" fontAlgn="ctr"/>
                      <a:r>
                        <a:rPr lang="en-US" sz="1200" u="none" strike="noStrike" dirty="0">
                          <a:effectLst/>
                          <a:latin typeface="Arial" panose="020B0604020202020204" pitchFamily="34" charset="0"/>
                          <a:cs typeface="Arial" panose="020B0604020202020204" pitchFamily="34" charset="0"/>
                        </a:rPr>
                        <a:t>4600</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rowSpan="2">
                  <a:txBody>
                    <a:bodyPr/>
                    <a:lstStyle/>
                    <a:p>
                      <a:pPr algn="ctr" fontAlgn="ctr"/>
                      <a:r>
                        <a:rPr lang="en-US" sz="1200" u="none" strike="noStrike" dirty="0">
                          <a:effectLst/>
                          <a:latin typeface="Arial" panose="020B0604020202020204" pitchFamily="34" charset="0"/>
                          <a:cs typeface="Arial" panose="020B0604020202020204" pitchFamily="34" charset="0"/>
                        </a:rPr>
                        <a:t>Compensation &amp; Discount</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rowSpan="2">
                  <a:txBody>
                    <a:bodyPr/>
                    <a:lstStyle/>
                    <a:p>
                      <a:pPr algn="ctr" fontAlgn="ctr"/>
                      <a:r>
                        <a:rPr lang="en-US" sz="1200" u="none" strike="noStrike" dirty="0">
                          <a:effectLst/>
                          <a:latin typeface="Arial" panose="020B0604020202020204" pitchFamily="34" charset="0"/>
                          <a:cs typeface="Arial" panose="020B0604020202020204" pitchFamily="34" charset="0"/>
                        </a:rPr>
                        <a:t>GBs Addition Due to DSL Issue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rowSpan="2">
                  <a:txBody>
                    <a:bodyPr/>
                    <a:lstStyle/>
                    <a:p>
                      <a:pPr algn="ctr" fontAlgn="ctr"/>
                      <a:r>
                        <a:rPr lang="en-US" sz="1200" u="none" strike="noStrike" dirty="0">
                          <a:effectLst/>
                          <a:latin typeface="Arial" panose="020B0604020202020204" pitchFamily="34" charset="0"/>
                          <a:cs typeface="Arial" panose="020B0604020202020204" pitchFamily="34" charset="0"/>
                        </a:rPr>
                        <a:t>GSM CH according to customer’s segment</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rowSpan="2">
                  <a:txBody>
                    <a:bodyPr/>
                    <a:lstStyle/>
                    <a:p>
                      <a:pPr algn="ctr" fontAlgn="ctr"/>
                      <a:r>
                        <a:rPr lang="en-US" sz="1200" u="none" strike="noStrike" dirty="0">
                          <a:effectLst/>
                          <a:latin typeface="Arial" panose="020B0604020202020204" pitchFamily="34" charset="0"/>
                          <a:cs typeface="Arial" panose="020B0604020202020204" pitchFamily="34" charset="0"/>
                        </a:rPr>
                        <a:t>24 </a:t>
                      </a:r>
                      <a:r>
                        <a:rPr lang="en-US" sz="1200" u="none" strike="noStrike" dirty="0" err="1">
                          <a:effectLst/>
                          <a:latin typeface="Arial" panose="020B0604020202020204" pitchFamily="34" charset="0"/>
                          <a:cs typeface="Arial" panose="020B0604020202020204" pitchFamily="34" charset="0"/>
                        </a:rPr>
                        <a:t>Hrs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SR should be created in case customer asked to be compensated on his/her Orange mobile number while being totally disconnected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extLst>
                  <a:ext uri="{0D108BD9-81ED-4DB2-BD59-A6C34878D82A}">
                    <a16:rowId xmlns:a16="http://schemas.microsoft.com/office/drawing/2014/main" val="731307656"/>
                  </a:ext>
                </a:extLst>
              </a:tr>
              <a:tr h="38964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Sub Area: Done &amp; SMS Sent/Not Done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3700" marR="3700" marT="3700" marB="0" anchor="ctr"/>
                </a:tc>
                <a:extLst>
                  <a:ext uri="{0D108BD9-81ED-4DB2-BD59-A6C34878D82A}">
                    <a16:rowId xmlns:a16="http://schemas.microsoft.com/office/drawing/2014/main" val="436798688"/>
                  </a:ext>
                </a:extLst>
              </a:tr>
            </a:tbl>
          </a:graphicData>
        </a:graphic>
      </p:graphicFrame>
    </p:spTree>
    <p:extLst>
      <p:ext uri="{BB962C8B-B14F-4D97-AF65-F5344CB8AC3E}">
        <p14:creationId xmlns:p14="http://schemas.microsoft.com/office/powerpoint/2010/main" val="4116225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Black" panose="020B0A04020102020204" pitchFamily="34" charset="0"/>
              </a:rPr>
              <a:t>Agenda</a:t>
            </a:r>
            <a:endParaRPr lang="en-US" dirty="0"/>
          </a:p>
        </p:txBody>
      </p:sp>
      <p:sp>
        <p:nvSpPr>
          <p:cNvPr id="5" name="Content Placeholder 4"/>
          <p:cNvSpPr>
            <a:spLocks noGrp="1"/>
          </p:cNvSpPr>
          <p:nvPr>
            <p:ph idx="1"/>
          </p:nvPr>
        </p:nvSpPr>
        <p:spPr>
          <a:xfrm>
            <a:off x="518160" y="1656081"/>
            <a:ext cx="8755842" cy="4385282"/>
          </a:xfrm>
        </p:spPr>
        <p:txBody>
          <a:bodyPr/>
          <a:lstStyle/>
          <a:p>
            <a:r>
              <a:rPr lang="en-US" dirty="0">
                <a:latin typeface="Arial Black" panose="020B0A04020102020204" pitchFamily="34" charset="0"/>
                <a:cs typeface="Arial" panose="020B0604020202020204" pitchFamily="34" charset="0"/>
              </a:rPr>
              <a:t>DSL Extra Quota​</a:t>
            </a:r>
          </a:p>
          <a:p>
            <a:endParaRPr lang="en-US" dirty="0">
              <a:latin typeface="Arial Black" panose="020B0A04020102020204" pitchFamily="34" charset="0"/>
              <a:cs typeface="Arial" panose="020B0604020202020204" pitchFamily="34" charset="0"/>
            </a:endParaRPr>
          </a:p>
          <a:p>
            <a:r>
              <a:rPr lang="en-US" dirty="0">
                <a:latin typeface="Arial Black" panose="020B0A04020102020204" pitchFamily="34" charset="0"/>
                <a:cs typeface="Arial" panose="020B0604020202020204" pitchFamily="34" charset="0"/>
              </a:rPr>
              <a:t>Package Upgrade​</a:t>
            </a:r>
          </a:p>
          <a:p>
            <a:endParaRPr lang="en-US" dirty="0">
              <a:latin typeface="Arial Black" panose="020B0A04020102020204" pitchFamily="34" charset="0"/>
              <a:cs typeface="Arial" panose="020B0604020202020204" pitchFamily="34" charset="0"/>
            </a:endParaRPr>
          </a:p>
          <a:p>
            <a:r>
              <a:rPr lang="en-US" dirty="0">
                <a:latin typeface="Arial Black" panose="020B0A04020102020204" pitchFamily="34" charset="0"/>
                <a:cs typeface="Arial" panose="020B0604020202020204" pitchFamily="34" charset="0"/>
              </a:rPr>
              <a:t>Package Downgrade</a:t>
            </a:r>
          </a:p>
          <a:p>
            <a:endParaRPr lang="en-US" dirty="0">
              <a:latin typeface="Arial Black" panose="020B0A04020102020204" pitchFamily="34" charset="0"/>
              <a:cs typeface="Arial" panose="020B0604020202020204" pitchFamily="34" charset="0"/>
            </a:endParaRPr>
          </a:p>
          <a:p>
            <a:r>
              <a:rPr lang="en-US" dirty="0">
                <a:latin typeface="Arial Black" panose="020B0A04020102020204" pitchFamily="34" charset="0"/>
                <a:cs typeface="Arial" panose="020B0604020202020204" pitchFamily="34" charset="0"/>
              </a:rPr>
              <a:t>Suspension</a:t>
            </a:r>
          </a:p>
        </p:txBody>
      </p:sp>
    </p:spTree>
    <p:extLst>
      <p:ext uri="{BB962C8B-B14F-4D97-AF65-F5344CB8AC3E}">
        <p14:creationId xmlns:p14="http://schemas.microsoft.com/office/powerpoint/2010/main" val="75747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Arial Black" panose="020B0A04020102020204" pitchFamily="34" charset="0"/>
                <a:cs typeface="Arial" panose="020B0604020202020204" pitchFamily="34" charset="0"/>
              </a:rPr>
              <a:t>DSL Extra Quota​</a:t>
            </a:r>
            <a:br>
              <a:rPr lang="en-US" dirty="0">
                <a:solidFill>
                  <a:schemeClr val="tx1"/>
                </a:solidFill>
                <a:latin typeface="Arial Black" panose="020B0A04020102020204" pitchFamily="34" charset="0"/>
                <a:cs typeface="Arial" panose="020B0604020202020204" pitchFamily="34" charset="0"/>
              </a:rPr>
            </a:br>
            <a:endParaRPr lang="en-US" dirty="0">
              <a:solidFill>
                <a:schemeClr val="tx1"/>
              </a:solidFill>
            </a:endParaRPr>
          </a:p>
        </p:txBody>
      </p:sp>
      <p:sp>
        <p:nvSpPr>
          <p:cNvPr id="3" name="Content Placeholder 2"/>
          <p:cNvSpPr>
            <a:spLocks noGrp="1"/>
          </p:cNvSpPr>
          <p:nvPr>
            <p:ph idx="1"/>
          </p:nvPr>
        </p:nvSpPr>
        <p:spPr>
          <a:xfrm>
            <a:off x="568960" y="1432560"/>
            <a:ext cx="9235440" cy="5425440"/>
          </a:xfrm>
        </p:spPr>
        <p:txBody>
          <a:bodyPr>
            <a:normAutofit/>
          </a:bodyPr>
          <a:lstStyle/>
          <a:p>
            <a:r>
              <a:rPr lang="en-US" b="1" dirty="0">
                <a:solidFill>
                  <a:schemeClr val="accent1"/>
                </a:solidFill>
                <a:latin typeface="Arial Black" panose="020B0A04020102020204" pitchFamily="34" charset="0"/>
              </a:rPr>
              <a:t>Extensions’ Prices</a:t>
            </a:r>
            <a:r>
              <a:rPr lang="ar-EG" b="1" dirty="0">
                <a:solidFill>
                  <a:schemeClr val="accent1"/>
                </a:solidFill>
                <a:latin typeface="Arial Black" panose="020B0A04020102020204" pitchFamily="34" charset="0"/>
              </a:rPr>
              <a:t>:</a:t>
            </a:r>
            <a:endParaRPr lang="en-US" b="1" dirty="0">
              <a:solidFill>
                <a:schemeClr val="accent1"/>
              </a:solidFill>
              <a:latin typeface="Arial Black" panose="020B0A04020102020204" pitchFamily="34" charset="0"/>
            </a:endParaRPr>
          </a:p>
          <a:p>
            <a:endParaRPr lang="en-US" b="1" dirty="0">
              <a:solidFill>
                <a:schemeClr val="accent1"/>
              </a:solidFill>
              <a:latin typeface="Arial Black" panose="020B0A04020102020204" pitchFamily="34" charset="0"/>
            </a:endParaRPr>
          </a:p>
          <a:p>
            <a:endParaRPr lang="en-US" b="1" dirty="0">
              <a:solidFill>
                <a:schemeClr val="accent1"/>
              </a:solidFill>
              <a:latin typeface="Arial Black" panose="020B0A04020102020204" pitchFamily="34" charset="0"/>
            </a:endParaRPr>
          </a:p>
          <a:p>
            <a:endParaRPr lang="en-US" b="1" dirty="0">
              <a:solidFill>
                <a:schemeClr val="accent1"/>
              </a:solidFill>
              <a:latin typeface="Arial Black" panose="020B0A04020102020204" pitchFamily="34" charset="0"/>
            </a:endParaRPr>
          </a:p>
          <a:p>
            <a:endParaRPr lang="en-US" b="1" dirty="0">
              <a:solidFill>
                <a:schemeClr val="accent1"/>
              </a:solidFill>
              <a:latin typeface="Arial Black" panose="020B0A04020102020204" pitchFamily="34" charset="0"/>
            </a:endParaRPr>
          </a:p>
          <a:p>
            <a:pPr marL="0" indent="0">
              <a:buNone/>
            </a:pPr>
            <a:endParaRPr lang="en-US" b="1" dirty="0">
              <a:solidFill>
                <a:schemeClr val="accent1"/>
              </a:solidFill>
              <a:latin typeface="Arial Black" panose="020B0A04020102020204" pitchFamily="34" charset="0"/>
            </a:endParaRPr>
          </a:p>
          <a:p>
            <a:r>
              <a:rPr lang="en-US" b="1" dirty="0">
                <a:solidFill>
                  <a:schemeClr val="accent1"/>
                </a:solidFill>
                <a:latin typeface="Arial Black" panose="020B0A04020102020204" pitchFamily="34" charset="0"/>
              </a:rPr>
              <a:t>Extension Addition Channel​​</a:t>
            </a:r>
          </a:p>
          <a:p>
            <a:pPr>
              <a:buFont typeface="+mj-lt"/>
              <a:buAutoNum type="arabicPeriod"/>
            </a:pPr>
            <a:r>
              <a:rPr lang="en-US" dirty="0">
                <a:latin typeface="Arial" panose="020B0604020202020204" pitchFamily="34" charset="0"/>
                <a:cs typeface="Arial" panose="020B0604020202020204" pitchFamily="34" charset="0"/>
              </a:rPr>
              <a:t>16333 Call Center/Click To Chat/Digital Customer Care</a:t>
            </a:r>
          </a:p>
          <a:p>
            <a:pPr>
              <a:buFont typeface="+mj-lt"/>
              <a:buAutoNum type="arabicPeriod"/>
            </a:pPr>
            <a:r>
              <a:rPr lang="en-US" dirty="0">
                <a:latin typeface="Arial" panose="020B0604020202020204" pitchFamily="34" charset="0"/>
                <a:cs typeface="Arial" panose="020B0604020202020204" pitchFamily="34" charset="0"/>
              </a:rPr>
              <a:t>#16333# USSD (From registered Orange mobile number)​</a:t>
            </a:r>
          </a:p>
          <a:p>
            <a:pPr>
              <a:buFont typeface="+mj-lt"/>
              <a:buAutoNum type="arabicPeriod"/>
            </a:pPr>
            <a:r>
              <a:rPr lang="en-US" dirty="0">
                <a:latin typeface="Arial" panose="020B0604020202020204" pitchFamily="34" charset="0"/>
                <a:cs typeface="Arial" panose="020B0604020202020204" pitchFamily="34" charset="0"/>
              </a:rPr>
              <a:t>16333 IVR (From registered mobile # or the landline #)</a:t>
            </a:r>
          </a:p>
          <a:p>
            <a:pPr>
              <a:buFont typeface="+mj-lt"/>
              <a:buAutoNum type="arabicPeriod"/>
            </a:pPr>
            <a:r>
              <a:rPr lang="en-US" dirty="0">
                <a:latin typeface="Arial" panose="020B0604020202020204" pitchFamily="34" charset="0"/>
                <a:cs typeface="Arial" panose="020B0604020202020204" pitchFamily="34" charset="0"/>
              </a:rPr>
              <a:t>Portal (Using DSL Wi-Fi connection)</a:t>
            </a:r>
          </a:p>
          <a:p>
            <a:pPr>
              <a:buFont typeface="+mj-lt"/>
              <a:buAutoNum type="arabicPeriod"/>
            </a:pPr>
            <a:r>
              <a:rPr lang="en-US" dirty="0">
                <a:latin typeface="Arial" panose="020B0604020202020204" pitchFamily="34" charset="0"/>
                <a:cs typeface="Arial" panose="020B0604020202020204" pitchFamily="34" charset="0"/>
              </a:rPr>
              <a:t>My Orange Application (From registered mobile #)</a:t>
            </a:r>
          </a:p>
          <a:p>
            <a:pPr>
              <a:buFont typeface="+mj-lt"/>
              <a:buAutoNum type="arabicPeriod"/>
            </a:pPr>
            <a:r>
              <a:rPr lang="en-US" dirty="0">
                <a:latin typeface="Arial" panose="020B0604020202020204" pitchFamily="34" charset="0"/>
                <a:cs typeface="Arial" panose="020B0604020202020204" pitchFamily="34" charset="0"/>
              </a:rPr>
              <a:t>Shops &amp; Franchises</a:t>
            </a:r>
          </a:p>
          <a:p>
            <a:endParaRPr lang="en-US" b="1" dirty="0"/>
          </a:p>
          <a:p>
            <a:endParaRPr lang="en-US" b="1" dirty="0"/>
          </a:p>
          <a:p>
            <a:endParaRPr lang="en-US" b="1" dirty="0"/>
          </a:p>
          <a:p>
            <a:endParaRPr lang="en-US" b="1" dirty="0"/>
          </a:p>
          <a:p>
            <a:endParaRPr lang="en-US" b="1" dirty="0"/>
          </a:p>
          <a:p>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4244056969"/>
              </p:ext>
            </p:extLst>
          </p:nvPr>
        </p:nvGraphicFramePr>
        <p:xfrm>
          <a:off x="5312" y="1930400"/>
          <a:ext cx="6355926" cy="1908177"/>
        </p:xfrm>
        <a:graphic>
          <a:graphicData uri="http://schemas.openxmlformats.org/drawingml/2006/table">
            <a:tbl>
              <a:tblPr>
                <a:tableStyleId>{5C22544A-7EE6-4342-B048-85BDC9FD1C3A}</a:tableStyleId>
              </a:tblPr>
              <a:tblGrid>
                <a:gridCol w="1993722">
                  <a:extLst>
                    <a:ext uri="{9D8B030D-6E8A-4147-A177-3AD203B41FA5}">
                      <a16:colId xmlns:a16="http://schemas.microsoft.com/office/drawing/2014/main" val="1480117619"/>
                    </a:ext>
                  </a:extLst>
                </a:gridCol>
                <a:gridCol w="2218578">
                  <a:extLst>
                    <a:ext uri="{9D8B030D-6E8A-4147-A177-3AD203B41FA5}">
                      <a16:colId xmlns:a16="http://schemas.microsoft.com/office/drawing/2014/main" val="3003804936"/>
                    </a:ext>
                  </a:extLst>
                </a:gridCol>
                <a:gridCol w="2143626">
                  <a:extLst>
                    <a:ext uri="{9D8B030D-6E8A-4147-A177-3AD203B41FA5}">
                      <a16:colId xmlns:a16="http://schemas.microsoft.com/office/drawing/2014/main" val="3916041247"/>
                    </a:ext>
                  </a:extLst>
                </a:gridCol>
              </a:tblGrid>
              <a:tr h="453772">
                <a:tc>
                  <a:txBody>
                    <a:bodyPr/>
                    <a:lstStyle/>
                    <a:p>
                      <a:pPr algn="ctr" fontAlgn="ctr"/>
                      <a:r>
                        <a:rPr lang="en-US" sz="1400" u="none" strike="noStrike" dirty="0">
                          <a:effectLst/>
                          <a:latin typeface="Arial" panose="020B0604020202020204" pitchFamily="34" charset="0"/>
                          <a:cs typeface="Arial" panose="020B0604020202020204" pitchFamily="34" charset="0"/>
                        </a:rPr>
                        <a:t>Extensions Quota (GBs)</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a:effectLst/>
                          <a:latin typeface="Arial" panose="020B0604020202020204" pitchFamily="34" charset="0"/>
                          <a:cs typeface="Arial" panose="020B0604020202020204" pitchFamily="34" charset="0"/>
                        </a:rPr>
                        <a:t>Price VAT Exclusive (EGP)</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panose="020B0604020202020204" pitchFamily="34" charset="0"/>
                          <a:cs typeface="Arial" panose="020B0604020202020204" pitchFamily="34" charset="0"/>
                        </a:rPr>
                        <a:t>Price VAT Inclusive (EGP)</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4171906969"/>
                  </a:ext>
                </a:extLst>
              </a:tr>
              <a:tr h="290881">
                <a:tc>
                  <a:txBody>
                    <a:bodyPr/>
                    <a:lstStyle/>
                    <a:p>
                      <a:pPr algn="ctr" fontAlgn="ctr"/>
                      <a:r>
                        <a:rPr lang="en-US" sz="1400" u="none" strike="noStrike" dirty="0">
                          <a:effectLst/>
                          <a:latin typeface="Arial" panose="020B0604020202020204" pitchFamily="34" charset="0"/>
                          <a:cs typeface="Arial" panose="020B0604020202020204" pitchFamily="34" charset="0"/>
                        </a:rPr>
                        <a:t>20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52</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59.28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82527996"/>
                  </a:ext>
                </a:extLst>
              </a:tr>
              <a:tr h="290881">
                <a:tc>
                  <a:txBody>
                    <a:bodyPr/>
                    <a:lstStyle/>
                    <a:p>
                      <a:pPr algn="ctr" fontAlgn="ctr"/>
                      <a:r>
                        <a:rPr lang="en-US" sz="1400" u="none" strike="noStrike">
                          <a:effectLst/>
                          <a:latin typeface="Arial" panose="020B0604020202020204" pitchFamily="34" charset="0"/>
                          <a:cs typeface="Arial" panose="020B0604020202020204" pitchFamily="34" charset="0"/>
                        </a:rPr>
                        <a:t>60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110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125.4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430522382"/>
                  </a:ext>
                </a:extLst>
              </a:tr>
              <a:tr h="290881">
                <a:tc>
                  <a:txBody>
                    <a:bodyPr/>
                    <a:lstStyle/>
                    <a:p>
                      <a:pPr algn="ctr" fontAlgn="ctr"/>
                      <a:r>
                        <a:rPr lang="en-US" sz="1400" u="none" strike="noStrike">
                          <a:effectLst/>
                          <a:latin typeface="Arial" panose="020B0604020202020204" pitchFamily="34" charset="0"/>
                          <a:cs typeface="Arial" panose="020B0604020202020204" pitchFamily="34" charset="0"/>
                        </a:rPr>
                        <a:t>100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170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193.8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738454901"/>
                  </a:ext>
                </a:extLst>
              </a:tr>
              <a:tr h="290881">
                <a:tc>
                  <a:txBody>
                    <a:bodyPr/>
                    <a:lstStyle/>
                    <a:p>
                      <a:pPr algn="ctr" fontAlgn="ctr"/>
                      <a:r>
                        <a:rPr lang="en-US" sz="1400" u="none" strike="noStrike" dirty="0">
                          <a:effectLst/>
                          <a:latin typeface="Arial" panose="020B0604020202020204" pitchFamily="34" charset="0"/>
                          <a:cs typeface="Arial" panose="020B0604020202020204" pitchFamily="34" charset="0"/>
                        </a:rPr>
                        <a:t>150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260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296.4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585125834"/>
                  </a:ext>
                </a:extLst>
              </a:tr>
              <a:tr h="290881">
                <a:tc>
                  <a:txBody>
                    <a:bodyPr/>
                    <a:lstStyle/>
                    <a:p>
                      <a:pPr algn="ctr" fontAlgn="ctr"/>
                      <a:r>
                        <a:rPr lang="en-US" sz="1400" u="none" strike="noStrike">
                          <a:effectLst/>
                          <a:latin typeface="Arial" panose="020B0604020202020204" pitchFamily="34" charset="0"/>
                          <a:cs typeface="Arial" panose="020B0604020202020204" pitchFamily="34" charset="0"/>
                        </a:rPr>
                        <a:t>400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420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478.8​</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942104249"/>
                  </a:ext>
                </a:extLst>
              </a:tr>
            </a:tbl>
          </a:graphicData>
        </a:graphic>
      </p:graphicFrame>
    </p:spTree>
    <p:extLst>
      <p:ext uri="{BB962C8B-B14F-4D97-AF65-F5344CB8AC3E}">
        <p14:creationId xmlns:p14="http://schemas.microsoft.com/office/powerpoint/2010/main" val="3264973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Guidelines</a:t>
            </a:r>
            <a:endParaRPr lang="en-US" dirty="0"/>
          </a:p>
        </p:txBody>
      </p:sp>
      <p:sp>
        <p:nvSpPr>
          <p:cNvPr id="3" name="Content Placeholder 2"/>
          <p:cNvSpPr>
            <a:spLocks noGrp="1"/>
          </p:cNvSpPr>
          <p:nvPr>
            <p:ph idx="1"/>
          </p:nvPr>
        </p:nvSpPr>
        <p:spPr>
          <a:xfrm>
            <a:off x="677334" y="1343026"/>
            <a:ext cx="8790516" cy="5514974"/>
          </a:xfrm>
        </p:spPr>
        <p:txBody>
          <a:bodyPr>
            <a:noAutofit/>
          </a:bodyPr>
          <a:lstStyle/>
          <a:p>
            <a:pPr marL="0" indent="0" algn="r">
              <a:lnSpc>
                <a:spcPct val="150000"/>
              </a:lnSpc>
              <a:buNone/>
            </a:pPr>
            <a:r>
              <a:rPr lang="ar-EG" sz="2000" dirty="0">
                <a:latin typeface="Arial" panose="020B0604020202020204" pitchFamily="34" charset="0"/>
                <a:cs typeface="Arial" panose="020B0604020202020204" pitchFamily="34" charset="0"/>
              </a:rPr>
              <a:t>الباقه الاضافيه صالحه لمده شهر من مده الاضافه </a:t>
            </a:r>
          </a:p>
          <a:p>
            <a:pPr marL="0" indent="0" algn="r">
              <a:lnSpc>
                <a:spcPct val="150000"/>
              </a:lnSpc>
              <a:buNone/>
            </a:pPr>
            <a:r>
              <a:rPr lang="ar-EG" sz="2000" dirty="0">
                <a:latin typeface="Arial" panose="020B0604020202020204" pitchFamily="34" charset="0"/>
                <a:cs typeface="Arial" panose="020B0604020202020204" pitchFamily="34" charset="0"/>
              </a:rPr>
              <a:t>يمكن للعميل اضافه لحد </a:t>
            </a:r>
            <a:r>
              <a:rPr lang="ar-EG" sz="2000" dirty="0">
                <a:solidFill>
                  <a:schemeClr val="accent1"/>
                </a:solidFill>
                <a:latin typeface="Arial" panose="020B0604020202020204" pitchFamily="34" charset="0"/>
                <a:cs typeface="Arial" panose="020B0604020202020204" pitchFamily="34" charset="0"/>
              </a:rPr>
              <a:t>10 باقات </a:t>
            </a:r>
            <a:r>
              <a:rPr lang="ar-EG" sz="2000" dirty="0">
                <a:latin typeface="Arial" panose="020B0604020202020204" pitchFamily="34" charset="0"/>
                <a:cs typeface="Arial" panose="020B0604020202020204" pitchFamily="34" charset="0"/>
              </a:rPr>
              <a:t>اضافيه في في نفس الفاتوره</a:t>
            </a:r>
          </a:p>
          <a:p>
            <a:pPr marL="0" indent="0" algn="r">
              <a:lnSpc>
                <a:spcPct val="150000"/>
              </a:lnSpc>
              <a:buNone/>
            </a:pPr>
            <a:r>
              <a:rPr lang="ar-EG" sz="2000" dirty="0">
                <a:latin typeface="Arial" panose="020B0604020202020204" pitchFamily="34" charset="0"/>
                <a:cs typeface="Arial" panose="020B0604020202020204" pitchFamily="34" charset="0"/>
              </a:rPr>
              <a:t>تضاف الباقه للعميل في نفس وقت الاضافه  </a:t>
            </a:r>
          </a:p>
          <a:p>
            <a:pPr marL="0" indent="0" algn="r">
              <a:lnSpc>
                <a:spcPct val="150000"/>
              </a:lnSpc>
              <a:buNone/>
            </a:pPr>
            <a:r>
              <a:rPr lang="ar-EG" sz="2000" dirty="0">
                <a:latin typeface="Arial" panose="020B0604020202020204" pitchFamily="34" charset="0"/>
                <a:cs typeface="Arial" panose="020B0604020202020204" pitchFamily="34" charset="0"/>
              </a:rPr>
              <a:t>في حال ان العميل ضاف 10 باقات في نفس الفاتوره </a:t>
            </a:r>
            <a:r>
              <a:rPr lang="ar-EG" sz="2000" dirty="0">
                <a:solidFill>
                  <a:schemeClr val="accent1"/>
                </a:solidFill>
                <a:latin typeface="Arial" panose="020B0604020202020204" pitchFamily="34" charset="0"/>
                <a:cs typeface="Arial" panose="020B0604020202020204" pitchFamily="34" charset="0"/>
              </a:rPr>
              <a:t>يمكن اضافه عدد لا نهائي من الباقات الاضافيه ولكن بشرط دفعها ( الموقع او التطبيق او الفروع ) </a:t>
            </a:r>
          </a:p>
          <a:p>
            <a:pPr marL="0" indent="0" algn="r">
              <a:lnSpc>
                <a:spcPct val="150000"/>
              </a:lnSpc>
              <a:buNone/>
            </a:pPr>
            <a:r>
              <a:rPr lang="ar-EG" sz="2000" dirty="0">
                <a:latin typeface="Arial" panose="020B0604020202020204" pitchFamily="34" charset="0"/>
                <a:cs typeface="Arial" panose="020B0604020202020204" pitchFamily="34" charset="0"/>
              </a:rPr>
              <a:t>في حاله ان الخط </a:t>
            </a:r>
            <a:r>
              <a:rPr lang="ar-EG" sz="2000" dirty="0">
                <a:solidFill>
                  <a:schemeClr val="accent1"/>
                </a:solidFill>
                <a:latin typeface="Arial" panose="020B0604020202020204" pitchFamily="34" charset="0"/>
                <a:cs typeface="Arial" panose="020B0604020202020204" pitchFamily="34" charset="0"/>
              </a:rPr>
              <a:t>متوقف</a:t>
            </a:r>
            <a:r>
              <a:rPr lang="ar-EG" sz="2000" dirty="0">
                <a:latin typeface="Arial" panose="020B0604020202020204" pitchFamily="34" charset="0"/>
                <a:cs typeface="Arial" panose="020B0604020202020204" pitchFamily="34" charset="0"/>
              </a:rPr>
              <a:t> لا يمكن اضافه اي باقه اضافيه </a:t>
            </a:r>
          </a:p>
          <a:p>
            <a:pPr marL="0" indent="0" algn="r">
              <a:lnSpc>
                <a:spcPct val="150000"/>
              </a:lnSpc>
              <a:buNone/>
            </a:pPr>
            <a:r>
              <a:rPr lang="ar-EG" sz="2000" dirty="0">
                <a:solidFill>
                  <a:schemeClr val="accent1"/>
                </a:solidFill>
                <a:latin typeface="Arial" panose="020B0604020202020204" pitchFamily="34" charset="0"/>
                <a:cs typeface="Arial" panose="020B0604020202020204" pitchFamily="34" charset="0"/>
              </a:rPr>
              <a:t>خد بالك </a:t>
            </a:r>
            <a:r>
              <a:rPr lang="ar-EG" sz="2000" dirty="0">
                <a:latin typeface="Arial" panose="020B0604020202020204" pitchFamily="34" charset="0"/>
                <a:cs typeface="Arial" panose="020B0604020202020204" pitchFamily="34" charset="0"/>
              </a:rPr>
              <a:t>لو العميل طلب اضافه باقه اضافيه ( لازم اوضح له جميع </a:t>
            </a:r>
            <a:r>
              <a:rPr lang="ar-EG" sz="2000" dirty="0">
                <a:solidFill>
                  <a:schemeClr val="accent1"/>
                </a:solidFill>
                <a:latin typeface="Arial" panose="020B0604020202020204" pitchFamily="34" charset="0"/>
                <a:cs typeface="Arial" panose="020B0604020202020204" pitchFamily="34" charset="0"/>
              </a:rPr>
              <a:t>الباقات الاضافيه  بالعروض </a:t>
            </a:r>
          </a:p>
          <a:p>
            <a:pPr marL="0" indent="0" algn="r">
              <a:lnSpc>
                <a:spcPct val="150000"/>
              </a:lnSpc>
              <a:buNone/>
            </a:pPr>
            <a:r>
              <a:rPr lang="ar-EG" sz="2000" dirty="0">
                <a:solidFill>
                  <a:schemeClr val="accent1"/>
                </a:solidFill>
                <a:latin typeface="Arial" panose="020B0604020202020204" pitchFamily="34" charset="0"/>
                <a:cs typeface="Arial" panose="020B0604020202020204" pitchFamily="34" charset="0"/>
              </a:rPr>
              <a:t>من الكبير للصغير..........</a:t>
            </a:r>
          </a:p>
          <a:p>
            <a:pPr marL="0" indent="0" algn="r">
              <a:lnSpc>
                <a:spcPct val="150000"/>
              </a:lnSpc>
              <a:buNone/>
            </a:pPr>
            <a:r>
              <a:rPr lang="ar-EG" sz="2000" dirty="0">
                <a:latin typeface="Arial" panose="020B0604020202020204" pitchFamily="34" charset="0"/>
                <a:cs typeface="Arial" panose="020B0604020202020204" pitchFamily="34" charset="0"/>
              </a:rPr>
              <a:t> ولما يختار باقته </a:t>
            </a:r>
            <a:r>
              <a:rPr lang="ar-EG" sz="2000" dirty="0">
                <a:solidFill>
                  <a:schemeClr val="accent1"/>
                </a:solidFill>
                <a:latin typeface="Arial" panose="020B0604020202020204" pitchFamily="34" charset="0"/>
                <a:cs typeface="Arial" panose="020B0604020202020204" pitchFamily="34" charset="0"/>
              </a:rPr>
              <a:t>لازم اتحقق من ملكيه الخط.......... </a:t>
            </a:r>
            <a:r>
              <a:rPr lang="ar-EG" sz="2000" dirty="0">
                <a:latin typeface="Arial" panose="020B0604020202020204" pitchFamily="34" charset="0"/>
                <a:cs typeface="Arial" panose="020B0604020202020204" pitchFamily="34" charset="0"/>
              </a:rPr>
              <a:t> </a:t>
            </a:r>
          </a:p>
          <a:p>
            <a:pPr marL="0" indent="0" algn="r">
              <a:lnSpc>
                <a:spcPct val="150000"/>
              </a:lnSpc>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6027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596668" cy="695325"/>
          </a:xfrm>
        </p:spPr>
        <p:txBody>
          <a:bodyPr/>
          <a:lstStyle/>
          <a:p>
            <a:r>
              <a:rPr lang="en-US" dirty="0">
                <a:latin typeface="Arial Black" panose="020B0A04020102020204" pitchFamily="34" charset="0"/>
              </a:rPr>
              <a:t>Extra Quota Upselling Offer </a:t>
            </a:r>
          </a:p>
        </p:txBody>
      </p:sp>
      <p:sp>
        <p:nvSpPr>
          <p:cNvPr id="3" name="Content Placeholder 2"/>
          <p:cNvSpPr>
            <a:spLocks noGrp="1"/>
          </p:cNvSpPr>
          <p:nvPr>
            <p:ph idx="1"/>
          </p:nvPr>
        </p:nvSpPr>
        <p:spPr>
          <a:xfrm>
            <a:off x="0" y="1236664"/>
            <a:ext cx="9220200" cy="5383211"/>
          </a:xfrm>
        </p:spPr>
        <p:txBody>
          <a:bodyPr>
            <a:noAutofit/>
          </a:bodyPr>
          <a:lstStyle/>
          <a:p>
            <a:pPr marL="0" indent="0" algn="r">
              <a:buNone/>
            </a:pPr>
            <a:r>
              <a:rPr lang="ar-EG" dirty="0">
                <a:solidFill>
                  <a:schemeClr val="tx1"/>
                </a:solidFill>
                <a:latin typeface="Arial" panose="020B0604020202020204" pitchFamily="34" charset="0"/>
                <a:cs typeface="Arial" panose="020B0604020202020204" pitchFamily="34" charset="0"/>
              </a:rPr>
              <a:t>يمكن للعميل اضافه الباقه الاضافيه بالعرض عن طريق</a:t>
            </a:r>
          </a:p>
          <a:p>
            <a:pPr marL="0" indent="0">
              <a:buNone/>
            </a:pPr>
            <a:r>
              <a:rPr lang="en-US" dirty="0">
                <a:solidFill>
                  <a:schemeClr val="accent1"/>
                </a:solidFill>
                <a:latin typeface="Arial" panose="020B0604020202020204" pitchFamily="34" charset="0"/>
                <a:cs typeface="Arial" panose="020B0604020202020204" pitchFamily="34" charset="0"/>
              </a:rPr>
              <a:t>DSL Click To Chat, Social Media &amp; Upselling Team only.</a:t>
            </a:r>
            <a:endParaRPr lang="ar-EG" dirty="0">
              <a:solidFill>
                <a:schemeClr val="accent1"/>
              </a:solidFill>
              <a:latin typeface="Arial" panose="020B0604020202020204" pitchFamily="34" charset="0"/>
              <a:cs typeface="Arial" panose="020B0604020202020204" pitchFamily="34" charset="0"/>
            </a:endParaRPr>
          </a:p>
          <a:p>
            <a:pPr marL="0" indent="0" algn="r">
              <a:buNone/>
            </a:pPr>
            <a:r>
              <a:rPr lang="ar-EG" dirty="0">
                <a:solidFill>
                  <a:schemeClr val="tx1"/>
                </a:solidFill>
                <a:latin typeface="Arial" panose="020B0604020202020204" pitchFamily="34" charset="0"/>
                <a:cs typeface="Arial" panose="020B0604020202020204" pitchFamily="34" charset="0"/>
              </a:rPr>
              <a:t>يمكن اضافه لحد10 باقات اضافيه ب 10 عروض </a:t>
            </a:r>
          </a:p>
          <a:p>
            <a:pPr marL="0" indent="0" algn="r">
              <a:lnSpc>
                <a:spcPct val="150000"/>
              </a:lnSpc>
              <a:buNone/>
            </a:pPr>
            <a:r>
              <a:rPr lang="ar-EG" dirty="0">
                <a:latin typeface="Arial" panose="020B0604020202020204" pitchFamily="34" charset="0"/>
                <a:cs typeface="Arial" panose="020B0604020202020204" pitchFamily="34" charset="0"/>
              </a:rPr>
              <a:t>لو العميل طلب اضافه باقه اضافيه ( لازم اوضح له جميع </a:t>
            </a:r>
            <a:r>
              <a:rPr lang="ar-EG" dirty="0">
                <a:solidFill>
                  <a:schemeClr val="accent1"/>
                </a:solidFill>
                <a:latin typeface="Arial Black" panose="020B0A04020102020204" pitchFamily="34" charset="0"/>
                <a:cs typeface="Arial" panose="020B0604020202020204" pitchFamily="34" charset="0"/>
              </a:rPr>
              <a:t>الباقات الاضافيه  بالعروض </a:t>
            </a:r>
          </a:p>
          <a:p>
            <a:pPr marL="0" indent="0" algn="r">
              <a:lnSpc>
                <a:spcPct val="150000"/>
              </a:lnSpc>
              <a:buNone/>
            </a:pPr>
            <a:r>
              <a:rPr lang="ar-EG" dirty="0">
                <a:solidFill>
                  <a:schemeClr val="accent1"/>
                </a:solidFill>
                <a:latin typeface="Arial Black" panose="020B0A04020102020204" pitchFamily="34" charset="0"/>
                <a:cs typeface="Arial" panose="020B0604020202020204" pitchFamily="34" charset="0"/>
              </a:rPr>
              <a:t>من الكبير للصغير..........</a:t>
            </a:r>
          </a:p>
          <a:p>
            <a:pPr marL="0" indent="0" algn="r">
              <a:buNone/>
            </a:pPr>
            <a:endParaRPr lang="ar-EG" dirty="0">
              <a:solidFill>
                <a:schemeClr val="tx1"/>
              </a:solidFill>
              <a:latin typeface="Arial" panose="020B0604020202020204" pitchFamily="34" charset="0"/>
              <a:cs typeface="Arial" panose="020B0604020202020204" pitchFamily="34" charset="0"/>
            </a:endParaRPr>
          </a:p>
          <a:p>
            <a:pPr marL="0" indent="0" algn="r">
              <a:buNone/>
            </a:pPr>
            <a:endParaRPr lang="ar-EG" dirty="0">
              <a:solidFill>
                <a:schemeClr val="tx1"/>
              </a:solidFill>
              <a:latin typeface="Arial" panose="020B0604020202020204" pitchFamily="34" charset="0"/>
              <a:cs typeface="Arial" panose="020B0604020202020204" pitchFamily="34" charset="0"/>
            </a:endParaRPr>
          </a:p>
          <a:p>
            <a:pPr marL="0" indent="0" algn="r">
              <a:buNone/>
            </a:pPr>
            <a:endParaRPr lang="ar-EG" dirty="0">
              <a:solidFill>
                <a:schemeClr val="tx1"/>
              </a:solidFill>
              <a:latin typeface="Arial" panose="020B0604020202020204" pitchFamily="34" charset="0"/>
              <a:cs typeface="Arial" panose="020B0604020202020204" pitchFamily="34" charset="0"/>
            </a:endParaRPr>
          </a:p>
          <a:p>
            <a:pPr marL="0" indent="0" algn="r">
              <a:buNone/>
            </a:pPr>
            <a:endParaRPr lang="ar-EG" dirty="0">
              <a:solidFill>
                <a:schemeClr val="tx1"/>
              </a:solidFill>
              <a:latin typeface="Arial" panose="020B0604020202020204" pitchFamily="34" charset="0"/>
              <a:cs typeface="Arial" panose="020B0604020202020204" pitchFamily="34" charset="0"/>
            </a:endParaRPr>
          </a:p>
          <a:p>
            <a:pPr marL="0" indent="0" algn="r">
              <a:buNone/>
            </a:pPr>
            <a:endParaRPr lang="ar-EG" dirty="0">
              <a:solidFill>
                <a:schemeClr val="tx1"/>
              </a:solidFill>
              <a:latin typeface="Arial" panose="020B0604020202020204" pitchFamily="34" charset="0"/>
              <a:cs typeface="Arial" panose="020B0604020202020204" pitchFamily="34" charset="0"/>
            </a:endParaRPr>
          </a:p>
          <a:p>
            <a:pPr marL="0" indent="0" algn="r">
              <a:buNone/>
            </a:pPr>
            <a:r>
              <a:rPr lang="ar-EG" dirty="0">
                <a:solidFill>
                  <a:schemeClr val="tx1"/>
                </a:solidFill>
                <a:latin typeface="Arial" panose="020B0604020202020204" pitchFamily="34" charset="0"/>
                <a:cs typeface="Arial" panose="020B0604020202020204" pitchFamily="34" charset="0"/>
              </a:rPr>
              <a:t>اوعي تنسي ولما يختار باقته لازم </a:t>
            </a:r>
            <a:r>
              <a:rPr lang="ar-EG" dirty="0">
                <a:solidFill>
                  <a:schemeClr val="accent1"/>
                </a:solidFill>
                <a:latin typeface="Arial" panose="020B0604020202020204" pitchFamily="34" charset="0"/>
                <a:cs typeface="Arial" panose="020B0604020202020204" pitchFamily="34" charset="0"/>
              </a:rPr>
              <a:t>اتحقق من ملكيه الخط</a:t>
            </a:r>
            <a:r>
              <a:rPr lang="ar-EG" dirty="0">
                <a:solidFill>
                  <a:schemeClr val="tx1"/>
                </a:solidFill>
                <a:latin typeface="Arial" panose="020B0604020202020204" pitchFamily="34" charset="0"/>
                <a:cs typeface="Arial" panose="020B0604020202020204" pitchFamily="34" charset="0"/>
              </a:rPr>
              <a:t>.......... </a:t>
            </a:r>
          </a:p>
          <a:p>
            <a:pPr algn="r"/>
            <a:endParaRPr lang="ar-EG" dirty="0">
              <a:solidFill>
                <a:schemeClr val="tx1"/>
              </a:solidFill>
              <a:latin typeface="Arial" panose="020B0604020202020204" pitchFamily="34" charset="0"/>
              <a:cs typeface="Arial" panose="020B0604020202020204" pitchFamily="34" charset="0"/>
            </a:endParaRPr>
          </a:p>
          <a:p>
            <a:pPr algn="r"/>
            <a:endParaRPr lang="en-US" dirty="0">
              <a:solidFill>
                <a:schemeClr val="tx1"/>
              </a:solidFill>
              <a:latin typeface="Arial" panose="020B0604020202020204" pitchFamily="34" charset="0"/>
              <a:cs typeface="Arial" panose="020B0604020202020204" pitchFamily="34" charset="0"/>
            </a:endParaRPr>
          </a:p>
        </p:txBody>
      </p:sp>
      <p:graphicFrame>
        <p:nvGraphicFramePr>
          <p:cNvPr id="4" name="Content Placeholder 3"/>
          <p:cNvGraphicFramePr>
            <a:graphicFrameLocks/>
          </p:cNvGraphicFramePr>
          <p:nvPr>
            <p:extLst>
              <p:ext uri="{D42A27DB-BD31-4B8C-83A1-F6EECF244321}">
                <p14:modId xmlns:p14="http://schemas.microsoft.com/office/powerpoint/2010/main" val="3341576764"/>
              </p:ext>
            </p:extLst>
          </p:nvPr>
        </p:nvGraphicFramePr>
        <p:xfrm>
          <a:off x="0" y="3481850"/>
          <a:ext cx="6248401" cy="1874610"/>
        </p:xfrm>
        <a:graphic>
          <a:graphicData uri="http://schemas.openxmlformats.org/drawingml/2006/table">
            <a:tbl>
              <a:tblPr>
                <a:tableStyleId>{5C22544A-7EE6-4342-B048-85BDC9FD1C3A}</a:tableStyleId>
              </a:tblPr>
              <a:tblGrid>
                <a:gridCol w="1607941">
                  <a:extLst>
                    <a:ext uri="{9D8B030D-6E8A-4147-A177-3AD203B41FA5}">
                      <a16:colId xmlns:a16="http://schemas.microsoft.com/office/drawing/2014/main" val="4056821787"/>
                    </a:ext>
                  </a:extLst>
                </a:gridCol>
                <a:gridCol w="2200340">
                  <a:extLst>
                    <a:ext uri="{9D8B030D-6E8A-4147-A177-3AD203B41FA5}">
                      <a16:colId xmlns:a16="http://schemas.microsoft.com/office/drawing/2014/main" val="3650670451"/>
                    </a:ext>
                  </a:extLst>
                </a:gridCol>
                <a:gridCol w="987332">
                  <a:extLst>
                    <a:ext uri="{9D8B030D-6E8A-4147-A177-3AD203B41FA5}">
                      <a16:colId xmlns:a16="http://schemas.microsoft.com/office/drawing/2014/main" val="1470828827"/>
                    </a:ext>
                  </a:extLst>
                </a:gridCol>
                <a:gridCol w="1452788">
                  <a:extLst>
                    <a:ext uri="{9D8B030D-6E8A-4147-A177-3AD203B41FA5}">
                      <a16:colId xmlns:a16="http://schemas.microsoft.com/office/drawing/2014/main" val="3137734850"/>
                    </a:ext>
                  </a:extLst>
                </a:gridCol>
              </a:tblGrid>
              <a:tr h="288054">
                <a:tc>
                  <a:txBody>
                    <a:bodyPr/>
                    <a:lstStyle/>
                    <a:p>
                      <a:pPr algn="ctr" fontAlgn="ctr"/>
                      <a:r>
                        <a:rPr lang="en-US" sz="1400" u="none" strike="noStrike" dirty="0">
                          <a:effectLst/>
                          <a:latin typeface="Arial" panose="020B0604020202020204" pitchFamily="34" charset="0"/>
                          <a:cs typeface="Arial" panose="020B0604020202020204" pitchFamily="34" charset="0"/>
                        </a:rPr>
                        <a:t>Extension in GBs</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a:effectLst/>
                          <a:latin typeface="Arial" panose="020B0604020202020204" pitchFamily="34" charset="0"/>
                          <a:cs typeface="Arial" panose="020B0604020202020204" pitchFamily="34" charset="0"/>
                        </a:rPr>
                        <a:t>Price in EGP (VAT Inclusive)</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a:effectLst/>
                          <a:latin typeface="Arial" panose="020B0604020202020204" pitchFamily="34" charset="0"/>
                          <a:cs typeface="Arial" panose="020B0604020202020204" pitchFamily="34" charset="0"/>
                        </a:rPr>
                        <a:t>Offer in GBs</a:t>
                      </a:r>
                      <a:endParaRPr lang="en-US" sz="1400" b="1" i="0" u="none" strike="noStrike">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panose="020B0604020202020204" pitchFamily="34" charset="0"/>
                          <a:cs typeface="Arial" panose="020B0604020202020204" pitchFamily="34" charset="0"/>
                        </a:rPr>
                        <a:t>Total Granted GBs</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38005760"/>
                  </a:ext>
                </a:extLst>
              </a:tr>
              <a:tr h="288054">
                <a:tc>
                  <a:txBody>
                    <a:bodyPr/>
                    <a:lstStyle/>
                    <a:p>
                      <a:pPr algn="ctr" fontAlgn="ctr"/>
                      <a:r>
                        <a:rPr lang="en-US" sz="1400" u="none" strike="noStrike" dirty="0">
                          <a:effectLst/>
                          <a:latin typeface="Arial" panose="020B0604020202020204" pitchFamily="34" charset="0"/>
                          <a:cs typeface="Arial" panose="020B0604020202020204" pitchFamily="34" charset="0"/>
                        </a:rPr>
                        <a:t>20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59.28</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No</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20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082877345"/>
                  </a:ext>
                </a:extLst>
              </a:tr>
              <a:tr h="288054">
                <a:tc>
                  <a:txBody>
                    <a:bodyPr/>
                    <a:lstStyle/>
                    <a:p>
                      <a:pPr algn="ctr" fontAlgn="ctr"/>
                      <a:r>
                        <a:rPr lang="en-US" sz="1400" u="none" strike="noStrike" dirty="0">
                          <a:effectLst/>
                          <a:latin typeface="Arial" panose="020B0604020202020204" pitchFamily="34" charset="0"/>
                          <a:cs typeface="Arial" panose="020B0604020202020204" pitchFamily="34" charset="0"/>
                        </a:rPr>
                        <a:t>60​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125.4</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75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136776278"/>
                  </a:ext>
                </a:extLst>
              </a:tr>
              <a:tr h="288054">
                <a:tc>
                  <a:txBody>
                    <a:bodyPr/>
                    <a:lstStyle/>
                    <a:p>
                      <a:pPr algn="ctr" fontAlgn="ctr"/>
                      <a:r>
                        <a:rPr lang="en-US" sz="1400" u="none" strike="noStrike" dirty="0">
                          <a:effectLst/>
                          <a:latin typeface="Arial" panose="020B0604020202020204" pitchFamily="34" charset="0"/>
                          <a:cs typeface="Arial" panose="020B0604020202020204" pitchFamily="34" charset="0"/>
                        </a:rPr>
                        <a:t>100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193.8</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125</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257398005"/>
                  </a:ext>
                </a:extLst>
              </a:tr>
              <a:tr h="288054">
                <a:tc>
                  <a:txBody>
                    <a:bodyPr/>
                    <a:lstStyle/>
                    <a:p>
                      <a:pPr algn="ctr" fontAlgn="ctr"/>
                      <a:r>
                        <a:rPr lang="en-US" sz="1400" u="none" strike="noStrike" dirty="0">
                          <a:effectLst/>
                          <a:latin typeface="Arial" panose="020B0604020202020204" pitchFamily="34" charset="0"/>
                          <a:cs typeface="Arial" panose="020B0604020202020204" pitchFamily="34" charset="0"/>
                        </a:rPr>
                        <a:t>150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296.4</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50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a:effectLst/>
                          <a:latin typeface="Arial" panose="020B0604020202020204" pitchFamily="34" charset="0"/>
                          <a:cs typeface="Arial" panose="020B0604020202020204" pitchFamily="34" charset="0"/>
                        </a:rPr>
                        <a:t>200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700741959"/>
                  </a:ext>
                </a:extLst>
              </a:tr>
              <a:tr h="288054">
                <a:tc>
                  <a:txBody>
                    <a:bodyPr/>
                    <a:lstStyle/>
                    <a:p>
                      <a:pPr algn="ctr" fontAlgn="ctr"/>
                      <a:r>
                        <a:rPr lang="en-US" sz="1400" u="none" strike="noStrike">
                          <a:effectLst/>
                          <a:latin typeface="Arial" panose="020B0604020202020204" pitchFamily="34" charset="0"/>
                          <a:cs typeface="Arial" panose="020B0604020202020204" pitchFamily="34" charset="0"/>
                        </a:rPr>
                        <a:t>400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478.8</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100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400" u="none" strike="noStrike" dirty="0">
                          <a:effectLst/>
                          <a:latin typeface="Arial" panose="020B0604020202020204" pitchFamily="34" charset="0"/>
                          <a:cs typeface="Arial" panose="020B0604020202020204" pitchFamily="34" charset="0"/>
                        </a:rPr>
                        <a:t>500 </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053027178"/>
                  </a:ext>
                </a:extLst>
              </a:tr>
            </a:tbl>
          </a:graphicData>
        </a:graphic>
      </p:graphicFrame>
    </p:spTree>
    <p:extLst>
      <p:ext uri="{BB962C8B-B14F-4D97-AF65-F5344CB8AC3E}">
        <p14:creationId xmlns:p14="http://schemas.microsoft.com/office/powerpoint/2010/main" val="1238896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838200"/>
          </a:xfrm>
        </p:spPr>
        <p:txBody>
          <a:bodyPr>
            <a:normAutofit fontScale="90000"/>
          </a:bodyPr>
          <a:lstStyle/>
          <a:p>
            <a:r>
              <a:rPr lang="en-US" b="1" dirty="0">
                <a:latin typeface="Arial Black" panose="020B0A04020102020204" pitchFamily="34" charset="0"/>
              </a:rPr>
              <a:t>DSL Verification Process</a:t>
            </a:r>
            <a:br>
              <a:rPr lang="en-US" b="1" dirty="0">
                <a:latin typeface="Arial Black" panose="020B0A04020102020204" pitchFamily="34" charset="0"/>
              </a:rPr>
            </a:br>
            <a:br>
              <a:rPr lang="en-US" dirty="0">
                <a:latin typeface="Arial Black" panose="020B0A04020102020204" pitchFamily="34" charset="0"/>
              </a:rPr>
            </a:br>
            <a:endParaRPr lang="en-US" dirty="0">
              <a:latin typeface="Arial Black" panose="020B0A04020102020204" pitchFamily="34" charset="0"/>
            </a:endParaRPr>
          </a:p>
        </p:txBody>
      </p:sp>
      <p:sp>
        <p:nvSpPr>
          <p:cNvPr id="3" name="Content Placeholder 2"/>
          <p:cNvSpPr>
            <a:spLocks noGrp="1"/>
          </p:cNvSpPr>
          <p:nvPr>
            <p:ph idx="1"/>
          </p:nvPr>
        </p:nvSpPr>
        <p:spPr>
          <a:xfrm>
            <a:off x="371475" y="1304925"/>
            <a:ext cx="8902527" cy="4736437"/>
          </a:xfrm>
        </p:spPr>
        <p:txBody>
          <a:bodyPr>
            <a:normAutofit/>
          </a:bodyPr>
          <a:lstStyle/>
          <a:p>
            <a:pPr marL="0" indent="0" algn="r">
              <a:lnSpc>
                <a:spcPct val="150000"/>
              </a:lnSpc>
              <a:buNone/>
            </a:pPr>
            <a:r>
              <a:rPr lang="ar-EG" sz="2000" dirty="0">
                <a:latin typeface="Arial" panose="020B0604020202020204" pitchFamily="34" charset="0"/>
                <a:cs typeface="Arial" panose="020B0604020202020204" pitchFamily="34" charset="0"/>
              </a:rPr>
              <a:t>لو العميل متصل من رقم الارضي المسجل </a:t>
            </a:r>
            <a:r>
              <a:rPr lang="ar-EG" sz="2000" dirty="0">
                <a:solidFill>
                  <a:schemeClr val="accent1"/>
                </a:solidFill>
                <a:latin typeface="Arial" panose="020B0604020202020204" pitchFamily="34" charset="0"/>
                <a:cs typeface="Arial" panose="020B0604020202020204" pitchFamily="34" charset="0"/>
              </a:rPr>
              <a:t>علي الخط  مش هحتاج اتحقق من ملكيه الخط</a:t>
            </a:r>
          </a:p>
          <a:p>
            <a:pPr marL="0" indent="0" algn="r">
              <a:lnSpc>
                <a:spcPct val="150000"/>
              </a:lnSpc>
              <a:buNone/>
            </a:pPr>
            <a:r>
              <a:rPr lang="ar-EG" sz="2000" dirty="0">
                <a:latin typeface="Arial" panose="020B0604020202020204" pitchFamily="34" charset="0"/>
                <a:cs typeface="Arial" panose="020B0604020202020204" pitchFamily="34" charset="0"/>
              </a:rPr>
              <a:t>لو العميل متصل من نفس رقم الموبيل المسجل علي السيستم </a:t>
            </a:r>
            <a:r>
              <a:rPr lang="ar-EG" sz="2000" dirty="0">
                <a:solidFill>
                  <a:schemeClr val="accent1"/>
                </a:solidFill>
                <a:latin typeface="Arial" panose="020B0604020202020204" pitchFamily="34" charset="0"/>
                <a:cs typeface="Arial" panose="020B0604020202020204" pitchFamily="34" charset="0"/>
              </a:rPr>
              <a:t>هسأله عن الاسم ثلاثي المسجل علي الخط</a:t>
            </a:r>
          </a:p>
          <a:p>
            <a:pPr marL="0" indent="0" algn="r">
              <a:lnSpc>
                <a:spcPct val="150000"/>
              </a:lnSpc>
              <a:buNone/>
            </a:pPr>
            <a:r>
              <a:rPr lang="ar-EG" sz="2000" dirty="0">
                <a:latin typeface="Arial" panose="020B0604020202020204" pitchFamily="34" charset="0"/>
                <a:cs typeface="Arial" panose="020B0604020202020204" pitchFamily="34" charset="0"/>
              </a:rPr>
              <a:t>لو العميل متصل برقم (موبيل او ارضي) مختلف </a:t>
            </a:r>
            <a:r>
              <a:rPr lang="ar-EG" sz="2000" dirty="0">
                <a:solidFill>
                  <a:schemeClr val="accent1"/>
                </a:solidFill>
                <a:latin typeface="Arial" panose="020B0604020202020204" pitchFamily="34" charset="0"/>
                <a:cs typeface="Arial" panose="020B0604020202020204" pitchFamily="34" charset="0"/>
              </a:rPr>
              <a:t>هسأله علي الاسم ثلاثي ورقم الموبيل المسجل علي السيستم</a:t>
            </a:r>
          </a:p>
          <a:p>
            <a:pPr marL="0" indent="0" algn="r">
              <a:lnSpc>
                <a:spcPct val="150000"/>
              </a:lnSpc>
              <a:buNone/>
            </a:pPr>
            <a:r>
              <a:rPr lang="ar-EG" sz="2000" dirty="0">
                <a:latin typeface="Arial" panose="020B0604020202020204" pitchFamily="34" charset="0"/>
                <a:cs typeface="Arial" panose="020B0604020202020204" pitchFamily="34" charset="0"/>
              </a:rPr>
              <a:t>لو مش عارفهم هساله </a:t>
            </a:r>
            <a:r>
              <a:rPr lang="ar-EG" sz="2000" dirty="0">
                <a:solidFill>
                  <a:schemeClr val="accent1"/>
                </a:solidFill>
                <a:latin typeface="Arial" panose="020B0604020202020204" pitchFamily="34" charset="0"/>
                <a:cs typeface="Arial" panose="020B0604020202020204" pitchFamily="34" charset="0"/>
              </a:rPr>
              <a:t>علي اخر فاتوره من اخر فاتورتين ادفعت امته وعن طريق اي </a:t>
            </a:r>
          </a:p>
          <a:p>
            <a:pPr marL="0" indent="0" algn="r">
              <a:buNone/>
            </a:pPr>
            <a:endParaRPr lang="en-US" sz="2000" dirty="0">
              <a:solidFill>
                <a:schemeClr val="accent1"/>
              </a:solidFill>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351905502"/>
              </p:ext>
            </p:extLst>
          </p:nvPr>
        </p:nvGraphicFramePr>
        <p:xfrm>
          <a:off x="0" y="4122420"/>
          <a:ext cx="8829675" cy="2735580"/>
        </p:xfrm>
        <a:graphic>
          <a:graphicData uri="http://schemas.openxmlformats.org/drawingml/2006/table">
            <a:tbl>
              <a:tblPr>
                <a:tableStyleId>{5C22544A-7EE6-4342-B048-85BDC9FD1C3A}</a:tableStyleId>
              </a:tblPr>
              <a:tblGrid>
                <a:gridCol w="5557871">
                  <a:extLst>
                    <a:ext uri="{9D8B030D-6E8A-4147-A177-3AD203B41FA5}">
                      <a16:colId xmlns:a16="http://schemas.microsoft.com/office/drawing/2014/main" val="1337736579"/>
                    </a:ext>
                  </a:extLst>
                </a:gridCol>
                <a:gridCol w="3271804">
                  <a:extLst>
                    <a:ext uri="{9D8B030D-6E8A-4147-A177-3AD203B41FA5}">
                      <a16:colId xmlns:a16="http://schemas.microsoft.com/office/drawing/2014/main" val="1282897593"/>
                    </a:ext>
                  </a:extLst>
                </a:gridCol>
              </a:tblGrid>
              <a:tr h="164906">
                <a:tc>
                  <a:txBody>
                    <a:bodyPr/>
                    <a:lstStyle/>
                    <a:p>
                      <a:pPr algn="ctr" fontAlgn="ctr"/>
                      <a:r>
                        <a:rPr lang="en-US" sz="1600" u="none" strike="noStrike" dirty="0">
                          <a:effectLst/>
                          <a:latin typeface="Arial" panose="020B0604020202020204" pitchFamily="34" charset="0"/>
                          <a:cs typeface="Arial" panose="020B0604020202020204" pitchFamily="34" charset="0"/>
                        </a:rPr>
                        <a:t>Scenario</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Verification Keys</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2541809412"/>
                  </a:ext>
                </a:extLst>
              </a:tr>
              <a:tr h="212825">
                <a:tc>
                  <a:txBody>
                    <a:bodyPr/>
                    <a:lstStyle/>
                    <a:p>
                      <a:pPr algn="l" fontAlgn="ctr"/>
                      <a:r>
                        <a:rPr lang="en-US" sz="1600" u="none" strike="noStrike" dirty="0">
                          <a:effectLst/>
                          <a:latin typeface="Arial" panose="020B0604020202020204" pitchFamily="34" charset="0"/>
                          <a:cs typeface="Arial" panose="020B0604020202020204" pitchFamily="34" charset="0"/>
                        </a:rPr>
                        <a:t>In case customer is calling from the landline number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600" u="none" strike="noStrike">
                          <a:effectLst/>
                          <a:latin typeface="Arial" panose="020B0604020202020204" pitchFamily="34" charset="0"/>
                          <a:cs typeface="Arial" panose="020B0604020202020204" pitchFamily="34" charset="0"/>
                        </a:rPr>
                        <a:t>No need for verification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371064234"/>
                  </a:ext>
                </a:extLst>
              </a:tr>
              <a:tr h="422376">
                <a:tc>
                  <a:txBody>
                    <a:bodyPr/>
                    <a:lstStyle/>
                    <a:p>
                      <a:pPr algn="l" fontAlgn="ctr"/>
                      <a:r>
                        <a:rPr lang="en-US" sz="1600" u="none" strike="noStrike" dirty="0">
                          <a:effectLst/>
                          <a:latin typeface="Arial" panose="020B0604020202020204" pitchFamily="34" charset="0"/>
                          <a:cs typeface="Arial" panose="020B0604020202020204" pitchFamily="34" charset="0"/>
                        </a:rPr>
                        <a:t>In case customer is calling from the registered mobile number on Siebel</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600" u="none" strike="noStrike" dirty="0">
                          <a:effectLst/>
                          <a:latin typeface="Arial" panose="020B0604020202020204" pitchFamily="34" charset="0"/>
                          <a:cs typeface="Arial" panose="020B0604020202020204" pitchFamily="34" charset="0"/>
                        </a:rPr>
                        <a:t>Agent should ask the customer to provide the DSL subscriber name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552568990"/>
                  </a:ext>
                </a:extLst>
              </a:tr>
              <a:tr h="422376">
                <a:tc rowSpan="4">
                  <a:txBody>
                    <a:bodyPr/>
                    <a:lstStyle/>
                    <a:p>
                      <a:pPr algn="l" fontAlgn="ctr"/>
                      <a:r>
                        <a:rPr lang="en-US" sz="1600" u="none" strike="noStrike">
                          <a:effectLst/>
                          <a:latin typeface="Arial" panose="020B0604020202020204" pitchFamily="34" charset="0"/>
                          <a:cs typeface="Arial" panose="020B0604020202020204" pitchFamily="34" charset="0"/>
                        </a:rPr>
                        <a:t>In case customer is calling from a different mobile number that is not registered on Siebel</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600" u="none" strike="noStrike" dirty="0">
                          <a:effectLst/>
                          <a:latin typeface="Arial" panose="020B0604020202020204" pitchFamily="34" charset="0"/>
                          <a:cs typeface="Arial" panose="020B0604020202020204" pitchFamily="34" charset="0"/>
                        </a:rPr>
                        <a:t>Agent should ask the customer to provide one of the below:</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45888837"/>
                  </a:ext>
                </a:extLst>
              </a:tr>
              <a:tr h="422376">
                <a:tc vMerge="1">
                  <a:txBody>
                    <a:bodyPr/>
                    <a:lstStyle/>
                    <a:p>
                      <a:endParaRPr lang="en-US"/>
                    </a:p>
                  </a:txBody>
                  <a:tcPr/>
                </a:tc>
                <a:tc>
                  <a:txBody>
                    <a:bodyPr/>
                    <a:lstStyle/>
                    <a:p>
                      <a:pPr algn="l" fontAlgn="ctr"/>
                      <a:r>
                        <a:rPr lang="en-US" sz="1600" u="none" strike="noStrike" dirty="0">
                          <a:effectLst/>
                          <a:latin typeface="Arial" panose="020B0604020202020204" pitchFamily="34" charset="0"/>
                          <a:cs typeface="Arial" panose="020B0604020202020204" pitchFamily="34" charset="0"/>
                        </a:rPr>
                        <a:t>Both Payment method &amp; date of one of the last two bills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4284263241"/>
                  </a:ext>
                </a:extLst>
              </a:tr>
              <a:tr h="164906">
                <a:tc vMerge="1">
                  <a:txBody>
                    <a:bodyPr/>
                    <a:lstStyle/>
                    <a:p>
                      <a:endParaRPr lang="en-US"/>
                    </a:p>
                  </a:txBody>
                  <a:tcPr/>
                </a:tc>
                <a:tc>
                  <a:txBody>
                    <a:bodyPr/>
                    <a:lstStyle/>
                    <a:p>
                      <a:pPr algn="l" fontAlgn="ctr"/>
                      <a:r>
                        <a:rPr lang="en-US" sz="1600" u="none" strike="noStrike" dirty="0">
                          <a:effectLst/>
                          <a:latin typeface="Arial" panose="020B0604020202020204" pitchFamily="34" charset="0"/>
                          <a:cs typeface="Arial" panose="020B0604020202020204" pitchFamily="34" charset="0"/>
                        </a:rPr>
                        <a:t>Or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20067044"/>
                  </a:ext>
                </a:extLst>
              </a:tr>
              <a:tr h="422376">
                <a:tc vMerge="1">
                  <a:txBody>
                    <a:bodyPr/>
                    <a:lstStyle/>
                    <a:p>
                      <a:endParaRPr lang="en-US"/>
                    </a:p>
                  </a:txBody>
                  <a:tcPr/>
                </a:tc>
                <a:tc>
                  <a:txBody>
                    <a:bodyPr/>
                    <a:lstStyle/>
                    <a:p>
                      <a:pPr algn="l" fontAlgn="ctr"/>
                      <a:r>
                        <a:rPr lang="en-US" sz="1600" u="none" strike="noStrike" dirty="0">
                          <a:effectLst/>
                          <a:latin typeface="Arial" panose="020B0604020202020204" pitchFamily="34" charset="0"/>
                          <a:cs typeface="Arial" panose="020B0604020202020204" pitchFamily="34" charset="0"/>
                        </a:rPr>
                        <a:t>Both DSL Subscriber Name ​and the Registered Mobile Number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987875895"/>
                  </a:ext>
                </a:extLst>
              </a:tr>
            </a:tbl>
          </a:graphicData>
        </a:graphic>
      </p:graphicFrame>
    </p:spTree>
    <p:extLst>
      <p:ext uri="{BB962C8B-B14F-4D97-AF65-F5344CB8AC3E}">
        <p14:creationId xmlns:p14="http://schemas.microsoft.com/office/powerpoint/2010/main" val="15230596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1047750"/>
          </a:xfrm>
        </p:spPr>
        <p:txBody>
          <a:bodyPr/>
          <a:lstStyle/>
          <a:p>
            <a:r>
              <a:rPr lang="en-US" b="1" dirty="0">
                <a:latin typeface="Arial Black" panose="020B0A04020102020204" pitchFamily="34" charset="0"/>
              </a:rPr>
              <a:t>List Of Actions</a:t>
            </a:r>
            <a:endParaRPr lang="en-US" dirty="0">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76350540"/>
              </p:ext>
            </p:extLst>
          </p:nvPr>
        </p:nvGraphicFramePr>
        <p:xfrm>
          <a:off x="561975" y="1047750"/>
          <a:ext cx="8829675" cy="5324472"/>
        </p:xfrm>
        <a:graphic>
          <a:graphicData uri="http://schemas.openxmlformats.org/drawingml/2006/table">
            <a:tbl>
              <a:tblPr>
                <a:tableStyleId>{5C22544A-7EE6-4342-B048-85BDC9FD1C3A}</a:tableStyleId>
              </a:tblPr>
              <a:tblGrid>
                <a:gridCol w="4949727">
                  <a:extLst>
                    <a:ext uri="{9D8B030D-6E8A-4147-A177-3AD203B41FA5}">
                      <a16:colId xmlns:a16="http://schemas.microsoft.com/office/drawing/2014/main" val="2362376406"/>
                    </a:ext>
                  </a:extLst>
                </a:gridCol>
                <a:gridCol w="3879948">
                  <a:extLst>
                    <a:ext uri="{9D8B030D-6E8A-4147-A177-3AD203B41FA5}">
                      <a16:colId xmlns:a16="http://schemas.microsoft.com/office/drawing/2014/main" val="2153544414"/>
                    </a:ext>
                  </a:extLst>
                </a:gridCol>
              </a:tblGrid>
              <a:tr h="591608">
                <a:tc>
                  <a:txBody>
                    <a:bodyPr/>
                    <a:lstStyle/>
                    <a:p>
                      <a:pPr algn="ctr" fontAlgn="ctr"/>
                      <a:r>
                        <a:rPr lang="en-US" sz="1800" u="none" strike="noStrike" dirty="0">
                          <a:effectLst/>
                          <a:latin typeface="Arial" panose="020B0604020202020204" pitchFamily="34" charset="0"/>
                          <a:cs typeface="Arial" panose="020B0604020202020204" pitchFamily="34" charset="0"/>
                        </a:rPr>
                        <a:t>Account Information Request</a:t>
                      </a:r>
                      <a:endParaRPr lang="en-US" sz="18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Account Modification Request</a:t>
                      </a:r>
                      <a:endParaRPr lang="en-US" sz="18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3683989657"/>
                  </a:ext>
                </a:extLst>
              </a:tr>
              <a:tr h="591608">
                <a:tc>
                  <a:txBody>
                    <a:bodyPr/>
                    <a:lstStyle/>
                    <a:p>
                      <a:pPr algn="ctr" fontAlgn="ctr"/>
                      <a:r>
                        <a:rPr lang="en-US" sz="1800" u="none" strike="noStrike" dirty="0">
                          <a:effectLst/>
                          <a:latin typeface="Arial" panose="020B0604020202020204" pitchFamily="34" charset="0"/>
                          <a:cs typeface="Arial" panose="020B0604020202020204" pitchFamily="34" charset="0"/>
                        </a:rPr>
                        <a:t>Static IPs​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Change Wi-Fi Password</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71044155"/>
                  </a:ext>
                </a:extLst>
              </a:tr>
              <a:tr h="591608">
                <a:tc>
                  <a:txBody>
                    <a:bodyPr/>
                    <a:lstStyle/>
                    <a:p>
                      <a:pPr algn="ctr" fontAlgn="ctr"/>
                      <a:r>
                        <a:rPr lang="en-US" sz="1800" u="none" strike="noStrike" dirty="0">
                          <a:effectLst/>
                          <a:latin typeface="Arial" panose="020B0604020202020204" pitchFamily="34" charset="0"/>
                          <a:cs typeface="Arial" panose="020B0604020202020204" pitchFamily="34" charset="0"/>
                        </a:rPr>
                        <a:t>Account "username &amp; password" for Modem Configuration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Hide/Unhide Wi-Fi Connection Name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375244588"/>
                  </a:ext>
                </a:extLst>
              </a:tr>
              <a:tr h="591608">
                <a:tc>
                  <a:txBody>
                    <a:bodyPr/>
                    <a:lstStyle/>
                    <a:p>
                      <a:pPr algn="ctr" fontAlgn="ctr"/>
                      <a:r>
                        <a:rPr lang="en-US" sz="1800" u="none" strike="noStrike">
                          <a:effectLst/>
                          <a:latin typeface="Arial" panose="020B0604020202020204" pitchFamily="34" charset="0"/>
                          <a:cs typeface="Arial" panose="020B0604020202020204" pitchFamily="34" charset="0"/>
                        </a:rPr>
                        <a:t>Account "username &amp; password" for Router page</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Change Package (Upgrade/Downgrade)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375014545"/>
                  </a:ext>
                </a:extLst>
              </a:tr>
              <a:tr h="591608">
                <a:tc>
                  <a:txBody>
                    <a:bodyPr/>
                    <a:lstStyle/>
                    <a:p>
                      <a:pPr algn="ctr" fontAlgn="ctr"/>
                      <a:r>
                        <a:rPr lang="en-US" sz="1800" u="none" strike="noStrike">
                          <a:effectLst/>
                          <a:latin typeface="Arial" panose="020B0604020202020204" pitchFamily="34" charset="0"/>
                          <a:cs typeface="Arial" panose="020B0604020202020204" pitchFamily="34" charset="0"/>
                        </a:rPr>
                        <a:t>Port number</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Add Extra Quota</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587422141"/>
                  </a:ext>
                </a:extLst>
              </a:tr>
              <a:tr h="591608">
                <a:tc>
                  <a:txBody>
                    <a:bodyPr/>
                    <a:lstStyle/>
                    <a:p>
                      <a:pPr algn="ctr" fontAlgn="ctr"/>
                      <a:r>
                        <a:rPr lang="en-US" sz="1800" u="none" strike="noStrike">
                          <a:effectLst/>
                          <a:latin typeface="Arial" panose="020B0604020202020204" pitchFamily="34" charset="0"/>
                          <a:cs typeface="Arial" panose="020B0604020202020204" pitchFamily="34" charset="0"/>
                        </a:rPr>
                        <a:t>Last Payment Details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Change the Mobile Contact Number</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115590021"/>
                  </a:ext>
                </a:extLst>
              </a:tr>
              <a:tr h="591608">
                <a:tc>
                  <a:txBody>
                    <a:bodyPr/>
                    <a:lstStyle/>
                    <a:p>
                      <a:pPr algn="l" fontAlgn="t"/>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tc>
                <a:tc>
                  <a:txBody>
                    <a:bodyPr/>
                    <a:lstStyle/>
                    <a:p>
                      <a:pPr algn="ctr" fontAlgn="ctr"/>
                      <a:r>
                        <a:rPr lang="en-US" sz="1800" u="none" strike="noStrike" dirty="0">
                          <a:effectLst/>
                          <a:latin typeface="Arial" panose="020B0604020202020204" pitchFamily="34" charset="0"/>
                          <a:cs typeface="Arial" panose="020B0604020202020204" pitchFamily="34" charset="0"/>
                        </a:rPr>
                        <a:t>Resume the Service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339976772"/>
                  </a:ext>
                </a:extLst>
              </a:tr>
              <a:tr h="591608">
                <a:tc>
                  <a:txBody>
                    <a:bodyPr/>
                    <a:lstStyle/>
                    <a:p>
                      <a:pPr algn="l" fontAlgn="t"/>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tc>
                <a:tc>
                  <a:txBody>
                    <a:bodyPr/>
                    <a:lstStyle/>
                    <a:p>
                      <a:pPr algn="ctr" fontAlgn="ctr"/>
                      <a:r>
                        <a:rPr lang="en-US" sz="1800" u="none" strike="noStrike" dirty="0">
                          <a:effectLst/>
                          <a:latin typeface="Arial" panose="020B0604020202020204" pitchFamily="34" charset="0"/>
                          <a:cs typeface="Arial" panose="020B0604020202020204" pitchFamily="34" charset="0"/>
                        </a:rPr>
                        <a:t>Add IP Package (1,8,16)</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164931443"/>
                  </a:ext>
                </a:extLst>
              </a:tr>
              <a:tr h="591608">
                <a:tc>
                  <a:txBody>
                    <a:bodyPr/>
                    <a:lstStyle/>
                    <a:p>
                      <a:pPr algn="l" fontAlgn="t"/>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tc>
                <a:tc>
                  <a:txBody>
                    <a:bodyPr/>
                    <a:lstStyle/>
                    <a:p>
                      <a:pPr algn="ctr" fontAlgn="ctr"/>
                      <a:r>
                        <a:rPr lang="en-US" sz="1800" u="none" strike="noStrike" dirty="0">
                          <a:effectLst/>
                          <a:latin typeface="Arial" panose="020B0604020202020204" pitchFamily="34" charset="0"/>
                          <a:cs typeface="Arial" panose="020B0604020202020204" pitchFamily="34" charset="0"/>
                        </a:rPr>
                        <a:t>Bundle/Unbundle DSL with PREMIER​</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575154448"/>
                  </a:ext>
                </a:extLst>
              </a:tr>
            </a:tbl>
          </a:graphicData>
        </a:graphic>
      </p:graphicFrame>
    </p:spTree>
    <p:extLst>
      <p:ext uri="{BB962C8B-B14F-4D97-AF65-F5344CB8AC3E}">
        <p14:creationId xmlns:p14="http://schemas.microsoft.com/office/powerpoint/2010/main" val="32923064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742950"/>
          </a:xfrm>
        </p:spPr>
        <p:txBody>
          <a:bodyPr>
            <a:normAutofit fontScale="90000"/>
          </a:bodyPr>
          <a:lstStyle/>
          <a:p>
            <a:r>
              <a:rPr lang="en-US" b="1" dirty="0"/>
              <a:t>Accounts Under Resellers Verification Keys</a:t>
            </a:r>
            <a:endParaRPr lang="en-US" dirty="0"/>
          </a:p>
        </p:txBody>
      </p:sp>
      <p:sp>
        <p:nvSpPr>
          <p:cNvPr id="3" name="Content Placeholder 2"/>
          <p:cNvSpPr>
            <a:spLocks noGrp="1"/>
          </p:cNvSpPr>
          <p:nvPr>
            <p:ph idx="1"/>
          </p:nvPr>
        </p:nvSpPr>
        <p:spPr>
          <a:xfrm>
            <a:off x="-76200" y="838201"/>
            <a:ext cx="9274002" cy="6019799"/>
          </a:xfrm>
        </p:spPr>
        <p:txBody>
          <a:bodyPr>
            <a:normAutofit/>
          </a:bodyPr>
          <a:lstStyle/>
          <a:p>
            <a:pPr marL="0" indent="0" algn="r">
              <a:buNone/>
            </a:pPr>
            <a:r>
              <a:rPr lang="en-US" dirty="0">
                <a:latin typeface="Arial" panose="020B0604020202020204" pitchFamily="34" charset="0"/>
                <a:cs typeface="Arial" panose="020B0604020202020204" pitchFamily="34" charset="0"/>
              </a:rPr>
              <a:t>:</a:t>
            </a:r>
            <a:r>
              <a:rPr lang="ar-EG" dirty="0">
                <a:latin typeface="Arial" panose="020B0604020202020204" pitchFamily="34" charset="0"/>
                <a:cs typeface="Arial" panose="020B0604020202020204" pitchFamily="34" charset="0"/>
              </a:rPr>
              <a:t>لو الوكيل طلب </a:t>
            </a:r>
          </a:p>
          <a:p>
            <a:pPr marL="0" indent="0" algn="r">
              <a:buNone/>
            </a:pPr>
            <a:r>
              <a:rPr lang="ar-EG" dirty="0">
                <a:latin typeface="Arial" panose="020B0604020202020204" pitchFamily="34" charset="0"/>
                <a:cs typeface="Arial" panose="020B0604020202020204" pitchFamily="34" charset="0"/>
              </a:rPr>
              <a:t>يغير باقه العميل( سواء يعلي الباقه او يقللها )</a:t>
            </a:r>
          </a:p>
          <a:p>
            <a:pPr marL="0" indent="0" algn="r">
              <a:buNone/>
            </a:pPr>
            <a:r>
              <a:rPr lang="ar-EG" dirty="0">
                <a:latin typeface="Arial" panose="020B0604020202020204" pitchFamily="34" charset="0"/>
                <a:cs typeface="Arial" panose="020B0604020202020204" pitchFamily="34" charset="0"/>
              </a:rPr>
              <a:t> يضيف باقه اضافيه </a:t>
            </a:r>
          </a:p>
          <a:p>
            <a:pPr marL="0" indent="0" algn="r">
              <a:buNone/>
            </a:pPr>
            <a:r>
              <a:rPr lang="ar-EG" dirty="0">
                <a:latin typeface="Arial" panose="020B0604020202020204" pitchFamily="34" charset="0"/>
                <a:cs typeface="Arial" panose="020B0604020202020204" pitchFamily="34" charset="0"/>
              </a:rPr>
              <a:t>تشغيل الخدمه بعد الايقاف الموقت </a:t>
            </a:r>
          </a:p>
          <a:p>
            <a:pPr marL="0" indent="0" algn="r">
              <a:buNone/>
            </a:pPr>
            <a:r>
              <a:rPr lang="en-US" dirty="0" err="1">
                <a:latin typeface="Arial" panose="020B0604020202020204" pitchFamily="34" charset="0"/>
                <a:cs typeface="Arial" panose="020B0604020202020204" pitchFamily="34" charset="0"/>
              </a:rPr>
              <a:t>ip</a:t>
            </a:r>
            <a:r>
              <a:rPr lang="en-US" dirty="0">
                <a:latin typeface="Arial" panose="020B0604020202020204" pitchFamily="34" charset="0"/>
                <a:cs typeface="Arial" panose="020B0604020202020204" pitchFamily="34" charset="0"/>
              </a:rPr>
              <a:t> static</a:t>
            </a:r>
          </a:p>
          <a:p>
            <a:pPr marL="0" indent="0" algn="r">
              <a:buNone/>
            </a:pPr>
            <a:r>
              <a:rPr lang="ar-EG" dirty="0">
                <a:latin typeface="Arial" panose="020B0604020202020204" pitchFamily="34" charset="0"/>
                <a:cs typeface="Arial" panose="020B0604020202020204" pitchFamily="34" charset="0"/>
              </a:rPr>
              <a:t>لازم اسال الوكيل عن 3 حاجات ( اخر فاتوره من اخر فاتورتين ادفعت امته وعن طريق اي والاسم ثلاتي المسجل علي الخط ورقم الموبيل </a:t>
            </a:r>
          </a:p>
          <a:p>
            <a:pPr marL="0" indent="0" algn="r">
              <a:buNone/>
            </a:pPr>
            <a:r>
              <a:rPr lang="ar-EG" dirty="0">
                <a:latin typeface="Arial" panose="020B0604020202020204" pitchFamily="34" charset="0"/>
                <a:cs typeface="Arial" panose="020B0604020202020204" pitchFamily="34" charset="0"/>
              </a:rPr>
              <a:t>طيب لو طلب تغير رقم الموبيل المسجل علي السيستم( اوضح له انه يغير الرقم من عن طريق الموقع)</a:t>
            </a:r>
          </a:p>
          <a:p>
            <a:pPr marL="0" indent="0" algn="r">
              <a:buNone/>
            </a:pPr>
            <a:r>
              <a:rPr lang="ar-EG"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endParaRPr lang="ar-EG"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313927069"/>
              </p:ext>
            </p:extLst>
          </p:nvPr>
        </p:nvGraphicFramePr>
        <p:xfrm>
          <a:off x="0" y="5002371"/>
          <a:ext cx="8934450" cy="1855628"/>
        </p:xfrm>
        <a:graphic>
          <a:graphicData uri="http://schemas.openxmlformats.org/drawingml/2006/table">
            <a:tbl>
              <a:tblPr>
                <a:tableStyleId>{5C22544A-7EE6-4342-B048-85BDC9FD1C3A}</a:tableStyleId>
              </a:tblPr>
              <a:tblGrid>
                <a:gridCol w="5396648">
                  <a:extLst>
                    <a:ext uri="{9D8B030D-6E8A-4147-A177-3AD203B41FA5}">
                      <a16:colId xmlns:a16="http://schemas.microsoft.com/office/drawing/2014/main" val="3837820093"/>
                    </a:ext>
                  </a:extLst>
                </a:gridCol>
                <a:gridCol w="3537802">
                  <a:extLst>
                    <a:ext uri="{9D8B030D-6E8A-4147-A177-3AD203B41FA5}">
                      <a16:colId xmlns:a16="http://schemas.microsoft.com/office/drawing/2014/main" val="2851000057"/>
                    </a:ext>
                  </a:extLst>
                </a:gridCol>
              </a:tblGrid>
              <a:tr h="466979">
                <a:tc>
                  <a:txBody>
                    <a:bodyPr/>
                    <a:lstStyle/>
                    <a:p>
                      <a:pPr algn="ctr" fontAlgn="ctr"/>
                      <a:r>
                        <a:rPr lang="en-US" sz="1400" u="none" strike="noStrike" dirty="0">
                          <a:effectLst/>
                          <a:latin typeface="Arial" panose="020B0604020202020204" pitchFamily="34" charset="0"/>
                          <a:cs typeface="Arial" panose="020B0604020202020204" pitchFamily="34" charset="0"/>
                        </a:rPr>
                        <a:t>Scenario</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panose="020B0604020202020204" pitchFamily="34" charset="0"/>
                          <a:cs typeface="Arial" panose="020B0604020202020204" pitchFamily="34" charset="0"/>
                        </a:rPr>
                        <a:t>Verification Keys</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2780387794"/>
                  </a:ext>
                </a:extLst>
              </a:tr>
              <a:tr h="282645">
                <a:tc>
                  <a:txBody>
                    <a:bodyPr/>
                    <a:lstStyle/>
                    <a:p>
                      <a:pPr algn="l" fontAlgn="ctr"/>
                      <a:r>
                        <a:rPr lang="en-US" sz="1400" u="none" strike="noStrike" dirty="0">
                          <a:effectLst/>
                          <a:latin typeface="Arial" panose="020B0604020202020204" pitchFamily="34" charset="0"/>
                          <a:cs typeface="Arial" panose="020B0604020202020204" pitchFamily="34" charset="0"/>
                        </a:rPr>
                        <a:t>In case customer is calling from the landline number</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400" u="none" strike="noStrike">
                          <a:effectLst/>
                          <a:latin typeface="Arial" panose="020B0604020202020204" pitchFamily="34" charset="0"/>
                          <a:cs typeface="Arial" panose="020B0604020202020204" pitchFamily="34" charset="0"/>
                        </a:rPr>
                        <a:t>No need for verification</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3065438377"/>
                  </a:ext>
                </a:extLst>
              </a:tr>
              <a:tr h="553002">
                <a:tc>
                  <a:txBody>
                    <a:bodyPr/>
                    <a:lstStyle/>
                    <a:p>
                      <a:pPr algn="l" fontAlgn="ctr"/>
                      <a:r>
                        <a:rPr lang="en-US" sz="1400" u="none" strike="noStrike">
                          <a:effectLst/>
                          <a:latin typeface="Arial" panose="020B0604020202020204" pitchFamily="34" charset="0"/>
                          <a:cs typeface="Arial" panose="020B0604020202020204" pitchFamily="34" charset="0"/>
                        </a:rPr>
                        <a:t>In case customer is calling from the registered mobile number on Siebel</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Agent should ask the customer to provide the DSL subscriber name</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964341443"/>
                  </a:ext>
                </a:extLst>
              </a:tr>
              <a:tr h="553002">
                <a:tc>
                  <a:txBody>
                    <a:bodyPr/>
                    <a:lstStyle/>
                    <a:p>
                      <a:pPr algn="l" fontAlgn="ctr"/>
                      <a:r>
                        <a:rPr lang="en-US" sz="1400" u="none" strike="noStrike" dirty="0">
                          <a:effectLst/>
                          <a:latin typeface="Arial" panose="020B0604020202020204" pitchFamily="34" charset="0"/>
                          <a:cs typeface="Arial" panose="020B0604020202020204" pitchFamily="34" charset="0"/>
                        </a:rPr>
                        <a:t>In case the registered mobile number isn't updated</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Advise him/her to update the mobile number through Porta</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369658875"/>
                  </a:ext>
                </a:extLst>
              </a:tr>
            </a:tbl>
          </a:graphicData>
        </a:graphic>
      </p:graphicFrame>
    </p:spTree>
    <p:extLst>
      <p:ext uri="{BB962C8B-B14F-4D97-AF65-F5344CB8AC3E}">
        <p14:creationId xmlns:p14="http://schemas.microsoft.com/office/powerpoint/2010/main" val="28864991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1930400"/>
          </a:xfrm>
        </p:spPr>
        <p:txBody>
          <a:bodyPr/>
          <a:lstStyle/>
          <a:p>
            <a:r>
              <a:rPr lang="en-US" b="1" dirty="0"/>
              <a:t>Siebel SRs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42699936"/>
              </p:ext>
            </p:extLst>
          </p:nvPr>
        </p:nvGraphicFramePr>
        <p:xfrm>
          <a:off x="15241" y="1213360"/>
          <a:ext cx="12176759" cy="5644642"/>
        </p:xfrm>
        <a:graphic>
          <a:graphicData uri="http://schemas.openxmlformats.org/drawingml/2006/table">
            <a:tbl>
              <a:tblPr>
                <a:tableStyleId>{5C22544A-7EE6-4342-B048-85BDC9FD1C3A}</a:tableStyleId>
              </a:tblPr>
              <a:tblGrid>
                <a:gridCol w="1037643">
                  <a:extLst>
                    <a:ext uri="{9D8B030D-6E8A-4147-A177-3AD203B41FA5}">
                      <a16:colId xmlns:a16="http://schemas.microsoft.com/office/drawing/2014/main" val="4264057217"/>
                    </a:ext>
                  </a:extLst>
                </a:gridCol>
                <a:gridCol w="1526326">
                  <a:extLst>
                    <a:ext uri="{9D8B030D-6E8A-4147-A177-3AD203B41FA5}">
                      <a16:colId xmlns:a16="http://schemas.microsoft.com/office/drawing/2014/main" val="2461771380"/>
                    </a:ext>
                  </a:extLst>
                </a:gridCol>
                <a:gridCol w="1976153">
                  <a:extLst>
                    <a:ext uri="{9D8B030D-6E8A-4147-A177-3AD203B41FA5}">
                      <a16:colId xmlns:a16="http://schemas.microsoft.com/office/drawing/2014/main" val="371260780"/>
                    </a:ext>
                  </a:extLst>
                </a:gridCol>
                <a:gridCol w="1288719">
                  <a:extLst>
                    <a:ext uri="{9D8B030D-6E8A-4147-A177-3AD203B41FA5}">
                      <a16:colId xmlns:a16="http://schemas.microsoft.com/office/drawing/2014/main" val="637711375"/>
                    </a:ext>
                  </a:extLst>
                </a:gridCol>
                <a:gridCol w="1568510">
                  <a:extLst>
                    <a:ext uri="{9D8B030D-6E8A-4147-A177-3AD203B41FA5}">
                      <a16:colId xmlns:a16="http://schemas.microsoft.com/office/drawing/2014/main" val="3740509726"/>
                    </a:ext>
                  </a:extLst>
                </a:gridCol>
                <a:gridCol w="781518">
                  <a:extLst>
                    <a:ext uri="{9D8B030D-6E8A-4147-A177-3AD203B41FA5}">
                      <a16:colId xmlns:a16="http://schemas.microsoft.com/office/drawing/2014/main" val="172949841"/>
                    </a:ext>
                  </a:extLst>
                </a:gridCol>
                <a:gridCol w="3997890">
                  <a:extLst>
                    <a:ext uri="{9D8B030D-6E8A-4147-A177-3AD203B41FA5}">
                      <a16:colId xmlns:a16="http://schemas.microsoft.com/office/drawing/2014/main" val="2096089250"/>
                    </a:ext>
                  </a:extLst>
                </a:gridCol>
              </a:tblGrid>
              <a:tr h="422164">
                <a:tc>
                  <a:txBody>
                    <a:bodyPr/>
                    <a:lstStyle/>
                    <a:p>
                      <a:pPr algn="ctr" fontAlgn="ctr"/>
                      <a:r>
                        <a:rPr lang="en-US" sz="1600" u="none" strike="noStrike" dirty="0">
                          <a:effectLst/>
                          <a:latin typeface="Arial" panose="020B0604020202020204" pitchFamily="34" charset="0"/>
                          <a:cs typeface="Arial" panose="020B0604020202020204" pitchFamily="34" charset="0"/>
                        </a:rPr>
                        <a:t>​Short​ Code</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4540" marR="4540" marT="4540"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Type</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4540" marR="4540" marT="4540"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Area</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4540" marR="4540" marT="4540"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Product</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4540" marR="4540" marT="4540"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Owner Group</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4540" marR="4540" marT="4540"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SLA</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4540" marR="4540" marT="454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Description</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4540" marR="4540" marT="4540" marB="0" anchor="ctr">
                    <a:solidFill>
                      <a:schemeClr val="accent1"/>
                    </a:solidFill>
                  </a:tcPr>
                </a:tc>
                <a:extLst>
                  <a:ext uri="{0D108BD9-81ED-4DB2-BD59-A6C34878D82A}">
                    <a16:rowId xmlns:a16="http://schemas.microsoft.com/office/drawing/2014/main" val="1385352392"/>
                  </a:ext>
                </a:extLst>
              </a:tr>
              <a:tr h="537236">
                <a:tc>
                  <a:txBody>
                    <a:bodyPr/>
                    <a:lstStyle/>
                    <a:p>
                      <a:pPr algn="ctr" fontAlgn="ctr"/>
                      <a:r>
                        <a:rPr lang="en-US" sz="1600" u="none" strike="noStrike">
                          <a:effectLst/>
                          <a:latin typeface="Arial" panose="020B0604020202020204" pitchFamily="34" charset="0"/>
                          <a:cs typeface="Arial" panose="020B0604020202020204" pitchFamily="34" charset="0"/>
                        </a:rPr>
                        <a:t>423007</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G Info for VAS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Extra Quota</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ADSL</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For general inquiries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extLst>
                  <a:ext uri="{0D108BD9-81ED-4DB2-BD59-A6C34878D82A}">
                    <a16:rowId xmlns:a16="http://schemas.microsoft.com/office/drawing/2014/main" val="1069358195"/>
                  </a:ext>
                </a:extLst>
              </a:tr>
              <a:tr h="803377">
                <a:tc>
                  <a:txBody>
                    <a:bodyPr/>
                    <a:lstStyle/>
                    <a:p>
                      <a:pPr algn="ctr" fontAlgn="ctr"/>
                      <a:r>
                        <a:rPr lang="en-US" sz="1600" u="none" strike="noStrike">
                          <a:effectLst/>
                          <a:latin typeface="Arial" panose="020B0604020202020204" pitchFamily="34" charset="0"/>
                          <a:cs typeface="Arial" panose="020B0604020202020204" pitchFamily="34" charset="0"/>
                        </a:rPr>
                        <a:t>5036</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Service-Acc Administration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Add Extra Quota</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ADSL</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SR is auto-created upon adding extra quota</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extLst>
                  <a:ext uri="{0D108BD9-81ED-4DB2-BD59-A6C34878D82A}">
                    <a16:rowId xmlns:a16="http://schemas.microsoft.com/office/drawing/2014/main" val="3384927115"/>
                  </a:ext>
                </a:extLst>
              </a:tr>
              <a:tr h="840435">
                <a:tc>
                  <a:txBody>
                    <a:bodyPr/>
                    <a:lstStyle/>
                    <a:p>
                      <a:pPr algn="ctr" fontAlgn="ctr"/>
                      <a:r>
                        <a:rPr lang="en-US" sz="1600" u="none" strike="noStrike">
                          <a:effectLst/>
                          <a:latin typeface="Arial" panose="020B0604020202020204" pitchFamily="34" charset="0"/>
                          <a:cs typeface="Arial" panose="020B0604020202020204" pitchFamily="34" charset="0"/>
                        </a:rPr>
                        <a:t>33364</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Fault Fulfill Line Changes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Can't Add Extra Quota</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ADSL</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CH VAS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48 Whrs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In case agent faces error while adding extension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extLst>
                  <a:ext uri="{0D108BD9-81ED-4DB2-BD59-A6C34878D82A}">
                    <a16:rowId xmlns:a16="http://schemas.microsoft.com/office/drawing/2014/main" val="386504043"/>
                  </a:ext>
                </a:extLst>
              </a:tr>
              <a:tr h="803377">
                <a:tc>
                  <a:txBody>
                    <a:bodyPr/>
                    <a:lstStyle/>
                    <a:p>
                      <a:pPr algn="ctr" fontAlgn="ctr"/>
                      <a:r>
                        <a:rPr lang="en-US" sz="1600" u="none" strike="noStrike">
                          <a:effectLst/>
                          <a:latin typeface="Arial" panose="020B0604020202020204" pitchFamily="34" charset="0"/>
                          <a:cs typeface="Arial" panose="020B0604020202020204" pitchFamily="34" charset="0"/>
                        </a:rPr>
                        <a:t>38003</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Fault For Digital Channels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Can't Submit Request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ADSL</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CH VAS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48 Whrs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In case customer has error message or can’t submit request through digital channels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540" marR="4540" marT="4540" marB="0" anchor="ctr"/>
                </a:tc>
                <a:extLst>
                  <a:ext uri="{0D108BD9-81ED-4DB2-BD59-A6C34878D82A}">
                    <a16:rowId xmlns:a16="http://schemas.microsoft.com/office/drawing/2014/main" val="2764317420"/>
                  </a:ext>
                </a:extLst>
              </a:tr>
              <a:tr h="631299">
                <a:tc>
                  <a:txBody>
                    <a:bodyPr/>
                    <a:lstStyle/>
                    <a:p>
                      <a:pPr algn="ctr" fontAlgn="ctr"/>
                      <a:r>
                        <a:rPr lang="en-US" sz="1600" u="none" strike="noStrike">
                          <a:effectLst/>
                          <a:latin typeface="Arial" panose="020B0604020202020204" pitchFamily="34" charset="0"/>
                          <a:cs typeface="Arial" panose="020B0604020202020204" pitchFamily="34" charset="0"/>
                        </a:rPr>
                        <a:t>38002</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Fault For Digital Channels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Can't View Quota</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ADSL</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CH VAS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48 Whrs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In case customer can't check the remaining quota through digital channels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540" marR="4540" marT="4540" marB="0" anchor="ctr"/>
                </a:tc>
                <a:extLst>
                  <a:ext uri="{0D108BD9-81ED-4DB2-BD59-A6C34878D82A}">
                    <a16:rowId xmlns:a16="http://schemas.microsoft.com/office/drawing/2014/main" val="256770827"/>
                  </a:ext>
                </a:extLst>
              </a:tr>
              <a:tr h="803377">
                <a:tc>
                  <a:txBody>
                    <a:bodyPr/>
                    <a:lstStyle/>
                    <a:p>
                      <a:pPr algn="ctr" fontAlgn="ctr"/>
                      <a:r>
                        <a:rPr lang="en-US" sz="1600" u="none" strike="noStrike">
                          <a:effectLst/>
                          <a:latin typeface="Arial" panose="020B0604020202020204" pitchFamily="34" charset="0"/>
                          <a:cs typeface="Arial" panose="020B0604020202020204" pitchFamily="34" charset="0"/>
                        </a:rPr>
                        <a:t>37003</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Fault For Digital Channels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Pending Request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ADSL</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CH VAS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48 Whrs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In case customer made any request through digital channels and agent found request status is pending</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extLst>
                  <a:ext uri="{0D108BD9-81ED-4DB2-BD59-A6C34878D82A}">
                    <a16:rowId xmlns:a16="http://schemas.microsoft.com/office/drawing/2014/main" val="3608776126"/>
                  </a:ext>
                </a:extLst>
              </a:tr>
              <a:tr h="803377">
                <a:tc>
                  <a:txBody>
                    <a:bodyPr/>
                    <a:lstStyle/>
                    <a:p>
                      <a:pPr algn="ctr" fontAlgn="ctr"/>
                      <a:r>
                        <a:rPr lang="en-US" sz="1600" u="none" strike="noStrike">
                          <a:effectLst/>
                          <a:latin typeface="Arial" panose="020B0604020202020204" pitchFamily="34" charset="0"/>
                          <a:cs typeface="Arial" panose="020B0604020202020204" pitchFamily="34" charset="0"/>
                        </a:rPr>
                        <a:t> 18008</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da-DK" sz="1600" u="none" strike="noStrike">
                          <a:effectLst/>
                          <a:latin typeface="Arial" panose="020B0604020202020204" pitchFamily="34" charset="0"/>
                          <a:cs typeface="Arial" panose="020B0604020202020204" pitchFamily="34" charset="0"/>
                        </a:rPr>
                        <a:t>DSL Acc Mod For VAS​ </a:t>
                      </a:r>
                      <a:endParaRPr lang="da-DK"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Add Extra Quota</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Needed Extension​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540" marR="4540" marT="4540" marB="0" anchor="ctr"/>
                </a:tc>
                <a:tc gridSpan="2">
                  <a:txBody>
                    <a:bodyPr/>
                    <a:lstStyle/>
                    <a:p>
                      <a:pPr algn="ctr" fontAlgn="ctr"/>
                      <a:r>
                        <a:rPr lang="en-US" sz="1600" u="none" strike="noStrike" dirty="0">
                          <a:effectLst/>
                          <a:latin typeface="Arial" panose="020B0604020202020204" pitchFamily="34" charset="0"/>
                          <a:cs typeface="Arial" panose="020B0604020202020204" pitchFamily="34" charset="0"/>
                        </a:rPr>
                        <a:t>Sub Area</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4540" marR="4540" marT="4540" marB="0" anchor="ctr">
                    <a:solidFill>
                      <a:schemeClr val="accent1"/>
                    </a:solidFill>
                  </a:tcPr>
                </a:tc>
                <a:tc hMerge="1">
                  <a:txBody>
                    <a:bodyPr/>
                    <a:lstStyle/>
                    <a:p>
                      <a:endParaRPr lang="en-US"/>
                    </a:p>
                  </a:txBody>
                  <a:tcPr/>
                </a:tc>
                <a:tc>
                  <a:txBody>
                    <a:bodyPr/>
                    <a:lstStyle/>
                    <a:p>
                      <a:pPr algn="ctr" fontAlgn="ctr"/>
                      <a:r>
                        <a:rPr lang="en-US" sz="1600" u="none" strike="noStrike" dirty="0">
                          <a:effectLst/>
                          <a:latin typeface="Arial" panose="020B0604020202020204" pitchFamily="34" charset="0"/>
                          <a:cs typeface="Arial" panose="020B0604020202020204" pitchFamily="34" charset="0"/>
                        </a:rPr>
                        <a:t>SR should be created &amp; closed by Call Center agents only upon adding the needed extra quota</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540" marR="4540" marT="4540" marB="0" anchor="ctr"/>
                </a:tc>
                <a:extLst>
                  <a:ext uri="{0D108BD9-81ED-4DB2-BD59-A6C34878D82A}">
                    <a16:rowId xmlns:a16="http://schemas.microsoft.com/office/drawing/2014/main" val="2009618479"/>
                  </a:ext>
                </a:extLst>
              </a:tr>
            </a:tbl>
          </a:graphicData>
        </a:graphic>
      </p:graphicFrame>
    </p:spTree>
    <p:extLst>
      <p:ext uri="{BB962C8B-B14F-4D97-AF65-F5344CB8AC3E}">
        <p14:creationId xmlns:p14="http://schemas.microsoft.com/office/powerpoint/2010/main" val="4108819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894080"/>
          </a:xfrm>
        </p:spPr>
        <p:txBody>
          <a:bodyPr/>
          <a:lstStyle/>
          <a:p>
            <a:r>
              <a:rPr lang="en-US" dirty="0">
                <a:solidFill>
                  <a:schemeClr val="tx1"/>
                </a:solidFill>
                <a:latin typeface="Arial Black" panose="020B0A04020102020204" pitchFamily="34" charset="0"/>
                <a:cs typeface="Arial" panose="020B0604020202020204" pitchFamily="34" charset="0"/>
              </a:rPr>
              <a:t>Package Upgrade​</a:t>
            </a:r>
            <a:endParaRPr lang="en-US" dirty="0"/>
          </a:p>
        </p:txBody>
      </p:sp>
      <p:sp>
        <p:nvSpPr>
          <p:cNvPr id="3" name="Content Placeholder 2"/>
          <p:cNvSpPr>
            <a:spLocks noGrp="1"/>
          </p:cNvSpPr>
          <p:nvPr>
            <p:ph idx="1"/>
          </p:nvPr>
        </p:nvSpPr>
        <p:spPr>
          <a:xfrm>
            <a:off x="689610" y="731521"/>
            <a:ext cx="8451042" cy="6126479"/>
          </a:xfrm>
        </p:spPr>
        <p:txBody>
          <a:bodyPr>
            <a:normAutofit fontScale="77500" lnSpcReduction="20000"/>
          </a:bodyPr>
          <a:lstStyle/>
          <a:p>
            <a:r>
              <a:rPr lang="en-US" sz="2300" b="1" dirty="0">
                <a:solidFill>
                  <a:schemeClr val="accent1"/>
                </a:solidFill>
                <a:latin typeface="Arial Black" panose="020B0A04020102020204" pitchFamily="34" charset="0"/>
                <a:cs typeface="Arial" panose="020B0604020202020204" pitchFamily="34" charset="0"/>
              </a:rPr>
              <a:t>Packages' Details</a:t>
            </a:r>
            <a:r>
              <a:rPr lang="en-US" sz="2300" b="1" dirty="0">
                <a:solidFill>
                  <a:schemeClr val="accent1"/>
                </a:solidFill>
                <a:latin typeface="Arial Black" panose="020B0A04020102020204" pitchFamily="34" charset="0"/>
              </a:rPr>
              <a:t>:</a:t>
            </a:r>
            <a:endParaRPr lang="ar-EG" sz="2300" b="1" dirty="0">
              <a:solidFill>
                <a:schemeClr val="accent1"/>
              </a:solidFill>
              <a:latin typeface="Arial Black" panose="020B0A04020102020204" pitchFamily="34" charset="0"/>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pPr marL="0" indent="0">
              <a:buNone/>
            </a:pPr>
            <a:endParaRPr lang="ar-EG" b="1" dirty="0">
              <a:solidFill>
                <a:schemeClr val="accent1"/>
              </a:solidFill>
            </a:endParaRPr>
          </a:p>
          <a:p>
            <a:pPr marL="0" indent="0">
              <a:buNone/>
            </a:pPr>
            <a:endParaRPr lang="ar-EG" b="1" dirty="0">
              <a:solidFill>
                <a:schemeClr val="accent1"/>
              </a:solidFill>
            </a:endParaRPr>
          </a:p>
          <a:p>
            <a:r>
              <a:rPr lang="en-US" sz="2300" dirty="0">
                <a:solidFill>
                  <a:schemeClr val="accent1"/>
                </a:solidFill>
                <a:latin typeface="Arial Black" panose="020B0A04020102020204" pitchFamily="34" charset="0"/>
                <a:cs typeface="Arial" panose="020B0604020202020204" pitchFamily="34" charset="0"/>
              </a:rPr>
              <a:t>Upgrade Channel</a:t>
            </a:r>
          </a:p>
          <a:p>
            <a:pPr marL="457200" indent="-457200">
              <a:buFont typeface="+mj-lt"/>
              <a:buAutoNum type="arabicPeriod"/>
            </a:pPr>
            <a:r>
              <a:rPr lang="en-US" sz="1900" dirty="0">
                <a:solidFill>
                  <a:schemeClr val="tx1"/>
                </a:solidFill>
                <a:latin typeface="Arial" panose="020B0604020202020204" pitchFamily="34" charset="0"/>
                <a:cs typeface="Arial" panose="020B0604020202020204" pitchFamily="34" charset="0"/>
              </a:rPr>
              <a:t>Orange Portal (Using DSL Wi-Fi connection)</a:t>
            </a:r>
          </a:p>
          <a:p>
            <a:pPr marL="457200" indent="-457200">
              <a:buFont typeface="+mj-lt"/>
              <a:buAutoNum type="arabicPeriod"/>
            </a:pPr>
            <a:r>
              <a:rPr lang="en-US" sz="2100" dirty="0">
                <a:solidFill>
                  <a:schemeClr val="tx1"/>
                </a:solidFill>
                <a:latin typeface="Arial" panose="020B0604020202020204" pitchFamily="34" charset="0"/>
                <a:cs typeface="Arial" panose="020B0604020202020204" pitchFamily="34" charset="0"/>
              </a:rPr>
              <a:t>My Orange Application (From registered mobile #)</a:t>
            </a:r>
          </a:p>
          <a:p>
            <a:pPr marL="457200" indent="-457200">
              <a:buFont typeface="+mj-lt"/>
              <a:buAutoNum type="arabicPeriod"/>
            </a:pPr>
            <a:r>
              <a:rPr lang="en-US" sz="2100" dirty="0">
                <a:solidFill>
                  <a:schemeClr val="tx1"/>
                </a:solidFill>
                <a:latin typeface="Arial" panose="020B0604020202020204" pitchFamily="34" charset="0"/>
                <a:cs typeface="Arial" panose="020B0604020202020204" pitchFamily="34" charset="0"/>
              </a:rPr>
              <a:t>16333 Call Center/Click To Chat/Digital Customer Care</a:t>
            </a:r>
          </a:p>
          <a:p>
            <a:pPr marL="457200" indent="-457200">
              <a:buFont typeface="+mj-lt"/>
              <a:buAutoNum type="arabicPeriod"/>
            </a:pPr>
            <a:r>
              <a:rPr lang="en-US" sz="2100" dirty="0">
                <a:solidFill>
                  <a:schemeClr val="tx1"/>
                </a:solidFill>
                <a:latin typeface="Arial" panose="020B0604020202020204" pitchFamily="34" charset="0"/>
                <a:cs typeface="Arial" panose="020B0604020202020204" pitchFamily="34" charset="0"/>
              </a:rPr>
              <a:t>Shops &amp; Franchises​</a:t>
            </a:r>
          </a:p>
          <a:p>
            <a:pPr marL="457200" indent="-457200">
              <a:buFont typeface="+mj-lt"/>
              <a:buAutoNum type="arabicPeriod"/>
            </a:pPr>
            <a:r>
              <a:rPr lang="en-US" sz="2100" dirty="0">
                <a:solidFill>
                  <a:schemeClr val="tx1"/>
                </a:solidFill>
                <a:latin typeface="Arial" panose="020B0604020202020204" pitchFamily="34" charset="0"/>
                <a:cs typeface="Arial" panose="020B0604020202020204" pitchFamily="34" charset="0"/>
              </a:rPr>
              <a:t>Resellers</a:t>
            </a:r>
          </a:p>
          <a:p>
            <a:endParaRPr lang="en-US" dirty="0">
              <a:solidFill>
                <a:schemeClr val="accent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60115766"/>
              </p:ext>
            </p:extLst>
          </p:nvPr>
        </p:nvGraphicFramePr>
        <p:xfrm>
          <a:off x="0" y="1345565"/>
          <a:ext cx="7985759" cy="3414644"/>
        </p:xfrm>
        <a:graphic>
          <a:graphicData uri="http://schemas.openxmlformats.org/drawingml/2006/table">
            <a:tbl>
              <a:tblPr>
                <a:tableStyleId>{5C22544A-7EE6-4342-B048-85BDC9FD1C3A}</a:tableStyleId>
              </a:tblPr>
              <a:tblGrid>
                <a:gridCol w="1456987">
                  <a:extLst>
                    <a:ext uri="{9D8B030D-6E8A-4147-A177-3AD203B41FA5}">
                      <a16:colId xmlns:a16="http://schemas.microsoft.com/office/drawing/2014/main" val="824385651"/>
                    </a:ext>
                  </a:extLst>
                </a:gridCol>
                <a:gridCol w="1456987">
                  <a:extLst>
                    <a:ext uri="{9D8B030D-6E8A-4147-A177-3AD203B41FA5}">
                      <a16:colId xmlns:a16="http://schemas.microsoft.com/office/drawing/2014/main" val="2633988108"/>
                    </a:ext>
                  </a:extLst>
                </a:gridCol>
                <a:gridCol w="1715185">
                  <a:extLst>
                    <a:ext uri="{9D8B030D-6E8A-4147-A177-3AD203B41FA5}">
                      <a16:colId xmlns:a16="http://schemas.microsoft.com/office/drawing/2014/main" val="1687922751"/>
                    </a:ext>
                  </a:extLst>
                </a:gridCol>
                <a:gridCol w="1715185">
                  <a:extLst>
                    <a:ext uri="{9D8B030D-6E8A-4147-A177-3AD203B41FA5}">
                      <a16:colId xmlns:a16="http://schemas.microsoft.com/office/drawing/2014/main" val="934505439"/>
                    </a:ext>
                  </a:extLst>
                </a:gridCol>
                <a:gridCol w="1641415">
                  <a:extLst>
                    <a:ext uri="{9D8B030D-6E8A-4147-A177-3AD203B41FA5}">
                      <a16:colId xmlns:a16="http://schemas.microsoft.com/office/drawing/2014/main" val="1505201115"/>
                    </a:ext>
                  </a:extLst>
                </a:gridCol>
              </a:tblGrid>
              <a:tr h="309904">
                <a:tc>
                  <a:txBody>
                    <a:bodyPr/>
                    <a:lstStyle/>
                    <a:p>
                      <a:pPr algn="ctr" fontAlgn="ctr"/>
                      <a:r>
                        <a:rPr lang="en-US" sz="1200" u="none" strike="noStrike" dirty="0">
                          <a:effectLst/>
                          <a:latin typeface="Arial" panose="020B0604020202020204" pitchFamily="34" charset="0"/>
                          <a:cs typeface="Arial" panose="020B0604020202020204" pitchFamily="34" charset="0"/>
                        </a:rPr>
                        <a:t>Speed</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chemeClr val="accent1"/>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Package Name</a:t>
                      </a:r>
                      <a:endParaRPr lang="en-US" sz="1200" b="1" i="0" u="none" strike="noStrike">
                        <a:solidFill>
                          <a:srgbClr val="FFFFFF"/>
                        </a:solidFill>
                        <a:effectLst/>
                        <a:latin typeface="Arial" panose="020B0604020202020204" pitchFamily="34" charset="0"/>
                        <a:cs typeface="Arial" panose="020B0604020202020204" pitchFamily="34" charset="0"/>
                      </a:endParaRPr>
                    </a:p>
                  </a:txBody>
                  <a:tcPr marL="5354" marR="5354" marT="5354" marB="0" anchor="ctr">
                    <a:solidFill>
                      <a:schemeClr val="accent1"/>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Quota (GBs)</a:t>
                      </a:r>
                      <a:endParaRPr lang="en-US" sz="1200" b="1" i="0" u="none" strike="noStrike">
                        <a:solidFill>
                          <a:srgbClr val="FFFFFF"/>
                        </a:solidFill>
                        <a:effectLst/>
                        <a:latin typeface="Arial" panose="020B0604020202020204" pitchFamily="34" charset="0"/>
                        <a:cs typeface="Arial" panose="020B0604020202020204" pitchFamily="34" charset="0"/>
                      </a:endParaRPr>
                    </a:p>
                  </a:txBody>
                  <a:tcPr marL="5354" marR="5354" marT="5354" marB="0" anchor="ctr">
                    <a:solidFill>
                      <a:schemeClr val="accent1"/>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Price VAT Exclusive (EGP)</a:t>
                      </a:r>
                      <a:endParaRPr lang="en-US" sz="1200" b="1" i="0" u="none" strike="noStrike">
                        <a:solidFill>
                          <a:srgbClr val="FFFFFF"/>
                        </a:solidFill>
                        <a:effectLst/>
                        <a:latin typeface="Arial" panose="020B0604020202020204" pitchFamily="34" charset="0"/>
                        <a:cs typeface="Arial" panose="020B0604020202020204" pitchFamily="34" charset="0"/>
                      </a:endParaRPr>
                    </a:p>
                  </a:txBody>
                  <a:tcPr marL="5354" marR="5354" marT="5354" marB="0" anchor="ctr">
                    <a:solidFill>
                      <a:schemeClr val="accent1"/>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Price VAT Inclusive (EGP)</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chemeClr val="accent1"/>
                    </a:solidFill>
                  </a:tcPr>
                </a:tc>
                <a:extLst>
                  <a:ext uri="{0D108BD9-81ED-4DB2-BD59-A6C34878D82A}">
                    <a16:rowId xmlns:a16="http://schemas.microsoft.com/office/drawing/2014/main" val="584128367"/>
                  </a:ext>
                </a:extLst>
              </a:tr>
              <a:tr h="217395">
                <a:tc rowSpan="7">
                  <a:txBody>
                    <a:bodyPr/>
                    <a:lstStyle/>
                    <a:p>
                      <a:pPr algn="ctr" fontAlgn="ctr"/>
                      <a:r>
                        <a:rPr lang="en-US" sz="1200" u="none" strike="noStrike" dirty="0">
                          <a:effectLst/>
                          <a:latin typeface="Arial" panose="020B0604020202020204" pitchFamily="34" charset="0"/>
                          <a:cs typeface="Arial" panose="020B0604020202020204" pitchFamily="34" charset="0"/>
                        </a:rPr>
                        <a:t>30 Mbps</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210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140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210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239.4</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1205885094"/>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260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180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260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296.4</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3497613411"/>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290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200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290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330.6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2846395330"/>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360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250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360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410.4</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2842956140"/>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420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300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420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478.8</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35256939"/>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680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500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680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775.2</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2947260166"/>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1040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750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1,040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1,185.60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2160197859"/>
                  </a:ext>
                </a:extLst>
              </a:tr>
              <a:tr h="217395">
                <a:tc rowSpan="3">
                  <a:txBody>
                    <a:bodyPr/>
                    <a:lstStyle/>
                    <a:p>
                      <a:pPr algn="ctr" fontAlgn="ctr"/>
                      <a:r>
                        <a:rPr lang="en-US" sz="1200" u="none" strike="noStrike" dirty="0">
                          <a:effectLst/>
                          <a:latin typeface="Arial" panose="020B0604020202020204" pitchFamily="34" charset="0"/>
                          <a:cs typeface="Arial" panose="020B0604020202020204" pitchFamily="34" charset="0"/>
                        </a:rPr>
                        <a:t>70 Mbps</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Home DSL 520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250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520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592.8</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extLst>
                  <a:ext uri="{0D108BD9-81ED-4DB2-BD59-A6C34878D82A}">
                    <a16:rowId xmlns:a16="http://schemas.microsoft.com/office/drawing/2014/main" val="405561713"/>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1040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600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1,040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1,185.60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extLst>
                  <a:ext uri="{0D108BD9-81ED-4DB2-BD59-A6C34878D82A}">
                    <a16:rowId xmlns:a16="http://schemas.microsoft.com/office/drawing/2014/main" val="2527947454"/>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1560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1000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1,560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1,778.40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extLst>
                  <a:ext uri="{0D108BD9-81ED-4DB2-BD59-A6C34878D82A}">
                    <a16:rowId xmlns:a16="http://schemas.microsoft.com/office/drawing/2014/main" val="3717991804"/>
                  </a:ext>
                </a:extLst>
              </a:tr>
              <a:tr h="217395">
                <a:tc rowSpan="3">
                  <a:txBody>
                    <a:bodyPr/>
                    <a:lstStyle/>
                    <a:p>
                      <a:pPr algn="ctr" fontAlgn="ctr"/>
                      <a:r>
                        <a:rPr lang="en-US" sz="1200" u="none" strike="noStrike" dirty="0">
                          <a:effectLst/>
                          <a:latin typeface="Arial" panose="020B0604020202020204" pitchFamily="34" charset="0"/>
                          <a:cs typeface="Arial" panose="020B0604020202020204" pitchFamily="34" charset="0"/>
                        </a:rPr>
                        <a:t>​100 Mbps</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700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300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700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798</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4193138504"/>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880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400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880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1,003.20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865519896"/>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1230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600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1,230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1,402.20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2245269422"/>
                  </a:ext>
                </a:extLst>
              </a:tr>
              <a:tr h="217395">
                <a:tc>
                  <a:txBody>
                    <a:bodyPr/>
                    <a:lstStyle/>
                    <a:p>
                      <a:pPr algn="ctr" fontAlgn="ctr"/>
                      <a:r>
                        <a:rPr lang="en-US" sz="1200" u="none" strike="noStrike" dirty="0">
                          <a:effectLst/>
                          <a:latin typeface="Arial" panose="020B0604020202020204" pitchFamily="34" charset="0"/>
                          <a:cs typeface="Arial" panose="020B0604020202020204" pitchFamily="34" charset="0"/>
                        </a:rPr>
                        <a:t>200 Mbps</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​1760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1000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1,760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2,006.40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extLst>
                  <a:ext uri="{0D108BD9-81ED-4DB2-BD59-A6C34878D82A}">
                    <a16:rowId xmlns:a16="http://schemas.microsoft.com/office/drawing/2014/main" val="2562858444"/>
                  </a:ext>
                </a:extLst>
              </a:tr>
            </a:tbl>
          </a:graphicData>
        </a:graphic>
      </p:graphicFrame>
    </p:spTree>
    <p:extLst>
      <p:ext uri="{BB962C8B-B14F-4D97-AF65-F5344CB8AC3E}">
        <p14:creationId xmlns:p14="http://schemas.microsoft.com/office/powerpoint/2010/main" val="37945121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Guidelines</a:t>
            </a:r>
            <a:endParaRPr lang="en-US" dirty="0"/>
          </a:p>
        </p:txBody>
      </p:sp>
      <p:sp>
        <p:nvSpPr>
          <p:cNvPr id="3" name="Content Placeholder 2"/>
          <p:cNvSpPr>
            <a:spLocks noGrp="1"/>
          </p:cNvSpPr>
          <p:nvPr>
            <p:ph idx="1"/>
          </p:nvPr>
        </p:nvSpPr>
        <p:spPr>
          <a:xfrm>
            <a:off x="677334" y="1390650"/>
            <a:ext cx="8596668" cy="5467349"/>
          </a:xfrm>
        </p:spPr>
        <p:txBody>
          <a:bodyPr/>
          <a:lstStyle/>
          <a:p>
            <a:pPr marL="0" indent="0" algn="r">
              <a:lnSpc>
                <a:spcPct val="150000"/>
              </a:lnSpc>
              <a:buNone/>
            </a:pPr>
            <a:r>
              <a:rPr lang="ar-EG" dirty="0">
                <a:latin typeface="Arial" panose="020B0604020202020204" pitchFamily="34" charset="0"/>
                <a:cs typeface="Arial" panose="020B0604020202020204" pitchFamily="34" charset="0"/>
              </a:rPr>
              <a:t>العميل يقدر يعلي </a:t>
            </a:r>
            <a:r>
              <a:rPr lang="ar-EG" dirty="0">
                <a:solidFill>
                  <a:schemeClr val="accent1"/>
                </a:solidFill>
                <a:latin typeface="Arial" panose="020B0604020202020204" pitchFamily="34" charset="0"/>
                <a:cs typeface="Arial" panose="020B0604020202020204" pitchFamily="34" charset="0"/>
              </a:rPr>
              <a:t>الباقه مرتين خلال الشهر ويتحاسب عليهم ف اول فاتوره قادمه</a:t>
            </a:r>
          </a:p>
          <a:p>
            <a:pPr marL="0" indent="0" algn="r">
              <a:lnSpc>
                <a:spcPct val="150000"/>
              </a:lnSpc>
              <a:buNone/>
            </a:pPr>
            <a:r>
              <a:rPr lang="ar-EG" dirty="0">
                <a:latin typeface="Arial" panose="020B0604020202020204" pitchFamily="34" charset="0"/>
                <a:cs typeface="Arial" panose="020B0604020202020204" pitchFamily="34" charset="0"/>
              </a:rPr>
              <a:t>خد بالك اولا لازم انبه العميل ان في </a:t>
            </a:r>
            <a:r>
              <a:rPr lang="ar-EG" dirty="0">
                <a:solidFill>
                  <a:schemeClr val="accent1"/>
                </a:solidFill>
                <a:latin typeface="Arial" panose="020B0604020202020204" pitchFamily="34" charset="0"/>
                <a:cs typeface="Arial" panose="020B0604020202020204" pitchFamily="34" charset="0"/>
              </a:rPr>
              <a:t>فرق ايام بفرق جيجات هيتحاسب عليهم محاسبه جزئيه هينزل للعميل علي اول فاتوره فقط( فيما معناها هي فرق الجيجات بين الباقه الصغيره الي كان عليها للباقه الاكبر الي طلع ليها )</a:t>
            </a:r>
          </a:p>
          <a:p>
            <a:pPr marL="0" indent="0" algn="r">
              <a:lnSpc>
                <a:spcPct val="150000"/>
              </a:lnSpc>
              <a:buNone/>
            </a:pPr>
            <a:r>
              <a:rPr lang="ar-EG" dirty="0">
                <a:latin typeface="Arial" panose="020B0604020202020204" pitchFamily="34" charset="0"/>
                <a:cs typeface="Arial" panose="020B0604020202020204" pitchFamily="34" charset="0"/>
              </a:rPr>
              <a:t>وقت ما بيعلي العميل الباقه معاد التجديد </a:t>
            </a:r>
            <a:r>
              <a:rPr lang="ar-EG" dirty="0">
                <a:solidFill>
                  <a:schemeClr val="accent1"/>
                </a:solidFill>
                <a:latin typeface="Arial" panose="020B0604020202020204" pitchFamily="34" charset="0"/>
                <a:cs typeface="Arial" panose="020B0604020202020204" pitchFamily="34" charset="0"/>
              </a:rPr>
              <a:t>مش بيتغير الباقه بتنزل اول الشهر الجديد</a:t>
            </a:r>
          </a:p>
          <a:p>
            <a:pPr marL="0" indent="0" algn="r">
              <a:lnSpc>
                <a:spcPct val="150000"/>
              </a:lnSpc>
              <a:buNone/>
            </a:pPr>
            <a:r>
              <a:rPr lang="ar-EG" dirty="0">
                <a:latin typeface="Arial" panose="020B0604020202020204" pitchFamily="34" charset="0"/>
                <a:cs typeface="Arial" panose="020B0604020202020204" pitchFamily="34" charset="0"/>
              </a:rPr>
              <a:t>في حاله ان العميل خطه </a:t>
            </a:r>
            <a:r>
              <a:rPr lang="ar-EG" dirty="0">
                <a:solidFill>
                  <a:schemeClr val="accent1"/>
                </a:solidFill>
                <a:latin typeface="Arial" panose="020B0604020202020204" pitchFamily="34" charset="0"/>
                <a:cs typeface="Arial" panose="020B0604020202020204" pitchFamily="34" charset="0"/>
              </a:rPr>
              <a:t>موقف مبقدرش اغير الباقه </a:t>
            </a:r>
          </a:p>
          <a:p>
            <a:pPr marL="0" indent="0" algn="r">
              <a:lnSpc>
                <a:spcPct val="150000"/>
              </a:lnSpc>
              <a:buNone/>
            </a:pPr>
            <a:r>
              <a:rPr lang="ar-EG" dirty="0">
                <a:latin typeface="Arial" panose="020B0604020202020204" pitchFamily="34" charset="0"/>
                <a:cs typeface="Arial" panose="020B0604020202020204" pitchFamily="34" charset="0"/>
              </a:rPr>
              <a:t>ولاكن لو العميل نزلت له فاتوره والخط شغال </a:t>
            </a:r>
            <a:r>
              <a:rPr lang="ar-EG" dirty="0">
                <a:solidFill>
                  <a:schemeClr val="accent1"/>
                </a:solidFill>
                <a:latin typeface="Arial" panose="020B0604020202020204" pitchFamily="34" charset="0"/>
                <a:cs typeface="Arial" panose="020B0604020202020204" pitchFamily="34" charset="0"/>
              </a:rPr>
              <a:t>اطلب منه دفع الفاتوره الحاليه واعلي الباقه عادي</a:t>
            </a:r>
          </a:p>
          <a:p>
            <a:pPr marL="0" indent="0" algn="r">
              <a:lnSpc>
                <a:spcPct val="150000"/>
              </a:lnSpc>
              <a:buNone/>
            </a:pPr>
            <a:r>
              <a:rPr lang="ar-EG" dirty="0">
                <a:latin typeface="Arial" panose="020B0604020202020204" pitchFamily="34" charset="0"/>
                <a:cs typeface="Arial" panose="020B0604020202020204" pitchFamily="34" charset="0"/>
              </a:rPr>
              <a:t>اوعي ننسي </a:t>
            </a:r>
            <a:r>
              <a:rPr lang="ar-EG" dirty="0">
                <a:solidFill>
                  <a:schemeClr val="accent1"/>
                </a:solidFill>
                <a:latin typeface="Arial" panose="020B0604020202020204" pitchFamily="34" charset="0"/>
                <a:cs typeface="Arial" panose="020B0604020202020204" pitchFamily="34" charset="0"/>
              </a:rPr>
              <a:t>التحقق من ملكيه الخط</a:t>
            </a:r>
            <a:r>
              <a:rPr lang="ar-EG" dirty="0">
                <a:latin typeface="Arial" panose="020B0604020202020204" pitchFamily="34" charset="0"/>
                <a:cs typeface="Arial" panose="020B0604020202020204" pitchFamily="34" charset="0"/>
              </a:rPr>
              <a:t>............... </a:t>
            </a:r>
          </a:p>
          <a:p>
            <a:pPr marL="0" indent="0" algn="r">
              <a:buNone/>
            </a:pPr>
            <a:endParaRPr lang="ar-EG" dirty="0"/>
          </a:p>
        </p:txBody>
      </p:sp>
    </p:spTree>
    <p:extLst>
      <p:ext uri="{BB962C8B-B14F-4D97-AF65-F5344CB8AC3E}">
        <p14:creationId xmlns:p14="http://schemas.microsoft.com/office/powerpoint/2010/main" val="2401911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838200"/>
          </a:xfrm>
        </p:spPr>
        <p:txBody>
          <a:bodyPr>
            <a:normAutofit fontScale="90000"/>
          </a:bodyPr>
          <a:lstStyle/>
          <a:p>
            <a:r>
              <a:rPr lang="en-US" b="1" dirty="0"/>
              <a:t>DSL Verification Process</a:t>
            </a:r>
            <a:br>
              <a:rPr lang="en-US" b="1" dirty="0"/>
            </a:br>
            <a:br>
              <a:rPr lang="en-US" dirty="0"/>
            </a:br>
            <a:endParaRPr lang="en-US" dirty="0"/>
          </a:p>
        </p:txBody>
      </p:sp>
      <p:sp>
        <p:nvSpPr>
          <p:cNvPr id="3" name="Content Placeholder 2"/>
          <p:cNvSpPr>
            <a:spLocks noGrp="1"/>
          </p:cNvSpPr>
          <p:nvPr>
            <p:ph idx="1"/>
          </p:nvPr>
        </p:nvSpPr>
        <p:spPr>
          <a:xfrm>
            <a:off x="371475" y="1304925"/>
            <a:ext cx="8902527" cy="4736437"/>
          </a:xfrm>
        </p:spPr>
        <p:txBody>
          <a:bodyPr>
            <a:normAutofit/>
          </a:bodyPr>
          <a:lstStyle/>
          <a:p>
            <a:pPr marL="0" indent="0" algn="r">
              <a:lnSpc>
                <a:spcPct val="150000"/>
              </a:lnSpc>
              <a:buNone/>
            </a:pPr>
            <a:r>
              <a:rPr lang="ar-EG" sz="2000" dirty="0">
                <a:latin typeface="Arial" panose="020B0604020202020204" pitchFamily="34" charset="0"/>
                <a:cs typeface="Arial" panose="020B0604020202020204" pitchFamily="34" charset="0"/>
              </a:rPr>
              <a:t>لو العميل متصل من رقم الارضي المسجل </a:t>
            </a:r>
            <a:r>
              <a:rPr lang="ar-EG" sz="2000" dirty="0">
                <a:solidFill>
                  <a:schemeClr val="accent1"/>
                </a:solidFill>
                <a:latin typeface="Arial" panose="020B0604020202020204" pitchFamily="34" charset="0"/>
                <a:cs typeface="Arial" panose="020B0604020202020204" pitchFamily="34" charset="0"/>
              </a:rPr>
              <a:t>علي الخط  مش هحتاج اتحقق من ملكيه الخط</a:t>
            </a:r>
          </a:p>
          <a:p>
            <a:pPr marL="0" indent="0" algn="r">
              <a:lnSpc>
                <a:spcPct val="150000"/>
              </a:lnSpc>
              <a:buNone/>
            </a:pPr>
            <a:r>
              <a:rPr lang="ar-EG" sz="2000" dirty="0">
                <a:latin typeface="Arial" panose="020B0604020202020204" pitchFamily="34" charset="0"/>
                <a:cs typeface="Arial" panose="020B0604020202020204" pitchFamily="34" charset="0"/>
              </a:rPr>
              <a:t>لو العميل متصل من نفس رقم الموبيل المسجل علي السيستم </a:t>
            </a:r>
            <a:r>
              <a:rPr lang="ar-EG" sz="2000" dirty="0">
                <a:solidFill>
                  <a:schemeClr val="accent1"/>
                </a:solidFill>
                <a:latin typeface="Arial" panose="020B0604020202020204" pitchFamily="34" charset="0"/>
                <a:cs typeface="Arial" panose="020B0604020202020204" pitchFamily="34" charset="0"/>
              </a:rPr>
              <a:t>هسأله عن الاسم ثلاثي المسجل علي الخط</a:t>
            </a:r>
          </a:p>
          <a:p>
            <a:pPr marL="0" indent="0" algn="r">
              <a:lnSpc>
                <a:spcPct val="150000"/>
              </a:lnSpc>
              <a:buNone/>
            </a:pPr>
            <a:r>
              <a:rPr lang="ar-EG" sz="2000" dirty="0">
                <a:latin typeface="Arial" panose="020B0604020202020204" pitchFamily="34" charset="0"/>
                <a:cs typeface="Arial" panose="020B0604020202020204" pitchFamily="34" charset="0"/>
              </a:rPr>
              <a:t>لو العميل متصل برقم (موبيل او ارضي) مختلف </a:t>
            </a:r>
            <a:r>
              <a:rPr lang="ar-EG" sz="2000" dirty="0">
                <a:solidFill>
                  <a:schemeClr val="accent1"/>
                </a:solidFill>
                <a:latin typeface="Arial" panose="020B0604020202020204" pitchFamily="34" charset="0"/>
                <a:cs typeface="Arial" panose="020B0604020202020204" pitchFamily="34" charset="0"/>
              </a:rPr>
              <a:t>هسأله علي الاسم ثلاثي ورقم الموبيل المسجل علي السيستم</a:t>
            </a:r>
          </a:p>
          <a:p>
            <a:pPr marL="0" indent="0" algn="r">
              <a:lnSpc>
                <a:spcPct val="150000"/>
              </a:lnSpc>
              <a:buNone/>
            </a:pPr>
            <a:r>
              <a:rPr lang="ar-EG" sz="2000" dirty="0">
                <a:latin typeface="Arial" panose="020B0604020202020204" pitchFamily="34" charset="0"/>
                <a:cs typeface="Arial" panose="020B0604020202020204" pitchFamily="34" charset="0"/>
              </a:rPr>
              <a:t>لو مش عارفهم هساله </a:t>
            </a:r>
            <a:r>
              <a:rPr lang="ar-EG" sz="2000" dirty="0">
                <a:solidFill>
                  <a:schemeClr val="accent1"/>
                </a:solidFill>
                <a:latin typeface="Arial" panose="020B0604020202020204" pitchFamily="34" charset="0"/>
                <a:cs typeface="Arial" panose="020B0604020202020204" pitchFamily="34" charset="0"/>
              </a:rPr>
              <a:t>علي اخر فاتوره من اخر فاتورتين ادفعت امته وعن طريق اي </a:t>
            </a:r>
          </a:p>
          <a:p>
            <a:pPr marL="0" indent="0" algn="r">
              <a:buNone/>
            </a:pPr>
            <a:endParaRPr lang="en-US" sz="2000" dirty="0">
              <a:solidFill>
                <a:schemeClr val="accent1"/>
              </a:solidFill>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nvGraphicFramePr>
        <p:xfrm>
          <a:off x="0" y="4122420"/>
          <a:ext cx="8829675" cy="2735580"/>
        </p:xfrm>
        <a:graphic>
          <a:graphicData uri="http://schemas.openxmlformats.org/drawingml/2006/table">
            <a:tbl>
              <a:tblPr>
                <a:tableStyleId>{5C22544A-7EE6-4342-B048-85BDC9FD1C3A}</a:tableStyleId>
              </a:tblPr>
              <a:tblGrid>
                <a:gridCol w="5557871">
                  <a:extLst>
                    <a:ext uri="{9D8B030D-6E8A-4147-A177-3AD203B41FA5}">
                      <a16:colId xmlns:a16="http://schemas.microsoft.com/office/drawing/2014/main" val="1337736579"/>
                    </a:ext>
                  </a:extLst>
                </a:gridCol>
                <a:gridCol w="3271804">
                  <a:extLst>
                    <a:ext uri="{9D8B030D-6E8A-4147-A177-3AD203B41FA5}">
                      <a16:colId xmlns:a16="http://schemas.microsoft.com/office/drawing/2014/main" val="1282897593"/>
                    </a:ext>
                  </a:extLst>
                </a:gridCol>
              </a:tblGrid>
              <a:tr h="164906">
                <a:tc>
                  <a:txBody>
                    <a:bodyPr/>
                    <a:lstStyle/>
                    <a:p>
                      <a:pPr algn="ctr" fontAlgn="ctr"/>
                      <a:r>
                        <a:rPr lang="en-US" sz="1600" u="none" strike="noStrike" dirty="0">
                          <a:effectLst/>
                          <a:latin typeface="Arial" panose="020B0604020202020204" pitchFamily="34" charset="0"/>
                          <a:cs typeface="Arial" panose="020B0604020202020204" pitchFamily="34" charset="0"/>
                        </a:rPr>
                        <a:t>Scenario</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Verification Keys</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2541809412"/>
                  </a:ext>
                </a:extLst>
              </a:tr>
              <a:tr h="212825">
                <a:tc>
                  <a:txBody>
                    <a:bodyPr/>
                    <a:lstStyle/>
                    <a:p>
                      <a:pPr algn="l" fontAlgn="ctr"/>
                      <a:r>
                        <a:rPr lang="en-US" sz="1600" u="none" strike="noStrike" dirty="0">
                          <a:effectLst/>
                          <a:latin typeface="Arial" panose="020B0604020202020204" pitchFamily="34" charset="0"/>
                          <a:cs typeface="Arial" panose="020B0604020202020204" pitchFamily="34" charset="0"/>
                        </a:rPr>
                        <a:t>In case customer is calling from the landline number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600" u="none" strike="noStrike">
                          <a:effectLst/>
                          <a:latin typeface="Arial" panose="020B0604020202020204" pitchFamily="34" charset="0"/>
                          <a:cs typeface="Arial" panose="020B0604020202020204" pitchFamily="34" charset="0"/>
                        </a:rPr>
                        <a:t>No need for verification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371064234"/>
                  </a:ext>
                </a:extLst>
              </a:tr>
              <a:tr h="422376">
                <a:tc>
                  <a:txBody>
                    <a:bodyPr/>
                    <a:lstStyle/>
                    <a:p>
                      <a:pPr algn="l" fontAlgn="ctr"/>
                      <a:r>
                        <a:rPr lang="en-US" sz="1600" u="none" strike="noStrike" dirty="0">
                          <a:effectLst/>
                          <a:latin typeface="Arial" panose="020B0604020202020204" pitchFamily="34" charset="0"/>
                          <a:cs typeface="Arial" panose="020B0604020202020204" pitchFamily="34" charset="0"/>
                        </a:rPr>
                        <a:t>In case customer is calling from the registered mobile number on Siebel</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600" u="none" strike="noStrike" dirty="0">
                          <a:effectLst/>
                          <a:latin typeface="Arial" panose="020B0604020202020204" pitchFamily="34" charset="0"/>
                          <a:cs typeface="Arial" panose="020B0604020202020204" pitchFamily="34" charset="0"/>
                        </a:rPr>
                        <a:t>Agent should ask the customer to provide the DSL subscriber name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552568990"/>
                  </a:ext>
                </a:extLst>
              </a:tr>
              <a:tr h="422376">
                <a:tc rowSpan="4">
                  <a:txBody>
                    <a:bodyPr/>
                    <a:lstStyle/>
                    <a:p>
                      <a:pPr algn="l" fontAlgn="ctr"/>
                      <a:r>
                        <a:rPr lang="en-US" sz="1600" u="none" strike="noStrike">
                          <a:effectLst/>
                          <a:latin typeface="Arial" panose="020B0604020202020204" pitchFamily="34" charset="0"/>
                          <a:cs typeface="Arial" panose="020B0604020202020204" pitchFamily="34" charset="0"/>
                        </a:rPr>
                        <a:t>In case customer is calling from a different mobile number that is not registered on Siebel</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600" u="none" strike="noStrike" dirty="0">
                          <a:effectLst/>
                          <a:latin typeface="Arial" panose="020B0604020202020204" pitchFamily="34" charset="0"/>
                          <a:cs typeface="Arial" panose="020B0604020202020204" pitchFamily="34" charset="0"/>
                        </a:rPr>
                        <a:t>Agent should ask the customer to provide one of the below:</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45888837"/>
                  </a:ext>
                </a:extLst>
              </a:tr>
              <a:tr h="422376">
                <a:tc vMerge="1">
                  <a:txBody>
                    <a:bodyPr/>
                    <a:lstStyle/>
                    <a:p>
                      <a:endParaRPr lang="en-US"/>
                    </a:p>
                  </a:txBody>
                  <a:tcPr/>
                </a:tc>
                <a:tc>
                  <a:txBody>
                    <a:bodyPr/>
                    <a:lstStyle/>
                    <a:p>
                      <a:pPr algn="l" fontAlgn="ctr"/>
                      <a:r>
                        <a:rPr lang="en-US" sz="1600" u="none" strike="noStrike" dirty="0">
                          <a:effectLst/>
                          <a:latin typeface="Arial" panose="020B0604020202020204" pitchFamily="34" charset="0"/>
                          <a:cs typeface="Arial" panose="020B0604020202020204" pitchFamily="34" charset="0"/>
                        </a:rPr>
                        <a:t>Both Payment method &amp; date of one of the last two bills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4284263241"/>
                  </a:ext>
                </a:extLst>
              </a:tr>
              <a:tr h="164906">
                <a:tc vMerge="1">
                  <a:txBody>
                    <a:bodyPr/>
                    <a:lstStyle/>
                    <a:p>
                      <a:endParaRPr lang="en-US"/>
                    </a:p>
                  </a:txBody>
                  <a:tcPr/>
                </a:tc>
                <a:tc>
                  <a:txBody>
                    <a:bodyPr/>
                    <a:lstStyle/>
                    <a:p>
                      <a:pPr algn="l" fontAlgn="ctr"/>
                      <a:r>
                        <a:rPr lang="en-US" sz="1600" u="none" strike="noStrike" dirty="0">
                          <a:effectLst/>
                          <a:latin typeface="Arial" panose="020B0604020202020204" pitchFamily="34" charset="0"/>
                          <a:cs typeface="Arial" panose="020B0604020202020204" pitchFamily="34" charset="0"/>
                        </a:rPr>
                        <a:t>Or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20067044"/>
                  </a:ext>
                </a:extLst>
              </a:tr>
              <a:tr h="422376">
                <a:tc vMerge="1">
                  <a:txBody>
                    <a:bodyPr/>
                    <a:lstStyle/>
                    <a:p>
                      <a:endParaRPr lang="en-US"/>
                    </a:p>
                  </a:txBody>
                  <a:tcPr/>
                </a:tc>
                <a:tc>
                  <a:txBody>
                    <a:bodyPr/>
                    <a:lstStyle/>
                    <a:p>
                      <a:pPr algn="l" fontAlgn="ctr"/>
                      <a:r>
                        <a:rPr lang="en-US" sz="1600" u="none" strike="noStrike" dirty="0">
                          <a:effectLst/>
                          <a:latin typeface="Arial" panose="020B0604020202020204" pitchFamily="34" charset="0"/>
                          <a:cs typeface="Arial" panose="020B0604020202020204" pitchFamily="34" charset="0"/>
                        </a:rPr>
                        <a:t>Both DSL Subscriber Name ​and the Registered Mobile Number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987875895"/>
                  </a:ext>
                </a:extLst>
              </a:tr>
            </a:tbl>
          </a:graphicData>
        </a:graphic>
      </p:graphicFrame>
    </p:spTree>
    <p:extLst>
      <p:ext uri="{BB962C8B-B14F-4D97-AF65-F5344CB8AC3E}">
        <p14:creationId xmlns:p14="http://schemas.microsoft.com/office/powerpoint/2010/main" val="40390405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1047750"/>
          </a:xfrm>
        </p:spPr>
        <p:txBody>
          <a:bodyPr/>
          <a:lstStyle/>
          <a:p>
            <a:r>
              <a:rPr lang="en-US" b="1" dirty="0"/>
              <a:t>List Of Actions</a:t>
            </a:r>
            <a:endParaRPr lang="en-US" dirty="0"/>
          </a:p>
        </p:txBody>
      </p:sp>
      <p:graphicFrame>
        <p:nvGraphicFramePr>
          <p:cNvPr id="4" name="Content Placeholder 3"/>
          <p:cNvGraphicFramePr>
            <a:graphicFrameLocks noGrp="1"/>
          </p:cNvGraphicFramePr>
          <p:nvPr>
            <p:ph idx="1"/>
          </p:nvPr>
        </p:nvGraphicFramePr>
        <p:xfrm>
          <a:off x="561975" y="1047750"/>
          <a:ext cx="8829675" cy="5324472"/>
        </p:xfrm>
        <a:graphic>
          <a:graphicData uri="http://schemas.openxmlformats.org/drawingml/2006/table">
            <a:tbl>
              <a:tblPr>
                <a:tableStyleId>{5C22544A-7EE6-4342-B048-85BDC9FD1C3A}</a:tableStyleId>
              </a:tblPr>
              <a:tblGrid>
                <a:gridCol w="4949727">
                  <a:extLst>
                    <a:ext uri="{9D8B030D-6E8A-4147-A177-3AD203B41FA5}">
                      <a16:colId xmlns:a16="http://schemas.microsoft.com/office/drawing/2014/main" val="2362376406"/>
                    </a:ext>
                  </a:extLst>
                </a:gridCol>
                <a:gridCol w="3879948">
                  <a:extLst>
                    <a:ext uri="{9D8B030D-6E8A-4147-A177-3AD203B41FA5}">
                      <a16:colId xmlns:a16="http://schemas.microsoft.com/office/drawing/2014/main" val="2153544414"/>
                    </a:ext>
                  </a:extLst>
                </a:gridCol>
              </a:tblGrid>
              <a:tr h="591608">
                <a:tc>
                  <a:txBody>
                    <a:bodyPr/>
                    <a:lstStyle/>
                    <a:p>
                      <a:pPr algn="ctr" fontAlgn="ctr"/>
                      <a:r>
                        <a:rPr lang="en-US" sz="1800" u="none" strike="noStrike" dirty="0">
                          <a:effectLst/>
                          <a:latin typeface="Arial" panose="020B0604020202020204" pitchFamily="34" charset="0"/>
                          <a:cs typeface="Arial" panose="020B0604020202020204" pitchFamily="34" charset="0"/>
                        </a:rPr>
                        <a:t>Account Information Request</a:t>
                      </a:r>
                      <a:endParaRPr lang="en-US" sz="18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Account Modification Request</a:t>
                      </a:r>
                      <a:endParaRPr lang="en-US" sz="18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3683989657"/>
                  </a:ext>
                </a:extLst>
              </a:tr>
              <a:tr h="591608">
                <a:tc>
                  <a:txBody>
                    <a:bodyPr/>
                    <a:lstStyle/>
                    <a:p>
                      <a:pPr algn="ctr" fontAlgn="ctr"/>
                      <a:r>
                        <a:rPr lang="en-US" sz="1800" u="none" strike="noStrike" dirty="0">
                          <a:effectLst/>
                          <a:latin typeface="Arial" panose="020B0604020202020204" pitchFamily="34" charset="0"/>
                          <a:cs typeface="Arial" panose="020B0604020202020204" pitchFamily="34" charset="0"/>
                        </a:rPr>
                        <a:t>Static IPs​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Change Wi-Fi Password</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71044155"/>
                  </a:ext>
                </a:extLst>
              </a:tr>
              <a:tr h="591608">
                <a:tc>
                  <a:txBody>
                    <a:bodyPr/>
                    <a:lstStyle/>
                    <a:p>
                      <a:pPr algn="ctr" fontAlgn="ctr"/>
                      <a:r>
                        <a:rPr lang="en-US" sz="1800" u="none" strike="noStrike" dirty="0">
                          <a:effectLst/>
                          <a:latin typeface="Arial" panose="020B0604020202020204" pitchFamily="34" charset="0"/>
                          <a:cs typeface="Arial" panose="020B0604020202020204" pitchFamily="34" charset="0"/>
                        </a:rPr>
                        <a:t>Account "username &amp; password" for Modem Configuration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Hide/Unhide Wi-Fi Connection Name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375244588"/>
                  </a:ext>
                </a:extLst>
              </a:tr>
              <a:tr h="591608">
                <a:tc>
                  <a:txBody>
                    <a:bodyPr/>
                    <a:lstStyle/>
                    <a:p>
                      <a:pPr algn="ctr" fontAlgn="ctr"/>
                      <a:r>
                        <a:rPr lang="en-US" sz="1800" u="none" strike="noStrike">
                          <a:effectLst/>
                          <a:latin typeface="Arial" panose="020B0604020202020204" pitchFamily="34" charset="0"/>
                          <a:cs typeface="Arial" panose="020B0604020202020204" pitchFamily="34" charset="0"/>
                        </a:rPr>
                        <a:t>Account "username &amp; password" for Router page</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Change Package (Upgrade/Downgrade)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375014545"/>
                  </a:ext>
                </a:extLst>
              </a:tr>
              <a:tr h="591608">
                <a:tc>
                  <a:txBody>
                    <a:bodyPr/>
                    <a:lstStyle/>
                    <a:p>
                      <a:pPr algn="ctr" fontAlgn="ctr"/>
                      <a:r>
                        <a:rPr lang="en-US" sz="1800" u="none" strike="noStrike">
                          <a:effectLst/>
                          <a:latin typeface="Arial" panose="020B0604020202020204" pitchFamily="34" charset="0"/>
                          <a:cs typeface="Arial" panose="020B0604020202020204" pitchFamily="34" charset="0"/>
                        </a:rPr>
                        <a:t>Port number</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Add Extra Quota</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587422141"/>
                  </a:ext>
                </a:extLst>
              </a:tr>
              <a:tr h="591608">
                <a:tc>
                  <a:txBody>
                    <a:bodyPr/>
                    <a:lstStyle/>
                    <a:p>
                      <a:pPr algn="ctr" fontAlgn="ctr"/>
                      <a:r>
                        <a:rPr lang="en-US" sz="1800" u="none" strike="noStrike">
                          <a:effectLst/>
                          <a:latin typeface="Arial" panose="020B0604020202020204" pitchFamily="34" charset="0"/>
                          <a:cs typeface="Arial" panose="020B0604020202020204" pitchFamily="34" charset="0"/>
                        </a:rPr>
                        <a:t>Last Payment Details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Change the Mobile Contact Number</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115590021"/>
                  </a:ext>
                </a:extLst>
              </a:tr>
              <a:tr h="591608">
                <a:tc>
                  <a:txBody>
                    <a:bodyPr/>
                    <a:lstStyle/>
                    <a:p>
                      <a:pPr algn="l" fontAlgn="t"/>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tc>
                <a:tc>
                  <a:txBody>
                    <a:bodyPr/>
                    <a:lstStyle/>
                    <a:p>
                      <a:pPr algn="ctr" fontAlgn="ctr"/>
                      <a:r>
                        <a:rPr lang="en-US" sz="1800" u="none" strike="noStrike" dirty="0">
                          <a:effectLst/>
                          <a:latin typeface="Arial" panose="020B0604020202020204" pitchFamily="34" charset="0"/>
                          <a:cs typeface="Arial" panose="020B0604020202020204" pitchFamily="34" charset="0"/>
                        </a:rPr>
                        <a:t>Resume the Service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339976772"/>
                  </a:ext>
                </a:extLst>
              </a:tr>
              <a:tr h="591608">
                <a:tc>
                  <a:txBody>
                    <a:bodyPr/>
                    <a:lstStyle/>
                    <a:p>
                      <a:pPr algn="l" fontAlgn="t"/>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tc>
                <a:tc>
                  <a:txBody>
                    <a:bodyPr/>
                    <a:lstStyle/>
                    <a:p>
                      <a:pPr algn="ctr" fontAlgn="ctr"/>
                      <a:r>
                        <a:rPr lang="en-US" sz="1800" u="none" strike="noStrike" dirty="0">
                          <a:effectLst/>
                          <a:latin typeface="Arial" panose="020B0604020202020204" pitchFamily="34" charset="0"/>
                          <a:cs typeface="Arial" panose="020B0604020202020204" pitchFamily="34" charset="0"/>
                        </a:rPr>
                        <a:t>Add IP Package (1,8,16)</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164931443"/>
                  </a:ext>
                </a:extLst>
              </a:tr>
              <a:tr h="591608">
                <a:tc>
                  <a:txBody>
                    <a:bodyPr/>
                    <a:lstStyle/>
                    <a:p>
                      <a:pPr algn="l" fontAlgn="t"/>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tc>
                <a:tc>
                  <a:txBody>
                    <a:bodyPr/>
                    <a:lstStyle/>
                    <a:p>
                      <a:pPr algn="ctr" fontAlgn="ctr"/>
                      <a:r>
                        <a:rPr lang="en-US" sz="1800" u="none" strike="noStrike" dirty="0">
                          <a:effectLst/>
                          <a:latin typeface="Arial" panose="020B0604020202020204" pitchFamily="34" charset="0"/>
                          <a:cs typeface="Arial" panose="020B0604020202020204" pitchFamily="34" charset="0"/>
                        </a:rPr>
                        <a:t>Bundle/Unbundle DSL with PREMIER​</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575154448"/>
                  </a:ext>
                </a:extLst>
              </a:tr>
            </a:tbl>
          </a:graphicData>
        </a:graphic>
      </p:graphicFrame>
    </p:spTree>
    <p:extLst>
      <p:ext uri="{BB962C8B-B14F-4D97-AF65-F5344CB8AC3E}">
        <p14:creationId xmlns:p14="http://schemas.microsoft.com/office/powerpoint/2010/main" val="23349324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742950"/>
          </a:xfrm>
        </p:spPr>
        <p:txBody>
          <a:bodyPr>
            <a:normAutofit fontScale="90000"/>
          </a:bodyPr>
          <a:lstStyle/>
          <a:p>
            <a:r>
              <a:rPr lang="en-US" b="1" dirty="0"/>
              <a:t>Accounts Under Resellers Verification Keys</a:t>
            </a:r>
            <a:endParaRPr lang="en-US" dirty="0"/>
          </a:p>
        </p:txBody>
      </p:sp>
      <p:sp>
        <p:nvSpPr>
          <p:cNvPr id="3" name="Content Placeholder 2"/>
          <p:cNvSpPr>
            <a:spLocks noGrp="1"/>
          </p:cNvSpPr>
          <p:nvPr>
            <p:ph idx="1"/>
          </p:nvPr>
        </p:nvSpPr>
        <p:spPr>
          <a:xfrm>
            <a:off x="-76200" y="838201"/>
            <a:ext cx="9274002" cy="6019799"/>
          </a:xfrm>
        </p:spPr>
        <p:txBody>
          <a:bodyPr>
            <a:normAutofit/>
          </a:bodyPr>
          <a:lstStyle/>
          <a:p>
            <a:pPr marL="0" indent="0" algn="r">
              <a:buNone/>
            </a:pPr>
            <a:r>
              <a:rPr lang="en-US" dirty="0">
                <a:latin typeface="Arial" panose="020B0604020202020204" pitchFamily="34" charset="0"/>
                <a:cs typeface="Arial" panose="020B0604020202020204" pitchFamily="34" charset="0"/>
              </a:rPr>
              <a:t>:</a:t>
            </a:r>
            <a:r>
              <a:rPr lang="ar-EG" dirty="0">
                <a:latin typeface="Arial" panose="020B0604020202020204" pitchFamily="34" charset="0"/>
                <a:cs typeface="Arial" panose="020B0604020202020204" pitchFamily="34" charset="0"/>
              </a:rPr>
              <a:t>لو الوكيل طلب </a:t>
            </a:r>
          </a:p>
          <a:p>
            <a:pPr marL="0" indent="0" algn="r">
              <a:buNone/>
            </a:pPr>
            <a:r>
              <a:rPr lang="ar-EG" dirty="0">
                <a:latin typeface="Arial" panose="020B0604020202020204" pitchFamily="34" charset="0"/>
                <a:cs typeface="Arial" panose="020B0604020202020204" pitchFamily="34" charset="0"/>
              </a:rPr>
              <a:t>يغير باقه العميل( سواء يعلي الباقه او يقللها )</a:t>
            </a:r>
          </a:p>
          <a:p>
            <a:pPr marL="0" indent="0" algn="r">
              <a:buNone/>
            </a:pPr>
            <a:r>
              <a:rPr lang="ar-EG" dirty="0">
                <a:latin typeface="Arial" panose="020B0604020202020204" pitchFamily="34" charset="0"/>
                <a:cs typeface="Arial" panose="020B0604020202020204" pitchFamily="34" charset="0"/>
              </a:rPr>
              <a:t> يضيف باقه اضافيه </a:t>
            </a:r>
          </a:p>
          <a:p>
            <a:pPr marL="0" indent="0" algn="r">
              <a:buNone/>
            </a:pPr>
            <a:r>
              <a:rPr lang="ar-EG" dirty="0">
                <a:latin typeface="Arial" panose="020B0604020202020204" pitchFamily="34" charset="0"/>
                <a:cs typeface="Arial" panose="020B0604020202020204" pitchFamily="34" charset="0"/>
              </a:rPr>
              <a:t>تشغيل الخدمه بعد الايقاف الموقت </a:t>
            </a:r>
          </a:p>
          <a:p>
            <a:pPr marL="0" indent="0" algn="r">
              <a:buNone/>
            </a:pPr>
            <a:r>
              <a:rPr lang="en-US" dirty="0" err="1">
                <a:latin typeface="Arial" panose="020B0604020202020204" pitchFamily="34" charset="0"/>
                <a:cs typeface="Arial" panose="020B0604020202020204" pitchFamily="34" charset="0"/>
              </a:rPr>
              <a:t>ip</a:t>
            </a:r>
            <a:r>
              <a:rPr lang="en-US" dirty="0">
                <a:latin typeface="Arial" panose="020B0604020202020204" pitchFamily="34" charset="0"/>
                <a:cs typeface="Arial" panose="020B0604020202020204" pitchFamily="34" charset="0"/>
              </a:rPr>
              <a:t> static</a:t>
            </a:r>
          </a:p>
          <a:p>
            <a:pPr marL="0" indent="0" algn="r">
              <a:buNone/>
            </a:pPr>
            <a:r>
              <a:rPr lang="ar-EG" dirty="0">
                <a:latin typeface="Arial" panose="020B0604020202020204" pitchFamily="34" charset="0"/>
                <a:cs typeface="Arial" panose="020B0604020202020204" pitchFamily="34" charset="0"/>
              </a:rPr>
              <a:t>لازم اسال الوكيل عن 4 حاجات ( اخر فاتوره من اخر فاتورتين ادفعت امته وعن طريق اي والاسم ثلاتي المسجل علي الخط ورقم الموبيل </a:t>
            </a:r>
          </a:p>
          <a:p>
            <a:pPr marL="0" indent="0" algn="r">
              <a:buNone/>
            </a:pPr>
            <a:r>
              <a:rPr lang="ar-EG" dirty="0">
                <a:latin typeface="Arial" panose="020B0604020202020204" pitchFamily="34" charset="0"/>
                <a:cs typeface="Arial" panose="020B0604020202020204" pitchFamily="34" charset="0"/>
              </a:rPr>
              <a:t>طيب لو طلب تغير رقم الموبيل المسجل علي السيستم( اوضح له انه يغير الرقم من عن طريق الموقع)</a:t>
            </a:r>
          </a:p>
          <a:p>
            <a:pPr marL="0" indent="0" algn="r">
              <a:buNone/>
            </a:pPr>
            <a:r>
              <a:rPr lang="ar-EG"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endParaRPr lang="ar-EG"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nvGraphicFramePr>
        <p:xfrm>
          <a:off x="0" y="5002371"/>
          <a:ext cx="8934450" cy="1855628"/>
        </p:xfrm>
        <a:graphic>
          <a:graphicData uri="http://schemas.openxmlformats.org/drawingml/2006/table">
            <a:tbl>
              <a:tblPr>
                <a:tableStyleId>{5C22544A-7EE6-4342-B048-85BDC9FD1C3A}</a:tableStyleId>
              </a:tblPr>
              <a:tblGrid>
                <a:gridCol w="5396648">
                  <a:extLst>
                    <a:ext uri="{9D8B030D-6E8A-4147-A177-3AD203B41FA5}">
                      <a16:colId xmlns:a16="http://schemas.microsoft.com/office/drawing/2014/main" val="3837820093"/>
                    </a:ext>
                  </a:extLst>
                </a:gridCol>
                <a:gridCol w="3537802">
                  <a:extLst>
                    <a:ext uri="{9D8B030D-6E8A-4147-A177-3AD203B41FA5}">
                      <a16:colId xmlns:a16="http://schemas.microsoft.com/office/drawing/2014/main" val="2851000057"/>
                    </a:ext>
                  </a:extLst>
                </a:gridCol>
              </a:tblGrid>
              <a:tr h="466979">
                <a:tc>
                  <a:txBody>
                    <a:bodyPr/>
                    <a:lstStyle/>
                    <a:p>
                      <a:pPr algn="ctr" fontAlgn="ctr"/>
                      <a:r>
                        <a:rPr lang="en-US" sz="1400" u="none" strike="noStrike" dirty="0">
                          <a:effectLst/>
                          <a:latin typeface="Arial" panose="020B0604020202020204" pitchFamily="34" charset="0"/>
                          <a:cs typeface="Arial" panose="020B0604020202020204" pitchFamily="34" charset="0"/>
                        </a:rPr>
                        <a:t>Scenario</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panose="020B0604020202020204" pitchFamily="34" charset="0"/>
                          <a:cs typeface="Arial" panose="020B0604020202020204" pitchFamily="34" charset="0"/>
                        </a:rPr>
                        <a:t>Verification Keys</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2780387794"/>
                  </a:ext>
                </a:extLst>
              </a:tr>
              <a:tr h="282645">
                <a:tc>
                  <a:txBody>
                    <a:bodyPr/>
                    <a:lstStyle/>
                    <a:p>
                      <a:pPr algn="l" fontAlgn="ctr"/>
                      <a:r>
                        <a:rPr lang="en-US" sz="1400" u="none" strike="noStrike" dirty="0">
                          <a:effectLst/>
                          <a:latin typeface="Arial" panose="020B0604020202020204" pitchFamily="34" charset="0"/>
                          <a:cs typeface="Arial" panose="020B0604020202020204" pitchFamily="34" charset="0"/>
                        </a:rPr>
                        <a:t>In case customer is calling from the landline number</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400" u="none" strike="noStrike">
                          <a:effectLst/>
                          <a:latin typeface="Arial" panose="020B0604020202020204" pitchFamily="34" charset="0"/>
                          <a:cs typeface="Arial" panose="020B0604020202020204" pitchFamily="34" charset="0"/>
                        </a:rPr>
                        <a:t>No need for verification</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3065438377"/>
                  </a:ext>
                </a:extLst>
              </a:tr>
              <a:tr h="553002">
                <a:tc>
                  <a:txBody>
                    <a:bodyPr/>
                    <a:lstStyle/>
                    <a:p>
                      <a:pPr algn="l" fontAlgn="ctr"/>
                      <a:r>
                        <a:rPr lang="en-US" sz="1400" u="none" strike="noStrike">
                          <a:effectLst/>
                          <a:latin typeface="Arial" panose="020B0604020202020204" pitchFamily="34" charset="0"/>
                          <a:cs typeface="Arial" panose="020B0604020202020204" pitchFamily="34" charset="0"/>
                        </a:rPr>
                        <a:t>In case customer is calling from the registered mobile number on Siebel</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Agent should ask the customer to provide the DSL subscriber name</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964341443"/>
                  </a:ext>
                </a:extLst>
              </a:tr>
              <a:tr h="553002">
                <a:tc>
                  <a:txBody>
                    <a:bodyPr/>
                    <a:lstStyle/>
                    <a:p>
                      <a:pPr algn="l" fontAlgn="ctr"/>
                      <a:r>
                        <a:rPr lang="en-US" sz="1400" u="none" strike="noStrike" dirty="0">
                          <a:effectLst/>
                          <a:latin typeface="Arial" panose="020B0604020202020204" pitchFamily="34" charset="0"/>
                          <a:cs typeface="Arial" panose="020B0604020202020204" pitchFamily="34" charset="0"/>
                        </a:rPr>
                        <a:t>In case the registered mobile number isn't updated</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Advise him/her to update the mobile number through Porta</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369658875"/>
                  </a:ext>
                </a:extLst>
              </a:tr>
            </a:tbl>
          </a:graphicData>
        </a:graphic>
      </p:graphicFrame>
    </p:spTree>
    <p:extLst>
      <p:ext uri="{BB962C8B-B14F-4D97-AF65-F5344CB8AC3E}">
        <p14:creationId xmlns:p14="http://schemas.microsoft.com/office/powerpoint/2010/main" val="21296571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800100"/>
          </a:xfrm>
        </p:spPr>
        <p:txBody>
          <a:bodyPr/>
          <a:lstStyle/>
          <a:p>
            <a:r>
              <a:rPr lang="en-US" dirty="0"/>
              <a:t>Upgrade Up To 70,100&amp;200 Mbps Packages</a:t>
            </a:r>
          </a:p>
        </p:txBody>
      </p:sp>
      <p:sp>
        <p:nvSpPr>
          <p:cNvPr id="3" name="Content Placeholder 2"/>
          <p:cNvSpPr>
            <a:spLocks noGrp="1"/>
          </p:cNvSpPr>
          <p:nvPr>
            <p:ph idx="1"/>
          </p:nvPr>
        </p:nvSpPr>
        <p:spPr>
          <a:xfrm>
            <a:off x="-1" y="895349"/>
            <a:ext cx="9426403" cy="5962651"/>
          </a:xfrm>
        </p:spPr>
        <p:txBody>
          <a:bodyPr/>
          <a:lstStyle/>
          <a:p>
            <a:pPr marL="0" indent="0" algn="r">
              <a:buNone/>
            </a:pPr>
            <a:r>
              <a:rPr lang="ar-EG" dirty="0"/>
              <a:t>في حاله ان العميل طلب يغير السرعه لسرعه اعلي  </a:t>
            </a:r>
          </a:p>
          <a:p>
            <a:pPr marL="0" indent="0" algn="r">
              <a:buNone/>
            </a:pPr>
            <a:endParaRPr lang="ar-EG" dirty="0"/>
          </a:p>
          <a:p>
            <a:pPr marL="0" indent="0" algn="r">
              <a:buNone/>
            </a:pPr>
            <a:r>
              <a:rPr lang="ar-EG" dirty="0"/>
              <a:t>1-لازم الخط يكون فايبر</a:t>
            </a:r>
          </a:p>
          <a:p>
            <a:pPr marL="0" indent="0" algn="r">
              <a:buNone/>
            </a:pPr>
            <a:r>
              <a:rPr lang="ar-EG" dirty="0"/>
              <a:t>2- لازم بورت وراوتر يكون حديث</a:t>
            </a:r>
          </a:p>
          <a:p>
            <a:pPr marL="0" indent="0">
              <a:buNone/>
            </a:pPr>
            <a:r>
              <a:rPr lang="en-US" dirty="0"/>
              <a:t>MSAN active customers only.</a:t>
            </a:r>
          </a:p>
          <a:p>
            <a:pPr marL="0" indent="0">
              <a:buNone/>
            </a:pPr>
            <a:r>
              <a:rPr lang="en-US" dirty="0"/>
              <a:t>Port type should be VDSL.​</a:t>
            </a:r>
          </a:p>
          <a:p>
            <a:pPr marL="0" indent="0">
              <a:buNone/>
            </a:pPr>
            <a:r>
              <a:rPr lang="en-US" dirty="0"/>
              <a:t>Customers should have VDSL router.</a:t>
            </a:r>
            <a:endParaRPr lang="ar-EG" dirty="0"/>
          </a:p>
          <a:p>
            <a:pPr marL="0" indent="0">
              <a:buNone/>
            </a:pPr>
            <a:endParaRPr lang="ar-EG" dirty="0"/>
          </a:p>
          <a:p>
            <a:pPr marL="0" indent="0" algn="r">
              <a:buNone/>
            </a:pPr>
            <a:endParaRPr lang="en-US" dirty="0"/>
          </a:p>
          <a:p>
            <a:pPr marL="0" indent="0" algn="r">
              <a:buNone/>
            </a:pPr>
            <a:endParaRPr lang="ar-EG" dirty="0"/>
          </a:p>
        </p:txBody>
      </p:sp>
      <p:sp>
        <p:nvSpPr>
          <p:cNvPr id="4" name="Content Placeholder 2"/>
          <p:cNvSpPr txBox="1">
            <a:spLocks/>
          </p:cNvSpPr>
          <p:nvPr/>
        </p:nvSpPr>
        <p:spPr>
          <a:xfrm>
            <a:off x="829734" y="2312989"/>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829257465"/>
              </p:ext>
            </p:extLst>
          </p:nvPr>
        </p:nvGraphicFramePr>
        <p:xfrm>
          <a:off x="3797123" y="2750820"/>
          <a:ext cx="6604178" cy="4107180"/>
        </p:xfrm>
        <a:graphic>
          <a:graphicData uri="http://schemas.openxmlformats.org/drawingml/2006/table">
            <a:tbl>
              <a:tblPr>
                <a:tableStyleId>{5C22544A-7EE6-4342-B048-85BDC9FD1C3A}</a:tableStyleId>
              </a:tblPr>
              <a:tblGrid>
                <a:gridCol w="3302089">
                  <a:extLst>
                    <a:ext uri="{9D8B030D-6E8A-4147-A177-3AD203B41FA5}">
                      <a16:colId xmlns:a16="http://schemas.microsoft.com/office/drawing/2014/main" val="3312289267"/>
                    </a:ext>
                  </a:extLst>
                </a:gridCol>
                <a:gridCol w="3302089">
                  <a:extLst>
                    <a:ext uri="{9D8B030D-6E8A-4147-A177-3AD203B41FA5}">
                      <a16:colId xmlns:a16="http://schemas.microsoft.com/office/drawing/2014/main" val="3563961837"/>
                    </a:ext>
                  </a:extLst>
                </a:gridCol>
              </a:tblGrid>
              <a:tr h="595630">
                <a:tc>
                  <a:txBody>
                    <a:bodyPr/>
                    <a:lstStyle/>
                    <a:p>
                      <a:pPr algn="l" fontAlgn="ctr"/>
                      <a:r>
                        <a:rPr lang="en-US" sz="1400" u="none" strike="noStrike" dirty="0">
                          <a:effectLst/>
                          <a:latin typeface="Arial" panose="020B0604020202020204" pitchFamily="34" charset="0"/>
                          <a:cs typeface="Arial" panose="020B0604020202020204" pitchFamily="34" charset="0"/>
                        </a:rPr>
                        <a:t>For customer has ADSL router and his maximum attainable speed is less than 18Mbps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rgbClr val="F3D3C5"/>
                    </a:solidFill>
                  </a:tcPr>
                </a:tc>
                <a:tc>
                  <a:txBody>
                    <a:bodyPr/>
                    <a:lstStyle/>
                    <a:p>
                      <a:pPr algn="l" rtl="1" fontAlgn="ctr"/>
                      <a:r>
                        <a:rPr lang="ar-SA" sz="1400" u="none" strike="noStrike" dirty="0">
                          <a:effectLst/>
                          <a:latin typeface="Arial" panose="020B0604020202020204" pitchFamily="34" charset="0"/>
                          <a:cs typeface="Arial" panose="020B0604020202020204" pitchFamily="34" charset="0"/>
                        </a:rPr>
                        <a:t>للأسف يافندم أقصي سرعة خط حضرتك يتحملها مش هتكون مناسبة لسرعة ال 70 او ال 100 او ال 200 ف الأفضل لحضرتك هى سرعة ال 30.​</a:t>
                      </a:r>
                      <a:endParaRPr lang="ar-SA"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901660072"/>
                  </a:ext>
                </a:extLst>
              </a:tr>
              <a:tr h="1187735">
                <a:tc>
                  <a:txBody>
                    <a:bodyPr/>
                    <a:lstStyle/>
                    <a:p>
                      <a:pPr algn="l" fontAlgn="ctr"/>
                      <a:r>
                        <a:rPr lang="en-US" sz="1400" u="none" strike="noStrike" dirty="0">
                          <a:effectLst/>
                          <a:latin typeface="Arial" panose="020B0604020202020204" pitchFamily="34" charset="0"/>
                          <a:cs typeface="Arial" panose="020B0604020202020204" pitchFamily="34" charset="0"/>
                        </a:rPr>
                        <a:t>For customer has ADSL router and his maximum attainable speed is up to 18Mbps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rgbClr val="F3D3C5"/>
                    </a:solidFill>
                  </a:tcPr>
                </a:tc>
                <a:tc>
                  <a:txBody>
                    <a:bodyPr/>
                    <a:lstStyle/>
                    <a:p>
                      <a:pPr algn="l" rtl="1" fontAlgn="ctr"/>
                      <a:r>
                        <a:rPr lang="ar-SA" sz="1400" u="none" strike="noStrike" dirty="0">
                          <a:effectLst/>
                          <a:latin typeface="Arial" panose="020B0604020202020204" pitchFamily="34" charset="0"/>
                          <a:cs typeface="Arial" panose="020B0604020202020204" pitchFamily="34" charset="0"/>
                        </a:rPr>
                        <a:t>تمام يافندم مفيش اى مشكلة لتغير السرعة لل 70 او ال 100 او ال 200 بس لازم حضرتك يكون معاك راوتر </a:t>
                      </a:r>
                      <a:r>
                        <a:rPr lang="en-US" sz="1400" u="none" strike="noStrike" dirty="0">
                          <a:effectLst/>
                          <a:latin typeface="Arial" panose="020B0604020202020204" pitchFamily="34" charset="0"/>
                          <a:cs typeface="Arial" panose="020B0604020202020204" pitchFamily="34" charset="0"/>
                        </a:rPr>
                        <a:t>High End </a:t>
                      </a:r>
                      <a:r>
                        <a:rPr lang="ar-SA" sz="1400" u="none" strike="noStrike" dirty="0">
                          <a:effectLst/>
                          <a:latin typeface="Arial" panose="020B0604020202020204" pitchFamily="34" charset="0"/>
                          <a:cs typeface="Arial" panose="020B0604020202020204" pitchFamily="34" charset="0"/>
                        </a:rPr>
                        <a:t>عشان تستمتع بالسرعة بالشكل المطلوب وده تقدر تشتريه من فروعنا بخصم 50% يعني سعره هيكون 750 جنيه غير شامل الضريبة تحب اوضحلك اقرب فرع فين.​</a:t>
                      </a:r>
                      <a:endParaRPr lang="ar-SA"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742762776"/>
                  </a:ext>
                </a:extLst>
              </a:tr>
              <a:tr h="398261">
                <a:tc rowSpan="3">
                  <a:txBody>
                    <a:bodyPr/>
                    <a:lstStyle/>
                    <a:p>
                      <a:pPr algn="l" fontAlgn="ctr"/>
                      <a:r>
                        <a:rPr lang="en-US" sz="1400" u="none" strike="noStrike" dirty="0">
                          <a:effectLst/>
                          <a:latin typeface="Arial" panose="020B0604020202020204" pitchFamily="34" charset="0"/>
                          <a:cs typeface="Arial" panose="020B0604020202020204" pitchFamily="34" charset="0"/>
                        </a:rPr>
                        <a:t>For Customer has VDSL router and his maximum attainable speed is less than 55 MBs for up to 70 and 85 MBs for up to 100 &amp; 200​, accordingly agent will create “Bad Line" SR 39013 first</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rgbClr val="F3D3C5"/>
                    </a:solidFill>
                  </a:tcPr>
                </a:tc>
                <a:tc>
                  <a:txBody>
                    <a:bodyPr/>
                    <a:lstStyle/>
                    <a:p>
                      <a:pPr algn="l" rtl="1" fontAlgn="ctr"/>
                      <a:r>
                        <a:rPr lang="ar-SA" sz="1400" u="none" strike="noStrike" dirty="0">
                          <a:effectLst/>
                          <a:latin typeface="Arial" panose="020B0604020202020204" pitchFamily="34" charset="0"/>
                          <a:cs typeface="Arial" panose="020B0604020202020204" pitchFamily="34" charset="0"/>
                        </a:rPr>
                        <a:t>واضح إن قرايات الخط حاليا فيها مشكلة و لازم نفحص الخط الأول علشان نوصل لأفضل قرايات ممكنة</a:t>
                      </a:r>
                      <a:endParaRPr lang="ar-SA"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528522899"/>
                  </a:ext>
                </a:extLst>
              </a:tr>
              <a:tr h="299577">
                <a:tc vMerge="1">
                  <a:txBody>
                    <a:bodyPr/>
                    <a:lstStyle/>
                    <a:p>
                      <a:endParaRPr lang="en-US"/>
                    </a:p>
                  </a:txBody>
                  <a:tcPr/>
                </a:tc>
                <a:tc>
                  <a:txBody>
                    <a:bodyPr/>
                    <a:lstStyle/>
                    <a:p>
                      <a:pPr algn="l" rtl="1" fontAlgn="ctr"/>
                      <a:r>
                        <a:rPr lang="ar-EG" sz="1400" u="none" strike="noStrike" dirty="0">
                          <a:effectLst/>
                          <a:latin typeface="Arial" panose="020B0604020202020204" pitchFamily="34" charset="0"/>
                          <a:cs typeface="Arial" panose="020B0604020202020204" pitchFamily="34" charset="0"/>
                        </a:rPr>
                        <a:t>انا هعمل طلب لحضرتك وفى خلال 48 ساعة عمل هيتم المتابعة</a:t>
                      </a:r>
                      <a:endParaRPr lang="ar-EG"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979055121"/>
                  </a:ext>
                </a:extLst>
              </a:tr>
              <a:tr h="398261">
                <a:tc vMerge="1">
                  <a:txBody>
                    <a:bodyPr/>
                    <a:lstStyle/>
                    <a:p>
                      <a:endParaRPr lang="en-US"/>
                    </a:p>
                  </a:txBody>
                  <a:tcPr/>
                </a:tc>
                <a:tc>
                  <a:txBody>
                    <a:bodyPr/>
                    <a:lstStyle/>
                    <a:p>
                      <a:pPr algn="l" rtl="1" fontAlgn="ctr"/>
                      <a:r>
                        <a:rPr lang="ar-EG" sz="1400" u="none" strike="noStrike" dirty="0">
                          <a:effectLst/>
                          <a:latin typeface="Arial" panose="020B0604020202020204" pitchFamily="34" charset="0"/>
                          <a:cs typeface="Arial" panose="020B0604020202020204" pitchFamily="34" charset="0"/>
                        </a:rPr>
                        <a:t>أستأذن حضرتك تسيب الراوتر شغال والفنى هيتواصل مع حضرتك برسالة أو مكالمة.</a:t>
                      </a:r>
                      <a:endParaRPr lang="ar-EG"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04401038"/>
                  </a:ext>
                </a:extLst>
              </a:tr>
              <a:tr h="299577">
                <a:tc rowSpan="2">
                  <a:txBody>
                    <a:bodyPr/>
                    <a:lstStyle/>
                    <a:p>
                      <a:pPr algn="l" fontAlgn="ctr"/>
                      <a:r>
                        <a:rPr lang="en-US" sz="1400" u="none" strike="noStrike" dirty="0">
                          <a:effectLst/>
                          <a:latin typeface="Arial" panose="020B0604020202020204" pitchFamily="34" charset="0"/>
                          <a:cs typeface="Arial" panose="020B0604020202020204" pitchFamily="34" charset="0"/>
                        </a:rPr>
                        <a:t>For customer has VDSL router and his maximum attainable speed is more than 55 MBs for up to 70 and 85 MBs for up to 100 &amp; 200​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solidFill>
                      <a:srgbClr val="F3D3C5"/>
                    </a:solidFill>
                  </a:tcPr>
                </a:tc>
                <a:tc>
                  <a:txBody>
                    <a:bodyPr/>
                    <a:lstStyle/>
                    <a:p>
                      <a:pPr algn="l" rtl="1" fontAlgn="ctr"/>
                      <a:r>
                        <a:rPr lang="ar-SA" sz="1400" u="none" strike="noStrike" dirty="0">
                          <a:effectLst/>
                          <a:latin typeface="Arial" panose="020B0604020202020204" pitchFamily="34" charset="0"/>
                          <a:cs typeface="Arial" panose="020B0604020202020204" pitchFamily="34" charset="0"/>
                        </a:rPr>
                        <a:t>تمام يافندم هقدم الطلب حالا وهيتم تنفيذه خلال يوم عمل لو الكابينة جاهزة.</a:t>
                      </a:r>
                      <a:endParaRPr lang="ar-SA"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602209747"/>
                  </a:ext>
                </a:extLst>
              </a:tr>
              <a:tr h="394737">
                <a:tc vMerge="1">
                  <a:txBody>
                    <a:bodyPr/>
                    <a:lstStyle/>
                    <a:p>
                      <a:endParaRPr lang="en-US"/>
                    </a:p>
                  </a:txBody>
                  <a:tcPr/>
                </a:tc>
                <a:tc>
                  <a:txBody>
                    <a:bodyPr/>
                    <a:lstStyle/>
                    <a:p>
                      <a:pPr algn="l" rtl="1" fontAlgn="ctr"/>
                      <a:r>
                        <a:rPr lang="ar-EG" sz="1400" u="none" strike="noStrike" dirty="0">
                          <a:effectLst/>
                          <a:latin typeface="Arial" panose="020B0604020202020204" pitchFamily="34" charset="0"/>
                          <a:cs typeface="Arial" panose="020B0604020202020204" pitchFamily="34" charset="0"/>
                        </a:rPr>
                        <a:t>وحضرتك هتحصل على أقصي سرعة ممكنة وده بيعتمد علي كفاءة الخط .</a:t>
                      </a:r>
                      <a:endParaRPr lang="ar-EG" sz="14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376808134"/>
                  </a:ext>
                </a:extLst>
              </a:tr>
            </a:tbl>
          </a:graphicData>
        </a:graphic>
      </p:graphicFrame>
    </p:spTree>
    <p:extLst>
      <p:ext uri="{BB962C8B-B14F-4D97-AF65-F5344CB8AC3E}">
        <p14:creationId xmlns:p14="http://schemas.microsoft.com/office/powerpoint/2010/main" val="2884419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596668" cy="590550"/>
          </a:xfrm>
        </p:spPr>
        <p:txBody>
          <a:bodyPr>
            <a:normAutofit fontScale="90000"/>
          </a:bodyPr>
          <a:lstStyle/>
          <a:p>
            <a:r>
              <a:rPr lang="en-US" b="1" dirty="0"/>
              <a:t>Siebel SRs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34773143"/>
              </p:ext>
            </p:extLst>
          </p:nvPr>
        </p:nvGraphicFramePr>
        <p:xfrm>
          <a:off x="0" y="834014"/>
          <a:ext cx="12192000" cy="6023986"/>
        </p:xfrm>
        <a:graphic>
          <a:graphicData uri="http://schemas.openxmlformats.org/drawingml/2006/table">
            <a:tbl>
              <a:tblPr>
                <a:tableStyleId>{5C22544A-7EE6-4342-B048-85BDC9FD1C3A}</a:tableStyleId>
              </a:tblPr>
              <a:tblGrid>
                <a:gridCol w="1369613">
                  <a:extLst>
                    <a:ext uri="{9D8B030D-6E8A-4147-A177-3AD203B41FA5}">
                      <a16:colId xmlns:a16="http://schemas.microsoft.com/office/drawing/2014/main" val="586406963"/>
                    </a:ext>
                  </a:extLst>
                </a:gridCol>
                <a:gridCol w="2215879">
                  <a:extLst>
                    <a:ext uri="{9D8B030D-6E8A-4147-A177-3AD203B41FA5}">
                      <a16:colId xmlns:a16="http://schemas.microsoft.com/office/drawing/2014/main" val="734491925"/>
                    </a:ext>
                  </a:extLst>
                </a:gridCol>
                <a:gridCol w="2653416">
                  <a:extLst>
                    <a:ext uri="{9D8B030D-6E8A-4147-A177-3AD203B41FA5}">
                      <a16:colId xmlns:a16="http://schemas.microsoft.com/office/drawing/2014/main" val="2631018"/>
                    </a:ext>
                  </a:extLst>
                </a:gridCol>
                <a:gridCol w="930720">
                  <a:extLst>
                    <a:ext uri="{9D8B030D-6E8A-4147-A177-3AD203B41FA5}">
                      <a16:colId xmlns:a16="http://schemas.microsoft.com/office/drawing/2014/main" val="1331551428"/>
                    </a:ext>
                  </a:extLst>
                </a:gridCol>
                <a:gridCol w="842914">
                  <a:extLst>
                    <a:ext uri="{9D8B030D-6E8A-4147-A177-3AD203B41FA5}">
                      <a16:colId xmlns:a16="http://schemas.microsoft.com/office/drawing/2014/main" val="544142455"/>
                    </a:ext>
                  </a:extLst>
                </a:gridCol>
                <a:gridCol w="2124850">
                  <a:extLst>
                    <a:ext uri="{9D8B030D-6E8A-4147-A177-3AD203B41FA5}">
                      <a16:colId xmlns:a16="http://schemas.microsoft.com/office/drawing/2014/main" val="4058037385"/>
                    </a:ext>
                  </a:extLst>
                </a:gridCol>
                <a:gridCol w="2054608">
                  <a:extLst>
                    <a:ext uri="{9D8B030D-6E8A-4147-A177-3AD203B41FA5}">
                      <a16:colId xmlns:a16="http://schemas.microsoft.com/office/drawing/2014/main" val="2458252591"/>
                    </a:ext>
                  </a:extLst>
                </a:gridCol>
              </a:tblGrid>
              <a:tr h="577042">
                <a:tc>
                  <a:txBody>
                    <a:bodyPr/>
                    <a:lstStyle/>
                    <a:p>
                      <a:pPr algn="ctr" fontAlgn="ctr"/>
                      <a:r>
                        <a:rPr lang="en-US" sz="1800" u="none" strike="noStrike" dirty="0">
                          <a:effectLst/>
                          <a:latin typeface="Arial" panose="020B0604020202020204" pitchFamily="34" charset="0"/>
                          <a:cs typeface="Arial" panose="020B0604020202020204" pitchFamily="34" charset="0"/>
                        </a:rPr>
                        <a:t>Short Co​d​e</a:t>
                      </a:r>
                      <a:endParaRPr lang="en-US" sz="1800" b="1" i="0" u="none" strike="noStrike" dirty="0">
                        <a:solidFill>
                          <a:srgbClr val="FFFFFF"/>
                        </a:solidFill>
                        <a:effectLst/>
                        <a:latin typeface="Arial" panose="020B0604020202020204" pitchFamily="34" charset="0"/>
                        <a:cs typeface="Arial" panose="020B0604020202020204" pitchFamily="34" charset="0"/>
                      </a:endParaRPr>
                    </a:p>
                  </a:txBody>
                  <a:tcPr marL="7486" marR="7486" marT="7486" marB="0" anchor="ctr">
                    <a:solidFill>
                      <a:schemeClr val="accent1"/>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Type</a:t>
                      </a:r>
                      <a:endParaRPr lang="en-US" sz="1800" b="1" i="0" u="none" strike="noStrike" dirty="0">
                        <a:solidFill>
                          <a:srgbClr val="FFFFFF"/>
                        </a:solidFill>
                        <a:effectLst/>
                        <a:latin typeface="Arial" panose="020B0604020202020204" pitchFamily="34" charset="0"/>
                        <a:cs typeface="Arial" panose="020B0604020202020204" pitchFamily="34" charset="0"/>
                      </a:endParaRPr>
                    </a:p>
                  </a:txBody>
                  <a:tcPr marL="7486" marR="7486" marT="7486" marB="0" anchor="ctr">
                    <a:solidFill>
                      <a:schemeClr val="accent1"/>
                    </a:solidFill>
                  </a:tcPr>
                </a:tc>
                <a:tc>
                  <a:txBody>
                    <a:bodyPr/>
                    <a:lstStyle/>
                    <a:p>
                      <a:pPr algn="ctr" fontAlgn="ctr"/>
                      <a:r>
                        <a:rPr lang="en-US" sz="1800" u="none" strike="noStrike">
                          <a:effectLst/>
                          <a:latin typeface="Arial" panose="020B0604020202020204" pitchFamily="34" charset="0"/>
                          <a:cs typeface="Arial" panose="020B0604020202020204" pitchFamily="34" charset="0"/>
                        </a:rPr>
                        <a:t>Area</a:t>
                      </a:r>
                      <a:endParaRPr lang="en-US" sz="1800" b="1" i="0" u="none" strike="noStrike">
                        <a:solidFill>
                          <a:srgbClr val="FFFFFF"/>
                        </a:solidFill>
                        <a:effectLst/>
                        <a:latin typeface="Arial" panose="020B0604020202020204" pitchFamily="34" charset="0"/>
                        <a:cs typeface="Arial" panose="020B0604020202020204" pitchFamily="34" charset="0"/>
                      </a:endParaRPr>
                    </a:p>
                  </a:txBody>
                  <a:tcPr marL="7486" marR="7486" marT="7486" marB="0" anchor="ctr">
                    <a:solidFill>
                      <a:schemeClr val="accent1"/>
                    </a:solidFill>
                  </a:tcPr>
                </a:tc>
                <a:tc>
                  <a:txBody>
                    <a:bodyPr/>
                    <a:lstStyle/>
                    <a:p>
                      <a:pPr algn="ctr" fontAlgn="ctr"/>
                      <a:r>
                        <a:rPr lang="en-US" sz="1800" u="none" strike="noStrike">
                          <a:effectLst/>
                          <a:latin typeface="Arial" panose="020B0604020202020204" pitchFamily="34" charset="0"/>
                          <a:cs typeface="Arial" panose="020B0604020202020204" pitchFamily="34" charset="0"/>
                        </a:rPr>
                        <a:t>​Product</a:t>
                      </a:r>
                      <a:endParaRPr lang="en-US" sz="1800" b="1" i="0" u="none" strike="noStrike">
                        <a:solidFill>
                          <a:srgbClr val="FFFFFF"/>
                        </a:solidFill>
                        <a:effectLst/>
                        <a:latin typeface="Arial" panose="020B0604020202020204" pitchFamily="34" charset="0"/>
                        <a:cs typeface="Arial" panose="020B0604020202020204" pitchFamily="34" charset="0"/>
                      </a:endParaRPr>
                    </a:p>
                  </a:txBody>
                  <a:tcPr marL="7486" marR="7486" marT="7486" marB="0" anchor="ctr">
                    <a:solidFill>
                      <a:schemeClr val="accent1"/>
                    </a:solidFill>
                  </a:tcPr>
                </a:tc>
                <a:tc>
                  <a:txBody>
                    <a:bodyPr/>
                    <a:lstStyle/>
                    <a:p>
                      <a:pPr algn="ctr" fontAlgn="ctr"/>
                      <a:r>
                        <a:rPr lang="en-US" sz="1800" u="none" strike="noStrike">
                          <a:effectLst/>
                          <a:latin typeface="Arial" panose="020B0604020202020204" pitchFamily="34" charset="0"/>
                          <a:cs typeface="Arial" panose="020B0604020202020204" pitchFamily="34" charset="0"/>
                        </a:rPr>
                        <a:t>Owner Group</a:t>
                      </a:r>
                      <a:endParaRPr lang="en-US" sz="1800" b="1" i="0" u="none" strike="noStrike">
                        <a:solidFill>
                          <a:srgbClr val="FFFFFF"/>
                        </a:solidFill>
                        <a:effectLst/>
                        <a:latin typeface="Arial" panose="020B0604020202020204" pitchFamily="34" charset="0"/>
                        <a:cs typeface="Arial" panose="020B0604020202020204" pitchFamily="34" charset="0"/>
                      </a:endParaRPr>
                    </a:p>
                  </a:txBody>
                  <a:tcPr marL="7486" marR="7486" marT="7486" marB="0" anchor="ctr">
                    <a:solidFill>
                      <a:schemeClr val="accent1"/>
                    </a:solidFill>
                  </a:tcPr>
                </a:tc>
                <a:tc>
                  <a:txBody>
                    <a:bodyPr/>
                    <a:lstStyle/>
                    <a:p>
                      <a:pPr algn="ctr" fontAlgn="ctr"/>
                      <a:r>
                        <a:rPr lang="en-US" sz="1800" u="none" strike="noStrike">
                          <a:effectLst/>
                          <a:latin typeface="Arial" panose="020B0604020202020204" pitchFamily="34" charset="0"/>
                          <a:cs typeface="Arial" panose="020B0604020202020204" pitchFamily="34" charset="0"/>
                        </a:rPr>
                        <a:t>SLA</a:t>
                      </a:r>
                      <a:endParaRPr lang="en-US" sz="1800" b="1" i="0" u="none" strike="noStrike">
                        <a:solidFill>
                          <a:srgbClr val="FFFFFF"/>
                        </a:solidFill>
                        <a:effectLst/>
                        <a:latin typeface="Arial" panose="020B0604020202020204" pitchFamily="34" charset="0"/>
                        <a:cs typeface="Arial" panose="020B0604020202020204" pitchFamily="34" charset="0"/>
                      </a:endParaRPr>
                    </a:p>
                  </a:txBody>
                  <a:tcPr marL="7486" marR="7486" marT="7486" marB="0" anchor="ctr">
                    <a:solidFill>
                      <a:schemeClr val="accent1"/>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Description</a:t>
                      </a:r>
                      <a:endParaRPr lang="en-US" sz="1800" b="1" i="0" u="none" strike="noStrike" dirty="0">
                        <a:solidFill>
                          <a:srgbClr val="FFFFFF"/>
                        </a:solidFill>
                        <a:effectLst/>
                        <a:latin typeface="Arial" panose="020B0604020202020204" pitchFamily="34" charset="0"/>
                        <a:cs typeface="Arial" panose="020B0604020202020204" pitchFamily="34" charset="0"/>
                      </a:endParaRPr>
                    </a:p>
                  </a:txBody>
                  <a:tcPr marL="7486" marR="7486" marT="7486" marB="0" anchor="ctr">
                    <a:solidFill>
                      <a:schemeClr val="accent1"/>
                    </a:solidFill>
                  </a:tcPr>
                </a:tc>
                <a:extLst>
                  <a:ext uri="{0D108BD9-81ED-4DB2-BD59-A6C34878D82A}">
                    <a16:rowId xmlns:a16="http://schemas.microsoft.com/office/drawing/2014/main" val="1430722885"/>
                  </a:ext>
                </a:extLst>
              </a:tr>
              <a:tr h="1146316">
                <a:tc>
                  <a:txBody>
                    <a:bodyPr/>
                    <a:lstStyle/>
                    <a:p>
                      <a:pPr algn="ctr" fontAlgn="ctr"/>
                      <a:r>
                        <a:rPr lang="en-US" sz="1800" u="none" strike="noStrike">
                          <a:effectLst/>
                          <a:latin typeface="Arial" panose="020B0604020202020204" pitchFamily="34" charset="0"/>
                          <a:cs typeface="Arial" panose="020B0604020202020204" pitchFamily="34" charset="0"/>
                        </a:rPr>
                        <a:t>502​6</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DSL Service-</a:t>
                      </a:r>
                      <a:r>
                        <a:rPr lang="en-US" sz="1800" u="none" strike="noStrike" dirty="0" err="1">
                          <a:effectLst/>
                          <a:latin typeface="Arial" panose="020B0604020202020204" pitchFamily="34" charset="0"/>
                          <a:cs typeface="Arial" panose="020B0604020202020204" pitchFamily="34" charset="0"/>
                        </a:rPr>
                        <a:t>Acc</a:t>
                      </a:r>
                      <a:r>
                        <a:rPr lang="en-US" sz="1800" u="none" strike="noStrike" dirty="0">
                          <a:effectLst/>
                          <a:latin typeface="Arial" panose="020B0604020202020204" pitchFamily="34" charset="0"/>
                          <a:cs typeface="Arial" panose="020B0604020202020204" pitchFamily="34" charset="0"/>
                        </a:rPr>
                        <a:t> Administration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Change Instant Package</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Home DSL Packages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On Spot</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Automated SR upon upgrading between up to 30 Mbps packages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extLst>
                  <a:ext uri="{0D108BD9-81ED-4DB2-BD59-A6C34878D82A}">
                    <a16:rowId xmlns:a16="http://schemas.microsoft.com/office/drawing/2014/main" val="2372040460"/>
                  </a:ext>
                </a:extLst>
              </a:tr>
              <a:tr h="1430954">
                <a:tc>
                  <a:txBody>
                    <a:bodyPr/>
                    <a:lstStyle/>
                    <a:p>
                      <a:pPr algn="ctr" fontAlgn="ctr"/>
                      <a:r>
                        <a:rPr lang="en-US" sz="1800" u="none" strike="noStrike">
                          <a:effectLst/>
                          <a:latin typeface="Arial" panose="020B0604020202020204" pitchFamily="34" charset="0"/>
                          <a:cs typeface="Arial" panose="020B0604020202020204" pitchFamily="34" charset="0"/>
                        </a:rPr>
                        <a:t>5014</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DSL Service-Acc Administration</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Change Special Packages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Home DSL Packages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DSL Splitting Team</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1 WD In case of Ready Cabinet &amp; From 3 to 5 WDs in case of Not Ready Cabinet</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Automated SR upon upgrading to up to 70,100,200 packages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extLst>
                  <a:ext uri="{0D108BD9-81ED-4DB2-BD59-A6C34878D82A}">
                    <a16:rowId xmlns:a16="http://schemas.microsoft.com/office/drawing/2014/main" val="4016356990"/>
                  </a:ext>
                </a:extLst>
              </a:tr>
              <a:tr h="1146316">
                <a:tc>
                  <a:txBody>
                    <a:bodyPr/>
                    <a:lstStyle/>
                    <a:p>
                      <a:pPr algn="ctr" fontAlgn="ctr"/>
                      <a:r>
                        <a:rPr lang="en-US" sz="1800" u="none" strike="noStrike">
                          <a:effectLst/>
                          <a:latin typeface="Arial" panose="020B0604020202020204" pitchFamily="34" charset="0"/>
                          <a:cs typeface="Arial" panose="020B0604020202020204" pitchFamily="34" charset="0"/>
                        </a:rPr>
                        <a:t>33357</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DSL Fault Fulfill Line Changes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Can't Upgrade​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ADSL</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DSL CH VAS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48 Whrs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In case facing any ​error while submitting the upgrade request</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extLst>
                  <a:ext uri="{0D108BD9-81ED-4DB2-BD59-A6C34878D82A}">
                    <a16:rowId xmlns:a16="http://schemas.microsoft.com/office/drawing/2014/main" val="688508750"/>
                  </a:ext>
                </a:extLst>
              </a:tr>
              <a:tr h="861679">
                <a:tc rowSpan="2">
                  <a:txBody>
                    <a:bodyPr/>
                    <a:lstStyle/>
                    <a:p>
                      <a:pPr algn="ctr" fontAlgn="ctr"/>
                      <a:r>
                        <a:rPr lang="en-US" sz="1800" u="none" strike="noStrike">
                          <a:effectLst/>
                          <a:latin typeface="Arial" panose="020B0604020202020204" pitchFamily="34" charset="0"/>
                          <a:cs typeface="Arial" panose="020B0604020202020204" pitchFamily="34" charset="0"/>
                        </a:rPr>
                        <a:t>418005</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rowSpan="2">
                  <a:txBody>
                    <a:bodyPr/>
                    <a:lstStyle/>
                    <a:p>
                      <a:pPr algn="ctr" fontAlgn="ctr"/>
                      <a:r>
                        <a:rPr lang="en-US" sz="1800" u="none" strike="noStrike">
                          <a:effectLst/>
                          <a:latin typeface="Arial" panose="020B0604020202020204" pitchFamily="34" charset="0"/>
                          <a:cs typeface="Arial" panose="020B0604020202020204" pitchFamily="34" charset="0"/>
                        </a:rPr>
                        <a:t>DSL G Info For Products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rowSpan="2">
                  <a:txBody>
                    <a:bodyPr/>
                    <a:lstStyle/>
                    <a:p>
                      <a:pPr algn="ctr" fontAlgn="ctr"/>
                      <a:r>
                        <a:rPr lang="en-US" sz="1800" u="none" strike="noStrike">
                          <a:effectLst/>
                          <a:latin typeface="Arial" panose="020B0604020202020204" pitchFamily="34" charset="0"/>
                          <a:cs typeface="Arial" panose="020B0604020202020204" pitchFamily="34" charset="0"/>
                        </a:rPr>
                        <a:t>New Packages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rowSpan="2">
                  <a:txBody>
                    <a:bodyPr/>
                    <a:lstStyle/>
                    <a:p>
                      <a:pPr algn="ctr" fontAlgn="ctr"/>
                      <a:r>
                        <a:rPr lang="en-US" sz="1800" u="none" strike="noStrike">
                          <a:effectLst/>
                          <a:latin typeface="Arial" panose="020B0604020202020204" pitchFamily="34" charset="0"/>
                          <a:cs typeface="Arial" panose="020B0604020202020204" pitchFamily="34" charset="0"/>
                        </a:rPr>
                        <a:t>Home DSL Packages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tc rowSpan="2">
                  <a:txBody>
                    <a:bodyPr/>
                    <a:lstStyle/>
                    <a:p>
                      <a:pPr algn="ctr" fontAlgn="ctr"/>
                      <a:r>
                        <a:rPr lang="en-US" sz="1800" u="none" strike="noStrike" dirty="0">
                          <a:effectLst/>
                          <a:latin typeface="Arial" panose="020B0604020202020204" pitchFamily="34" charset="0"/>
                          <a:cs typeface="Arial" panose="020B0604020202020204" pitchFamily="34" charset="0"/>
                        </a:rPr>
                        <a:t>--</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486" marR="7486" marT="7486" marB="0" anchor="ctr"/>
                </a:tc>
                <a:tc rowSpan="2">
                  <a:txBody>
                    <a:bodyPr/>
                    <a:lstStyle/>
                    <a:p>
                      <a:pPr algn="ctr" fontAlgn="ctr"/>
                      <a:r>
                        <a:rPr lang="en-US" sz="1800" u="none" strike="noStrike" dirty="0">
                          <a:effectLst/>
                          <a:latin typeface="Arial" panose="020B0604020202020204" pitchFamily="34" charset="0"/>
                          <a:cs typeface="Arial" panose="020B0604020202020204" pitchFamily="34" charset="0"/>
                        </a:rPr>
                        <a:t>--</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486" marR="7486" marT="7486"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For general inquiries about upgrade rules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486" marR="7486" marT="7486" marB="0" anchor="ctr"/>
                </a:tc>
                <a:extLst>
                  <a:ext uri="{0D108BD9-81ED-4DB2-BD59-A6C34878D82A}">
                    <a16:rowId xmlns:a16="http://schemas.microsoft.com/office/drawing/2014/main" val="1954490086"/>
                  </a:ext>
                </a:extLst>
              </a:tr>
              <a:tr h="86167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800" u="none" strike="noStrike" dirty="0">
                          <a:effectLst/>
                          <a:latin typeface="Arial" panose="020B0604020202020204" pitchFamily="34" charset="0"/>
                          <a:cs typeface="Arial" panose="020B0604020202020204" pitchFamily="34" charset="0"/>
                        </a:rPr>
                        <a:t>Sub Area: Informed - Package Upgrade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486" marR="7486" marT="7486" marB="0" anchor="ctr"/>
                </a:tc>
                <a:extLst>
                  <a:ext uri="{0D108BD9-81ED-4DB2-BD59-A6C34878D82A}">
                    <a16:rowId xmlns:a16="http://schemas.microsoft.com/office/drawing/2014/main" val="3724660551"/>
                  </a:ext>
                </a:extLst>
              </a:tr>
            </a:tbl>
          </a:graphicData>
        </a:graphic>
      </p:graphicFrame>
    </p:spTree>
    <p:extLst>
      <p:ext uri="{BB962C8B-B14F-4D97-AF65-F5344CB8AC3E}">
        <p14:creationId xmlns:p14="http://schemas.microsoft.com/office/powerpoint/2010/main" val="10118417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596668" cy="802640"/>
          </a:xfrm>
        </p:spPr>
        <p:txBody>
          <a:bodyPr/>
          <a:lstStyle/>
          <a:p>
            <a:r>
              <a:rPr lang="en-US" b="1" dirty="0"/>
              <a:t>Upgrade Upselling Offer:</a:t>
            </a:r>
            <a:r>
              <a:rPr lang="en-US" dirty="0"/>
              <a:t> </a:t>
            </a:r>
          </a:p>
        </p:txBody>
      </p:sp>
      <p:sp>
        <p:nvSpPr>
          <p:cNvPr id="3" name="Content Placeholder 2"/>
          <p:cNvSpPr>
            <a:spLocks noGrp="1"/>
          </p:cNvSpPr>
          <p:nvPr>
            <p:ph idx="1"/>
          </p:nvPr>
        </p:nvSpPr>
        <p:spPr>
          <a:xfrm>
            <a:off x="0" y="802640"/>
            <a:ext cx="9274002" cy="6055359"/>
          </a:xfrm>
        </p:spPr>
        <p:txBody>
          <a:bodyPr/>
          <a:lstStyle/>
          <a:p>
            <a:pPr marL="0" indent="0" algn="r">
              <a:buNone/>
            </a:pPr>
            <a:r>
              <a:rPr lang="ar-EG" dirty="0"/>
              <a:t>يمكن العميل يعلي الباقه وياخد عرض عن </a:t>
            </a:r>
            <a:r>
              <a:rPr lang="ar-EG" dirty="0">
                <a:solidFill>
                  <a:schemeClr val="accent1"/>
                </a:solidFill>
              </a:rPr>
              <a:t>طريق خدمه العملا والشات وقسم العروض </a:t>
            </a:r>
          </a:p>
          <a:p>
            <a:pPr marL="0" indent="0">
              <a:buNone/>
            </a:pPr>
            <a:r>
              <a:rPr lang="en-US" dirty="0">
                <a:solidFill>
                  <a:schemeClr val="accent1"/>
                </a:solidFill>
              </a:rPr>
              <a:t>Offer is available through Call Center, DSL Click To Chat, Social Media &amp; Upselling Team only.</a:t>
            </a:r>
            <a:endParaRPr lang="ar-EG" dirty="0">
              <a:solidFill>
                <a:schemeClr val="accent1"/>
              </a:solidFill>
            </a:endParaRPr>
          </a:p>
          <a:p>
            <a:pPr marL="0" indent="0" algn="r">
              <a:buNone/>
            </a:pPr>
            <a:r>
              <a:rPr lang="ar-EG" dirty="0"/>
              <a:t>في حاله حصول العميل علي باقه بعرض </a:t>
            </a:r>
            <a:r>
              <a:rPr lang="ar-EG" dirty="0">
                <a:solidFill>
                  <a:schemeClr val="accent1"/>
                </a:solidFill>
              </a:rPr>
              <a:t>وقرر يعلي الباقه هيكمل بنفس العرض الي معاه </a:t>
            </a:r>
          </a:p>
          <a:p>
            <a:pPr marL="0" indent="0" algn="r">
              <a:buNone/>
            </a:pPr>
            <a:r>
              <a:rPr lang="ar-EG" dirty="0">
                <a:solidFill>
                  <a:schemeClr val="accent1"/>
                </a:solidFill>
              </a:rPr>
              <a:t>مش متاح اضافه عرض علي عرض </a:t>
            </a:r>
          </a:p>
          <a:p>
            <a:pPr marL="0" indent="0" algn="r">
              <a:buNone/>
            </a:pPr>
            <a:r>
              <a:rPr lang="ar-EG" dirty="0">
                <a:solidFill>
                  <a:schemeClr val="accent1"/>
                </a:solidFill>
              </a:rPr>
              <a:t>مش متاح ازاله عرض واضافه عرض اخر </a:t>
            </a:r>
          </a:p>
          <a:p>
            <a:pPr marL="0" indent="0">
              <a:buNone/>
            </a:pPr>
            <a:r>
              <a:rPr lang="en-US" dirty="0">
                <a:latin typeface="Arial" panose="020B0604020202020204" pitchFamily="34" charset="0"/>
                <a:cs typeface="Arial" panose="020B0604020202020204" pitchFamily="34" charset="0"/>
              </a:rPr>
              <a:t>Offer Matrix:</a:t>
            </a:r>
            <a:r>
              <a:rPr lang="ar-EG" dirty="0">
                <a:latin typeface="Arial" panose="020B0604020202020204" pitchFamily="34" charset="0"/>
                <a:cs typeface="Arial" panose="020B0604020202020204" pitchFamily="34" charset="0"/>
              </a:rPr>
              <a:t>.....</a:t>
            </a:r>
          </a:p>
          <a:p>
            <a:pPr marL="0" indent="0" algn="r">
              <a:buNone/>
            </a:pPr>
            <a:endParaRPr lang="ar-EG" dirty="0"/>
          </a:p>
          <a:p>
            <a:pPr marL="0" indent="0" algn="r">
              <a:buNone/>
            </a:pPr>
            <a:endParaRPr lang="en-US" dirty="0"/>
          </a:p>
        </p:txBody>
      </p:sp>
    </p:spTree>
    <p:extLst>
      <p:ext uri="{BB962C8B-B14F-4D97-AF65-F5344CB8AC3E}">
        <p14:creationId xmlns:p14="http://schemas.microsoft.com/office/powerpoint/2010/main" val="15698855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599440"/>
          </a:xfrm>
        </p:spPr>
        <p:txBody>
          <a:bodyPr>
            <a:normAutofit fontScale="90000"/>
          </a:bodyPr>
          <a:lstStyle/>
          <a:p>
            <a:r>
              <a:rPr lang="en-US" b="1" dirty="0"/>
              <a:t>Offer Matrix:</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6922303"/>
              </p:ext>
            </p:extLst>
          </p:nvPr>
        </p:nvGraphicFramePr>
        <p:xfrm>
          <a:off x="0" y="0"/>
          <a:ext cx="12192000" cy="7654020"/>
        </p:xfrm>
        <a:graphic>
          <a:graphicData uri="http://schemas.openxmlformats.org/drawingml/2006/table">
            <a:tbl>
              <a:tblPr>
                <a:tableStyleId>{5C22544A-7EE6-4342-B048-85BDC9FD1C3A}</a:tableStyleId>
              </a:tblPr>
              <a:tblGrid>
                <a:gridCol w="1048181">
                  <a:extLst>
                    <a:ext uri="{9D8B030D-6E8A-4147-A177-3AD203B41FA5}">
                      <a16:colId xmlns:a16="http://schemas.microsoft.com/office/drawing/2014/main" val="4031230429"/>
                    </a:ext>
                  </a:extLst>
                </a:gridCol>
                <a:gridCol w="1075765">
                  <a:extLst>
                    <a:ext uri="{9D8B030D-6E8A-4147-A177-3AD203B41FA5}">
                      <a16:colId xmlns:a16="http://schemas.microsoft.com/office/drawing/2014/main" val="2742420353"/>
                    </a:ext>
                  </a:extLst>
                </a:gridCol>
                <a:gridCol w="1075765">
                  <a:extLst>
                    <a:ext uri="{9D8B030D-6E8A-4147-A177-3AD203B41FA5}">
                      <a16:colId xmlns:a16="http://schemas.microsoft.com/office/drawing/2014/main" val="917437027"/>
                    </a:ext>
                  </a:extLst>
                </a:gridCol>
                <a:gridCol w="1075765">
                  <a:extLst>
                    <a:ext uri="{9D8B030D-6E8A-4147-A177-3AD203B41FA5}">
                      <a16:colId xmlns:a16="http://schemas.microsoft.com/office/drawing/2014/main" val="4096030272"/>
                    </a:ext>
                  </a:extLst>
                </a:gridCol>
                <a:gridCol w="1048181">
                  <a:extLst>
                    <a:ext uri="{9D8B030D-6E8A-4147-A177-3AD203B41FA5}">
                      <a16:colId xmlns:a16="http://schemas.microsoft.com/office/drawing/2014/main" val="2755664257"/>
                    </a:ext>
                  </a:extLst>
                </a:gridCol>
                <a:gridCol w="1048181">
                  <a:extLst>
                    <a:ext uri="{9D8B030D-6E8A-4147-A177-3AD203B41FA5}">
                      <a16:colId xmlns:a16="http://schemas.microsoft.com/office/drawing/2014/main" val="347120170"/>
                    </a:ext>
                  </a:extLst>
                </a:gridCol>
                <a:gridCol w="1048181">
                  <a:extLst>
                    <a:ext uri="{9D8B030D-6E8A-4147-A177-3AD203B41FA5}">
                      <a16:colId xmlns:a16="http://schemas.microsoft.com/office/drawing/2014/main" val="2294492434"/>
                    </a:ext>
                  </a:extLst>
                </a:gridCol>
                <a:gridCol w="965430">
                  <a:extLst>
                    <a:ext uri="{9D8B030D-6E8A-4147-A177-3AD203B41FA5}">
                      <a16:colId xmlns:a16="http://schemas.microsoft.com/office/drawing/2014/main" val="70160128"/>
                    </a:ext>
                  </a:extLst>
                </a:gridCol>
                <a:gridCol w="965430">
                  <a:extLst>
                    <a:ext uri="{9D8B030D-6E8A-4147-A177-3AD203B41FA5}">
                      <a16:colId xmlns:a16="http://schemas.microsoft.com/office/drawing/2014/main" val="3396695596"/>
                    </a:ext>
                  </a:extLst>
                </a:gridCol>
                <a:gridCol w="965430">
                  <a:extLst>
                    <a:ext uri="{9D8B030D-6E8A-4147-A177-3AD203B41FA5}">
                      <a16:colId xmlns:a16="http://schemas.microsoft.com/office/drawing/2014/main" val="3403046463"/>
                    </a:ext>
                  </a:extLst>
                </a:gridCol>
                <a:gridCol w="965430">
                  <a:extLst>
                    <a:ext uri="{9D8B030D-6E8A-4147-A177-3AD203B41FA5}">
                      <a16:colId xmlns:a16="http://schemas.microsoft.com/office/drawing/2014/main" val="3356497041"/>
                    </a:ext>
                  </a:extLst>
                </a:gridCol>
                <a:gridCol w="910261">
                  <a:extLst>
                    <a:ext uri="{9D8B030D-6E8A-4147-A177-3AD203B41FA5}">
                      <a16:colId xmlns:a16="http://schemas.microsoft.com/office/drawing/2014/main" val="3745878201"/>
                    </a:ext>
                  </a:extLst>
                </a:gridCol>
              </a:tblGrid>
              <a:tr h="435102">
                <a:tc rowSpan="2">
                  <a:txBody>
                    <a:bodyPr/>
                    <a:lstStyle/>
                    <a:p>
                      <a:pPr algn="ctr" fontAlgn="ctr"/>
                      <a:r>
                        <a:rPr lang="en-US" sz="1050" u="none" strike="noStrike" dirty="0">
                          <a:effectLst/>
                          <a:latin typeface="Arial" panose="020B0604020202020204" pitchFamily="34" charset="0"/>
                          <a:cs typeface="Arial" panose="020B0604020202020204" pitchFamily="34" charset="0"/>
                        </a:rPr>
                        <a:t>Main Package \ To</a:t>
                      </a:r>
                      <a:endParaRPr lang="en-US" sz="1050" b="1" i="0" u="none" strike="noStrike" dirty="0">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Home Internet 290 (200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Home Internet 360 (250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Home Internet 420 (300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Home Internet 520 (250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Home Internet 680 (500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Home Internet 700 (300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Home Internet 1040 (600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Home Internet 1560 (1000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Home Internet 1040 (750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Home Internet 1230 (600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Home Internet 1760 (1000 GBs) </a:t>
                      </a:r>
                      <a:endParaRPr lang="en-US" sz="1050" b="1" i="0" u="none" strike="noStrike" dirty="0">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extLst>
                  <a:ext uri="{0D108BD9-81ED-4DB2-BD59-A6C34878D82A}">
                    <a16:rowId xmlns:a16="http://schemas.microsoft.com/office/drawing/2014/main" val="3444983107"/>
                  </a:ext>
                </a:extLst>
              </a:tr>
              <a:tr h="291724">
                <a:tc vMerge="1">
                  <a:txBody>
                    <a:bodyPr/>
                    <a:lstStyle/>
                    <a:p>
                      <a:endParaRPr lang="en-US"/>
                    </a:p>
                  </a:txBody>
                  <a:tcPr/>
                </a:tc>
                <a:tc>
                  <a:txBody>
                    <a:bodyPr/>
                    <a:lstStyle/>
                    <a:p>
                      <a:pPr algn="ctr" fontAlgn="ctr"/>
                      <a:r>
                        <a:rPr lang="en-US" sz="1050" u="none" strike="noStrike" dirty="0">
                          <a:effectLst/>
                          <a:latin typeface="Arial" panose="020B0604020202020204" pitchFamily="34" charset="0"/>
                          <a:cs typeface="Arial" panose="020B0604020202020204" pitchFamily="34" charset="0"/>
                        </a:rPr>
                        <a:t>Speed 30 Mbps</a:t>
                      </a:r>
                      <a:endParaRPr lang="en-US" sz="1050" b="1" i="0" u="none" strike="noStrike" dirty="0">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Speed 30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Speed 30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Speed 70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Speed 30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Speed 100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Speed 70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Speed 70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Speed 30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Speed 100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Speed 200 Mbps</a:t>
                      </a:r>
                      <a:endParaRPr lang="en-US" sz="1050" b="1" i="0" u="none" strike="noStrike" dirty="0">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extLst>
                  <a:ext uri="{0D108BD9-81ED-4DB2-BD59-A6C34878D82A}">
                    <a16:rowId xmlns:a16="http://schemas.microsoft.com/office/drawing/2014/main" val="1612637009"/>
                  </a:ext>
                </a:extLst>
              </a:tr>
              <a:tr h="435102">
                <a:tc>
                  <a:txBody>
                    <a:bodyPr/>
                    <a:lstStyle/>
                    <a:p>
                      <a:pPr algn="ctr" fontAlgn="ctr"/>
                      <a:r>
                        <a:rPr lang="en-US" sz="1050" u="none" strike="noStrike">
                          <a:effectLst/>
                          <a:latin typeface="Arial" panose="020B0604020202020204" pitchFamily="34" charset="0"/>
                          <a:cs typeface="Arial" panose="020B0604020202020204" pitchFamily="34" charset="0"/>
                        </a:rPr>
                        <a:t>Home Internet 210 (140 GBs) </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10% * 3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20% * 3 + 250GB *1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3 + 300GB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3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3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+ 600GB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3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+ 750GB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3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*3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741094451"/>
                  </a:ext>
                </a:extLst>
              </a:tr>
              <a:tr h="148346">
                <a:tc>
                  <a:txBody>
                    <a:bodyPr/>
                    <a:lstStyle/>
                    <a:p>
                      <a:pPr algn="ctr" fontAlgn="ctr"/>
                      <a:r>
                        <a:rPr lang="en-US" sz="1050" u="none" strike="noStrike">
                          <a:effectLst/>
                          <a:latin typeface="Arial" panose="020B0604020202020204" pitchFamily="34" charset="0"/>
                          <a:cs typeface="Arial" panose="020B0604020202020204" pitchFamily="34" charset="0"/>
                        </a:rPr>
                        <a:t>(239.4 L.E)</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301.6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338.4</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373.8</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462.8</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605.2</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623</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1388.4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1094.7</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1566.4</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2130852642"/>
                  </a:ext>
                </a:extLst>
              </a:tr>
              <a:tr h="435102">
                <a:tc>
                  <a:txBody>
                    <a:bodyPr/>
                    <a:lstStyle/>
                    <a:p>
                      <a:pPr algn="ctr" fontAlgn="ctr"/>
                      <a:r>
                        <a:rPr lang="en-US" sz="1050" u="none" strike="noStrike">
                          <a:effectLst/>
                          <a:latin typeface="Arial" panose="020B0604020202020204" pitchFamily="34" charset="0"/>
                          <a:cs typeface="Arial" panose="020B0604020202020204" pitchFamily="34" charset="0"/>
                        </a:rPr>
                        <a:t>Home Internet 260 (180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10*6 + 250GB *1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3 Months + 300GB *1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3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20% * 3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+ 750GB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1335758462"/>
                  </a:ext>
                </a:extLst>
              </a:tr>
              <a:tr h="148346">
                <a:tc>
                  <a:txBody>
                    <a:bodyPr/>
                    <a:lstStyle/>
                    <a:p>
                      <a:pPr algn="ctr" fontAlgn="ctr"/>
                      <a:r>
                        <a:rPr lang="en-US" sz="1050" u="none" strike="noStrike">
                          <a:effectLst/>
                          <a:latin typeface="Arial" panose="020B0604020202020204" pitchFamily="34" charset="0"/>
                          <a:cs typeface="Arial" panose="020B0604020202020204" pitchFamily="34" charset="0"/>
                        </a:rPr>
                        <a:t>(296.4 L.E)</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330.6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374.4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373.8</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462.8</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605.2</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658</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1388.4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1094.7</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1566.4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2722041771"/>
                  </a:ext>
                </a:extLst>
              </a:tr>
              <a:tr h="435102">
                <a:tc>
                  <a:txBody>
                    <a:bodyPr/>
                    <a:lstStyle/>
                    <a:p>
                      <a:pPr algn="ctr" fontAlgn="ctr"/>
                      <a:r>
                        <a:rPr lang="en-US" sz="1050" u="none" strike="noStrike">
                          <a:effectLst/>
                          <a:latin typeface="Arial" panose="020B0604020202020204" pitchFamily="34" charset="0"/>
                          <a:cs typeface="Arial" panose="020B0604020202020204" pitchFamily="34" charset="0"/>
                        </a:rPr>
                        <a:t>Home Internet 290 (200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20% * 3 Months + 300GB *1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10% + 250GB *1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+ 500GB * 1Month</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+ 600GB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+ 750GB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+ 600GB *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3992109851"/>
                  </a:ext>
                </a:extLst>
              </a:tr>
              <a:tr h="148346">
                <a:tc>
                  <a:txBody>
                    <a:bodyPr/>
                    <a:lstStyle/>
                    <a:p>
                      <a:pPr algn="ctr" fontAlgn="ctr"/>
                      <a:r>
                        <a:rPr lang="en-US" sz="1050" u="none" strike="noStrike">
                          <a:effectLst/>
                          <a:latin typeface="Arial" panose="020B0604020202020204" pitchFamily="34" charset="0"/>
                          <a:cs typeface="Arial" panose="020B0604020202020204" pitchFamily="34" charset="0"/>
                        </a:rPr>
                        <a:t>(330.6 L.E)</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vMerge="1">
                  <a:txBody>
                    <a:bodyPr/>
                    <a:lstStyle/>
                    <a:p>
                      <a:endParaRPr lang="en-US"/>
                    </a:p>
                  </a:txBody>
                  <a:tcPr/>
                </a:tc>
                <a:tc vMerge="1">
                  <a:txBody>
                    <a:bodyPr/>
                    <a:lstStyle/>
                    <a:p>
                      <a:endParaRPr lang="en-US"/>
                    </a:p>
                  </a:txBody>
                  <a:tcPr/>
                </a:tc>
                <a:tc>
                  <a:txBody>
                    <a:bodyPr/>
                    <a:lstStyle/>
                    <a:p>
                      <a:pPr algn="ctr" fontAlgn="ctr"/>
                      <a:r>
                        <a:rPr lang="en-US" sz="1050" u="none" strike="noStrike" dirty="0">
                          <a:effectLst/>
                          <a:latin typeface="Arial" panose="020B0604020202020204" pitchFamily="34" charset="0"/>
                          <a:cs typeface="Arial" panose="020B0604020202020204" pitchFamily="34" charset="0"/>
                        </a:rPr>
                        <a:t>394.8</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540.8</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605.2</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623</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1388.4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1094.7</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1566.4</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2174115921"/>
                  </a:ext>
                </a:extLst>
              </a:tr>
              <a:tr h="435102">
                <a:tc>
                  <a:txBody>
                    <a:bodyPr/>
                    <a:lstStyle/>
                    <a:p>
                      <a:pPr algn="ctr" fontAlgn="ctr"/>
                      <a:r>
                        <a:rPr lang="en-US" sz="1050" u="none" strike="noStrike">
                          <a:effectLst/>
                          <a:latin typeface="Arial" panose="020B0604020202020204" pitchFamily="34" charset="0"/>
                          <a:cs typeface="Arial" panose="020B0604020202020204" pitchFamily="34" charset="0"/>
                        </a:rPr>
                        <a:t>Home Internet 360 (250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100GB*1 Month</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250GB * 1 Month</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+ 600GB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+ 750GB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444510686"/>
                  </a:ext>
                </a:extLst>
              </a:tr>
              <a:tr h="148346">
                <a:tc>
                  <a:txBody>
                    <a:bodyPr/>
                    <a:lstStyle/>
                    <a:p>
                      <a:pPr algn="ctr" fontAlgn="ctr"/>
                      <a:r>
                        <a:rPr lang="en-US" sz="1050" u="none" strike="noStrike">
                          <a:effectLst/>
                          <a:latin typeface="Arial" panose="020B0604020202020204" pitchFamily="34" charset="0"/>
                          <a:cs typeface="Arial" panose="020B0604020202020204" pitchFamily="34" charset="0"/>
                        </a:rPr>
                        <a:t>(410.4 L.E)</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vMerge="1">
                  <a:txBody>
                    <a:bodyPr/>
                    <a:lstStyle/>
                    <a:p>
                      <a:endParaRPr lang="en-US"/>
                    </a:p>
                  </a:txBody>
                  <a:tcPr/>
                </a:tc>
                <a:tc vMerge="1">
                  <a:txBody>
                    <a:bodyPr/>
                    <a:lstStyle/>
                    <a:p>
                      <a:endParaRPr lang="en-US"/>
                    </a:p>
                  </a:txBody>
                  <a:tcPr/>
                </a:tc>
                <a:tc>
                  <a:txBody>
                    <a:bodyPr/>
                    <a:lstStyle/>
                    <a:p>
                      <a:pPr algn="ctr" fontAlgn="ctr"/>
                      <a:r>
                        <a:rPr lang="en-US" sz="1050" u="none" strike="noStrike">
                          <a:effectLst/>
                          <a:latin typeface="Arial" panose="020B0604020202020204" pitchFamily="34" charset="0"/>
                          <a:cs typeface="Arial" panose="020B0604020202020204" pitchFamily="34" charset="0"/>
                        </a:rPr>
                        <a:t>478.8</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592.8</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605.2</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623</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1388.4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1094.7</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1566.4</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4282044983"/>
                  </a:ext>
                </a:extLst>
              </a:tr>
              <a:tr h="435102">
                <a:tc>
                  <a:txBody>
                    <a:bodyPr/>
                    <a:lstStyle/>
                    <a:p>
                      <a:pPr algn="ctr" fontAlgn="ctr"/>
                      <a:r>
                        <a:rPr lang="en-US" sz="1050" u="none" strike="noStrike">
                          <a:effectLst/>
                          <a:latin typeface="Arial" panose="020B0604020202020204" pitchFamily="34" charset="0"/>
                          <a:cs typeface="Arial" panose="020B0604020202020204" pitchFamily="34" charset="0"/>
                        </a:rPr>
                        <a:t>Home Internet 420 (300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250GB * 1 Month</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+ 300GB * 1Month</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3735689405"/>
                  </a:ext>
                </a:extLst>
              </a:tr>
              <a:tr h="148346">
                <a:tc>
                  <a:txBody>
                    <a:bodyPr/>
                    <a:lstStyle/>
                    <a:p>
                      <a:pPr algn="ctr" fontAlgn="ctr"/>
                      <a:r>
                        <a:rPr lang="en-US" sz="1050" u="none" strike="noStrike">
                          <a:effectLst/>
                          <a:latin typeface="Arial" panose="020B0604020202020204" pitchFamily="34" charset="0"/>
                          <a:cs typeface="Arial" panose="020B0604020202020204" pitchFamily="34" charset="0"/>
                        </a:rPr>
                        <a:t>(478.8 L.E)</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050" u="none" strike="noStrike">
                          <a:effectLst/>
                          <a:latin typeface="Arial" panose="020B0604020202020204" pitchFamily="34" charset="0"/>
                          <a:cs typeface="Arial" panose="020B0604020202020204" pitchFamily="34" charset="0"/>
                        </a:rPr>
                        <a:t>592.8</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605.2</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623</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1388.4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1094.7</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1566.4</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3411492977"/>
                  </a:ext>
                </a:extLst>
              </a:tr>
              <a:tr h="435102">
                <a:tc>
                  <a:txBody>
                    <a:bodyPr/>
                    <a:lstStyle/>
                    <a:p>
                      <a:pPr algn="ctr" fontAlgn="ctr"/>
                      <a:r>
                        <a:rPr lang="en-US" sz="1050" u="none" strike="noStrike">
                          <a:effectLst/>
                          <a:latin typeface="Arial" panose="020B0604020202020204" pitchFamily="34" charset="0"/>
                          <a:cs typeface="Arial" panose="020B0604020202020204" pitchFamily="34" charset="0"/>
                        </a:rPr>
                        <a:t>Home Internet 520 (250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10%*3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10% + 300GB*1Month</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 + 750GB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+ 600GBs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1401056048"/>
                  </a:ext>
                </a:extLst>
              </a:tr>
              <a:tr h="148346">
                <a:tc>
                  <a:txBody>
                    <a:bodyPr/>
                    <a:lstStyle/>
                    <a:p>
                      <a:pPr algn="ctr" fontAlgn="ctr"/>
                      <a:r>
                        <a:rPr lang="en-US" sz="1050" u="none" strike="noStrike">
                          <a:effectLst/>
                          <a:latin typeface="Arial" panose="020B0604020202020204" pitchFamily="34" charset="0"/>
                          <a:cs typeface="Arial" panose="020B0604020202020204" pitchFamily="34" charset="0"/>
                        </a:rPr>
                        <a:t>(592.8 L.E)</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050" u="none" strike="noStrike">
                          <a:effectLst/>
                          <a:latin typeface="Arial" panose="020B0604020202020204" pitchFamily="34" charset="0"/>
                          <a:cs typeface="Arial" panose="020B0604020202020204" pitchFamily="34" charset="0"/>
                        </a:rPr>
                        <a:t>707.2</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728</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1388.4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1081.6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1094.7</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1566.4</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429809356"/>
                  </a:ext>
                </a:extLst>
              </a:tr>
              <a:tr h="435102">
                <a:tc>
                  <a:txBody>
                    <a:bodyPr/>
                    <a:lstStyle/>
                    <a:p>
                      <a:pPr algn="ctr" fontAlgn="ctr"/>
                      <a:r>
                        <a:rPr lang="en-US" sz="1050" u="none" strike="noStrike">
                          <a:effectLst/>
                          <a:latin typeface="Arial" panose="020B0604020202020204" pitchFamily="34" charset="0"/>
                          <a:cs typeface="Arial" panose="020B0604020202020204" pitchFamily="34" charset="0"/>
                        </a:rPr>
                        <a:t>Home Internet 680 (500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20%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 + 600GBs *1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1101676815"/>
                  </a:ext>
                </a:extLst>
              </a:tr>
              <a:tr h="148346">
                <a:tc>
                  <a:txBody>
                    <a:bodyPr/>
                    <a:lstStyle/>
                    <a:p>
                      <a:pPr algn="ctr" fontAlgn="ctr"/>
                      <a:r>
                        <a:rPr lang="en-US" sz="1050" u="none" strike="noStrike" dirty="0">
                          <a:effectLst/>
                          <a:latin typeface="Arial" panose="020B0604020202020204" pitchFamily="34" charset="0"/>
                          <a:cs typeface="Arial" panose="020B0604020202020204" pitchFamily="34" charset="0"/>
                        </a:rPr>
                        <a:t>(775.2 L.E)</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050" u="none" strike="noStrike" dirty="0">
                          <a:effectLst/>
                          <a:latin typeface="Arial" panose="020B0604020202020204" pitchFamily="34" charset="0"/>
                          <a:cs typeface="Arial" panose="020B0604020202020204" pitchFamily="34" charset="0"/>
                        </a:rPr>
                        <a:t>977.6</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1388.4</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925.6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1094.7</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1566.4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4028860317"/>
                  </a:ext>
                </a:extLst>
              </a:tr>
              <a:tr h="291724">
                <a:tc>
                  <a:txBody>
                    <a:bodyPr/>
                    <a:lstStyle/>
                    <a:p>
                      <a:pPr algn="ctr" fontAlgn="ctr"/>
                      <a:r>
                        <a:rPr lang="en-US" sz="1050" u="none" strike="noStrike">
                          <a:effectLst/>
                          <a:latin typeface="Arial" panose="020B0604020202020204" pitchFamily="34" charset="0"/>
                          <a:cs typeface="Arial" panose="020B0604020202020204" pitchFamily="34" charset="0"/>
                        </a:rPr>
                        <a:t>Home Internet 700 (300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20%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20%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25%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4014646661"/>
                  </a:ext>
                </a:extLst>
              </a:tr>
              <a:tr h="148346">
                <a:tc>
                  <a:txBody>
                    <a:bodyPr/>
                    <a:lstStyle/>
                    <a:p>
                      <a:pPr algn="ctr" fontAlgn="ctr"/>
                      <a:r>
                        <a:rPr lang="en-US" sz="1050" u="none" strike="noStrike" dirty="0">
                          <a:effectLst/>
                          <a:latin typeface="Arial" panose="020B0604020202020204" pitchFamily="34" charset="0"/>
                          <a:cs typeface="Arial" panose="020B0604020202020204" pitchFamily="34" charset="0"/>
                        </a:rPr>
                        <a:t>(798 L.E)</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050" u="none" strike="noStrike">
                          <a:effectLst/>
                          <a:latin typeface="Arial" panose="020B0604020202020204" pitchFamily="34" charset="0"/>
                          <a:cs typeface="Arial" panose="020B0604020202020204" pitchFamily="34" charset="0"/>
                        </a:rPr>
                        <a:t>977.6</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1388.4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977.6</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1094.7</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1566.4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1181480150"/>
                  </a:ext>
                </a:extLst>
              </a:tr>
              <a:tr h="435102">
                <a:tc>
                  <a:txBody>
                    <a:bodyPr/>
                    <a:lstStyle/>
                    <a:p>
                      <a:pPr algn="ctr" fontAlgn="ctr"/>
                      <a:r>
                        <a:rPr lang="en-US" sz="1050" u="none" strike="noStrike">
                          <a:effectLst/>
                          <a:latin typeface="Arial" panose="020B0604020202020204" pitchFamily="34" charset="0"/>
                          <a:cs typeface="Arial" panose="020B0604020202020204" pitchFamily="34" charset="0"/>
                        </a:rPr>
                        <a:t>Home Internet 1040 (750 GBs) Speed 30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25%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20%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3556946413"/>
                  </a:ext>
                </a:extLst>
              </a:tr>
              <a:tr h="148346">
                <a:tc>
                  <a:txBody>
                    <a:bodyPr/>
                    <a:lstStyle/>
                    <a:p>
                      <a:pPr algn="ctr" fontAlgn="ctr"/>
                      <a:r>
                        <a:rPr lang="en-US" sz="1050" u="none" strike="noStrike">
                          <a:effectLst/>
                          <a:latin typeface="Arial" panose="020B0604020202020204" pitchFamily="34" charset="0"/>
                          <a:cs typeface="Arial" panose="020B0604020202020204" pitchFamily="34" charset="0"/>
                        </a:rPr>
                        <a:t>(1185.6 L.E)</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050" u="none" strike="noStrike" dirty="0">
                          <a:effectLst/>
                          <a:latin typeface="Arial" panose="020B0604020202020204" pitchFamily="34" charset="0"/>
                          <a:cs typeface="Arial" panose="020B0604020202020204" pitchFamily="34" charset="0"/>
                        </a:rPr>
                        <a:t>1388.4</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vMerge="1">
                  <a:txBody>
                    <a:bodyPr/>
                    <a:lstStyle/>
                    <a:p>
                      <a:endParaRPr lang="en-US"/>
                    </a:p>
                  </a:txBody>
                  <a:tcPr/>
                </a:tc>
                <a:tc>
                  <a:txBody>
                    <a:bodyPr/>
                    <a:lstStyle/>
                    <a:p>
                      <a:pPr algn="ctr" fontAlgn="ctr"/>
                      <a:r>
                        <a:rPr lang="en-US" sz="1050" u="none" strike="noStrike" dirty="0">
                          <a:effectLst/>
                          <a:latin typeface="Arial" panose="020B0604020202020204" pitchFamily="34" charset="0"/>
                          <a:cs typeface="Arial" panose="020B0604020202020204" pitchFamily="34" charset="0"/>
                        </a:rPr>
                        <a:t>1279.2</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1654.4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2492748287"/>
                  </a:ext>
                </a:extLst>
              </a:tr>
              <a:tr h="291724">
                <a:tc>
                  <a:txBody>
                    <a:bodyPr/>
                    <a:lstStyle/>
                    <a:p>
                      <a:pPr algn="ctr" fontAlgn="ctr"/>
                      <a:r>
                        <a:rPr lang="en-US" sz="1050" u="none" strike="noStrike">
                          <a:effectLst/>
                          <a:latin typeface="Arial" panose="020B0604020202020204" pitchFamily="34" charset="0"/>
                          <a:cs typeface="Arial" panose="020B0604020202020204" pitchFamily="34" charset="0"/>
                        </a:rPr>
                        <a:t>Home Internet 1230 (600 GBs)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10%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rowSpan="2">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20%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2670606191"/>
                  </a:ext>
                </a:extLst>
              </a:tr>
              <a:tr h="148346">
                <a:tc>
                  <a:txBody>
                    <a:bodyPr/>
                    <a:lstStyle/>
                    <a:p>
                      <a:pPr algn="ctr" fontAlgn="ctr"/>
                      <a:r>
                        <a:rPr lang="en-US" sz="1050" u="none" strike="noStrike">
                          <a:effectLst/>
                          <a:latin typeface="Arial" panose="020B0604020202020204" pitchFamily="34" charset="0"/>
                          <a:cs typeface="Arial" panose="020B0604020202020204" pitchFamily="34" charset="0"/>
                        </a:rPr>
                        <a:t>(1402.2 L.E)</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050" u="none" strike="noStrike" dirty="0">
                          <a:effectLst/>
                          <a:latin typeface="Arial" panose="020B0604020202020204" pitchFamily="34" charset="0"/>
                          <a:cs typeface="Arial" panose="020B0604020202020204" pitchFamily="34" charset="0"/>
                        </a:rPr>
                        <a:t>1622.4</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vMerge="1">
                  <a:txBody>
                    <a:bodyPr/>
                    <a:lstStyle/>
                    <a:p>
                      <a:endParaRPr lang="en-US"/>
                    </a:p>
                  </a:txBody>
                  <a:tcPr/>
                </a:tc>
                <a:tc vMerge="1">
                  <a:txBody>
                    <a:bodyPr/>
                    <a:lstStyle/>
                    <a:p>
                      <a:endParaRPr lang="en-US"/>
                    </a:p>
                  </a:txBody>
                  <a:tcPr/>
                </a:tc>
                <a:tc>
                  <a:txBody>
                    <a:bodyPr/>
                    <a:lstStyle/>
                    <a:p>
                      <a:pPr algn="ctr" fontAlgn="ctr"/>
                      <a:r>
                        <a:rPr lang="en-US" sz="1050" u="none" strike="noStrike">
                          <a:effectLst/>
                          <a:latin typeface="Arial" panose="020B0604020202020204" pitchFamily="34" charset="0"/>
                          <a:cs typeface="Arial" panose="020B0604020202020204" pitchFamily="34" charset="0"/>
                        </a:rPr>
                        <a:t>1654.4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633769931"/>
                  </a:ext>
                </a:extLst>
              </a:tr>
              <a:tr h="435102">
                <a:tc>
                  <a:txBody>
                    <a:bodyPr/>
                    <a:lstStyle/>
                    <a:p>
                      <a:pPr algn="ctr" fontAlgn="ctr"/>
                      <a:r>
                        <a:rPr lang="en-US" sz="1050" u="none" strike="noStrike">
                          <a:effectLst/>
                          <a:latin typeface="Arial" panose="020B0604020202020204" pitchFamily="34" charset="0"/>
                          <a:cs typeface="Arial" panose="020B0604020202020204" pitchFamily="34" charset="0"/>
                        </a:rPr>
                        <a:t>Home Internet 1040 (600 GBs) Speed 70 Mbps</a:t>
                      </a:r>
                      <a:endParaRPr lang="en-US" sz="1050" b="1" i="0" u="none" strike="noStrike">
                        <a:solidFill>
                          <a:srgbClr val="FFFFFF"/>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10% * 4 Months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 </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10%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20% * 4 Months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2565211442"/>
                  </a:ext>
                </a:extLst>
              </a:tr>
              <a:tr h="148346">
                <a:tc>
                  <a:txBody>
                    <a:bodyPr/>
                    <a:lstStyle/>
                    <a:p>
                      <a:pPr algn="ctr" fontAlgn="ctr"/>
                      <a:r>
                        <a:rPr lang="en-US" sz="1050" u="none" strike="noStrike" dirty="0">
                          <a:effectLst/>
                          <a:latin typeface="Arial" panose="020B0604020202020204" pitchFamily="34" charset="0"/>
                          <a:cs typeface="Arial" panose="020B0604020202020204" pitchFamily="34" charset="0"/>
                        </a:rPr>
                        <a:t>(1185.6 L.E)</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chemeClr val="accent1"/>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1622.4</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 </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a:effectLst/>
                          <a:latin typeface="Arial" panose="020B0604020202020204" pitchFamily="34" charset="0"/>
                          <a:cs typeface="Arial" panose="020B0604020202020204" pitchFamily="34" charset="0"/>
                        </a:rPr>
                        <a:t>1279.2</a:t>
                      </a:r>
                      <a:endParaRPr lang="en-US" sz="1050" b="1" i="0" u="none" strike="noStrike">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tc>
                  <a:txBody>
                    <a:bodyPr/>
                    <a:lstStyle/>
                    <a:p>
                      <a:pPr algn="ctr" fontAlgn="ctr"/>
                      <a:r>
                        <a:rPr lang="en-US" sz="1050" u="none" strike="noStrike" dirty="0">
                          <a:effectLst/>
                          <a:latin typeface="Arial" panose="020B0604020202020204" pitchFamily="34" charset="0"/>
                          <a:cs typeface="Arial" panose="020B0604020202020204" pitchFamily="34" charset="0"/>
                        </a:rPr>
                        <a:t>1654.4</a:t>
                      </a:r>
                      <a:endParaRPr lang="en-US" sz="1050" b="1" i="0" u="none" strike="noStrike" dirty="0">
                        <a:solidFill>
                          <a:srgbClr val="000000"/>
                        </a:solidFill>
                        <a:effectLst/>
                        <a:latin typeface="Arial" panose="020B0604020202020204" pitchFamily="34" charset="0"/>
                        <a:cs typeface="Arial" panose="020B0604020202020204" pitchFamily="34" charset="0"/>
                      </a:endParaRPr>
                    </a:p>
                  </a:txBody>
                  <a:tcPr marL="5545" marR="5545" marT="5545" marB="0" anchor="ctr">
                    <a:solidFill>
                      <a:srgbClr val="F3D3C5"/>
                    </a:solidFill>
                  </a:tcPr>
                </a:tc>
                <a:extLst>
                  <a:ext uri="{0D108BD9-81ED-4DB2-BD59-A6C34878D82A}">
                    <a16:rowId xmlns:a16="http://schemas.microsoft.com/office/drawing/2014/main" val="4136627390"/>
                  </a:ext>
                </a:extLst>
              </a:tr>
            </a:tbl>
          </a:graphicData>
        </a:graphic>
      </p:graphicFrame>
    </p:spTree>
    <p:extLst>
      <p:ext uri="{BB962C8B-B14F-4D97-AF65-F5344CB8AC3E}">
        <p14:creationId xmlns:p14="http://schemas.microsoft.com/office/powerpoint/2010/main" val="17349747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596668" cy="783771"/>
          </a:xfrm>
        </p:spPr>
        <p:txBody>
          <a:bodyPr>
            <a:normAutofit fontScale="90000"/>
          </a:bodyPr>
          <a:lstStyle/>
          <a:p>
            <a:r>
              <a:rPr lang="en-US" dirty="0">
                <a:latin typeface="Arial Black" panose="020B0A04020102020204" pitchFamily="34" charset="0"/>
                <a:cs typeface="Arial" panose="020B0604020202020204" pitchFamily="34" charset="0"/>
              </a:rPr>
              <a:t>Upselling Dropping</a:t>
            </a:r>
            <a:br>
              <a:rPr lang="en-US" dirty="0">
                <a:latin typeface="Arial Black" panose="020B0A04020102020204" pitchFamily="34" charset="0"/>
                <a:cs typeface="Arial" panose="020B0604020202020204" pitchFamily="34" charset="0"/>
              </a:rPr>
            </a:br>
            <a:endParaRPr lang="en-US" dirty="0">
              <a:latin typeface="Arial Black" panose="020B0A04020102020204" pitchFamily="34" charset="0"/>
            </a:endParaRPr>
          </a:p>
        </p:txBody>
      </p:sp>
      <p:sp>
        <p:nvSpPr>
          <p:cNvPr id="3" name="Content Placeholder 2"/>
          <p:cNvSpPr>
            <a:spLocks noGrp="1"/>
          </p:cNvSpPr>
          <p:nvPr>
            <p:ph idx="1"/>
          </p:nvPr>
        </p:nvSpPr>
        <p:spPr>
          <a:xfrm>
            <a:off x="0" y="1245997"/>
            <a:ext cx="9636369" cy="5612004"/>
          </a:xfrm>
        </p:spPr>
        <p:txBody>
          <a:bodyPr/>
          <a:lstStyle/>
          <a:p>
            <a:pPr marL="0" indent="0" algn="r">
              <a:lnSpc>
                <a:spcPct val="150000"/>
              </a:lnSpc>
              <a:buNone/>
            </a:pPr>
            <a:r>
              <a:rPr lang="ar-EG" dirty="0"/>
              <a:t>في حاله ان العميل وجد الفاتوره غاليه بسبب انه علي الباقه </a:t>
            </a:r>
            <a:r>
              <a:rPr lang="ar-EG" dirty="0">
                <a:solidFill>
                  <a:schemeClr val="accent1"/>
                </a:solidFill>
              </a:rPr>
              <a:t>وميعرفش ان في فرق ايام</a:t>
            </a:r>
            <a:r>
              <a:rPr lang="ar-EG" dirty="0"/>
              <a:t> </a:t>
            </a:r>
          </a:p>
          <a:p>
            <a:pPr marL="0" indent="0" algn="r">
              <a:lnSpc>
                <a:spcPct val="150000"/>
              </a:lnSpc>
              <a:buNone/>
            </a:pPr>
            <a:r>
              <a:rPr lang="ar-EG" dirty="0"/>
              <a:t> موظف خدمه العملاء او قسم العروض </a:t>
            </a:r>
            <a:r>
              <a:rPr lang="ar-EG" dirty="0">
                <a:solidFill>
                  <a:schemeClr val="accent1"/>
                </a:solidFill>
              </a:rPr>
              <a:t>موضحش ان فرق الايام هيتحاسب عليها .</a:t>
            </a:r>
          </a:p>
          <a:p>
            <a:pPr marL="0" indent="0" algn="r">
              <a:lnSpc>
                <a:spcPct val="150000"/>
              </a:lnSpc>
              <a:buNone/>
            </a:pPr>
            <a:r>
              <a:rPr lang="ar-EG" dirty="0"/>
              <a:t>هفتح الشكوي ....</a:t>
            </a:r>
          </a:p>
          <a:p>
            <a:pPr marL="0" indent="0" algn="r">
              <a:buNone/>
            </a:pPr>
            <a:endParaRPr lang="ar-EG" dirty="0"/>
          </a:p>
        </p:txBody>
      </p:sp>
      <p:graphicFrame>
        <p:nvGraphicFramePr>
          <p:cNvPr id="4" name="Table 3"/>
          <p:cNvGraphicFramePr>
            <a:graphicFrameLocks noGrp="1"/>
          </p:cNvGraphicFramePr>
          <p:nvPr>
            <p:extLst>
              <p:ext uri="{D42A27DB-BD31-4B8C-83A1-F6EECF244321}">
                <p14:modId xmlns:p14="http://schemas.microsoft.com/office/powerpoint/2010/main" val="1389481620"/>
              </p:ext>
            </p:extLst>
          </p:nvPr>
        </p:nvGraphicFramePr>
        <p:xfrm>
          <a:off x="0" y="3223415"/>
          <a:ext cx="9503667" cy="1280160"/>
        </p:xfrm>
        <a:graphic>
          <a:graphicData uri="http://schemas.openxmlformats.org/drawingml/2006/table">
            <a:tbl>
              <a:tblPr/>
              <a:tblGrid>
                <a:gridCol w="675888">
                  <a:extLst>
                    <a:ext uri="{9D8B030D-6E8A-4147-A177-3AD203B41FA5}">
                      <a16:colId xmlns:a16="http://schemas.microsoft.com/office/drawing/2014/main" val="1278324507"/>
                    </a:ext>
                  </a:extLst>
                </a:gridCol>
                <a:gridCol w="1468662">
                  <a:extLst>
                    <a:ext uri="{9D8B030D-6E8A-4147-A177-3AD203B41FA5}">
                      <a16:colId xmlns:a16="http://schemas.microsoft.com/office/drawing/2014/main" val="1325063422"/>
                    </a:ext>
                  </a:extLst>
                </a:gridCol>
                <a:gridCol w="1682362">
                  <a:extLst>
                    <a:ext uri="{9D8B030D-6E8A-4147-A177-3AD203B41FA5}">
                      <a16:colId xmlns:a16="http://schemas.microsoft.com/office/drawing/2014/main" val="3266927714"/>
                    </a:ext>
                  </a:extLst>
                </a:gridCol>
                <a:gridCol w="1376871">
                  <a:extLst>
                    <a:ext uri="{9D8B030D-6E8A-4147-A177-3AD203B41FA5}">
                      <a16:colId xmlns:a16="http://schemas.microsoft.com/office/drawing/2014/main" val="1029735320"/>
                    </a:ext>
                  </a:extLst>
                </a:gridCol>
                <a:gridCol w="1687777">
                  <a:extLst>
                    <a:ext uri="{9D8B030D-6E8A-4147-A177-3AD203B41FA5}">
                      <a16:colId xmlns:a16="http://schemas.microsoft.com/office/drawing/2014/main" val="2234833856"/>
                    </a:ext>
                  </a:extLst>
                </a:gridCol>
                <a:gridCol w="2612107">
                  <a:extLst>
                    <a:ext uri="{9D8B030D-6E8A-4147-A177-3AD203B41FA5}">
                      <a16:colId xmlns:a16="http://schemas.microsoft.com/office/drawing/2014/main" val="761910619"/>
                    </a:ext>
                  </a:extLst>
                </a:gridCol>
              </a:tblGrid>
              <a:tr h="657805">
                <a:tc>
                  <a:txBody>
                    <a:bodyPr/>
                    <a:lstStyle/>
                    <a:p>
                      <a:pPr algn="ctr"/>
                      <a:r>
                        <a:rPr lang="en-US" sz="1400" dirty="0">
                          <a:effectLst/>
                          <a:latin typeface="Arial" panose="020B0604020202020204" pitchFamily="34" charset="0"/>
                          <a:cs typeface="Arial" panose="020B0604020202020204" pitchFamily="34" charset="0"/>
                        </a:rPr>
                        <a:t>16063</a:t>
                      </a:r>
                    </a:p>
                  </a:txBody>
                  <a:tcPr marL="67275" marR="672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a-DK" sz="1400" dirty="0">
                          <a:effectLst/>
                          <a:latin typeface="Arial" panose="020B0604020202020204" pitchFamily="34" charset="0"/>
                          <a:cs typeface="Arial" panose="020B0604020202020204" pitchFamily="34" charset="0"/>
                        </a:rPr>
                        <a:t>DSL Acc Mod For Billing</a:t>
                      </a:r>
                    </a:p>
                  </a:txBody>
                  <a:tcPr marL="67275" marR="672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effectLst/>
                          <a:latin typeface="Arial" panose="020B0604020202020204" pitchFamily="34" charset="0"/>
                          <a:cs typeface="Arial" panose="020B0604020202020204" pitchFamily="34" charset="0"/>
                        </a:rPr>
                        <a:t>Upselling Dropping</a:t>
                      </a:r>
                    </a:p>
                  </a:txBody>
                  <a:tcPr marL="67275" marR="672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solidFill>
                            <a:srgbClr val="FFFFFF"/>
                          </a:solidFill>
                          <a:effectLst/>
                          <a:latin typeface="Arial" panose="020B0604020202020204" pitchFamily="34" charset="0"/>
                          <a:cs typeface="Arial" panose="020B0604020202020204" pitchFamily="34" charset="0"/>
                        </a:rPr>
                        <a:t>Invoice Flag</a:t>
                      </a:r>
                      <a:endParaRPr lang="en-US" sz="1400" dirty="0">
                        <a:effectLst/>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sz="1400" b="1" dirty="0">
                          <a:solidFill>
                            <a:srgbClr val="FFFFFF"/>
                          </a:solidFill>
                          <a:effectLst/>
                          <a:latin typeface="Arial" panose="020B0604020202020204" pitchFamily="34" charset="0"/>
                          <a:cs typeface="Arial" panose="020B0604020202020204" pitchFamily="34" charset="0"/>
                        </a:rPr>
                        <a:t>Owner Group &amp; SLA</a:t>
                      </a:r>
                      <a:endParaRPr lang="en-US" sz="1400" dirty="0">
                        <a:effectLst/>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sz="1400" dirty="0">
                          <a:effectLst/>
                          <a:latin typeface="Arial" panose="020B0604020202020204" pitchFamily="34" charset="0"/>
                          <a:cs typeface="Arial" panose="020B0604020202020204" pitchFamily="34" charset="0"/>
                        </a:rPr>
                        <a:t>In case customer is complaining that agent didn’t inform him/her with add item amount which will be added on his/her next bill after upselling offer</a:t>
                      </a:r>
                    </a:p>
                  </a:txBody>
                  <a:tcPr marL="67275" marR="672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0738291"/>
                  </a:ext>
                </a:extLst>
              </a:tr>
            </a:tbl>
          </a:graphicData>
        </a:graphic>
      </p:graphicFrame>
    </p:spTree>
    <p:extLst>
      <p:ext uri="{BB962C8B-B14F-4D97-AF65-F5344CB8AC3E}">
        <p14:creationId xmlns:p14="http://schemas.microsoft.com/office/powerpoint/2010/main" val="39004950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894080"/>
          </a:xfrm>
        </p:spPr>
        <p:txBody>
          <a:bodyPr>
            <a:normAutofit fontScale="90000"/>
          </a:bodyPr>
          <a:lstStyle/>
          <a:p>
            <a:r>
              <a:rPr lang="en-US" dirty="0">
                <a:solidFill>
                  <a:schemeClr val="tx1"/>
                </a:solidFill>
                <a:latin typeface="Arial Black" panose="020B0A04020102020204" pitchFamily="34" charset="0"/>
                <a:cs typeface="Arial" panose="020B0604020202020204" pitchFamily="34" charset="0"/>
              </a:rPr>
              <a:t>Package Downgrade</a:t>
            </a:r>
            <a:br>
              <a:rPr lang="en-US" dirty="0">
                <a:latin typeface="Arial Black" panose="020B0A04020102020204" pitchFamily="34" charset="0"/>
                <a:cs typeface="Arial" panose="020B0604020202020204" pitchFamily="34" charset="0"/>
              </a:rPr>
            </a:br>
            <a:r>
              <a:rPr lang="en-US" dirty="0">
                <a:solidFill>
                  <a:schemeClr val="tx1"/>
                </a:solidFill>
                <a:latin typeface="Arial Black" panose="020B0A04020102020204" pitchFamily="34" charset="0"/>
                <a:cs typeface="Arial" panose="020B0604020202020204" pitchFamily="34" charset="0"/>
              </a:rPr>
              <a:t>​</a:t>
            </a:r>
            <a:endParaRPr lang="en-US" dirty="0"/>
          </a:p>
        </p:txBody>
      </p:sp>
      <p:sp>
        <p:nvSpPr>
          <p:cNvPr id="3" name="Content Placeholder 2"/>
          <p:cNvSpPr>
            <a:spLocks noGrp="1"/>
          </p:cNvSpPr>
          <p:nvPr>
            <p:ph idx="1"/>
          </p:nvPr>
        </p:nvSpPr>
        <p:spPr>
          <a:xfrm>
            <a:off x="689610" y="731521"/>
            <a:ext cx="8451042" cy="6126479"/>
          </a:xfrm>
        </p:spPr>
        <p:txBody>
          <a:bodyPr>
            <a:normAutofit fontScale="77500" lnSpcReduction="20000"/>
          </a:bodyPr>
          <a:lstStyle/>
          <a:p>
            <a:r>
              <a:rPr lang="en-US" sz="2300" b="1" dirty="0">
                <a:solidFill>
                  <a:schemeClr val="accent1"/>
                </a:solidFill>
                <a:latin typeface="Arial Black" panose="020B0A04020102020204" pitchFamily="34" charset="0"/>
                <a:cs typeface="Arial" panose="020B0604020202020204" pitchFamily="34" charset="0"/>
              </a:rPr>
              <a:t>Packages' Details</a:t>
            </a:r>
            <a:r>
              <a:rPr lang="en-US" sz="2300" b="1" dirty="0">
                <a:solidFill>
                  <a:schemeClr val="accent1"/>
                </a:solidFill>
                <a:latin typeface="Arial Black" panose="020B0A04020102020204" pitchFamily="34" charset="0"/>
              </a:rPr>
              <a:t>:</a:t>
            </a:r>
            <a:endParaRPr lang="ar-EG" sz="2300" b="1" dirty="0">
              <a:solidFill>
                <a:schemeClr val="accent1"/>
              </a:solidFill>
              <a:latin typeface="Arial Black" panose="020B0A04020102020204" pitchFamily="34" charset="0"/>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endParaRPr lang="ar-EG" b="1" dirty="0">
              <a:solidFill>
                <a:schemeClr val="accent1"/>
              </a:solidFill>
            </a:endParaRPr>
          </a:p>
          <a:p>
            <a:pPr marL="0" indent="0">
              <a:buNone/>
            </a:pPr>
            <a:endParaRPr lang="ar-EG" b="1" dirty="0">
              <a:solidFill>
                <a:schemeClr val="accent1"/>
              </a:solidFill>
            </a:endParaRPr>
          </a:p>
          <a:p>
            <a:pPr marL="0" indent="0">
              <a:buNone/>
            </a:pPr>
            <a:endParaRPr lang="ar-EG" b="1" dirty="0">
              <a:solidFill>
                <a:schemeClr val="accent1"/>
              </a:solidFill>
            </a:endParaRPr>
          </a:p>
          <a:p>
            <a:r>
              <a:rPr lang="en-US" sz="2300" dirty="0">
                <a:solidFill>
                  <a:schemeClr val="accent1"/>
                </a:solidFill>
                <a:latin typeface="Arial Black" panose="020B0A04020102020204" pitchFamily="34" charset="0"/>
                <a:cs typeface="Arial" panose="020B0604020202020204" pitchFamily="34" charset="0"/>
              </a:rPr>
              <a:t>Upgrade Channel</a:t>
            </a:r>
          </a:p>
          <a:p>
            <a:pPr marL="457200" indent="-457200">
              <a:buFont typeface="+mj-lt"/>
              <a:buAutoNum type="arabicPeriod"/>
            </a:pPr>
            <a:r>
              <a:rPr lang="en-US" sz="1900" dirty="0">
                <a:solidFill>
                  <a:schemeClr val="tx1"/>
                </a:solidFill>
                <a:latin typeface="Arial" panose="020B0604020202020204" pitchFamily="34" charset="0"/>
                <a:cs typeface="Arial" panose="020B0604020202020204" pitchFamily="34" charset="0"/>
              </a:rPr>
              <a:t>Orange Portal (Using DSL Wi-Fi connection)</a:t>
            </a:r>
          </a:p>
          <a:p>
            <a:pPr marL="457200" indent="-457200">
              <a:buFont typeface="+mj-lt"/>
              <a:buAutoNum type="arabicPeriod"/>
            </a:pPr>
            <a:r>
              <a:rPr lang="en-US" sz="2100" dirty="0">
                <a:solidFill>
                  <a:schemeClr val="tx1"/>
                </a:solidFill>
                <a:latin typeface="Arial" panose="020B0604020202020204" pitchFamily="34" charset="0"/>
                <a:cs typeface="Arial" panose="020B0604020202020204" pitchFamily="34" charset="0"/>
              </a:rPr>
              <a:t>My Orange Application (From registered mobile #)</a:t>
            </a:r>
          </a:p>
          <a:p>
            <a:pPr marL="457200" indent="-457200">
              <a:buFont typeface="+mj-lt"/>
              <a:buAutoNum type="arabicPeriod"/>
            </a:pPr>
            <a:r>
              <a:rPr lang="en-US" sz="2100" dirty="0">
                <a:solidFill>
                  <a:schemeClr val="tx1"/>
                </a:solidFill>
                <a:latin typeface="Arial" panose="020B0604020202020204" pitchFamily="34" charset="0"/>
                <a:cs typeface="Arial" panose="020B0604020202020204" pitchFamily="34" charset="0"/>
              </a:rPr>
              <a:t>16333 Call Center/Click To Chat/Digital Customer Care</a:t>
            </a:r>
          </a:p>
          <a:p>
            <a:pPr marL="457200" indent="-457200">
              <a:buFont typeface="+mj-lt"/>
              <a:buAutoNum type="arabicPeriod"/>
            </a:pPr>
            <a:r>
              <a:rPr lang="en-US" sz="2100" dirty="0">
                <a:solidFill>
                  <a:schemeClr val="tx1"/>
                </a:solidFill>
                <a:latin typeface="Arial" panose="020B0604020202020204" pitchFamily="34" charset="0"/>
                <a:cs typeface="Arial" panose="020B0604020202020204" pitchFamily="34" charset="0"/>
              </a:rPr>
              <a:t>Shops &amp; Franchises​</a:t>
            </a:r>
          </a:p>
          <a:p>
            <a:pPr marL="457200" indent="-457200">
              <a:buFont typeface="+mj-lt"/>
              <a:buAutoNum type="arabicPeriod"/>
            </a:pPr>
            <a:r>
              <a:rPr lang="en-US" sz="2100" dirty="0">
                <a:solidFill>
                  <a:schemeClr val="tx1"/>
                </a:solidFill>
                <a:latin typeface="Arial" panose="020B0604020202020204" pitchFamily="34" charset="0"/>
                <a:cs typeface="Arial" panose="020B0604020202020204" pitchFamily="34" charset="0"/>
              </a:rPr>
              <a:t>Resellers</a:t>
            </a:r>
          </a:p>
          <a:p>
            <a:endParaRPr lang="en-US" dirty="0">
              <a:solidFill>
                <a:schemeClr val="accent1"/>
              </a:solidFill>
            </a:endParaRPr>
          </a:p>
        </p:txBody>
      </p:sp>
      <p:graphicFrame>
        <p:nvGraphicFramePr>
          <p:cNvPr id="4" name="Table 3"/>
          <p:cNvGraphicFramePr>
            <a:graphicFrameLocks noGrp="1"/>
          </p:cNvGraphicFramePr>
          <p:nvPr/>
        </p:nvGraphicFramePr>
        <p:xfrm>
          <a:off x="0" y="1345565"/>
          <a:ext cx="7985759" cy="3414644"/>
        </p:xfrm>
        <a:graphic>
          <a:graphicData uri="http://schemas.openxmlformats.org/drawingml/2006/table">
            <a:tbl>
              <a:tblPr>
                <a:tableStyleId>{5C22544A-7EE6-4342-B048-85BDC9FD1C3A}</a:tableStyleId>
              </a:tblPr>
              <a:tblGrid>
                <a:gridCol w="1456987">
                  <a:extLst>
                    <a:ext uri="{9D8B030D-6E8A-4147-A177-3AD203B41FA5}">
                      <a16:colId xmlns:a16="http://schemas.microsoft.com/office/drawing/2014/main" val="824385651"/>
                    </a:ext>
                  </a:extLst>
                </a:gridCol>
                <a:gridCol w="1456987">
                  <a:extLst>
                    <a:ext uri="{9D8B030D-6E8A-4147-A177-3AD203B41FA5}">
                      <a16:colId xmlns:a16="http://schemas.microsoft.com/office/drawing/2014/main" val="2633988108"/>
                    </a:ext>
                  </a:extLst>
                </a:gridCol>
                <a:gridCol w="1715185">
                  <a:extLst>
                    <a:ext uri="{9D8B030D-6E8A-4147-A177-3AD203B41FA5}">
                      <a16:colId xmlns:a16="http://schemas.microsoft.com/office/drawing/2014/main" val="1687922751"/>
                    </a:ext>
                  </a:extLst>
                </a:gridCol>
                <a:gridCol w="1715185">
                  <a:extLst>
                    <a:ext uri="{9D8B030D-6E8A-4147-A177-3AD203B41FA5}">
                      <a16:colId xmlns:a16="http://schemas.microsoft.com/office/drawing/2014/main" val="934505439"/>
                    </a:ext>
                  </a:extLst>
                </a:gridCol>
                <a:gridCol w="1641415">
                  <a:extLst>
                    <a:ext uri="{9D8B030D-6E8A-4147-A177-3AD203B41FA5}">
                      <a16:colId xmlns:a16="http://schemas.microsoft.com/office/drawing/2014/main" val="1505201115"/>
                    </a:ext>
                  </a:extLst>
                </a:gridCol>
              </a:tblGrid>
              <a:tr h="309904">
                <a:tc>
                  <a:txBody>
                    <a:bodyPr/>
                    <a:lstStyle/>
                    <a:p>
                      <a:pPr algn="ctr" fontAlgn="ctr"/>
                      <a:r>
                        <a:rPr lang="en-US" sz="1200" u="none" strike="noStrike" dirty="0">
                          <a:effectLst/>
                          <a:latin typeface="Arial" panose="020B0604020202020204" pitchFamily="34" charset="0"/>
                          <a:cs typeface="Arial" panose="020B0604020202020204" pitchFamily="34" charset="0"/>
                        </a:rPr>
                        <a:t>Speed</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chemeClr val="accent1"/>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Package Name</a:t>
                      </a:r>
                      <a:endParaRPr lang="en-US" sz="1200" b="1" i="0" u="none" strike="noStrike">
                        <a:solidFill>
                          <a:srgbClr val="FFFFFF"/>
                        </a:solidFill>
                        <a:effectLst/>
                        <a:latin typeface="Arial" panose="020B0604020202020204" pitchFamily="34" charset="0"/>
                        <a:cs typeface="Arial" panose="020B0604020202020204" pitchFamily="34" charset="0"/>
                      </a:endParaRPr>
                    </a:p>
                  </a:txBody>
                  <a:tcPr marL="5354" marR="5354" marT="5354" marB="0" anchor="ctr">
                    <a:solidFill>
                      <a:schemeClr val="accent1"/>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Quota (GBs)</a:t>
                      </a:r>
                      <a:endParaRPr lang="en-US" sz="1200" b="1" i="0" u="none" strike="noStrike">
                        <a:solidFill>
                          <a:srgbClr val="FFFFFF"/>
                        </a:solidFill>
                        <a:effectLst/>
                        <a:latin typeface="Arial" panose="020B0604020202020204" pitchFamily="34" charset="0"/>
                        <a:cs typeface="Arial" panose="020B0604020202020204" pitchFamily="34" charset="0"/>
                      </a:endParaRPr>
                    </a:p>
                  </a:txBody>
                  <a:tcPr marL="5354" marR="5354" marT="5354" marB="0" anchor="ctr">
                    <a:solidFill>
                      <a:schemeClr val="accent1"/>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Price VAT Exclusive (EGP)</a:t>
                      </a:r>
                      <a:endParaRPr lang="en-US" sz="1200" b="1" i="0" u="none" strike="noStrike">
                        <a:solidFill>
                          <a:srgbClr val="FFFFFF"/>
                        </a:solidFill>
                        <a:effectLst/>
                        <a:latin typeface="Arial" panose="020B0604020202020204" pitchFamily="34" charset="0"/>
                        <a:cs typeface="Arial" panose="020B0604020202020204" pitchFamily="34" charset="0"/>
                      </a:endParaRPr>
                    </a:p>
                  </a:txBody>
                  <a:tcPr marL="5354" marR="5354" marT="5354" marB="0" anchor="ctr">
                    <a:solidFill>
                      <a:schemeClr val="accent1"/>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Price VAT Inclusive (EGP)</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chemeClr val="accent1"/>
                    </a:solidFill>
                  </a:tcPr>
                </a:tc>
                <a:extLst>
                  <a:ext uri="{0D108BD9-81ED-4DB2-BD59-A6C34878D82A}">
                    <a16:rowId xmlns:a16="http://schemas.microsoft.com/office/drawing/2014/main" val="584128367"/>
                  </a:ext>
                </a:extLst>
              </a:tr>
              <a:tr h="217395">
                <a:tc rowSpan="7">
                  <a:txBody>
                    <a:bodyPr/>
                    <a:lstStyle/>
                    <a:p>
                      <a:pPr algn="ctr" fontAlgn="ctr"/>
                      <a:r>
                        <a:rPr lang="en-US" sz="1200" u="none" strike="noStrike" dirty="0">
                          <a:effectLst/>
                          <a:latin typeface="Arial" panose="020B0604020202020204" pitchFamily="34" charset="0"/>
                          <a:cs typeface="Arial" panose="020B0604020202020204" pitchFamily="34" charset="0"/>
                        </a:rPr>
                        <a:t>30 Mbps</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210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140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210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239.4</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1205885094"/>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260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180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260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296.4</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3497613411"/>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290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200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290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330.6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2846395330"/>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360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250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360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410.4</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2842956140"/>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420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300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420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478.8</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35256939"/>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680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500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680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775.2</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2947260166"/>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1040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750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1,040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1,185.60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2160197859"/>
                  </a:ext>
                </a:extLst>
              </a:tr>
              <a:tr h="217395">
                <a:tc rowSpan="3">
                  <a:txBody>
                    <a:bodyPr/>
                    <a:lstStyle/>
                    <a:p>
                      <a:pPr algn="ctr" fontAlgn="ctr"/>
                      <a:r>
                        <a:rPr lang="en-US" sz="1200" u="none" strike="noStrike" dirty="0">
                          <a:effectLst/>
                          <a:latin typeface="Arial" panose="020B0604020202020204" pitchFamily="34" charset="0"/>
                          <a:cs typeface="Arial" panose="020B0604020202020204" pitchFamily="34" charset="0"/>
                        </a:rPr>
                        <a:t>70 Mbps</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Home DSL 520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250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520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592.8</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extLst>
                  <a:ext uri="{0D108BD9-81ED-4DB2-BD59-A6C34878D82A}">
                    <a16:rowId xmlns:a16="http://schemas.microsoft.com/office/drawing/2014/main" val="405561713"/>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1040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600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1,040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1,185.60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extLst>
                  <a:ext uri="{0D108BD9-81ED-4DB2-BD59-A6C34878D82A}">
                    <a16:rowId xmlns:a16="http://schemas.microsoft.com/office/drawing/2014/main" val="2527947454"/>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1560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1000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1,560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1,778.40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extLst>
                  <a:ext uri="{0D108BD9-81ED-4DB2-BD59-A6C34878D82A}">
                    <a16:rowId xmlns:a16="http://schemas.microsoft.com/office/drawing/2014/main" val="3717991804"/>
                  </a:ext>
                </a:extLst>
              </a:tr>
              <a:tr h="217395">
                <a:tc rowSpan="3">
                  <a:txBody>
                    <a:bodyPr/>
                    <a:lstStyle/>
                    <a:p>
                      <a:pPr algn="ctr" fontAlgn="ctr"/>
                      <a:r>
                        <a:rPr lang="en-US" sz="1200" u="none" strike="noStrike" dirty="0">
                          <a:effectLst/>
                          <a:latin typeface="Arial" panose="020B0604020202020204" pitchFamily="34" charset="0"/>
                          <a:cs typeface="Arial" panose="020B0604020202020204" pitchFamily="34" charset="0"/>
                        </a:rPr>
                        <a:t>​100 Mbps</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700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300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700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a:effectLst/>
                          <a:latin typeface="Arial" panose="020B0604020202020204" pitchFamily="34" charset="0"/>
                          <a:cs typeface="Arial" panose="020B0604020202020204" pitchFamily="34" charset="0"/>
                        </a:rPr>
                        <a:t>798</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4193138504"/>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880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400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880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1,003.20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865519896"/>
                  </a:ext>
                </a:extLst>
              </a:tr>
              <a:tr h="217395">
                <a:tc vMerge="1">
                  <a:txBody>
                    <a:bodyPr/>
                    <a:lstStyle/>
                    <a:p>
                      <a:endParaRPr lang="en-US"/>
                    </a:p>
                  </a:txBody>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1230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600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1,230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1,402.20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F3D3C5"/>
                    </a:solidFill>
                  </a:tcPr>
                </a:tc>
                <a:extLst>
                  <a:ext uri="{0D108BD9-81ED-4DB2-BD59-A6C34878D82A}">
                    <a16:rowId xmlns:a16="http://schemas.microsoft.com/office/drawing/2014/main" val="2245269422"/>
                  </a:ext>
                </a:extLst>
              </a:tr>
              <a:tr h="217395">
                <a:tc>
                  <a:txBody>
                    <a:bodyPr/>
                    <a:lstStyle/>
                    <a:p>
                      <a:pPr algn="ctr" fontAlgn="ctr"/>
                      <a:r>
                        <a:rPr lang="en-US" sz="1200" u="none" strike="noStrike" dirty="0">
                          <a:effectLst/>
                          <a:latin typeface="Arial" panose="020B0604020202020204" pitchFamily="34" charset="0"/>
                          <a:cs typeface="Arial" panose="020B0604020202020204" pitchFamily="34" charset="0"/>
                        </a:rPr>
                        <a:t>200 Mbps</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Home DSL ​1760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1000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1,760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tc>
                  <a:txBody>
                    <a:bodyPr/>
                    <a:lstStyle/>
                    <a:p>
                      <a:pPr algn="ctr" fontAlgn="ctr"/>
                      <a:r>
                        <a:rPr lang="en-US" sz="1200" u="none" strike="noStrike" dirty="0">
                          <a:effectLst/>
                          <a:latin typeface="Arial" panose="020B0604020202020204" pitchFamily="34" charset="0"/>
                          <a:cs typeface="Arial" panose="020B0604020202020204" pitchFamily="34" charset="0"/>
                        </a:rPr>
                        <a:t>2,006.40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5354" marR="5354" marT="5354" marB="0" anchor="ctr">
                    <a:solidFill>
                      <a:srgbClr val="E39A79"/>
                    </a:solidFill>
                  </a:tcPr>
                </a:tc>
                <a:extLst>
                  <a:ext uri="{0D108BD9-81ED-4DB2-BD59-A6C34878D82A}">
                    <a16:rowId xmlns:a16="http://schemas.microsoft.com/office/drawing/2014/main" val="2562858444"/>
                  </a:ext>
                </a:extLst>
              </a:tr>
            </a:tbl>
          </a:graphicData>
        </a:graphic>
      </p:graphicFrame>
    </p:spTree>
    <p:extLst>
      <p:ext uri="{BB962C8B-B14F-4D97-AF65-F5344CB8AC3E}">
        <p14:creationId xmlns:p14="http://schemas.microsoft.com/office/powerpoint/2010/main" val="19427626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782320"/>
          </a:xfrm>
        </p:spPr>
        <p:txBody>
          <a:bodyPr>
            <a:normAutofit fontScale="90000"/>
          </a:bodyPr>
          <a:lstStyle/>
          <a:p>
            <a:r>
              <a:rPr lang="en-US" b="1" dirty="0"/>
              <a:t>Guidelines</a:t>
            </a:r>
            <a:br>
              <a:rPr lang="en-US" dirty="0">
                <a:latin typeface="Arial Black" panose="020B0A04020102020204" pitchFamily="34" charset="0"/>
                <a:cs typeface="Arial" panose="020B0604020202020204" pitchFamily="34" charset="0"/>
              </a:rPr>
            </a:br>
            <a:endParaRPr lang="en-US" dirty="0"/>
          </a:p>
        </p:txBody>
      </p:sp>
      <p:sp>
        <p:nvSpPr>
          <p:cNvPr id="3" name="Content Placeholder 2"/>
          <p:cNvSpPr>
            <a:spLocks noGrp="1"/>
          </p:cNvSpPr>
          <p:nvPr>
            <p:ph idx="1"/>
          </p:nvPr>
        </p:nvSpPr>
        <p:spPr>
          <a:xfrm>
            <a:off x="0" y="670560"/>
            <a:ext cx="9652000" cy="6187439"/>
          </a:xfrm>
        </p:spPr>
        <p:txBody>
          <a:bodyPr/>
          <a:lstStyle/>
          <a:p>
            <a:pPr marL="0" indent="0" algn="r">
              <a:lnSpc>
                <a:spcPct val="150000"/>
              </a:lnSpc>
              <a:buNone/>
            </a:pPr>
            <a:r>
              <a:rPr lang="ar-EG" dirty="0">
                <a:latin typeface="Arial" panose="020B0604020202020204" pitchFamily="34" charset="0"/>
                <a:cs typeface="Arial" panose="020B0604020202020204" pitchFamily="34" charset="0"/>
              </a:rPr>
              <a:t>العميل يقدر يقلل الباقه </a:t>
            </a:r>
            <a:r>
              <a:rPr lang="ar-EG" dirty="0">
                <a:solidFill>
                  <a:schemeClr val="accent1"/>
                </a:solidFill>
                <a:latin typeface="Arial" panose="020B0604020202020204" pitchFamily="34" charset="0"/>
                <a:cs typeface="Arial" panose="020B0604020202020204" pitchFamily="34" charset="0"/>
              </a:rPr>
              <a:t>مره واحده فقط خلال الشهر </a:t>
            </a:r>
          </a:p>
          <a:p>
            <a:pPr marL="0" indent="0" algn="r">
              <a:lnSpc>
                <a:spcPct val="150000"/>
              </a:lnSpc>
              <a:buNone/>
            </a:pPr>
            <a:r>
              <a:rPr lang="ar-EG" dirty="0">
                <a:latin typeface="Arial" panose="020B0604020202020204" pitchFamily="34" charset="0"/>
                <a:cs typeface="Arial" panose="020B0604020202020204" pitchFamily="34" charset="0"/>
              </a:rPr>
              <a:t>في حاله تقليل الباقه </a:t>
            </a:r>
            <a:r>
              <a:rPr lang="ar-EG" dirty="0">
                <a:solidFill>
                  <a:schemeClr val="accent1"/>
                </a:solidFill>
                <a:latin typeface="Arial" panose="020B0604020202020204" pitchFamily="34" charset="0"/>
                <a:cs typeface="Arial" panose="020B0604020202020204" pitchFamily="34" charset="0"/>
              </a:rPr>
              <a:t>بتنزل علي اول فاتوره وليس من وقت الاكشن </a:t>
            </a:r>
          </a:p>
          <a:p>
            <a:pPr marL="0" indent="0" algn="r" rtl="1">
              <a:lnSpc>
                <a:spcPct val="150000"/>
              </a:lnSpc>
              <a:buNone/>
            </a:pPr>
            <a:r>
              <a:rPr lang="ar-EG" dirty="0">
                <a:latin typeface="Arial" panose="020B0604020202020204" pitchFamily="34" charset="0"/>
                <a:cs typeface="Arial" panose="020B0604020202020204" pitchFamily="34" charset="0"/>
              </a:rPr>
              <a:t>لو العميل عنده عرض وقرر يقلل الباقه </a:t>
            </a:r>
            <a:r>
              <a:rPr lang="ar-EG" dirty="0">
                <a:solidFill>
                  <a:schemeClr val="accent1"/>
                </a:solidFill>
                <a:latin typeface="Arial" panose="020B0604020202020204" pitchFamily="34" charset="0"/>
                <a:cs typeface="Arial" panose="020B0604020202020204" pitchFamily="34" charset="0"/>
              </a:rPr>
              <a:t>اوضح له انه هيخسرالعرض شرط العرض ميكنش العرض من قسم التشغيل </a:t>
            </a:r>
            <a:r>
              <a:rPr lang="en-US" dirty="0">
                <a:solidFill>
                  <a:schemeClr val="accent1"/>
                </a:solidFill>
                <a:latin typeface="Arial" panose="020B0604020202020204" pitchFamily="34" charset="0"/>
                <a:cs typeface="Arial" panose="020B0604020202020204" pitchFamily="34" charset="0"/>
              </a:rPr>
              <a:t>activation </a:t>
            </a:r>
            <a:r>
              <a:rPr lang="ar-EG" dirty="0">
                <a:solidFill>
                  <a:schemeClr val="accent1"/>
                </a:solidFill>
                <a:latin typeface="Arial" panose="020B0604020202020204" pitchFamily="34" charset="0"/>
                <a:cs typeface="Arial" panose="020B0604020202020204" pitchFamily="34" charset="0"/>
              </a:rPr>
              <a:t> </a:t>
            </a:r>
          </a:p>
          <a:p>
            <a:pPr marL="0" indent="0" algn="r">
              <a:lnSpc>
                <a:spcPct val="150000"/>
              </a:lnSpc>
              <a:buNone/>
            </a:pPr>
            <a:r>
              <a:rPr lang="ar-EG" dirty="0">
                <a:solidFill>
                  <a:schemeClr val="accent1"/>
                </a:solidFill>
                <a:latin typeface="Arial" panose="020B0604020202020204" pitchFamily="34" charset="0"/>
                <a:cs typeface="Arial" panose="020B0604020202020204" pitchFamily="34" charset="0"/>
              </a:rPr>
              <a:t>لو العميل خطه متوقف مبنقدرش تقلل الباقه </a:t>
            </a:r>
          </a:p>
          <a:p>
            <a:pPr marL="0" indent="0" algn="r">
              <a:lnSpc>
                <a:spcPct val="150000"/>
              </a:lnSpc>
              <a:buNone/>
            </a:pPr>
            <a:r>
              <a:rPr lang="ar-EG" dirty="0">
                <a:latin typeface="Arial" panose="020B0604020202020204" pitchFamily="34" charset="0"/>
                <a:cs typeface="Arial" panose="020B0604020202020204" pitchFamily="34" charset="0"/>
              </a:rPr>
              <a:t>لو العميل نزلت له فاتوره وخطه شغال </a:t>
            </a:r>
            <a:r>
              <a:rPr lang="ar-EG" dirty="0">
                <a:solidFill>
                  <a:schemeClr val="accent1"/>
                </a:solidFill>
                <a:latin typeface="Arial" panose="020B0604020202020204" pitchFamily="34" charset="0"/>
                <a:cs typeface="Arial" panose="020B0604020202020204" pitchFamily="34" charset="0"/>
              </a:rPr>
              <a:t>اوضح له سعر الفاتوره الحاليه واطلب منه دفعها واقلل الباقه </a:t>
            </a:r>
          </a:p>
          <a:p>
            <a:pPr marL="0" indent="0" algn="r">
              <a:lnSpc>
                <a:spcPct val="150000"/>
              </a:lnSpc>
              <a:buNone/>
            </a:pPr>
            <a:r>
              <a:rPr lang="ar-EG" dirty="0">
                <a:latin typeface="Arial" panose="020B0604020202020204" pitchFamily="34" charset="0"/>
                <a:cs typeface="Arial" panose="020B0604020202020204" pitchFamily="34" charset="0"/>
              </a:rPr>
              <a:t>لو العميل قرر يقلل الباقه ومعندهوش عروض اعرض عليه عرض </a:t>
            </a:r>
          </a:p>
          <a:p>
            <a:pPr marL="0" indent="0" algn="r">
              <a:lnSpc>
                <a:spcPct val="150000"/>
              </a:lnSpc>
              <a:buNone/>
            </a:pPr>
            <a:r>
              <a:rPr lang="ar-EG" dirty="0">
                <a:solidFill>
                  <a:schemeClr val="accent1"/>
                </a:solidFill>
                <a:latin typeface="Arial" panose="020B0604020202020204" pitchFamily="34" charset="0"/>
                <a:cs typeface="Arial" panose="020B0604020202020204" pitchFamily="34" charset="0"/>
              </a:rPr>
              <a:t>خصم 10% لمده 6 شهور </a:t>
            </a:r>
          </a:p>
          <a:p>
            <a:pPr marL="0" indent="0" algn="r">
              <a:lnSpc>
                <a:spcPct val="150000"/>
              </a:lnSpc>
              <a:buNone/>
            </a:pPr>
            <a:endParaRPr lang="ar-EG" dirty="0">
              <a:solidFill>
                <a:schemeClr val="accent1"/>
              </a:solidFill>
              <a:latin typeface="Arial" panose="020B0604020202020204" pitchFamily="34" charset="0"/>
              <a:cs typeface="Arial" panose="020B0604020202020204" pitchFamily="34" charset="0"/>
            </a:endParaRPr>
          </a:p>
          <a:p>
            <a:pPr marL="0" indent="0" algn="r">
              <a:lnSpc>
                <a:spcPct val="150000"/>
              </a:lnSpc>
              <a:buNone/>
            </a:pPr>
            <a:r>
              <a:rPr lang="ar-EG" dirty="0">
                <a:solidFill>
                  <a:schemeClr val="accent1"/>
                </a:solidFill>
                <a:latin typeface="Arial" panose="020B0604020202020204" pitchFamily="34" charset="0"/>
                <a:cs typeface="Arial" panose="020B0604020202020204" pitchFamily="34" charset="0"/>
              </a:rPr>
              <a:t>والعرض متاح مره واحده في السنه </a:t>
            </a:r>
          </a:p>
          <a:p>
            <a:pPr marL="0" indent="0" algn="r">
              <a:lnSpc>
                <a:spcPct val="150000"/>
              </a:lnSpc>
              <a:buNone/>
            </a:pPr>
            <a:r>
              <a:rPr lang="ar-EG" dirty="0">
                <a:solidFill>
                  <a:schemeClr val="tx1"/>
                </a:solidFill>
                <a:latin typeface="Arial" panose="020B0604020202020204" pitchFamily="34" charset="0"/>
                <a:cs typeface="Arial" panose="020B0604020202020204" pitchFamily="34" charset="0"/>
              </a:rPr>
              <a:t>اوعي ننسي </a:t>
            </a:r>
            <a:r>
              <a:rPr lang="ar-EG" dirty="0">
                <a:solidFill>
                  <a:schemeClr val="accent1"/>
                </a:solidFill>
                <a:latin typeface="Arial" panose="020B0604020202020204" pitchFamily="34" charset="0"/>
                <a:cs typeface="Arial" panose="020B0604020202020204" pitchFamily="34" charset="0"/>
              </a:rPr>
              <a:t>التحقق من ملكيه الخط............... </a:t>
            </a:r>
          </a:p>
        </p:txBody>
      </p:sp>
      <p:graphicFrame>
        <p:nvGraphicFramePr>
          <p:cNvPr id="4" name="Table 3"/>
          <p:cNvGraphicFramePr>
            <a:graphicFrameLocks noGrp="1"/>
          </p:cNvGraphicFramePr>
          <p:nvPr>
            <p:extLst>
              <p:ext uri="{D42A27DB-BD31-4B8C-83A1-F6EECF244321}">
                <p14:modId xmlns:p14="http://schemas.microsoft.com/office/powerpoint/2010/main" val="4057094268"/>
              </p:ext>
            </p:extLst>
          </p:nvPr>
        </p:nvGraphicFramePr>
        <p:xfrm>
          <a:off x="158975" y="4495117"/>
          <a:ext cx="8956052" cy="559204"/>
        </p:xfrm>
        <a:graphic>
          <a:graphicData uri="http://schemas.openxmlformats.org/drawingml/2006/table">
            <a:tbl>
              <a:tblPr/>
              <a:tblGrid>
                <a:gridCol w="675888">
                  <a:extLst>
                    <a:ext uri="{9D8B030D-6E8A-4147-A177-3AD203B41FA5}">
                      <a16:colId xmlns:a16="http://schemas.microsoft.com/office/drawing/2014/main" val="3866492732"/>
                    </a:ext>
                  </a:extLst>
                </a:gridCol>
                <a:gridCol w="1519315">
                  <a:extLst>
                    <a:ext uri="{9D8B030D-6E8A-4147-A177-3AD203B41FA5}">
                      <a16:colId xmlns:a16="http://schemas.microsoft.com/office/drawing/2014/main" val="2862608665"/>
                    </a:ext>
                  </a:extLst>
                </a:gridCol>
                <a:gridCol w="888308">
                  <a:extLst>
                    <a:ext uri="{9D8B030D-6E8A-4147-A177-3AD203B41FA5}">
                      <a16:colId xmlns:a16="http://schemas.microsoft.com/office/drawing/2014/main" val="2035163306"/>
                    </a:ext>
                  </a:extLst>
                </a:gridCol>
                <a:gridCol w="1424358">
                  <a:extLst>
                    <a:ext uri="{9D8B030D-6E8A-4147-A177-3AD203B41FA5}">
                      <a16:colId xmlns:a16="http://schemas.microsoft.com/office/drawing/2014/main" val="480104759"/>
                    </a:ext>
                  </a:extLst>
                </a:gridCol>
                <a:gridCol w="1745987">
                  <a:extLst>
                    <a:ext uri="{9D8B030D-6E8A-4147-A177-3AD203B41FA5}">
                      <a16:colId xmlns:a16="http://schemas.microsoft.com/office/drawing/2014/main" val="2066616237"/>
                    </a:ext>
                  </a:extLst>
                </a:gridCol>
                <a:gridCol w="2702196">
                  <a:extLst>
                    <a:ext uri="{9D8B030D-6E8A-4147-A177-3AD203B41FA5}">
                      <a16:colId xmlns:a16="http://schemas.microsoft.com/office/drawing/2014/main" val="3057901298"/>
                    </a:ext>
                  </a:extLst>
                </a:gridCol>
              </a:tblGrid>
              <a:tr h="559204">
                <a:tc>
                  <a:txBody>
                    <a:bodyPr/>
                    <a:lstStyle/>
                    <a:p>
                      <a:pPr algn="ctr"/>
                      <a:r>
                        <a:rPr lang="en-US" sz="1400">
                          <a:effectLst/>
                          <a:latin typeface="Arial" panose="020B0604020202020204" pitchFamily="34" charset="0"/>
                          <a:cs typeface="Arial" panose="020B0604020202020204" pitchFamily="34" charset="0"/>
                        </a:rPr>
                        <a:t>17202</a:t>
                      </a:r>
                    </a:p>
                  </a:txBody>
                  <a:tcPr marL="67275" marR="672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a-DK" sz="1400" dirty="0">
                          <a:effectLst/>
                          <a:latin typeface="Arial" panose="020B0604020202020204" pitchFamily="34" charset="0"/>
                          <a:cs typeface="Arial" panose="020B0604020202020204" pitchFamily="34" charset="0"/>
                        </a:rPr>
                        <a:t>DSL Acc Mod For Offers</a:t>
                      </a:r>
                    </a:p>
                  </a:txBody>
                  <a:tcPr marL="67275" marR="672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effectLst/>
                          <a:latin typeface="Arial" panose="020B0604020202020204" pitchFamily="34" charset="0"/>
                          <a:cs typeface="Arial" panose="020B0604020202020204" pitchFamily="34" charset="0"/>
                        </a:rPr>
                        <a:t>Add</a:t>
                      </a:r>
                    </a:p>
                  </a:txBody>
                  <a:tcPr marL="67275" marR="672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solidFill>
                            <a:srgbClr val="FFFFFF"/>
                          </a:solidFill>
                          <a:effectLst/>
                          <a:latin typeface="Arial" panose="020B0604020202020204" pitchFamily="34" charset="0"/>
                          <a:cs typeface="Arial" panose="020B0604020202020204" pitchFamily="34" charset="0"/>
                        </a:rPr>
                        <a:t>Offer</a:t>
                      </a:r>
                      <a:endParaRPr lang="en-US" sz="1400" dirty="0">
                        <a:effectLst/>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sz="1400" b="1" dirty="0">
                          <a:solidFill>
                            <a:srgbClr val="FFFFFF"/>
                          </a:solidFill>
                          <a:effectLst/>
                          <a:latin typeface="Arial" panose="020B0604020202020204" pitchFamily="34" charset="0"/>
                          <a:cs typeface="Arial" panose="020B0604020202020204" pitchFamily="34" charset="0"/>
                        </a:rPr>
                        <a:t>Sub Offer</a:t>
                      </a:r>
                      <a:endParaRPr lang="en-US" sz="1400" dirty="0">
                        <a:effectLst/>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sz="1400" dirty="0">
                          <a:effectLst/>
                          <a:latin typeface="Arial" panose="020B0604020202020204" pitchFamily="34" charset="0"/>
                          <a:cs typeface="Arial" panose="020B0604020202020204" pitchFamily="34" charset="0"/>
                        </a:rPr>
                        <a:t>Should be created manually by agent after adding the offer</a:t>
                      </a:r>
                    </a:p>
                  </a:txBody>
                  <a:tcPr marL="67275" marR="672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2809670"/>
                  </a:ext>
                </a:extLst>
              </a:tr>
            </a:tbl>
          </a:graphicData>
        </a:graphic>
      </p:graphicFrame>
    </p:spTree>
    <p:extLst>
      <p:ext uri="{BB962C8B-B14F-4D97-AF65-F5344CB8AC3E}">
        <p14:creationId xmlns:p14="http://schemas.microsoft.com/office/powerpoint/2010/main" val="4143000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838200"/>
          </a:xfrm>
        </p:spPr>
        <p:txBody>
          <a:bodyPr>
            <a:normAutofit fontScale="90000"/>
          </a:bodyPr>
          <a:lstStyle/>
          <a:p>
            <a:r>
              <a:rPr lang="en-US" b="1" dirty="0"/>
              <a:t>DSL Verification Process</a:t>
            </a:r>
            <a:br>
              <a:rPr lang="en-US" b="1" dirty="0"/>
            </a:br>
            <a:br>
              <a:rPr lang="en-US" dirty="0"/>
            </a:br>
            <a:endParaRPr lang="en-US" dirty="0"/>
          </a:p>
        </p:txBody>
      </p:sp>
      <p:sp>
        <p:nvSpPr>
          <p:cNvPr id="3" name="Content Placeholder 2"/>
          <p:cNvSpPr>
            <a:spLocks noGrp="1"/>
          </p:cNvSpPr>
          <p:nvPr>
            <p:ph idx="1"/>
          </p:nvPr>
        </p:nvSpPr>
        <p:spPr>
          <a:xfrm>
            <a:off x="371475" y="1304925"/>
            <a:ext cx="8902527" cy="4736437"/>
          </a:xfrm>
        </p:spPr>
        <p:txBody>
          <a:bodyPr>
            <a:normAutofit/>
          </a:bodyPr>
          <a:lstStyle/>
          <a:p>
            <a:pPr marL="0" indent="0" algn="r">
              <a:lnSpc>
                <a:spcPct val="150000"/>
              </a:lnSpc>
              <a:buNone/>
            </a:pPr>
            <a:r>
              <a:rPr lang="ar-EG" sz="2000" dirty="0">
                <a:latin typeface="Arial" panose="020B0604020202020204" pitchFamily="34" charset="0"/>
                <a:cs typeface="Arial" panose="020B0604020202020204" pitchFamily="34" charset="0"/>
              </a:rPr>
              <a:t>لو العميل متصل من رقم الارضي المسجل </a:t>
            </a:r>
            <a:r>
              <a:rPr lang="ar-EG" sz="2000" dirty="0">
                <a:solidFill>
                  <a:schemeClr val="accent1"/>
                </a:solidFill>
                <a:latin typeface="Arial" panose="020B0604020202020204" pitchFamily="34" charset="0"/>
                <a:cs typeface="Arial" panose="020B0604020202020204" pitchFamily="34" charset="0"/>
              </a:rPr>
              <a:t>علي الخط  مش هحتاج اتحقق من ملكيه الخط</a:t>
            </a:r>
          </a:p>
          <a:p>
            <a:pPr marL="0" indent="0" algn="r">
              <a:lnSpc>
                <a:spcPct val="150000"/>
              </a:lnSpc>
              <a:buNone/>
            </a:pPr>
            <a:r>
              <a:rPr lang="ar-EG" sz="2000" dirty="0">
                <a:latin typeface="Arial" panose="020B0604020202020204" pitchFamily="34" charset="0"/>
                <a:cs typeface="Arial" panose="020B0604020202020204" pitchFamily="34" charset="0"/>
              </a:rPr>
              <a:t>لو العميل متصل من نفس رقم الموبيل المسجل علي السيستم </a:t>
            </a:r>
            <a:r>
              <a:rPr lang="ar-EG" sz="2000" dirty="0">
                <a:solidFill>
                  <a:schemeClr val="accent1"/>
                </a:solidFill>
                <a:latin typeface="Arial" panose="020B0604020202020204" pitchFamily="34" charset="0"/>
                <a:cs typeface="Arial" panose="020B0604020202020204" pitchFamily="34" charset="0"/>
              </a:rPr>
              <a:t>هسأله عن الاسم ثلاثي المسجل علي الخط</a:t>
            </a:r>
          </a:p>
          <a:p>
            <a:pPr marL="0" indent="0" algn="r">
              <a:lnSpc>
                <a:spcPct val="150000"/>
              </a:lnSpc>
              <a:buNone/>
            </a:pPr>
            <a:r>
              <a:rPr lang="ar-EG" sz="2000" dirty="0">
                <a:latin typeface="Arial" panose="020B0604020202020204" pitchFamily="34" charset="0"/>
                <a:cs typeface="Arial" panose="020B0604020202020204" pitchFamily="34" charset="0"/>
              </a:rPr>
              <a:t>لو العميل متصل برقم (موبيل او ارضي) مختلف </a:t>
            </a:r>
            <a:r>
              <a:rPr lang="ar-EG" sz="2000" dirty="0">
                <a:solidFill>
                  <a:schemeClr val="accent1"/>
                </a:solidFill>
                <a:latin typeface="Arial" panose="020B0604020202020204" pitchFamily="34" charset="0"/>
                <a:cs typeface="Arial" panose="020B0604020202020204" pitchFamily="34" charset="0"/>
              </a:rPr>
              <a:t>هسأله علي الاسم ثلاثي ورقم الموبيل المسجل علي السيستم</a:t>
            </a:r>
          </a:p>
          <a:p>
            <a:pPr marL="0" indent="0" algn="r">
              <a:lnSpc>
                <a:spcPct val="150000"/>
              </a:lnSpc>
              <a:buNone/>
            </a:pPr>
            <a:r>
              <a:rPr lang="ar-EG" sz="2000" dirty="0">
                <a:latin typeface="Arial" panose="020B0604020202020204" pitchFamily="34" charset="0"/>
                <a:cs typeface="Arial" panose="020B0604020202020204" pitchFamily="34" charset="0"/>
              </a:rPr>
              <a:t>لو مش عارفهم هساله </a:t>
            </a:r>
            <a:r>
              <a:rPr lang="ar-EG" sz="2000" dirty="0">
                <a:solidFill>
                  <a:schemeClr val="accent1"/>
                </a:solidFill>
                <a:latin typeface="Arial" panose="020B0604020202020204" pitchFamily="34" charset="0"/>
                <a:cs typeface="Arial" panose="020B0604020202020204" pitchFamily="34" charset="0"/>
              </a:rPr>
              <a:t>علي اخر فاتوره من اخر فاتورتين ادفعت امته وعن طريق اي </a:t>
            </a:r>
          </a:p>
          <a:p>
            <a:pPr marL="0" indent="0" algn="r">
              <a:buNone/>
            </a:pPr>
            <a:endParaRPr lang="en-US" sz="2000" dirty="0">
              <a:solidFill>
                <a:schemeClr val="accent1"/>
              </a:solidFill>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nvGraphicFramePr>
        <p:xfrm>
          <a:off x="0" y="4122420"/>
          <a:ext cx="8829675" cy="2735580"/>
        </p:xfrm>
        <a:graphic>
          <a:graphicData uri="http://schemas.openxmlformats.org/drawingml/2006/table">
            <a:tbl>
              <a:tblPr>
                <a:tableStyleId>{5C22544A-7EE6-4342-B048-85BDC9FD1C3A}</a:tableStyleId>
              </a:tblPr>
              <a:tblGrid>
                <a:gridCol w="5557871">
                  <a:extLst>
                    <a:ext uri="{9D8B030D-6E8A-4147-A177-3AD203B41FA5}">
                      <a16:colId xmlns:a16="http://schemas.microsoft.com/office/drawing/2014/main" val="1337736579"/>
                    </a:ext>
                  </a:extLst>
                </a:gridCol>
                <a:gridCol w="3271804">
                  <a:extLst>
                    <a:ext uri="{9D8B030D-6E8A-4147-A177-3AD203B41FA5}">
                      <a16:colId xmlns:a16="http://schemas.microsoft.com/office/drawing/2014/main" val="1282897593"/>
                    </a:ext>
                  </a:extLst>
                </a:gridCol>
              </a:tblGrid>
              <a:tr h="164906">
                <a:tc>
                  <a:txBody>
                    <a:bodyPr/>
                    <a:lstStyle/>
                    <a:p>
                      <a:pPr algn="ctr" fontAlgn="ctr"/>
                      <a:r>
                        <a:rPr lang="en-US" sz="1600" u="none" strike="noStrike" dirty="0">
                          <a:effectLst/>
                          <a:latin typeface="Arial" panose="020B0604020202020204" pitchFamily="34" charset="0"/>
                          <a:cs typeface="Arial" panose="020B0604020202020204" pitchFamily="34" charset="0"/>
                        </a:rPr>
                        <a:t>Scenario</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Verification Keys</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2541809412"/>
                  </a:ext>
                </a:extLst>
              </a:tr>
              <a:tr h="212825">
                <a:tc>
                  <a:txBody>
                    <a:bodyPr/>
                    <a:lstStyle/>
                    <a:p>
                      <a:pPr algn="l" fontAlgn="ctr"/>
                      <a:r>
                        <a:rPr lang="en-US" sz="1600" u="none" strike="noStrike" dirty="0">
                          <a:effectLst/>
                          <a:latin typeface="Arial" panose="020B0604020202020204" pitchFamily="34" charset="0"/>
                          <a:cs typeface="Arial" panose="020B0604020202020204" pitchFamily="34" charset="0"/>
                        </a:rPr>
                        <a:t>In case customer is calling from the landline number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600" u="none" strike="noStrike">
                          <a:effectLst/>
                          <a:latin typeface="Arial" panose="020B0604020202020204" pitchFamily="34" charset="0"/>
                          <a:cs typeface="Arial" panose="020B0604020202020204" pitchFamily="34" charset="0"/>
                        </a:rPr>
                        <a:t>No need for verification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371064234"/>
                  </a:ext>
                </a:extLst>
              </a:tr>
              <a:tr h="422376">
                <a:tc>
                  <a:txBody>
                    <a:bodyPr/>
                    <a:lstStyle/>
                    <a:p>
                      <a:pPr algn="l" fontAlgn="ctr"/>
                      <a:r>
                        <a:rPr lang="en-US" sz="1600" u="none" strike="noStrike" dirty="0">
                          <a:effectLst/>
                          <a:latin typeface="Arial" panose="020B0604020202020204" pitchFamily="34" charset="0"/>
                          <a:cs typeface="Arial" panose="020B0604020202020204" pitchFamily="34" charset="0"/>
                        </a:rPr>
                        <a:t>In case customer is calling from the registered mobile number on Siebel</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600" u="none" strike="noStrike" dirty="0">
                          <a:effectLst/>
                          <a:latin typeface="Arial" panose="020B0604020202020204" pitchFamily="34" charset="0"/>
                          <a:cs typeface="Arial" panose="020B0604020202020204" pitchFamily="34" charset="0"/>
                        </a:rPr>
                        <a:t>Agent should ask the customer to provide the DSL subscriber name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552568990"/>
                  </a:ext>
                </a:extLst>
              </a:tr>
              <a:tr h="422376">
                <a:tc rowSpan="4">
                  <a:txBody>
                    <a:bodyPr/>
                    <a:lstStyle/>
                    <a:p>
                      <a:pPr algn="l" fontAlgn="ctr"/>
                      <a:r>
                        <a:rPr lang="en-US" sz="1600" u="none" strike="noStrike">
                          <a:effectLst/>
                          <a:latin typeface="Arial" panose="020B0604020202020204" pitchFamily="34" charset="0"/>
                          <a:cs typeface="Arial" panose="020B0604020202020204" pitchFamily="34" charset="0"/>
                        </a:rPr>
                        <a:t>In case customer is calling from a different mobile number that is not registered on Siebel</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600" u="none" strike="noStrike" dirty="0">
                          <a:effectLst/>
                          <a:latin typeface="Arial" panose="020B0604020202020204" pitchFamily="34" charset="0"/>
                          <a:cs typeface="Arial" panose="020B0604020202020204" pitchFamily="34" charset="0"/>
                        </a:rPr>
                        <a:t>Agent should ask the customer to provide one of the below:</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45888837"/>
                  </a:ext>
                </a:extLst>
              </a:tr>
              <a:tr h="422376">
                <a:tc vMerge="1">
                  <a:txBody>
                    <a:bodyPr/>
                    <a:lstStyle/>
                    <a:p>
                      <a:endParaRPr lang="en-US"/>
                    </a:p>
                  </a:txBody>
                  <a:tcPr/>
                </a:tc>
                <a:tc>
                  <a:txBody>
                    <a:bodyPr/>
                    <a:lstStyle/>
                    <a:p>
                      <a:pPr algn="l" fontAlgn="ctr"/>
                      <a:r>
                        <a:rPr lang="en-US" sz="1600" u="none" strike="noStrike" dirty="0">
                          <a:effectLst/>
                          <a:latin typeface="Arial" panose="020B0604020202020204" pitchFamily="34" charset="0"/>
                          <a:cs typeface="Arial" panose="020B0604020202020204" pitchFamily="34" charset="0"/>
                        </a:rPr>
                        <a:t>Both Payment method &amp; date of one of the last two bills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4284263241"/>
                  </a:ext>
                </a:extLst>
              </a:tr>
              <a:tr h="164906">
                <a:tc vMerge="1">
                  <a:txBody>
                    <a:bodyPr/>
                    <a:lstStyle/>
                    <a:p>
                      <a:endParaRPr lang="en-US"/>
                    </a:p>
                  </a:txBody>
                  <a:tcPr/>
                </a:tc>
                <a:tc>
                  <a:txBody>
                    <a:bodyPr/>
                    <a:lstStyle/>
                    <a:p>
                      <a:pPr algn="l" fontAlgn="ctr"/>
                      <a:r>
                        <a:rPr lang="en-US" sz="1600" u="none" strike="noStrike" dirty="0">
                          <a:effectLst/>
                          <a:latin typeface="Arial" panose="020B0604020202020204" pitchFamily="34" charset="0"/>
                          <a:cs typeface="Arial" panose="020B0604020202020204" pitchFamily="34" charset="0"/>
                        </a:rPr>
                        <a:t>Or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20067044"/>
                  </a:ext>
                </a:extLst>
              </a:tr>
              <a:tr h="422376">
                <a:tc vMerge="1">
                  <a:txBody>
                    <a:bodyPr/>
                    <a:lstStyle/>
                    <a:p>
                      <a:endParaRPr lang="en-US"/>
                    </a:p>
                  </a:txBody>
                  <a:tcPr/>
                </a:tc>
                <a:tc>
                  <a:txBody>
                    <a:bodyPr/>
                    <a:lstStyle/>
                    <a:p>
                      <a:pPr algn="l" fontAlgn="ctr"/>
                      <a:r>
                        <a:rPr lang="en-US" sz="1600" u="none" strike="noStrike" dirty="0">
                          <a:effectLst/>
                          <a:latin typeface="Arial" panose="020B0604020202020204" pitchFamily="34" charset="0"/>
                          <a:cs typeface="Arial" panose="020B0604020202020204" pitchFamily="34" charset="0"/>
                        </a:rPr>
                        <a:t>Both DSL Subscriber Name ​and the Registered Mobile Number</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987875895"/>
                  </a:ext>
                </a:extLst>
              </a:tr>
            </a:tbl>
          </a:graphicData>
        </a:graphic>
      </p:graphicFrame>
    </p:spTree>
    <p:extLst>
      <p:ext uri="{BB962C8B-B14F-4D97-AF65-F5344CB8AC3E}">
        <p14:creationId xmlns:p14="http://schemas.microsoft.com/office/powerpoint/2010/main" val="7973674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1047750"/>
          </a:xfrm>
        </p:spPr>
        <p:txBody>
          <a:bodyPr/>
          <a:lstStyle/>
          <a:p>
            <a:r>
              <a:rPr lang="en-US" b="1" dirty="0"/>
              <a:t>List Of Actions</a:t>
            </a:r>
            <a:endParaRPr lang="en-US" dirty="0"/>
          </a:p>
        </p:txBody>
      </p:sp>
      <p:graphicFrame>
        <p:nvGraphicFramePr>
          <p:cNvPr id="4" name="Content Placeholder 3"/>
          <p:cNvGraphicFramePr>
            <a:graphicFrameLocks noGrp="1"/>
          </p:cNvGraphicFramePr>
          <p:nvPr>
            <p:ph idx="1"/>
          </p:nvPr>
        </p:nvGraphicFramePr>
        <p:xfrm>
          <a:off x="561975" y="1047750"/>
          <a:ext cx="8829675" cy="5324472"/>
        </p:xfrm>
        <a:graphic>
          <a:graphicData uri="http://schemas.openxmlformats.org/drawingml/2006/table">
            <a:tbl>
              <a:tblPr>
                <a:tableStyleId>{5C22544A-7EE6-4342-B048-85BDC9FD1C3A}</a:tableStyleId>
              </a:tblPr>
              <a:tblGrid>
                <a:gridCol w="4949727">
                  <a:extLst>
                    <a:ext uri="{9D8B030D-6E8A-4147-A177-3AD203B41FA5}">
                      <a16:colId xmlns:a16="http://schemas.microsoft.com/office/drawing/2014/main" val="2362376406"/>
                    </a:ext>
                  </a:extLst>
                </a:gridCol>
                <a:gridCol w="3879948">
                  <a:extLst>
                    <a:ext uri="{9D8B030D-6E8A-4147-A177-3AD203B41FA5}">
                      <a16:colId xmlns:a16="http://schemas.microsoft.com/office/drawing/2014/main" val="2153544414"/>
                    </a:ext>
                  </a:extLst>
                </a:gridCol>
              </a:tblGrid>
              <a:tr h="591608">
                <a:tc>
                  <a:txBody>
                    <a:bodyPr/>
                    <a:lstStyle/>
                    <a:p>
                      <a:pPr algn="ctr" fontAlgn="ctr"/>
                      <a:r>
                        <a:rPr lang="en-US" sz="1800" u="none" strike="noStrike" dirty="0">
                          <a:effectLst/>
                          <a:latin typeface="Arial" panose="020B0604020202020204" pitchFamily="34" charset="0"/>
                          <a:cs typeface="Arial" panose="020B0604020202020204" pitchFamily="34" charset="0"/>
                        </a:rPr>
                        <a:t>Account Information Request</a:t>
                      </a:r>
                      <a:endParaRPr lang="en-US" sz="18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800" u="none" strike="noStrike" dirty="0">
                          <a:effectLst/>
                          <a:latin typeface="Arial" panose="020B0604020202020204" pitchFamily="34" charset="0"/>
                          <a:cs typeface="Arial" panose="020B0604020202020204" pitchFamily="34" charset="0"/>
                        </a:rPr>
                        <a:t>Account Modification Request</a:t>
                      </a:r>
                      <a:endParaRPr lang="en-US" sz="18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3683989657"/>
                  </a:ext>
                </a:extLst>
              </a:tr>
              <a:tr h="591608">
                <a:tc>
                  <a:txBody>
                    <a:bodyPr/>
                    <a:lstStyle/>
                    <a:p>
                      <a:pPr algn="ctr" fontAlgn="ctr"/>
                      <a:r>
                        <a:rPr lang="en-US" sz="1800" u="none" strike="noStrike" dirty="0">
                          <a:effectLst/>
                          <a:latin typeface="Arial" panose="020B0604020202020204" pitchFamily="34" charset="0"/>
                          <a:cs typeface="Arial" panose="020B0604020202020204" pitchFamily="34" charset="0"/>
                        </a:rPr>
                        <a:t>Static IPs​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a:effectLst/>
                          <a:latin typeface="Arial" panose="020B0604020202020204" pitchFamily="34" charset="0"/>
                          <a:cs typeface="Arial" panose="020B0604020202020204" pitchFamily="34" charset="0"/>
                        </a:rPr>
                        <a:t>Change Wi-Fi Password</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471044155"/>
                  </a:ext>
                </a:extLst>
              </a:tr>
              <a:tr h="591608">
                <a:tc>
                  <a:txBody>
                    <a:bodyPr/>
                    <a:lstStyle/>
                    <a:p>
                      <a:pPr algn="ctr" fontAlgn="ctr"/>
                      <a:r>
                        <a:rPr lang="en-US" sz="1800" u="none" strike="noStrike" dirty="0">
                          <a:effectLst/>
                          <a:latin typeface="Arial" panose="020B0604020202020204" pitchFamily="34" charset="0"/>
                          <a:cs typeface="Arial" panose="020B0604020202020204" pitchFamily="34" charset="0"/>
                        </a:rPr>
                        <a:t>Account "username &amp; password" for Modem Configuration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Hide/Unhide Wi-Fi Connection Name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375244588"/>
                  </a:ext>
                </a:extLst>
              </a:tr>
              <a:tr h="591608">
                <a:tc>
                  <a:txBody>
                    <a:bodyPr/>
                    <a:lstStyle/>
                    <a:p>
                      <a:pPr algn="ctr" fontAlgn="ctr"/>
                      <a:r>
                        <a:rPr lang="en-US" sz="1800" u="none" strike="noStrike">
                          <a:effectLst/>
                          <a:latin typeface="Arial" panose="020B0604020202020204" pitchFamily="34" charset="0"/>
                          <a:cs typeface="Arial" panose="020B0604020202020204" pitchFamily="34" charset="0"/>
                        </a:rPr>
                        <a:t>Account "username &amp; password" for Router page</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Change Package (Upgrade/Downgrade)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375014545"/>
                  </a:ext>
                </a:extLst>
              </a:tr>
              <a:tr h="591608">
                <a:tc>
                  <a:txBody>
                    <a:bodyPr/>
                    <a:lstStyle/>
                    <a:p>
                      <a:pPr algn="ctr" fontAlgn="ctr"/>
                      <a:r>
                        <a:rPr lang="en-US" sz="1800" u="none" strike="noStrike">
                          <a:effectLst/>
                          <a:latin typeface="Arial" panose="020B0604020202020204" pitchFamily="34" charset="0"/>
                          <a:cs typeface="Arial" panose="020B0604020202020204" pitchFamily="34" charset="0"/>
                        </a:rPr>
                        <a:t>Port number</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Add Extra Quota</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587422141"/>
                  </a:ext>
                </a:extLst>
              </a:tr>
              <a:tr h="591608">
                <a:tc>
                  <a:txBody>
                    <a:bodyPr/>
                    <a:lstStyle/>
                    <a:p>
                      <a:pPr algn="ctr" fontAlgn="ctr"/>
                      <a:r>
                        <a:rPr lang="en-US" sz="1800" u="none" strike="noStrike">
                          <a:effectLst/>
                          <a:latin typeface="Arial" panose="020B0604020202020204" pitchFamily="34" charset="0"/>
                          <a:cs typeface="Arial" panose="020B0604020202020204" pitchFamily="34" charset="0"/>
                        </a:rPr>
                        <a:t>Last Payment Details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Change the Mobile Contact Number</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3115590021"/>
                  </a:ext>
                </a:extLst>
              </a:tr>
              <a:tr h="591608">
                <a:tc>
                  <a:txBody>
                    <a:bodyPr/>
                    <a:lstStyle/>
                    <a:p>
                      <a:pPr algn="l" fontAlgn="t"/>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tc>
                <a:tc>
                  <a:txBody>
                    <a:bodyPr/>
                    <a:lstStyle/>
                    <a:p>
                      <a:pPr algn="ctr" fontAlgn="ctr"/>
                      <a:r>
                        <a:rPr lang="en-US" sz="1800" u="none" strike="noStrike" dirty="0">
                          <a:effectLst/>
                          <a:latin typeface="Arial" panose="020B0604020202020204" pitchFamily="34" charset="0"/>
                          <a:cs typeface="Arial" panose="020B0604020202020204" pitchFamily="34" charset="0"/>
                        </a:rPr>
                        <a:t>Resume the Service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339976772"/>
                  </a:ext>
                </a:extLst>
              </a:tr>
              <a:tr h="591608">
                <a:tc>
                  <a:txBody>
                    <a:bodyPr/>
                    <a:lstStyle/>
                    <a:p>
                      <a:pPr algn="l" fontAlgn="t"/>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tc>
                <a:tc>
                  <a:txBody>
                    <a:bodyPr/>
                    <a:lstStyle/>
                    <a:p>
                      <a:pPr algn="ctr" fontAlgn="ctr"/>
                      <a:r>
                        <a:rPr lang="en-US" sz="1800" u="none" strike="noStrike" dirty="0">
                          <a:effectLst/>
                          <a:latin typeface="Arial" panose="020B0604020202020204" pitchFamily="34" charset="0"/>
                          <a:cs typeface="Arial" panose="020B0604020202020204" pitchFamily="34" charset="0"/>
                        </a:rPr>
                        <a:t>Add IP Package (1,8,16)</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164931443"/>
                  </a:ext>
                </a:extLst>
              </a:tr>
              <a:tr h="591608">
                <a:tc>
                  <a:txBody>
                    <a:bodyPr/>
                    <a:lstStyle/>
                    <a:p>
                      <a:pPr algn="l" fontAlgn="t"/>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tc>
                <a:tc>
                  <a:txBody>
                    <a:bodyPr/>
                    <a:lstStyle/>
                    <a:p>
                      <a:pPr algn="ctr" fontAlgn="ctr"/>
                      <a:r>
                        <a:rPr lang="en-US" sz="1800" u="none" strike="noStrike" dirty="0">
                          <a:effectLst/>
                          <a:latin typeface="Arial" panose="020B0604020202020204" pitchFamily="34" charset="0"/>
                          <a:cs typeface="Arial" panose="020B0604020202020204" pitchFamily="34" charset="0"/>
                        </a:rPr>
                        <a:t>Bundle/Unbundle DSL with PREMIER​</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575154448"/>
                  </a:ext>
                </a:extLst>
              </a:tr>
            </a:tbl>
          </a:graphicData>
        </a:graphic>
      </p:graphicFrame>
    </p:spTree>
    <p:extLst>
      <p:ext uri="{BB962C8B-B14F-4D97-AF65-F5344CB8AC3E}">
        <p14:creationId xmlns:p14="http://schemas.microsoft.com/office/powerpoint/2010/main" val="12193262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74002" cy="742950"/>
          </a:xfrm>
        </p:spPr>
        <p:txBody>
          <a:bodyPr>
            <a:normAutofit fontScale="90000"/>
          </a:bodyPr>
          <a:lstStyle/>
          <a:p>
            <a:r>
              <a:rPr lang="en-US" b="1" dirty="0"/>
              <a:t>Accounts Under Resellers Verification Keys</a:t>
            </a:r>
            <a:endParaRPr lang="en-US" dirty="0"/>
          </a:p>
        </p:txBody>
      </p:sp>
      <p:sp>
        <p:nvSpPr>
          <p:cNvPr id="3" name="Content Placeholder 2"/>
          <p:cNvSpPr>
            <a:spLocks noGrp="1"/>
          </p:cNvSpPr>
          <p:nvPr>
            <p:ph idx="1"/>
          </p:nvPr>
        </p:nvSpPr>
        <p:spPr>
          <a:xfrm>
            <a:off x="-76200" y="838201"/>
            <a:ext cx="9274002" cy="6019799"/>
          </a:xfrm>
        </p:spPr>
        <p:txBody>
          <a:bodyPr>
            <a:normAutofit/>
          </a:bodyPr>
          <a:lstStyle/>
          <a:p>
            <a:pPr marL="0" indent="0" algn="r">
              <a:buNone/>
            </a:pPr>
            <a:r>
              <a:rPr lang="en-US" dirty="0">
                <a:latin typeface="Arial" panose="020B0604020202020204" pitchFamily="34" charset="0"/>
                <a:cs typeface="Arial" panose="020B0604020202020204" pitchFamily="34" charset="0"/>
              </a:rPr>
              <a:t>:</a:t>
            </a:r>
            <a:r>
              <a:rPr lang="ar-EG" dirty="0">
                <a:latin typeface="Arial" panose="020B0604020202020204" pitchFamily="34" charset="0"/>
                <a:cs typeface="Arial" panose="020B0604020202020204" pitchFamily="34" charset="0"/>
              </a:rPr>
              <a:t>لو الوكيل طلب </a:t>
            </a:r>
          </a:p>
          <a:p>
            <a:pPr marL="0" indent="0" algn="r">
              <a:buNone/>
            </a:pPr>
            <a:r>
              <a:rPr lang="ar-EG" dirty="0">
                <a:latin typeface="Arial" panose="020B0604020202020204" pitchFamily="34" charset="0"/>
                <a:cs typeface="Arial" panose="020B0604020202020204" pitchFamily="34" charset="0"/>
              </a:rPr>
              <a:t>يغير باقه العميل( سواء يعلي الباقه او يقللها )</a:t>
            </a:r>
          </a:p>
          <a:p>
            <a:pPr marL="0" indent="0" algn="r">
              <a:buNone/>
            </a:pPr>
            <a:r>
              <a:rPr lang="ar-EG" dirty="0">
                <a:latin typeface="Arial" panose="020B0604020202020204" pitchFamily="34" charset="0"/>
                <a:cs typeface="Arial" panose="020B0604020202020204" pitchFamily="34" charset="0"/>
              </a:rPr>
              <a:t> يضيف باقه اضافيه </a:t>
            </a:r>
          </a:p>
          <a:p>
            <a:pPr marL="0" indent="0" algn="r">
              <a:buNone/>
            </a:pPr>
            <a:r>
              <a:rPr lang="ar-EG" dirty="0">
                <a:latin typeface="Arial" panose="020B0604020202020204" pitchFamily="34" charset="0"/>
                <a:cs typeface="Arial" panose="020B0604020202020204" pitchFamily="34" charset="0"/>
              </a:rPr>
              <a:t>تشغيل الخدمه بعد الايقاف الموقت </a:t>
            </a:r>
          </a:p>
          <a:p>
            <a:pPr marL="0" indent="0" algn="r">
              <a:buNone/>
            </a:pPr>
            <a:r>
              <a:rPr lang="en-US" dirty="0" err="1">
                <a:latin typeface="Arial" panose="020B0604020202020204" pitchFamily="34" charset="0"/>
                <a:cs typeface="Arial" panose="020B0604020202020204" pitchFamily="34" charset="0"/>
              </a:rPr>
              <a:t>ip</a:t>
            </a:r>
            <a:r>
              <a:rPr lang="en-US" dirty="0">
                <a:latin typeface="Arial" panose="020B0604020202020204" pitchFamily="34" charset="0"/>
                <a:cs typeface="Arial" panose="020B0604020202020204" pitchFamily="34" charset="0"/>
              </a:rPr>
              <a:t> static</a:t>
            </a:r>
          </a:p>
          <a:p>
            <a:pPr marL="0" indent="0" algn="r">
              <a:buNone/>
            </a:pPr>
            <a:r>
              <a:rPr lang="ar-EG" dirty="0">
                <a:latin typeface="Arial" panose="020B0604020202020204" pitchFamily="34" charset="0"/>
                <a:cs typeface="Arial" panose="020B0604020202020204" pitchFamily="34" charset="0"/>
              </a:rPr>
              <a:t>لازم اسال الوكيل عن 4 حاجات ( اخر فاتوره من اخر فاتورتين ادفعت امته وعن طريق اي والاسم ثلاتي المسجل علي الخط ورقم الموبيل </a:t>
            </a:r>
          </a:p>
          <a:p>
            <a:pPr marL="0" indent="0" algn="r">
              <a:buNone/>
            </a:pPr>
            <a:r>
              <a:rPr lang="ar-EG" dirty="0">
                <a:latin typeface="Arial" panose="020B0604020202020204" pitchFamily="34" charset="0"/>
                <a:cs typeface="Arial" panose="020B0604020202020204" pitchFamily="34" charset="0"/>
              </a:rPr>
              <a:t>طيب لو طلب تغير رقم الموبيل المسجل علي السيستم( اوضح له انه يغير الرقم من عن طريق الموقع)</a:t>
            </a:r>
          </a:p>
          <a:p>
            <a:pPr marL="0" indent="0" algn="r">
              <a:buNone/>
            </a:pPr>
            <a:r>
              <a:rPr lang="ar-EG"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endParaRPr lang="ar-EG"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nvGraphicFramePr>
        <p:xfrm>
          <a:off x="0" y="5002371"/>
          <a:ext cx="8934450" cy="1855628"/>
        </p:xfrm>
        <a:graphic>
          <a:graphicData uri="http://schemas.openxmlformats.org/drawingml/2006/table">
            <a:tbl>
              <a:tblPr>
                <a:tableStyleId>{5C22544A-7EE6-4342-B048-85BDC9FD1C3A}</a:tableStyleId>
              </a:tblPr>
              <a:tblGrid>
                <a:gridCol w="5396648">
                  <a:extLst>
                    <a:ext uri="{9D8B030D-6E8A-4147-A177-3AD203B41FA5}">
                      <a16:colId xmlns:a16="http://schemas.microsoft.com/office/drawing/2014/main" val="3837820093"/>
                    </a:ext>
                  </a:extLst>
                </a:gridCol>
                <a:gridCol w="3537802">
                  <a:extLst>
                    <a:ext uri="{9D8B030D-6E8A-4147-A177-3AD203B41FA5}">
                      <a16:colId xmlns:a16="http://schemas.microsoft.com/office/drawing/2014/main" val="2851000057"/>
                    </a:ext>
                  </a:extLst>
                </a:gridCol>
              </a:tblGrid>
              <a:tr h="466979">
                <a:tc>
                  <a:txBody>
                    <a:bodyPr/>
                    <a:lstStyle/>
                    <a:p>
                      <a:pPr algn="ctr" fontAlgn="ctr"/>
                      <a:r>
                        <a:rPr lang="en-US" sz="1400" u="none" strike="noStrike" dirty="0">
                          <a:effectLst/>
                          <a:latin typeface="Arial" panose="020B0604020202020204" pitchFamily="34" charset="0"/>
                          <a:cs typeface="Arial" panose="020B0604020202020204" pitchFamily="34" charset="0"/>
                        </a:rPr>
                        <a:t>Scenario</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a:txBody>
                    <a:bodyPr/>
                    <a:lstStyle/>
                    <a:p>
                      <a:pPr algn="ctr" fontAlgn="ctr"/>
                      <a:r>
                        <a:rPr lang="en-US" sz="1400" u="none" strike="noStrike" dirty="0">
                          <a:effectLst/>
                          <a:latin typeface="Arial" panose="020B0604020202020204" pitchFamily="34" charset="0"/>
                          <a:cs typeface="Arial" panose="020B0604020202020204" pitchFamily="34" charset="0"/>
                        </a:rPr>
                        <a:t>Verification Keys</a:t>
                      </a:r>
                      <a:endParaRPr lang="en-US" sz="14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2780387794"/>
                  </a:ext>
                </a:extLst>
              </a:tr>
              <a:tr h="282645">
                <a:tc>
                  <a:txBody>
                    <a:bodyPr/>
                    <a:lstStyle/>
                    <a:p>
                      <a:pPr algn="l" fontAlgn="ctr"/>
                      <a:r>
                        <a:rPr lang="en-US" sz="1400" u="none" strike="noStrike" dirty="0">
                          <a:effectLst/>
                          <a:latin typeface="Arial" panose="020B0604020202020204" pitchFamily="34" charset="0"/>
                          <a:cs typeface="Arial" panose="020B0604020202020204" pitchFamily="34" charset="0"/>
                        </a:rPr>
                        <a:t>In case customer is calling from the landline number</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400" u="none" strike="noStrike">
                          <a:effectLst/>
                          <a:latin typeface="Arial" panose="020B0604020202020204" pitchFamily="34" charset="0"/>
                          <a:cs typeface="Arial" panose="020B0604020202020204" pitchFamily="34" charset="0"/>
                        </a:rPr>
                        <a:t>No need for verification</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3065438377"/>
                  </a:ext>
                </a:extLst>
              </a:tr>
              <a:tr h="553002">
                <a:tc>
                  <a:txBody>
                    <a:bodyPr/>
                    <a:lstStyle/>
                    <a:p>
                      <a:pPr algn="l" fontAlgn="ctr"/>
                      <a:r>
                        <a:rPr lang="en-US" sz="1400" u="none" strike="noStrike">
                          <a:effectLst/>
                          <a:latin typeface="Arial" panose="020B0604020202020204" pitchFamily="34" charset="0"/>
                          <a:cs typeface="Arial" panose="020B0604020202020204" pitchFamily="34" charset="0"/>
                        </a:rPr>
                        <a:t>In case customer is calling from the registered mobile number on Siebel</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Agent should ask the customer to provide the DSL subscriber name</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964341443"/>
                  </a:ext>
                </a:extLst>
              </a:tr>
              <a:tr h="553002">
                <a:tc>
                  <a:txBody>
                    <a:bodyPr/>
                    <a:lstStyle/>
                    <a:p>
                      <a:pPr algn="l" fontAlgn="ctr"/>
                      <a:r>
                        <a:rPr lang="en-US" sz="1400" u="none" strike="noStrike" dirty="0">
                          <a:effectLst/>
                          <a:latin typeface="Arial" panose="020B0604020202020204" pitchFamily="34" charset="0"/>
                          <a:cs typeface="Arial" panose="020B0604020202020204" pitchFamily="34" charset="0"/>
                        </a:rPr>
                        <a:t>In case the registered mobile number isn't updated</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tc>
                  <a:txBody>
                    <a:bodyPr/>
                    <a:lstStyle/>
                    <a:p>
                      <a:pPr algn="l" fontAlgn="ctr"/>
                      <a:r>
                        <a:rPr lang="en-US" sz="1400" u="none" strike="noStrike" dirty="0">
                          <a:effectLst/>
                          <a:latin typeface="Arial" panose="020B0604020202020204" pitchFamily="34" charset="0"/>
                          <a:cs typeface="Arial" panose="020B0604020202020204" pitchFamily="34" charset="0"/>
                        </a:rPr>
                        <a:t>Advise him/her to update the mobile number through Porta</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R="7620" marT="7620" marB="0" anchor="ctr"/>
                </a:tc>
                <a:extLst>
                  <a:ext uri="{0D108BD9-81ED-4DB2-BD59-A6C34878D82A}">
                    <a16:rowId xmlns:a16="http://schemas.microsoft.com/office/drawing/2014/main" val="1369658875"/>
                  </a:ext>
                </a:extLst>
              </a:tr>
            </a:tbl>
          </a:graphicData>
        </a:graphic>
      </p:graphicFrame>
    </p:spTree>
    <p:extLst>
      <p:ext uri="{BB962C8B-B14F-4D97-AF65-F5344CB8AC3E}">
        <p14:creationId xmlns:p14="http://schemas.microsoft.com/office/powerpoint/2010/main" val="34428406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596668" cy="532563"/>
          </a:xfrm>
        </p:spPr>
        <p:txBody>
          <a:bodyPr>
            <a:normAutofit fontScale="90000"/>
          </a:bodyPr>
          <a:lstStyle/>
          <a:p>
            <a:r>
              <a:rPr lang="en-US" b="1" dirty="0"/>
              <a:t>Siebel SRs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92472739"/>
              </p:ext>
            </p:extLst>
          </p:nvPr>
        </p:nvGraphicFramePr>
        <p:xfrm>
          <a:off x="0" y="802170"/>
          <a:ext cx="12192000" cy="6055830"/>
        </p:xfrm>
        <a:graphic>
          <a:graphicData uri="http://schemas.openxmlformats.org/drawingml/2006/table">
            <a:tbl>
              <a:tblPr>
                <a:tableStyleId>{5C22544A-7EE6-4342-B048-85BDC9FD1C3A}</a:tableStyleId>
              </a:tblPr>
              <a:tblGrid>
                <a:gridCol w="1554789">
                  <a:extLst>
                    <a:ext uri="{9D8B030D-6E8A-4147-A177-3AD203B41FA5}">
                      <a16:colId xmlns:a16="http://schemas.microsoft.com/office/drawing/2014/main" val="4138858750"/>
                    </a:ext>
                  </a:extLst>
                </a:gridCol>
                <a:gridCol w="1746739">
                  <a:extLst>
                    <a:ext uri="{9D8B030D-6E8A-4147-A177-3AD203B41FA5}">
                      <a16:colId xmlns:a16="http://schemas.microsoft.com/office/drawing/2014/main" val="1738868148"/>
                    </a:ext>
                  </a:extLst>
                </a:gridCol>
                <a:gridCol w="1948284">
                  <a:extLst>
                    <a:ext uri="{9D8B030D-6E8A-4147-A177-3AD203B41FA5}">
                      <a16:colId xmlns:a16="http://schemas.microsoft.com/office/drawing/2014/main" val="4124237333"/>
                    </a:ext>
                  </a:extLst>
                </a:gridCol>
                <a:gridCol w="1814949">
                  <a:extLst>
                    <a:ext uri="{9D8B030D-6E8A-4147-A177-3AD203B41FA5}">
                      <a16:colId xmlns:a16="http://schemas.microsoft.com/office/drawing/2014/main" val="341040565"/>
                    </a:ext>
                  </a:extLst>
                </a:gridCol>
                <a:gridCol w="1320915">
                  <a:extLst>
                    <a:ext uri="{9D8B030D-6E8A-4147-A177-3AD203B41FA5}">
                      <a16:colId xmlns:a16="http://schemas.microsoft.com/office/drawing/2014/main" val="60411920"/>
                    </a:ext>
                  </a:extLst>
                </a:gridCol>
                <a:gridCol w="1010240">
                  <a:extLst>
                    <a:ext uri="{9D8B030D-6E8A-4147-A177-3AD203B41FA5}">
                      <a16:colId xmlns:a16="http://schemas.microsoft.com/office/drawing/2014/main" val="1510709840"/>
                    </a:ext>
                  </a:extLst>
                </a:gridCol>
                <a:gridCol w="2796084">
                  <a:extLst>
                    <a:ext uri="{9D8B030D-6E8A-4147-A177-3AD203B41FA5}">
                      <a16:colId xmlns:a16="http://schemas.microsoft.com/office/drawing/2014/main" val="4085997617"/>
                    </a:ext>
                  </a:extLst>
                </a:gridCol>
              </a:tblGrid>
              <a:tr h="413883">
                <a:tc>
                  <a:txBody>
                    <a:bodyPr/>
                    <a:lstStyle/>
                    <a:p>
                      <a:pPr algn="ctr" fontAlgn="ctr"/>
                      <a:r>
                        <a:rPr lang="en-US" sz="1600" u="none" strike="noStrike" dirty="0">
                          <a:effectLst/>
                          <a:latin typeface="Arial" panose="020B0604020202020204" pitchFamily="34" charset="0"/>
                          <a:cs typeface="Arial" panose="020B0604020202020204" pitchFamily="34" charset="0"/>
                        </a:rPr>
                        <a:t>Short Co​d​e</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7596" marR="7596" marT="7596"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Type</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596" marR="7596" marT="7596"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Area</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596" marR="7596" marT="7596"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​Product</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596" marR="7596" marT="7596"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Owner Group</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596" marR="7596" marT="7596" marB="0" anchor="ctr">
                    <a:solidFill>
                      <a:schemeClr val="accent1"/>
                    </a:solidFill>
                  </a:tcPr>
                </a:tc>
                <a:tc>
                  <a:txBody>
                    <a:bodyPr/>
                    <a:lstStyle/>
                    <a:p>
                      <a:pPr algn="ctr" fontAlgn="ctr"/>
                      <a:r>
                        <a:rPr lang="en-US" sz="1600" u="none" strike="noStrike">
                          <a:effectLst/>
                          <a:latin typeface="Arial" panose="020B0604020202020204" pitchFamily="34" charset="0"/>
                          <a:cs typeface="Arial" panose="020B0604020202020204" pitchFamily="34" charset="0"/>
                        </a:rPr>
                        <a:t>SLA</a:t>
                      </a:r>
                      <a:endParaRPr lang="en-US" sz="1600" b="1" i="0" u="none" strike="noStrike">
                        <a:solidFill>
                          <a:srgbClr val="FFFFFF"/>
                        </a:solidFill>
                        <a:effectLst/>
                        <a:latin typeface="Arial" panose="020B0604020202020204" pitchFamily="34" charset="0"/>
                        <a:cs typeface="Arial" panose="020B0604020202020204" pitchFamily="34" charset="0"/>
                      </a:endParaRPr>
                    </a:p>
                  </a:txBody>
                  <a:tcPr marL="7596" marR="7596" marT="7596" marB="0" anchor="ctr">
                    <a:solidFill>
                      <a:schemeClr val="accent1"/>
                    </a:solidFill>
                  </a:tcPr>
                </a:tc>
                <a:tc>
                  <a:txBody>
                    <a:bodyPr/>
                    <a:lstStyle/>
                    <a:p>
                      <a:pPr algn="ctr" fontAlgn="ctr"/>
                      <a:r>
                        <a:rPr lang="en-US" sz="1600" u="none" strike="noStrike" dirty="0">
                          <a:effectLst/>
                          <a:latin typeface="Arial" panose="020B0604020202020204" pitchFamily="34" charset="0"/>
                          <a:cs typeface="Arial" panose="020B0604020202020204" pitchFamily="34" charset="0"/>
                        </a:rPr>
                        <a:t>Description</a:t>
                      </a:r>
                      <a:endParaRPr lang="en-US" sz="1600" b="1" i="0" u="none" strike="noStrike" dirty="0">
                        <a:solidFill>
                          <a:srgbClr val="FFFFFF"/>
                        </a:solidFill>
                        <a:effectLst/>
                        <a:latin typeface="Arial" panose="020B0604020202020204" pitchFamily="34" charset="0"/>
                        <a:cs typeface="Arial" panose="020B0604020202020204" pitchFamily="34" charset="0"/>
                      </a:endParaRPr>
                    </a:p>
                  </a:txBody>
                  <a:tcPr marL="7596" marR="7596" marT="7596" marB="0" anchor="ctr">
                    <a:solidFill>
                      <a:schemeClr val="accent1"/>
                    </a:solidFill>
                  </a:tcPr>
                </a:tc>
                <a:extLst>
                  <a:ext uri="{0D108BD9-81ED-4DB2-BD59-A6C34878D82A}">
                    <a16:rowId xmlns:a16="http://schemas.microsoft.com/office/drawing/2014/main" val="216713607"/>
                  </a:ext>
                </a:extLst>
              </a:tr>
              <a:tr h="968063">
                <a:tc>
                  <a:txBody>
                    <a:bodyPr/>
                    <a:lstStyle/>
                    <a:p>
                      <a:pPr algn="ctr" fontAlgn="ctr"/>
                      <a:r>
                        <a:rPr lang="en-US" sz="1600" u="none" strike="noStrike" dirty="0">
                          <a:effectLst/>
                          <a:latin typeface="Arial" panose="020B0604020202020204" pitchFamily="34" charset="0"/>
                          <a:cs typeface="Arial" panose="020B0604020202020204" pitchFamily="34" charset="0"/>
                        </a:rPr>
                        <a:t>5026</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DSL Service-</a:t>
                      </a:r>
                      <a:r>
                        <a:rPr lang="en-US" sz="1600" u="none" strike="noStrike" dirty="0" err="1">
                          <a:effectLst/>
                          <a:latin typeface="Arial" panose="020B0604020202020204" pitchFamily="34" charset="0"/>
                          <a:cs typeface="Arial" panose="020B0604020202020204" pitchFamily="34" charset="0"/>
                        </a:rPr>
                        <a:t>Acc</a:t>
                      </a:r>
                      <a:r>
                        <a:rPr lang="en-US" sz="1600" u="none" strike="noStrike" dirty="0">
                          <a:effectLst/>
                          <a:latin typeface="Arial" panose="020B0604020202020204" pitchFamily="34" charset="0"/>
                          <a:cs typeface="Arial" panose="020B0604020202020204" pitchFamily="34" charset="0"/>
                        </a:rPr>
                        <a:t> Administration</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Change Instant Package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Home DSL Packages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On Spot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Automated SR upon taking the downgrade action between 30 Mbps packages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extLst>
                  <a:ext uri="{0D108BD9-81ED-4DB2-BD59-A6C34878D82A}">
                    <a16:rowId xmlns:a16="http://schemas.microsoft.com/office/drawing/2014/main" val="2918069688"/>
                  </a:ext>
                </a:extLst>
              </a:tr>
              <a:tr h="2408937">
                <a:tc>
                  <a:txBody>
                    <a:bodyPr/>
                    <a:lstStyle/>
                    <a:p>
                      <a:pPr algn="ctr" fontAlgn="ctr"/>
                      <a:r>
                        <a:rPr lang="en-US" sz="1600" u="none" strike="noStrike">
                          <a:effectLst/>
                          <a:latin typeface="Arial" panose="020B0604020202020204" pitchFamily="34" charset="0"/>
                          <a:cs typeface="Arial" panose="020B0604020202020204" pitchFamily="34" charset="0"/>
                        </a:rPr>
                        <a:t>5014</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Service-Acc Administration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Change Special Packages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Home DSL Packages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Splitting Team</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1 WD In case of Ready Cabinet &amp; From 3 to 5 WDs in case of Not Ready Cabinet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Automated SR upon taking the downgrade action between 70,100,200 Mbps packages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extLst>
                  <a:ext uri="{0D108BD9-81ED-4DB2-BD59-A6C34878D82A}">
                    <a16:rowId xmlns:a16="http://schemas.microsoft.com/office/drawing/2014/main" val="4014641648"/>
                  </a:ext>
                </a:extLst>
              </a:tr>
              <a:tr h="727918">
                <a:tc>
                  <a:txBody>
                    <a:bodyPr/>
                    <a:lstStyle/>
                    <a:p>
                      <a:pPr algn="ctr" fontAlgn="ctr"/>
                      <a:r>
                        <a:rPr lang="en-US" sz="1600" u="none" strike="noStrike">
                          <a:effectLst/>
                          <a:latin typeface="Arial" panose="020B0604020202020204" pitchFamily="34" charset="0"/>
                          <a:cs typeface="Arial" panose="020B0604020202020204" pitchFamily="34" charset="0"/>
                        </a:rPr>
                        <a:t>33358</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DSL Fault Fulfill Line Changes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Can't Downgrade</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ADSL</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DSL CH VAS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48 Whrs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a:effectLst/>
                          <a:latin typeface="Arial" panose="020B0604020202020204" pitchFamily="34" charset="0"/>
                          <a:cs typeface="Arial" panose="020B0604020202020204" pitchFamily="34" charset="0"/>
                        </a:rPr>
                        <a:t>In case agent faces error while submitting the Downgrade</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extLst>
                  <a:ext uri="{0D108BD9-81ED-4DB2-BD59-A6C34878D82A}">
                    <a16:rowId xmlns:a16="http://schemas.microsoft.com/office/drawing/2014/main" val="3192253015"/>
                  </a:ext>
                </a:extLst>
              </a:tr>
              <a:tr h="1025185">
                <a:tc rowSpan="2">
                  <a:txBody>
                    <a:bodyPr/>
                    <a:lstStyle/>
                    <a:p>
                      <a:pPr algn="ctr" fontAlgn="ctr"/>
                      <a:r>
                        <a:rPr lang="en-US" sz="1600" u="none" strike="noStrike">
                          <a:effectLst/>
                          <a:latin typeface="Arial" panose="020B0604020202020204" pitchFamily="34" charset="0"/>
                          <a:cs typeface="Arial" panose="020B0604020202020204" pitchFamily="34" charset="0"/>
                        </a:rPr>
                        <a:t>418005</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rowSpan="2">
                  <a:txBody>
                    <a:bodyPr/>
                    <a:lstStyle/>
                    <a:p>
                      <a:pPr algn="ctr" fontAlgn="ctr"/>
                      <a:r>
                        <a:rPr lang="en-US" sz="1600" u="none" strike="noStrike">
                          <a:effectLst/>
                          <a:latin typeface="Arial" panose="020B0604020202020204" pitchFamily="34" charset="0"/>
                          <a:cs typeface="Arial" panose="020B0604020202020204" pitchFamily="34" charset="0"/>
                        </a:rPr>
                        <a:t>DSL G Info For Products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rowSpan="2">
                  <a:txBody>
                    <a:bodyPr/>
                    <a:lstStyle/>
                    <a:p>
                      <a:pPr algn="ctr" fontAlgn="ctr"/>
                      <a:r>
                        <a:rPr lang="en-US" sz="1600" u="none" strike="noStrike">
                          <a:effectLst/>
                          <a:latin typeface="Arial" panose="020B0604020202020204" pitchFamily="34" charset="0"/>
                          <a:cs typeface="Arial" panose="020B0604020202020204" pitchFamily="34" charset="0"/>
                        </a:rPr>
                        <a:t>New Packages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7596" marR="7596" marT="7596" marB="0" anchor="ctr"/>
                </a:tc>
                <a:tc rowSpan="2">
                  <a:txBody>
                    <a:bodyPr/>
                    <a:lstStyle/>
                    <a:p>
                      <a:pPr algn="ctr" fontAlgn="ctr"/>
                      <a:r>
                        <a:rPr lang="en-US" sz="1600" u="none" strike="noStrike" dirty="0">
                          <a:effectLst/>
                          <a:latin typeface="Arial" panose="020B0604020202020204" pitchFamily="34" charset="0"/>
                          <a:cs typeface="Arial" panose="020B0604020202020204" pitchFamily="34" charset="0"/>
                        </a:rPr>
                        <a:t>Home DSL Packages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tc rowSpan="2">
                  <a:txBody>
                    <a:bodyPr/>
                    <a:lstStyle/>
                    <a:p>
                      <a:pPr algn="ctr" fontAlgn="ctr"/>
                      <a:r>
                        <a:rPr lang="en-US" sz="1600" u="none" strike="noStrike" dirty="0">
                          <a:effectLst/>
                          <a:latin typeface="Arial" panose="020B0604020202020204" pitchFamily="34" charset="0"/>
                          <a:cs typeface="Arial" panose="020B0604020202020204" pitchFamily="34" charset="0"/>
                        </a:rPr>
                        <a:t>--</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tc rowSpan="2">
                  <a:txBody>
                    <a:bodyPr/>
                    <a:lstStyle/>
                    <a:p>
                      <a:pPr algn="ctr" fontAlgn="ctr"/>
                      <a:r>
                        <a:rPr lang="en-US" sz="1600" u="none" strike="noStrike" dirty="0">
                          <a:effectLst/>
                          <a:latin typeface="Arial" panose="020B0604020202020204" pitchFamily="34" charset="0"/>
                          <a:cs typeface="Arial" panose="020B0604020202020204" pitchFamily="34" charset="0"/>
                        </a:rPr>
                        <a:t>--</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tc>
                  <a:txBody>
                    <a:bodyPr/>
                    <a:lstStyle/>
                    <a:p>
                      <a:pPr algn="ctr" fontAlgn="ctr"/>
                      <a:r>
                        <a:rPr lang="en-US" sz="1600" u="none" strike="noStrike" dirty="0">
                          <a:effectLst/>
                          <a:latin typeface="Arial" panose="020B0604020202020204" pitchFamily="34" charset="0"/>
                          <a:cs typeface="Arial" panose="020B0604020202020204" pitchFamily="34" charset="0"/>
                        </a:rPr>
                        <a:t>In case receiving customer’s inquiry regarding the downgrade rules/packages</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extLst>
                  <a:ext uri="{0D108BD9-81ED-4DB2-BD59-A6C34878D82A}">
                    <a16:rowId xmlns:a16="http://schemas.microsoft.com/office/drawing/2014/main" val="1336659291"/>
                  </a:ext>
                </a:extLst>
              </a:tr>
              <a:tr h="51184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600" u="none" strike="noStrike" dirty="0">
                          <a:effectLst/>
                          <a:latin typeface="Arial" panose="020B0604020202020204" pitchFamily="34" charset="0"/>
                          <a:cs typeface="Arial" panose="020B0604020202020204" pitchFamily="34" charset="0"/>
                        </a:rPr>
                        <a:t>Sub Area: Informed - Package Downgrade</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7596" marR="7596" marT="7596" marB="0" anchor="ctr"/>
                </a:tc>
                <a:extLst>
                  <a:ext uri="{0D108BD9-81ED-4DB2-BD59-A6C34878D82A}">
                    <a16:rowId xmlns:a16="http://schemas.microsoft.com/office/drawing/2014/main" val="1181991968"/>
                  </a:ext>
                </a:extLst>
              </a:tr>
            </a:tbl>
          </a:graphicData>
        </a:graphic>
      </p:graphicFrame>
    </p:spTree>
    <p:extLst>
      <p:ext uri="{BB962C8B-B14F-4D97-AF65-F5344CB8AC3E}">
        <p14:creationId xmlns:p14="http://schemas.microsoft.com/office/powerpoint/2010/main" val="13460997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596668" cy="622998"/>
          </a:xfrm>
        </p:spPr>
        <p:txBody>
          <a:bodyPr>
            <a:normAutofit fontScale="90000"/>
          </a:bodyPr>
          <a:lstStyle/>
          <a:p>
            <a:r>
              <a:rPr lang="en-US" dirty="0">
                <a:solidFill>
                  <a:schemeClr val="tx1"/>
                </a:solidFill>
                <a:latin typeface="Arial Black" panose="020B0A04020102020204" pitchFamily="34" charset="0"/>
                <a:cs typeface="Arial" panose="020B0604020202020204" pitchFamily="34" charset="0"/>
              </a:rPr>
              <a:t>Suspension</a:t>
            </a:r>
            <a:br>
              <a:rPr lang="en-US" dirty="0">
                <a:solidFill>
                  <a:schemeClr val="tx1"/>
                </a:solidFill>
                <a:latin typeface="Arial Black" panose="020B0A04020102020204" pitchFamily="34" charset="0"/>
                <a:cs typeface="Arial" panose="020B0604020202020204" pitchFamily="34" charset="0"/>
              </a:rPr>
            </a:br>
            <a:endParaRPr lang="en-US" dirty="0">
              <a:solidFill>
                <a:schemeClr val="tx1"/>
              </a:solidFill>
            </a:endParaRPr>
          </a:p>
        </p:txBody>
      </p:sp>
      <p:sp>
        <p:nvSpPr>
          <p:cNvPr id="3" name="Content Placeholder 2"/>
          <p:cNvSpPr>
            <a:spLocks noGrp="1"/>
          </p:cNvSpPr>
          <p:nvPr>
            <p:ph idx="1"/>
          </p:nvPr>
        </p:nvSpPr>
        <p:spPr>
          <a:xfrm>
            <a:off x="442127" y="949569"/>
            <a:ext cx="9012745" cy="5908431"/>
          </a:xfrm>
        </p:spPr>
        <p:txBody>
          <a:bodyPr>
            <a:normAutofit/>
          </a:bodyPr>
          <a:lstStyle/>
          <a:p>
            <a:r>
              <a:rPr lang="en-US" sz="1400" dirty="0">
                <a:solidFill>
                  <a:schemeClr val="accent1"/>
                </a:solidFill>
                <a:latin typeface="Arial Black" panose="020B0A04020102020204" pitchFamily="34" charset="0"/>
              </a:rPr>
              <a:t>Guidelines</a:t>
            </a:r>
            <a:endParaRPr lang="ar-EG" sz="1400" dirty="0">
              <a:solidFill>
                <a:schemeClr val="accent1"/>
              </a:solidFill>
              <a:latin typeface="Arial Black" panose="020B0A04020102020204" pitchFamily="34" charset="0"/>
            </a:endParaRPr>
          </a:p>
          <a:p>
            <a:pPr marL="0" indent="0" algn="r">
              <a:buNone/>
            </a:pPr>
            <a:r>
              <a:rPr lang="ar-EG" sz="1400" dirty="0">
                <a:solidFill>
                  <a:schemeClr val="tx1"/>
                </a:solidFill>
                <a:latin typeface="Arial" panose="020B0604020202020204" pitchFamily="34" charset="0"/>
                <a:cs typeface="Arial" panose="020B0604020202020204" pitchFamily="34" charset="0"/>
              </a:rPr>
              <a:t>خدمة الإيقاف المؤقت متاحة من خلال الفروع والوكلاء فقط وليس من جانب خدمه العملا</a:t>
            </a:r>
          </a:p>
          <a:p>
            <a:pPr marL="0" indent="0" algn="r">
              <a:buNone/>
            </a:pPr>
            <a:r>
              <a:rPr lang="ar-EG" sz="1400" dirty="0">
                <a:solidFill>
                  <a:schemeClr val="tx1"/>
                </a:solidFill>
                <a:latin typeface="Arial" panose="020B0604020202020204" pitchFamily="34" charset="0"/>
                <a:cs typeface="Arial" panose="020B0604020202020204" pitchFamily="34" charset="0"/>
              </a:rPr>
              <a:t>بتكون شهرين خلال السنه فقط</a:t>
            </a:r>
          </a:p>
          <a:p>
            <a:pPr marL="0" indent="0" algn="r">
              <a:buNone/>
            </a:pPr>
            <a:r>
              <a:rPr lang="ar-EG" sz="1400" dirty="0">
                <a:solidFill>
                  <a:schemeClr val="tx1"/>
                </a:solidFill>
                <a:latin typeface="Arial" panose="020B0604020202020204" pitchFamily="34" charset="0"/>
                <a:cs typeface="Arial" panose="020B0604020202020204" pitchFamily="34" charset="0"/>
              </a:rPr>
              <a:t>تكلفة الخدمة 30 جنيه (غير شاملة ضريبة القيمة المضافة) في الشهر ، كما يجب دفع تكلفة الخدمة لكل الفترة المطلوبة قبل تقديم طلب الإيقاف ،  وفي حال إعادة تفعيل الخدمة مرة أخرى قبل إنتهاء الفترة التي تم دفع قيمتها يتم إعادة قيمة الفترة المتبقية لحساب العميل.</a:t>
            </a:r>
          </a:p>
          <a:p>
            <a:pPr marL="0" indent="0">
              <a:buNone/>
            </a:pPr>
            <a:r>
              <a:rPr lang="en-US" sz="1400" dirty="0">
                <a:solidFill>
                  <a:schemeClr val="accent1"/>
                </a:solidFill>
                <a:latin typeface="Arial Black" panose="020B0A04020102020204" pitchFamily="34" charset="0"/>
              </a:rPr>
              <a:t>Scripts</a:t>
            </a:r>
            <a:r>
              <a:rPr lang="ar-EG" sz="1400" dirty="0">
                <a:solidFill>
                  <a:schemeClr val="accent1"/>
                </a:solidFill>
                <a:latin typeface="Arial Black" panose="020B0A04020102020204" pitchFamily="34" charset="0"/>
              </a:rPr>
              <a:t> </a:t>
            </a:r>
          </a:p>
          <a:p>
            <a:pPr marL="0" indent="0" algn="r">
              <a:buNone/>
            </a:pPr>
            <a:r>
              <a:rPr lang="ar-EG" sz="1400" dirty="0">
                <a:solidFill>
                  <a:schemeClr val="tx1"/>
                </a:solidFill>
                <a:latin typeface="Arial" panose="020B0604020202020204" pitchFamily="34" charset="0"/>
                <a:cs typeface="Arial" panose="020B0604020202020204" pitchFamily="34" charset="0"/>
              </a:rPr>
              <a:t>المشترك معانا يقدر يعمل الايقاف المؤقت عن طريق اقرب فرع من فروعنا  ويمضي على استمارة ايقاف الخدمة مؤقتا لمدة شهرين بحد اقصي بتكلفة 30 للشهر غير شاملة الضريبة ....تحب اوضحلك اقرب فرع؟</a:t>
            </a:r>
          </a:p>
          <a:p>
            <a:pPr marL="0" indent="0">
              <a:buNone/>
            </a:pPr>
            <a:r>
              <a:rPr lang="en-US" sz="1400" dirty="0">
                <a:solidFill>
                  <a:schemeClr val="accent1"/>
                </a:solidFill>
                <a:latin typeface="Arial Black" panose="020B0A04020102020204" pitchFamily="34" charset="0"/>
              </a:rPr>
              <a:t>Resume Service</a:t>
            </a:r>
            <a:endParaRPr lang="ar-EG" sz="1400" dirty="0">
              <a:solidFill>
                <a:schemeClr val="accent1"/>
              </a:solidFill>
              <a:latin typeface="Arial Black" panose="020B0A04020102020204" pitchFamily="34" charset="0"/>
            </a:endParaRPr>
          </a:p>
          <a:p>
            <a:pPr marL="0" indent="0" algn="r">
              <a:buNone/>
            </a:pPr>
            <a:r>
              <a:rPr lang="ar-EG" sz="1400" dirty="0">
                <a:solidFill>
                  <a:schemeClr val="tx1"/>
                </a:solidFill>
              </a:rPr>
              <a:t>يمكن للعميل إعادة تفعيل الخدمة في أي وقت من خلال موظفي 16333, السوشيال ميديا, الفروع, الوكلاء بعد اخذ البايانات و الموقع</a:t>
            </a:r>
          </a:p>
          <a:p>
            <a:pPr marL="0" indent="0" algn="r">
              <a:buNone/>
            </a:pPr>
            <a:r>
              <a:rPr lang="ar-EG" sz="1400" dirty="0">
                <a:solidFill>
                  <a:schemeClr val="tx1"/>
                </a:solidFill>
              </a:rPr>
              <a:t>يجب على الموظف التحقق من ملكيه الخط للعميل</a:t>
            </a:r>
            <a:endParaRPr lang="ar-EG" sz="1400" dirty="0">
              <a:solidFill>
                <a:schemeClr val="tx1"/>
              </a:solidFill>
              <a:latin typeface="Arial Black" panose="020B0A04020102020204" pitchFamily="34" charset="0"/>
              <a:cs typeface="Arial" panose="020B0604020202020204" pitchFamily="34" charset="0"/>
            </a:endParaRPr>
          </a:p>
          <a:p>
            <a:pPr marL="0" indent="0">
              <a:buNone/>
            </a:pPr>
            <a:endParaRPr lang="ar-EG" sz="1400" dirty="0">
              <a:solidFill>
                <a:schemeClr val="tx1"/>
              </a:solidFill>
              <a:latin typeface="Arial Black" panose="020B0A04020102020204" pitchFamily="34" charset="0"/>
              <a:cs typeface="Arial" panose="020B0604020202020204" pitchFamily="34" charset="0"/>
            </a:endParaRPr>
          </a:p>
          <a:p>
            <a:pPr marL="0" indent="0">
              <a:buNone/>
            </a:pPr>
            <a:endParaRPr lang="en-US" sz="1400" dirty="0">
              <a:solidFill>
                <a:schemeClr val="tx1"/>
              </a:solidFill>
              <a:latin typeface="Arial Black" panose="020B0A04020102020204" pitchFamily="34" charset="0"/>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693509077"/>
              </p:ext>
            </p:extLst>
          </p:nvPr>
        </p:nvGraphicFramePr>
        <p:xfrm>
          <a:off x="0" y="4866642"/>
          <a:ext cx="8686800" cy="1991358"/>
        </p:xfrm>
        <a:graphic>
          <a:graphicData uri="http://schemas.openxmlformats.org/drawingml/2006/table">
            <a:tbl>
              <a:tblPr>
                <a:tableStyleId>{5C22544A-7EE6-4342-B048-85BDC9FD1C3A}</a:tableStyleId>
              </a:tblPr>
              <a:tblGrid>
                <a:gridCol w="1755364">
                  <a:extLst>
                    <a:ext uri="{9D8B030D-6E8A-4147-A177-3AD203B41FA5}">
                      <a16:colId xmlns:a16="http://schemas.microsoft.com/office/drawing/2014/main" val="508051314"/>
                    </a:ext>
                  </a:extLst>
                </a:gridCol>
                <a:gridCol w="1710354">
                  <a:extLst>
                    <a:ext uri="{9D8B030D-6E8A-4147-A177-3AD203B41FA5}">
                      <a16:colId xmlns:a16="http://schemas.microsoft.com/office/drawing/2014/main" val="3899548793"/>
                    </a:ext>
                  </a:extLst>
                </a:gridCol>
                <a:gridCol w="1755364">
                  <a:extLst>
                    <a:ext uri="{9D8B030D-6E8A-4147-A177-3AD203B41FA5}">
                      <a16:colId xmlns:a16="http://schemas.microsoft.com/office/drawing/2014/main" val="279020357"/>
                    </a:ext>
                  </a:extLst>
                </a:gridCol>
                <a:gridCol w="1755364">
                  <a:extLst>
                    <a:ext uri="{9D8B030D-6E8A-4147-A177-3AD203B41FA5}">
                      <a16:colId xmlns:a16="http://schemas.microsoft.com/office/drawing/2014/main" val="3952610508"/>
                    </a:ext>
                  </a:extLst>
                </a:gridCol>
                <a:gridCol w="1710354">
                  <a:extLst>
                    <a:ext uri="{9D8B030D-6E8A-4147-A177-3AD203B41FA5}">
                      <a16:colId xmlns:a16="http://schemas.microsoft.com/office/drawing/2014/main" val="4040537235"/>
                    </a:ext>
                  </a:extLst>
                </a:gridCol>
              </a:tblGrid>
              <a:tr h="251434">
                <a:tc rowSpan="8">
                  <a:txBody>
                    <a:bodyPr/>
                    <a:lstStyle/>
                    <a:p>
                      <a:pPr algn="ctr" fontAlgn="ctr"/>
                      <a:r>
                        <a:rPr lang="en-US" sz="1200" u="none" strike="noStrike" dirty="0">
                          <a:effectLst/>
                          <a:latin typeface="Arial" panose="020B0604020202020204" pitchFamily="34" charset="0"/>
                          <a:cs typeface="Arial" panose="020B0604020202020204" pitchFamily="34" charset="0"/>
                        </a:rPr>
                        <a:t>14012</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rowSpan="8">
                  <a:txBody>
                    <a:bodyPr/>
                    <a:lstStyle/>
                    <a:p>
                      <a:pPr algn="ctr" fontAlgn="ctr"/>
                      <a:r>
                        <a:rPr lang="da-DK" sz="1200" u="none" strike="noStrike" dirty="0">
                          <a:effectLst/>
                          <a:latin typeface="Arial" panose="020B0604020202020204" pitchFamily="34" charset="0"/>
                          <a:cs typeface="Arial" panose="020B0604020202020204" pitchFamily="34" charset="0"/>
                        </a:rPr>
                        <a:t>DSL Acc Mod For Line Mod</a:t>
                      </a:r>
                      <a:endParaRPr lang="da-DK" sz="1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rowSpan="8">
                  <a:txBody>
                    <a:bodyPr/>
                    <a:lstStyle/>
                    <a:p>
                      <a:pPr algn="ctr" fontAlgn="ctr"/>
                      <a:r>
                        <a:rPr lang="en-US" sz="1200" u="none" strike="noStrike" dirty="0">
                          <a:effectLst/>
                          <a:latin typeface="Arial" panose="020B0604020202020204" pitchFamily="34" charset="0"/>
                          <a:cs typeface="Arial" panose="020B0604020202020204" pitchFamily="34" charset="0"/>
                        </a:rPr>
                        <a:t>Suspend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r>
                        <a:rPr lang="en-US" sz="1200" u="none" strike="noStrike" dirty="0">
                          <a:effectLst/>
                          <a:latin typeface="Arial" panose="020B0604020202020204" pitchFamily="34" charset="0"/>
                          <a:cs typeface="Arial" panose="020B0604020202020204" pitchFamily="34" charset="0"/>
                        </a:rPr>
                        <a:t>Sub Area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1"/>
                    </a:solidFill>
                  </a:tcPr>
                </a:tc>
                <a:tc rowSpan="8">
                  <a:txBody>
                    <a:bodyPr/>
                    <a:lstStyle/>
                    <a:p>
                      <a:pPr algn="ctr" fontAlgn="ctr"/>
                      <a:r>
                        <a:rPr lang="en-US" sz="1200" u="none" strike="noStrike" dirty="0">
                          <a:effectLst/>
                          <a:latin typeface="Arial" panose="020B0604020202020204" pitchFamily="34" charset="0"/>
                          <a:cs typeface="Arial" panose="020B0604020202020204" pitchFamily="34" charset="0"/>
                        </a:rPr>
                        <a:t>Agent should use this SR to record the customer’s voice regarding the new Voluntary Suspension rules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1008501499"/>
                  </a:ext>
                </a:extLst>
              </a:tr>
              <a:tr h="25143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latin typeface="Arial" panose="020B0604020202020204" pitchFamily="34" charset="0"/>
                          <a:cs typeface="Arial" panose="020B0604020202020204" pitchFamily="34" charset="0"/>
                        </a:rPr>
                        <a:t>Channels-Satisfied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114300" marR="7620" marT="7620" marB="0" anchor="ctr"/>
                </a:tc>
                <a:tc vMerge="1">
                  <a:txBody>
                    <a:bodyPr/>
                    <a:lstStyle/>
                    <a:p>
                      <a:endParaRPr lang="en-US"/>
                    </a:p>
                  </a:txBody>
                  <a:tcPr/>
                </a:tc>
                <a:extLst>
                  <a:ext uri="{0D108BD9-81ED-4DB2-BD59-A6C34878D82A}">
                    <a16:rowId xmlns:a16="http://schemas.microsoft.com/office/drawing/2014/main" val="3244591320"/>
                  </a:ext>
                </a:extLst>
              </a:tr>
              <a:tr h="25143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latin typeface="Arial" panose="020B0604020202020204" pitchFamily="34" charset="0"/>
                          <a:cs typeface="Arial" panose="020B0604020202020204" pitchFamily="34" charset="0"/>
                        </a:rPr>
                        <a:t>Channels-Dissatisfied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114300" marR="7620" marT="7620" marB="0" anchor="ctr"/>
                </a:tc>
                <a:tc vMerge="1">
                  <a:txBody>
                    <a:bodyPr/>
                    <a:lstStyle/>
                    <a:p>
                      <a:endParaRPr lang="en-US"/>
                    </a:p>
                  </a:txBody>
                  <a:tcPr/>
                </a:tc>
                <a:extLst>
                  <a:ext uri="{0D108BD9-81ED-4DB2-BD59-A6C34878D82A}">
                    <a16:rowId xmlns:a16="http://schemas.microsoft.com/office/drawing/2014/main" val="1564233177"/>
                  </a:ext>
                </a:extLst>
              </a:tr>
              <a:tr h="25143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latin typeface="Arial" panose="020B0604020202020204" pitchFamily="34" charset="0"/>
                          <a:cs typeface="Arial" panose="020B0604020202020204" pitchFamily="34" charset="0"/>
                        </a:rPr>
                        <a:t>Duration-Satisfied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114300" marR="7620" marT="7620" marB="0" anchor="ctr"/>
                </a:tc>
                <a:tc vMerge="1">
                  <a:txBody>
                    <a:bodyPr/>
                    <a:lstStyle/>
                    <a:p>
                      <a:endParaRPr lang="en-US"/>
                    </a:p>
                  </a:txBody>
                  <a:tcPr/>
                </a:tc>
                <a:extLst>
                  <a:ext uri="{0D108BD9-81ED-4DB2-BD59-A6C34878D82A}">
                    <a16:rowId xmlns:a16="http://schemas.microsoft.com/office/drawing/2014/main" val="342730015"/>
                  </a:ext>
                </a:extLst>
              </a:tr>
              <a:tr h="25143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latin typeface="Arial" panose="020B0604020202020204" pitchFamily="34" charset="0"/>
                          <a:cs typeface="Arial" panose="020B0604020202020204" pitchFamily="34" charset="0"/>
                        </a:rPr>
                        <a:t>Duration-Dissatisfied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114300" marR="7620" marT="7620" marB="0" anchor="ctr"/>
                </a:tc>
                <a:tc vMerge="1">
                  <a:txBody>
                    <a:bodyPr/>
                    <a:lstStyle/>
                    <a:p>
                      <a:endParaRPr lang="en-US"/>
                    </a:p>
                  </a:txBody>
                  <a:tcPr/>
                </a:tc>
                <a:extLst>
                  <a:ext uri="{0D108BD9-81ED-4DB2-BD59-A6C34878D82A}">
                    <a16:rowId xmlns:a16="http://schemas.microsoft.com/office/drawing/2014/main" val="4152865750"/>
                  </a:ext>
                </a:extLst>
              </a:tr>
              <a:tr h="25143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latin typeface="Arial" panose="020B0604020202020204" pitchFamily="34" charset="0"/>
                          <a:cs typeface="Arial" panose="020B0604020202020204" pitchFamily="34" charset="0"/>
                        </a:rPr>
                        <a:t>Fees-Satisfied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114300" marR="7620" marT="7620" marB="0" anchor="ctr"/>
                </a:tc>
                <a:tc vMerge="1">
                  <a:txBody>
                    <a:bodyPr/>
                    <a:lstStyle/>
                    <a:p>
                      <a:endParaRPr lang="en-US"/>
                    </a:p>
                  </a:txBody>
                  <a:tcPr/>
                </a:tc>
                <a:extLst>
                  <a:ext uri="{0D108BD9-81ED-4DB2-BD59-A6C34878D82A}">
                    <a16:rowId xmlns:a16="http://schemas.microsoft.com/office/drawing/2014/main" val="2866737207"/>
                  </a:ext>
                </a:extLst>
              </a:tr>
              <a:tr h="25143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latin typeface="Arial" panose="020B0604020202020204" pitchFamily="34" charset="0"/>
                          <a:cs typeface="Arial" panose="020B0604020202020204" pitchFamily="34" charset="0"/>
                        </a:rPr>
                        <a:t>Fees-Dissatisfied​​​ </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114300" marR="7620" marT="7620" marB="0" anchor="ctr"/>
                </a:tc>
                <a:tc vMerge="1">
                  <a:txBody>
                    <a:bodyPr/>
                    <a:lstStyle/>
                    <a:p>
                      <a:endParaRPr lang="en-US"/>
                    </a:p>
                  </a:txBody>
                  <a:tcPr/>
                </a:tc>
                <a:extLst>
                  <a:ext uri="{0D108BD9-81ED-4DB2-BD59-A6C34878D82A}">
                    <a16:rowId xmlns:a16="http://schemas.microsoft.com/office/drawing/2014/main" val="2284137958"/>
                  </a:ext>
                </a:extLst>
              </a:tr>
              <a:tr h="23132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200" u="none" strike="noStrike" dirty="0">
                          <a:effectLst/>
                        </a:rPr>
                        <a:t> </a:t>
                      </a:r>
                      <a:endParaRPr lang="en-US" sz="1200" b="0" i="0" u="none" strike="noStrike" dirty="0">
                        <a:solidFill>
                          <a:srgbClr val="000000"/>
                        </a:solidFill>
                        <a:effectLst/>
                        <a:latin typeface="Aptos Narrow"/>
                      </a:endParaRPr>
                    </a:p>
                  </a:txBody>
                  <a:tcPr marL="7620" marR="7620" marT="7620" marB="0" anchor="ctr"/>
                </a:tc>
                <a:tc vMerge="1">
                  <a:txBody>
                    <a:bodyPr/>
                    <a:lstStyle/>
                    <a:p>
                      <a:endParaRPr lang="en-US"/>
                    </a:p>
                  </a:txBody>
                  <a:tcPr/>
                </a:tc>
                <a:extLst>
                  <a:ext uri="{0D108BD9-81ED-4DB2-BD59-A6C34878D82A}">
                    <a16:rowId xmlns:a16="http://schemas.microsoft.com/office/drawing/2014/main" val="1590988266"/>
                  </a:ext>
                </a:extLst>
              </a:tr>
            </a:tbl>
          </a:graphicData>
        </a:graphic>
      </p:graphicFrame>
    </p:spTree>
    <p:extLst>
      <p:ext uri="{BB962C8B-B14F-4D97-AF65-F5344CB8AC3E}">
        <p14:creationId xmlns:p14="http://schemas.microsoft.com/office/powerpoint/2010/main" val="32220300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9600"/>
            <a:ext cx="9274002" cy="1320800"/>
          </a:xfrm>
        </p:spPr>
        <p:txBody>
          <a:bodyPr>
            <a:normAutofit/>
          </a:bodyPr>
          <a:lstStyle/>
          <a:p>
            <a:r>
              <a:rPr lang="en-US" sz="4000" dirty="0">
                <a:latin typeface="Arial Black" panose="020B0A04020102020204" pitchFamily="34" charset="0"/>
              </a:rPr>
              <a:t>Thank you </a:t>
            </a:r>
          </a:p>
        </p:txBody>
      </p:sp>
      <p:pic>
        <p:nvPicPr>
          <p:cNvPr id="26626" name="Picture 2" descr="Servi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62548"/>
            <a:ext cx="1695450" cy="1695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8797386"/>
      </p:ext>
    </p:extLst>
  </p:cSld>
  <p:clrMapOvr>
    <a:masterClrMapping/>
  </p:clrMapOvr>
</p:sld>
</file>

<file path=ppt/theme/theme1.xml><?xml version="1.0" encoding="utf-8"?>
<a:theme xmlns:a="http://schemas.openxmlformats.org/drawingml/2006/main" name="Facet">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3461</TotalTime>
  <Words>8406</Words>
  <Application>Microsoft Office PowerPoint</Application>
  <PresentationFormat>Widescreen</PresentationFormat>
  <Paragraphs>1736</Paragraphs>
  <Slides>59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Aptos Narrow</vt:lpstr>
      <vt:lpstr>Arial</vt:lpstr>
      <vt:lpstr>Arial Black</vt:lpstr>
      <vt:lpstr>Helvetica Neue</vt:lpstr>
      <vt:lpstr>Trebuchet MS</vt:lpstr>
      <vt:lpstr>Wingdings</vt:lpstr>
      <vt:lpstr>Wingdings 3</vt:lpstr>
      <vt:lpstr>Facet</vt:lpstr>
      <vt:lpstr>Billing </vt:lpstr>
      <vt:lpstr>Billing Definition</vt:lpstr>
      <vt:lpstr>ما هي اسباب زياده الفاتوره ؟</vt:lpstr>
      <vt:lpstr>PowerPoint Presentation</vt:lpstr>
      <vt:lpstr>PowerPoint Presentation</vt:lpstr>
      <vt:lpstr>Agenda</vt:lpstr>
      <vt:lpstr>ADSL Grace Period &amp;  Promise to Pay  </vt:lpstr>
      <vt:lpstr>PowerPoint Presentation</vt:lpstr>
      <vt:lpstr>Drop Amount </vt:lpstr>
      <vt:lpstr>Bill Not Issued On Time </vt:lpstr>
      <vt:lpstr>Wrong Bill Amount </vt:lpstr>
      <vt:lpstr>Money Transfer </vt:lpstr>
      <vt:lpstr>B&amp;C Offer </vt:lpstr>
      <vt:lpstr>How to Pay</vt:lpstr>
      <vt:lpstr>Aggregators  </vt:lpstr>
      <vt:lpstr>Credit Card A​pp  </vt:lpstr>
      <vt:lpstr>Active Payment Dispute </vt:lpstr>
      <vt:lpstr>PowerPoint Presentation</vt:lpstr>
      <vt:lpstr>PowerPoint Presentation</vt:lpstr>
      <vt:lpstr>PowerPoint Presentation</vt:lpstr>
      <vt:lpstr>Candidate Payment Dispute</vt:lpstr>
      <vt:lpstr>​​​​Quota Consumption Issues </vt:lpstr>
      <vt:lpstr>Monthly Not Updated After Recharge Not Update or Updated Wrongly </vt:lpstr>
      <vt:lpstr>Extra Quota Not Updated After Recharge​</vt:lpstr>
      <vt:lpstr>Quota Consumption Problem​​</vt:lpstr>
      <vt:lpstr>DSL Compensation Matrix</vt:lpstr>
      <vt:lpstr>PowerPoint Presentation</vt:lpstr>
      <vt:lpstr>Customer Care/Wrong info </vt:lpstr>
      <vt:lpstr>Long Waiting Time</vt:lpstr>
      <vt:lpstr>Basic Quota Not Updated</vt:lpstr>
      <vt:lpstr>PowerPoint Presentation</vt:lpstr>
      <vt:lpstr>Compensation on Orange Mobile Dials for customers having Totally Disconnected DSL Service: </vt:lpstr>
      <vt:lpstr>Siebel SRs​</vt:lpstr>
      <vt:lpstr>Agenda</vt:lpstr>
      <vt:lpstr>DSL Extra Quota​ </vt:lpstr>
      <vt:lpstr>Guidelines</vt:lpstr>
      <vt:lpstr>Extra Quota Upselling Offer </vt:lpstr>
      <vt:lpstr>DSL Verification Process  </vt:lpstr>
      <vt:lpstr>List Of Actions</vt:lpstr>
      <vt:lpstr>Accounts Under Resellers Verification Keys</vt:lpstr>
      <vt:lpstr>Siebel SRs</vt:lpstr>
      <vt:lpstr>Package Upgrade​</vt:lpstr>
      <vt:lpstr>Guidelines</vt:lpstr>
      <vt:lpstr>DSL Verification Process  </vt:lpstr>
      <vt:lpstr>List Of Actions</vt:lpstr>
      <vt:lpstr>Accounts Under Resellers Verification Keys</vt:lpstr>
      <vt:lpstr>Upgrade Up To 70,100&amp;200 Mbps Packages</vt:lpstr>
      <vt:lpstr>Siebel SRs</vt:lpstr>
      <vt:lpstr>Upgrade Upselling Offer: </vt:lpstr>
      <vt:lpstr>Offer Matrix:</vt:lpstr>
      <vt:lpstr>Upselling Dropping </vt:lpstr>
      <vt:lpstr>Package Downgrade ​</vt:lpstr>
      <vt:lpstr>Guidelines </vt:lpstr>
      <vt:lpstr>DSL Verification Process  </vt:lpstr>
      <vt:lpstr>List Of Actions</vt:lpstr>
      <vt:lpstr>Accounts Under Resellers Verification Keys</vt:lpstr>
      <vt:lpstr>Siebel SRs</vt:lpstr>
      <vt:lpstr>Suspension </vt:lpstr>
      <vt:lpstr>Thank you </vt:lpstr>
    </vt:vector>
  </TitlesOfParts>
  <Company>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Billing</dc:title>
  <dc:creator>Mona Mohamed Mohamed Ext</dc:creator>
  <cp:lastModifiedBy>Ibrahim Imam</cp:lastModifiedBy>
  <cp:revision>102</cp:revision>
  <dcterms:created xsi:type="dcterms:W3CDTF">2025-09-24T15:23:46Z</dcterms:created>
  <dcterms:modified xsi:type="dcterms:W3CDTF">2026-02-21T14:52:08Z</dcterms:modified>
</cp:coreProperties>
</file>